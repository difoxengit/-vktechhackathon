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949960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721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684" name="lead"/>
          <p:cNvSpPr txBox="1"/>
          <p:nvPr/>
        </p:nvSpPr>
        <p:spPr>
          <a:xfrm>
            <a:off x="274320" y="1438431"/>
            <a:ext cx="6792986" cy="100101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Сборка одной презентации 12 слайдов занимает 186 минут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274320" y="2599725"/>
            <a:ext cx="6792986" cy="151008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Дополнительно 74 минуты на правки после ревью дизайнера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Дизайн‑отдел из 4 человек закрывает 11 запросов, ожидание 6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573" name="lead"/>
          <p:cNvSpPr txBox="1"/>
          <p:nvPr/>
        </p:nvSpPr>
        <p:spPr>
          <a:xfrm>
            <a:off x="274320" y="1414513"/>
            <a:ext cx="6792986" cy="12928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шаблон pptx и материалы, генерирует колоду по дизайн‑системе</a:t>
            </a:r>
          </a:p>
        </p:txBody>
      </p:sp>
      <p:sp>
        <p:nvSpPr>
          <p:cNvPr id="574" name="body"/>
          <p:cNvSpPr txBox="1"/>
          <p:nvPr/>
        </p:nvSpPr>
        <p:spPr>
          <a:xfrm>
            <a:off x="274320" y="2878471"/>
            <a:ext cx="6792986" cy="138790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стиль и корректирует автоматически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Слайды остаются редактируемыми, без картинок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684" name="lead"/>
          <p:cNvSpPr txBox="1"/>
          <p:nvPr/>
        </p:nvSpPr>
        <p:spPr>
          <a:xfrm>
            <a:off x="274320" y="1438431"/>
            <a:ext cx="6792986" cy="94313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Средняя сборка колоды 12 слайдов сократилась до 4 минут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274320" y="2541846"/>
            <a:ext cx="6792986" cy="156796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уменьшилось с 6 дней до 1 дня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фирменного стиля в пилоте 2 из 68, исправлены автоматически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за 6 недель вместо 11 в неделю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2252" name="lead"/>
          <p:cNvSpPr txBox="1"/>
          <p:nvPr/>
        </p:nvSpPr>
        <p:spPr>
          <a:xfrm>
            <a:off x="274320" y="1414513"/>
            <a:ext cx="6792986" cy="73506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машине 2 vCPU / 2 ГБ RAM</a:t>
            </a:r>
          </a:p>
        </p:txBody>
      </p:sp>
      <p:sp>
        <p:nvSpPr>
          <p:cNvPr id="2253" name="body"/>
          <p:cNvSpPr txBox="1"/>
          <p:nvPr/>
        </p:nvSpPr>
        <p:spPr>
          <a:xfrm>
            <a:off x="274320" y="2279300"/>
            <a:ext cx="6792986" cy="12971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gpt-oss-20b, инференс за 6 недель 1 400 руб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Третий квартал 2026: подключение 4 команд, домен и HTTPS</a:t>
            </a:r>
          </a:p>
          <a:p>
            <a:pPr algn="l">
              <a:spcAft>
                <a:spcPts val="300"/>
              </a:spcAft>
              <a:defRPr sz="16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Четвёртый квартал 2026: доступ для всей компании, интеграция с хранилищем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2396" name="Rectangle 2395"/>
          <p:cNvSpPr/>
          <p:nvPr/>
        </p:nvSpPr>
        <p:spPr>
          <a:xfrm>
            <a:off x="274320" y="2412824"/>
            <a:ext cx="8344814" cy="26282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Oval 2396"/>
          <p:cNvSpPr/>
          <p:nvPr/>
        </p:nvSpPr>
        <p:spPr>
          <a:xfrm>
            <a:off x="1568752" y="2329595"/>
            <a:ext cx="192740" cy="19274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TextBox 2397"/>
          <p:cNvSpPr txBox="1"/>
          <p:nvPr/>
        </p:nvSpPr>
        <p:spPr>
          <a:xfrm>
            <a:off x="274320" y="2009822"/>
            <a:ext cx="4172407" cy="33291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Подготовка</a:t>
            </a:r>
          </a:p>
        </p:txBody>
      </p:sp>
      <p:sp>
        <p:nvSpPr>
          <p:cNvPr id="2399" name="Oval 2398"/>
          <p:cNvSpPr/>
          <p:nvPr/>
        </p:nvSpPr>
        <p:spPr>
          <a:xfrm>
            <a:off x="4350356" y="2329595"/>
            <a:ext cx="192740" cy="19274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TextBox 2399"/>
          <p:cNvSpPr txBox="1"/>
          <p:nvPr/>
        </p:nvSpPr>
        <p:spPr>
          <a:xfrm>
            <a:off x="2360523" y="2605564"/>
            <a:ext cx="4172407" cy="33291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Запуск</a:t>
            </a:r>
          </a:p>
        </p:txBody>
      </p:sp>
      <p:sp>
        <p:nvSpPr>
          <p:cNvPr id="2401" name="Oval 2400"/>
          <p:cNvSpPr/>
          <p:nvPr/>
        </p:nvSpPr>
        <p:spPr>
          <a:xfrm>
            <a:off x="7131961" y="2329595"/>
            <a:ext cx="192740" cy="19274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TextBox 2401"/>
          <p:cNvSpPr txBox="1"/>
          <p:nvPr/>
        </p:nvSpPr>
        <p:spPr>
          <a:xfrm>
            <a:off x="4446727" y="2009822"/>
            <a:ext cx="4172407" cy="33291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Оценка</a:t>
            </a:r>
          </a:p>
        </p:txBody>
      </p:sp>
      <p:sp>
        <p:nvSpPr>
          <p:cNvPr id="2403" name="body"/>
          <p:cNvSpPr txBox="1"/>
          <p:nvPr/>
        </p:nvSpPr>
        <p:spPr>
          <a:xfrm>
            <a:off x="274320" y="2885914"/>
            <a:ext cx="8344814" cy="79837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6 недель на двух командах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Собрано 68 презентаций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сборки 4 мин, ожидание 1 день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стиля 2 из 68, исправлены автоматически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2435" name="lead"/>
          <p:cNvSpPr txBox="1"/>
          <p:nvPr/>
        </p:nvSpPr>
        <p:spPr>
          <a:xfrm>
            <a:off x="274320" y="1414513"/>
            <a:ext cx="6792986" cy="44797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Решить о запуске сервиса на всю компанию</a:t>
            </a:r>
          </a:p>
        </p:txBody>
      </p:sp>
      <p:sp>
        <p:nvSpPr>
          <p:cNvPr id="2436" name="body"/>
          <p:cNvSpPr txBox="1"/>
          <p:nvPr/>
        </p:nvSpPr>
        <p:spPr>
          <a:xfrm>
            <a:off x="274320" y="1941537"/>
            <a:ext cx="6792986" cy="79053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Подтвердить бюджет и ресурсы для масштабирования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Определить ответственных за интеграцию с корпоративными системами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Утвердить сроки внедрения в Q4 2026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573" name="lead"/>
          <p:cNvSpPr txBox="1"/>
          <p:nvPr/>
        </p:nvSpPr>
        <p:spPr>
          <a:xfrm>
            <a:off x="274320" y="1414513"/>
            <a:ext cx="6792986" cy="102838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Слабая модель может выдумать цифры, аудит проверяет каждое число</a:t>
            </a:r>
          </a:p>
        </p:txBody>
      </p:sp>
      <p:sp>
        <p:nvSpPr>
          <p:cNvPr id="574" name="body"/>
          <p:cNvSpPr txBox="1"/>
          <p:nvPr/>
        </p:nvSpPr>
        <p:spPr>
          <a:xfrm>
            <a:off x="274320" y="2614012"/>
            <a:ext cx="6792986" cy="165236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Неправильный шаблон может привести к плохому дизайну, сервис использует рабочую область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Зависимость от OpenAI‑совместимого протокола может ограничить масштаб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Преимущества для компании</a:t>
            </a:r>
          </a:p>
        </p:txBody>
      </p:sp>
      <p:sp>
        <p:nvSpPr>
          <p:cNvPr id="684" name="lead"/>
          <p:cNvSpPr txBox="1"/>
          <p:nvPr/>
        </p:nvSpPr>
        <p:spPr>
          <a:xfrm>
            <a:off x="274320" y="1438431"/>
            <a:ext cx="6792986" cy="9491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Сокращение времени создания презентаций до 4 мин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274320" y="2547839"/>
            <a:ext cx="6792986" cy="15619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Увеличение количества готовых колод за тот же период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Снижение ошибок фирменного стиля до 3%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Повышение эффективности дизайнеров, освобождение от рутинных задач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4627118" cy="2988158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655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Итоги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72963" y="2518244"/>
            <a:ext cx="4373118" cy="77172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готов к масштабированию, требуется одобрение руководства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72963" y="3324860"/>
            <a:ext cx="4373118" cy="109855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Ожидается экономия времени и повышение качества презентаций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подтвердил работоспособность и низкие затраты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Риски минимизированы благодаря аудитам и резерву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
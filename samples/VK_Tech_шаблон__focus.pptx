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Ручная</c:v>
                </c:pt>
                <c:pt idx="1">
                  <c:v>Сервис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Срок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6 дней</c:v>
                </c:pt>
                <c:pt idx="1">
                  <c:v>1 день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</c:v>
                </c:pt>
                <c:pt idx="1">
                  <c:v>1.0</c:v>
                </c:pt>
              </c:numCache>
            </c:numRef>
          </c:val>
        </c:ser>
        <c:dLbls>
          <c:numFmt formatCode="0&quot; дней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Срок, дней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Нарушения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Ручная</c:v>
                </c:pt>
                <c:pt idx="1">
                  <c:v>Сервис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2.0</c:v>
                </c:pt>
              </c:numCache>
            </c:numRef>
          </c:val>
        </c:ser>
        <c:dLbls>
          <c:numFmt formatCode="0&quot; колод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Нарушения, колод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473726" y="1370485"/>
            <a:ext cx="4288261" cy="188798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705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705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Автоматическая вёрстка презентаций Защита инициативы перед руководством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Сейчас: ручная сборка занимает 186 мин</a:t>
            </a:r>
          </a:p>
        </p:txBody>
      </p:sp>
      <p:sp>
        <p:nvSpPr>
          <p:cNvPr id="3" name="stat_0:bar"/>
          <p:cNvSpPr/>
          <p:nvPr/>
        </p:nvSpPr>
        <p:spPr>
          <a:xfrm>
            <a:off x="274320" y="1468146"/>
            <a:ext cx="50800" cy="83362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452119" y="1394994"/>
            <a:ext cx="8167014" cy="9067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186 мин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42 колоды, 12 слайдов, 186 мин сборки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274320" y="3151475"/>
            <a:ext cx="8344814" cy="12719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 правки после ревью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колод нарушили фирменный стиль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Дизайнеры ждут 6 дней, закрывают 11 запросов</a:t>
            </a:r>
          </a:p>
        </p:txBody>
      </p:sp>
      <p:sp>
        <p:nvSpPr>
          <p:cNvPr id="556" name="stat_0:bar"/>
          <p:cNvSpPr/>
          <p:nvPr/>
        </p:nvSpPr>
        <p:spPr>
          <a:xfrm>
            <a:off x="274320" y="1468146"/>
            <a:ext cx="50800" cy="83362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stat_0"/>
          <p:cNvSpPr txBox="1"/>
          <p:nvPr/>
        </p:nvSpPr>
        <p:spPr>
          <a:xfrm>
            <a:off x="452119" y="1394994"/>
            <a:ext cx="8167014" cy="9067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11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 дизайнера закрывают 11 запросов/неделю</a:t>
            </a:r>
          </a:p>
        </p:txBody>
      </p:sp>
      <p:sp>
        <p:nvSpPr>
          <p:cNvPr id="558" name="body"/>
          <p:cNvSpPr txBox="1"/>
          <p:nvPr/>
        </p:nvSpPr>
        <p:spPr>
          <a:xfrm>
            <a:off x="274320" y="3151475"/>
            <a:ext cx="8344814" cy="12719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поступает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6 рабочих дней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автоматической вёрстки: ускоряет сборку и устраняет ошибки</a:t>
            </a:r>
          </a:p>
        </p:txBody>
      </p:sp>
      <p:sp>
        <p:nvSpPr>
          <p:cNvPr id="1048" name="lead"/>
          <p:cNvSpPr txBox="1"/>
          <p:nvPr/>
        </p:nvSpPr>
        <p:spPr>
          <a:xfrm>
            <a:off x="274320" y="1628895"/>
            <a:ext cx="6792986" cy="118922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sp>
        <p:nvSpPr>
          <p:cNvPr id="1049" name="body"/>
          <p:cNvSpPr txBox="1"/>
          <p:nvPr/>
        </p:nvSpPr>
        <p:spPr>
          <a:xfrm>
            <a:off x="274320" y="2985787"/>
            <a:ext cx="6792986" cy="143762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Генерирует план колоды и вёрстку по дизайн-системе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pptx, pdf, html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колоды за 4 мин вместо 186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37310"/>
          <a:ext cx="8344814" cy="30861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до первой версии 1 день вместо 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94994"/>
          <a:ext cx="8344814" cy="302841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Нарушения стиля 2/68 вместо 19/42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37310"/>
          <a:ext cx="8344814" cy="30861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Ресурсы: 1 машина 2 vCPU/2 GB RAM, 1400 руб инференса</a:t>
            </a:r>
          </a:p>
        </p:txBody>
      </p:sp>
      <p:sp>
        <p:nvSpPr>
          <p:cNvPr id="556" name="stat_0:bar"/>
          <p:cNvSpPr/>
          <p:nvPr/>
        </p:nvSpPr>
        <p:spPr>
          <a:xfrm>
            <a:off x="274320" y="1468146"/>
            <a:ext cx="50800" cy="83362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stat_0"/>
          <p:cNvSpPr txBox="1"/>
          <p:nvPr/>
        </p:nvSpPr>
        <p:spPr>
          <a:xfrm>
            <a:off x="452119" y="1394994"/>
            <a:ext cx="8167014" cy="9067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 машина 2 vCPU / 2 GB RAM</a:t>
            </a:r>
          </a:p>
        </p:txBody>
      </p:sp>
      <p:sp>
        <p:nvSpPr>
          <p:cNvPr id="558" name="body"/>
          <p:cNvSpPr txBox="1"/>
          <p:nvPr/>
        </p:nvSpPr>
        <p:spPr>
          <a:xfrm>
            <a:off x="274320" y="3151475"/>
            <a:ext cx="8344814" cy="12719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Инференс 6 недель 1400 руб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Пилот 6 недель, 68 презентаций</a:t>
            </a:r>
          </a:p>
        </p:txBody>
      </p:sp>
      <p:sp>
        <p:nvSpPr>
          <p:cNvPr id="666" name="Rectangle 665"/>
          <p:cNvSpPr/>
          <p:nvPr/>
        </p:nvSpPr>
        <p:spPr>
          <a:xfrm>
            <a:off x="274320" y="2756916"/>
            <a:ext cx="8344814" cy="9258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1325651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274320" y="1337310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Начало пилота</a:t>
            </a:r>
          </a:p>
        </p:txBody>
      </p:sp>
      <p:sp>
        <p:nvSpPr>
          <p:cNvPr id="669" name="Oval 668"/>
          <p:cNvSpPr/>
          <p:nvPr/>
        </p:nvSpPr>
        <p:spPr>
          <a:xfrm>
            <a:off x="4107256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2360523" y="3435858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Конец пилота</a:t>
            </a:r>
          </a:p>
        </p:txBody>
      </p:sp>
      <p:sp>
        <p:nvSpPr>
          <p:cNvPr id="671" name="Oval 670"/>
          <p:cNvSpPr/>
          <p:nvPr/>
        </p:nvSpPr>
        <p:spPr>
          <a:xfrm>
            <a:off x="6888860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4446727" y="1337310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Обзор результатов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Расширение: Q3 2026 – Q1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756916"/>
            <a:ext cx="8344814" cy="9258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651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37310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Q3 2026: подключение 4 команд</a:t>
            </a:r>
          </a:p>
        </p:txBody>
      </p:sp>
      <p:sp>
        <p:nvSpPr>
          <p:cNvPr id="6" name="Oval 5"/>
          <p:cNvSpPr/>
          <p:nvPr/>
        </p:nvSpPr>
        <p:spPr>
          <a:xfrm>
            <a:off x="4107256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0523" y="3435858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Q4 2026: доступ для всей компании</a:t>
            </a:r>
          </a:p>
        </p:txBody>
      </p:sp>
      <p:sp>
        <p:nvSpPr>
          <p:cNvPr id="8" name="Oval 7"/>
          <p:cNvSpPr/>
          <p:nvPr/>
        </p:nvSpPr>
        <p:spPr>
          <a:xfrm>
            <a:off x="6888860" y="2463736"/>
            <a:ext cx="678942" cy="67894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6727" y="1337310"/>
            <a:ext cx="4172407" cy="117271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Q1 2027: генерация иллюстраций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title"/>
          <p:cNvSpPr txBox="1"/>
          <p:nvPr/>
        </p:nvSpPr>
        <p:spPr>
          <a:xfrm>
            <a:off x="274320" y="282943"/>
            <a:ext cx="341226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Запрос запуска на всю компанию</a:t>
            </a:r>
          </a:p>
        </p:txBody>
      </p:sp>
      <p:sp>
        <p:nvSpPr>
          <p:cNvPr id="1060" name="lead"/>
          <p:cNvSpPr txBox="1"/>
          <p:nvPr/>
        </p:nvSpPr>
        <p:spPr>
          <a:xfrm>
            <a:off x="274320" y="1652697"/>
            <a:ext cx="4196657" cy="1158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Попросить одобрение запуска</a:t>
            </a:r>
          </a:p>
        </p:txBody>
      </p:sp>
      <p:sp>
        <p:nvSpPr>
          <p:cNvPr id="1061" name="body"/>
          <p:cNvSpPr txBox="1"/>
          <p:nvPr/>
        </p:nvSpPr>
        <p:spPr>
          <a:xfrm>
            <a:off x="274320" y="3469746"/>
            <a:ext cx="4196657" cy="695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Предложить интеграцию с хранилищем документов</a:t>
            </a:r>
          </a:p>
        </p:txBody>
      </p:sp>
      <p:grpSp>
        <p:nvGrpSpPr>
          <p:cNvPr id="2" name="illustration:builtin-launch"/>
          <p:cNvGrpSpPr/>
          <p:nvPr/>
        </p:nvGrpSpPr>
        <p:grpSpPr>
          <a:xfrm>
            <a:off x="5461956" y="1688942"/>
            <a:ext cx="2537363" cy="2440517"/>
            <a:chOff x="5461956" y="1688942"/>
            <a:chExt cx="2537363" cy="2440517"/>
          </a:xfrm>
        </p:grpSpPr>
        <p:sp>
          <p:nvSpPr>
            <p:cNvPr id="1062" name="Oval 1061"/>
            <p:cNvSpPr/>
            <p:nvPr/>
          </p:nvSpPr>
          <p:spPr>
            <a:xfrm>
              <a:off x="5461956" y="1688942"/>
              <a:ext cx="2440517" cy="2440517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6199380" y="1805157"/>
              <a:ext cx="965670" cy="1336474"/>
            </a:xfrm>
            <a:custGeom>
              <a:avLst/>
              <a:gdLst/>
              <a:ahLst/>
              <a:cxnLst/>
              <a:rect l="l" t="t" r="r" b="b"/>
              <a:pathLst>
                <a:path w="965670" h="1336474">
                  <a:moveTo>
                    <a:pt x="482835" y="0"/>
                  </a:moveTo>
                  <a:lnTo>
                    <a:pt x="597288" y="93379"/>
                  </a:lnTo>
                  <a:lnTo>
                    <a:pt x="696516" y="198495"/>
                  </a:lnTo>
                  <a:lnTo>
                    <a:pt x="780404" y="314304"/>
                  </a:lnTo>
                  <a:lnTo>
                    <a:pt x="848835" y="439758"/>
                  </a:lnTo>
                  <a:lnTo>
                    <a:pt x="901694" y="573812"/>
                  </a:lnTo>
                  <a:lnTo>
                    <a:pt x="938863" y="715420"/>
                  </a:lnTo>
                  <a:lnTo>
                    <a:pt x="960227" y="863536"/>
                  </a:lnTo>
                  <a:lnTo>
                    <a:pt x="965670" y="1017115"/>
                  </a:lnTo>
                  <a:lnTo>
                    <a:pt x="955075" y="1175109"/>
                  </a:lnTo>
                  <a:lnTo>
                    <a:pt x="928326" y="1336474"/>
                  </a:lnTo>
                  <a:lnTo>
                    <a:pt x="37344" y="1336474"/>
                  </a:lnTo>
                  <a:lnTo>
                    <a:pt x="10595" y="1175109"/>
                  </a:lnTo>
                  <a:lnTo>
                    <a:pt x="0" y="1017115"/>
                  </a:lnTo>
                  <a:lnTo>
                    <a:pt x="5443" y="863536"/>
                  </a:lnTo>
                  <a:lnTo>
                    <a:pt x="26807" y="715420"/>
                  </a:lnTo>
                  <a:lnTo>
                    <a:pt x="63976" y="573812"/>
                  </a:lnTo>
                  <a:lnTo>
                    <a:pt x="116835" y="439758"/>
                  </a:lnTo>
                  <a:lnTo>
                    <a:pt x="185266" y="314304"/>
                  </a:lnTo>
                  <a:lnTo>
                    <a:pt x="269154" y="198495"/>
                  </a:lnTo>
                  <a:lnTo>
                    <a:pt x="368382" y="93379"/>
                  </a:lnTo>
                  <a:lnTo>
                    <a:pt x="48283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3" name="Oval 1062"/>
            <p:cNvSpPr/>
            <p:nvPr/>
          </p:nvSpPr>
          <p:spPr>
            <a:xfrm>
              <a:off x="6449785" y="2308756"/>
              <a:ext cx="464860" cy="464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4" name="Oval 1063"/>
            <p:cNvSpPr/>
            <p:nvPr/>
          </p:nvSpPr>
          <p:spPr>
            <a:xfrm>
              <a:off x="6546631" y="2405602"/>
              <a:ext cx="271168" cy="271168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5907448" y="2909201"/>
              <a:ext cx="387383" cy="639183"/>
            </a:xfrm>
            <a:custGeom>
              <a:avLst/>
              <a:gdLst/>
              <a:ahLst/>
              <a:cxnLst/>
              <a:rect l="l" t="t" r="r" b="b"/>
              <a:pathLst>
                <a:path w="387383" h="639183">
                  <a:moveTo>
                    <a:pt x="329276" y="0"/>
                  </a:moveTo>
                  <a:lnTo>
                    <a:pt x="0" y="406752"/>
                  </a:lnTo>
                  <a:lnTo>
                    <a:pt x="0" y="639183"/>
                  </a:lnTo>
                  <a:lnTo>
                    <a:pt x="387383" y="46486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069599" y="2909201"/>
              <a:ext cx="387383" cy="639183"/>
            </a:xfrm>
            <a:custGeom>
              <a:avLst/>
              <a:gdLst/>
              <a:ahLst/>
              <a:cxnLst/>
              <a:rect l="l" t="t" r="r" b="b"/>
              <a:pathLst>
                <a:path w="387383" h="639183">
                  <a:moveTo>
                    <a:pt x="58107" y="0"/>
                  </a:moveTo>
                  <a:lnTo>
                    <a:pt x="387383" y="406752"/>
                  </a:lnTo>
                  <a:lnTo>
                    <a:pt x="387383" y="639183"/>
                  </a:lnTo>
                  <a:lnTo>
                    <a:pt x="0" y="46486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6449785" y="3180369"/>
              <a:ext cx="464860" cy="290538"/>
            </a:xfrm>
            <a:custGeom>
              <a:avLst/>
              <a:gdLst/>
              <a:ahLst/>
              <a:cxnLst/>
              <a:rect l="l" t="t" r="r" b="b"/>
              <a:pathLst>
                <a:path w="464860" h="290538">
                  <a:moveTo>
                    <a:pt x="0" y="0"/>
                  </a:moveTo>
                  <a:lnTo>
                    <a:pt x="464860" y="0"/>
                  </a:lnTo>
                  <a:lnTo>
                    <a:pt x="387383" y="290538"/>
                  </a:lnTo>
                  <a:lnTo>
                    <a:pt x="77477" y="290538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6527262" y="3470907"/>
              <a:ext cx="309906" cy="542337"/>
            </a:xfrm>
            <a:custGeom>
              <a:avLst/>
              <a:gdLst/>
              <a:ahLst/>
              <a:cxnLst/>
              <a:rect l="l" t="t" r="r" b="b"/>
              <a:pathLst>
                <a:path w="309906" h="542337">
                  <a:moveTo>
                    <a:pt x="0" y="0"/>
                  </a:moveTo>
                  <a:lnTo>
                    <a:pt x="309906" y="0"/>
                  </a:lnTo>
                  <a:lnTo>
                    <a:pt x="307660" y="72712"/>
                  </a:lnTo>
                  <a:lnTo>
                    <a:pt x="301229" y="140078"/>
                  </a:lnTo>
                  <a:lnTo>
                    <a:pt x="291080" y="202563"/>
                  </a:lnTo>
                  <a:lnTo>
                    <a:pt x="277676" y="260632"/>
                  </a:lnTo>
                  <a:lnTo>
                    <a:pt x="261484" y="314749"/>
                  </a:lnTo>
                  <a:lnTo>
                    <a:pt x="242967" y="365380"/>
                  </a:lnTo>
                  <a:lnTo>
                    <a:pt x="222590" y="412990"/>
                  </a:lnTo>
                  <a:lnTo>
                    <a:pt x="200819" y="458042"/>
                  </a:lnTo>
                  <a:lnTo>
                    <a:pt x="178119" y="501003"/>
                  </a:lnTo>
                  <a:lnTo>
                    <a:pt x="154953" y="542337"/>
                  </a:lnTo>
                  <a:lnTo>
                    <a:pt x="131787" y="501003"/>
                  </a:lnTo>
                  <a:lnTo>
                    <a:pt x="109087" y="458042"/>
                  </a:lnTo>
                  <a:lnTo>
                    <a:pt x="87316" y="412990"/>
                  </a:lnTo>
                  <a:lnTo>
                    <a:pt x="66939" y="365380"/>
                  </a:lnTo>
                  <a:lnTo>
                    <a:pt x="48422" y="314749"/>
                  </a:lnTo>
                  <a:lnTo>
                    <a:pt x="32230" y="260632"/>
                  </a:lnTo>
                  <a:lnTo>
                    <a:pt x="18826" y="202563"/>
                  </a:lnTo>
                  <a:lnTo>
                    <a:pt x="8677" y="140078"/>
                  </a:lnTo>
                  <a:lnTo>
                    <a:pt x="2246" y="72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5" name="Oval 1064"/>
            <p:cNvSpPr/>
            <p:nvPr/>
          </p:nvSpPr>
          <p:spPr>
            <a:xfrm>
              <a:off x="5568487" y="2221594"/>
              <a:ext cx="135584" cy="135584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6" name="Oval 1065"/>
            <p:cNvSpPr/>
            <p:nvPr/>
          </p:nvSpPr>
          <p:spPr>
            <a:xfrm>
              <a:off x="7708782" y="2037587"/>
              <a:ext cx="193691" cy="19369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7" name="Oval 1066"/>
            <p:cNvSpPr/>
            <p:nvPr/>
          </p:nvSpPr>
          <p:spPr>
            <a:xfrm>
              <a:off x="7883104" y="3335323"/>
              <a:ext cx="116215" cy="11621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43608" y="159030"/>
            <a:ext cx="7202525" cy="3774614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670608" y="286030"/>
            <a:ext cx="6948525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Экономия времени и повышение качества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1670608" y="1649692"/>
            <a:ext cx="6948525" cy="144233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колоды сократилась до 4 мин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1670608" y="3258448"/>
            <a:ext cx="6948525" cy="116496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70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705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Нарушения стиля уменьшились до 2/68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
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на колоду (мин)</c:v>
                </c:pt>
                <c:pt idx="1">
                  <c:v>Время до первой версии (дн)</c:v>
                </c:pt>
                <c:pt idx="2">
                  <c:v>Нарушения стиля</c:v>
                </c:pt>
                <c:pt idx="3">
                  <c:v>Запросы закрыты/нед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186.0</c:v>
                </c:pt>
                <c:pt idx="1">
                  <c:v>6.0</c:v>
                </c:pt>
                <c:pt idx="2">
                  <c:v>19.0</c:v>
                </c:pt>
                <c:pt idx="3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</c:v>
                </c:pt>
              </c:strCache>
            </c:strRef>
          </c:tx>
          <c:spPr>
            <a:solidFill>
              <a:srgbClr val="FFD91D"/>
            </a:solidFill>
            <a:ln>
              <a:solidFill>
                <a:srgbClr val="FFD91D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на колоду (мин)</c:v>
                </c:pt>
                <c:pt idx="1">
                  <c:v>Время до первой версии (дн)</c:v>
                </c:pt>
                <c:pt idx="2">
                  <c:v>Нарушения стиля</c:v>
                </c:pt>
                <c:pt idx="3">
                  <c:v>Запросы закрыты/нед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4.0</c:v>
                </c:pt>
                <c:pt idx="1">
                  <c:v>1.0</c:v>
                </c:pt>
                <c:pt idx="2">
                  <c:v>2.0</c:v>
                </c:pt>
                <c:pt idx="3">
                  <c:v>38.0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пилот и масштаб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Текущие трудности в сборке презентаций</a:t>
            </a:r>
          </a:p>
        </p:txBody>
      </p:sp>
      <p:sp>
        <p:nvSpPr>
          <p:cNvPr id="2396" name="lead"/>
          <p:cNvSpPr txBox="1"/>
          <p:nvPr/>
        </p:nvSpPr>
        <p:spPr>
          <a:xfrm>
            <a:off x="274320" y="2009822"/>
            <a:ext cx="6792986" cy="63887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колоды, 186 мин на одну 12-слайдовую презентацию</a:t>
            </a:r>
          </a:p>
        </p:txBody>
      </p:sp>
      <p:sp>
        <p:nvSpPr>
          <p:cNvPr id="2397" name="body"/>
          <p:cNvSpPr txBox="1"/>
          <p:nvPr/>
        </p:nvSpPr>
        <p:spPr>
          <a:xfrm>
            <a:off x="274320" y="2749163"/>
            <a:ext cx="6792986" cy="9351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на правки после ревью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колод нарушили фирменный стиль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Дизайн-отдел закрывает 11 запросов/неделю из 27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Предлагаемый сервис автоматической вёрстки</a:t>
            </a:r>
          </a:p>
        </p:txBody>
      </p:sp>
      <p:sp>
        <p:nvSpPr>
          <p:cNvPr id="684" name="lead"/>
          <p:cNvSpPr txBox="1"/>
          <p:nvPr/>
        </p:nvSpPr>
        <p:spPr>
          <a:xfrm>
            <a:off x="274320" y="1590781"/>
            <a:ext cx="6792986" cy="108598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Принимает шаблон pptx и материалы, автоматически строит дизайн-систему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274320" y="2827904"/>
            <a:ext cx="6792986" cy="12819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план колоды и вёрстку по ролям страниц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стиль и данные до выдачи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html, слайды остаются редактируемыми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Результаты пилота за 6 недель</a:t>
            </a:r>
          </a:p>
        </p:txBody>
      </p:sp>
      <p:graphicFrame>
        <p:nvGraphicFramePr>
          <p:cNvPr id="556" name="Chart 555"/>
          <p:cNvGraphicFramePr>
            <a:graphicFrameLocks noGrp="1"/>
          </p:cNvGraphicFramePr>
          <p:nvPr/>
        </p:nvGraphicFramePr>
        <p:xfrm>
          <a:off x="274320" y="1414513"/>
          <a:ext cx="8344814" cy="285186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2252" name="lead"/>
          <p:cNvSpPr txBox="1"/>
          <p:nvPr/>
        </p:nvSpPr>
        <p:spPr>
          <a:xfrm>
            <a:off x="274320" y="1414513"/>
            <a:ext cx="6792986" cy="73506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Сокращение времени сборки с 186 до 4 минут</a:t>
            </a:r>
          </a:p>
        </p:txBody>
      </p:sp>
      <p:sp>
        <p:nvSpPr>
          <p:cNvPr id="2253" name="body"/>
          <p:cNvSpPr txBox="1"/>
          <p:nvPr/>
        </p:nvSpPr>
        <p:spPr>
          <a:xfrm>
            <a:off x="274320" y="2279300"/>
            <a:ext cx="6792986" cy="12971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Сокращение времени до первой версии с 6 до 1 дня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Снижение нарушений стиля до 2 из 68 колод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Увеличение объёма закрытых запросов до 38/нед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Стоимость инференса за пилот – 1400 руб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2435" name="lead"/>
          <p:cNvSpPr txBox="1"/>
          <p:nvPr/>
        </p:nvSpPr>
        <p:spPr>
          <a:xfrm>
            <a:off x="274320" y="1414513"/>
            <a:ext cx="6792986" cy="44797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2 vCPU / 2 ГБ RAM</a:t>
            </a:r>
          </a:p>
        </p:txBody>
      </p:sp>
      <p:sp>
        <p:nvSpPr>
          <p:cNvPr id="2436" name="body"/>
          <p:cNvSpPr txBox="1"/>
          <p:nvPr/>
        </p:nvSpPr>
        <p:spPr>
          <a:xfrm>
            <a:off x="274320" y="1862483"/>
            <a:ext cx="6792986" cy="86958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 через OpenAI-совместимый протокол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План: Q3 2026 – подключение 4 команд, домен и HTTPS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Q4 2026 –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Q1 2027 –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1048" name="lead"/>
          <p:cNvSpPr txBox="1"/>
          <p:nvPr/>
        </p:nvSpPr>
        <p:spPr>
          <a:xfrm>
            <a:off x="274320" y="1476493"/>
            <a:ext cx="6792986" cy="4212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Слабая модель может выдумать неверные цифры – аудит проверяет</a:t>
            </a:r>
          </a:p>
        </p:txBody>
      </p:sp>
      <p:sp>
        <p:nvSpPr>
          <p:cNvPr id="1049" name="body"/>
          <p:cNvSpPr txBox="1"/>
          <p:nvPr/>
        </p:nvSpPr>
        <p:spPr>
          <a:xfrm>
            <a:off x="274320" y="1956841"/>
            <a:ext cx="6792986" cy="50380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Плохой шаблон приводит к использованию рабочей области вместо готовых страниц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одновременных задач требует внешней очереди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684" name="lead"/>
          <p:cNvSpPr txBox="1"/>
          <p:nvPr/>
        </p:nvSpPr>
        <p:spPr>
          <a:xfrm>
            <a:off x="274320" y="1438431"/>
            <a:ext cx="6792986" cy="9342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Подключить ещё 4 команды в Q3 2026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274320" y="2532974"/>
            <a:ext cx="6792986" cy="157683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Настроить домен и HTTPS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Интегрировать с корпоративным хранилищем документов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 Q1 2027 добавить генерацию иллюстраций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1048" name="lead"/>
          <p:cNvSpPr txBox="1"/>
          <p:nvPr/>
        </p:nvSpPr>
        <p:spPr>
          <a:xfrm>
            <a:off x="274320" y="1476493"/>
            <a:ext cx="6792986" cy="38099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1049" name="body"/>
          <p:cNvSpPr txBox="1"/>
          <p:nvPr/>
        </p:nvSpPr>
        <p:spPr>
          <a:xfrm>
            <a:off x="274320" y="1916532"/>
            <a:ext cx="6792986" cy="54411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Предоставить ресурсы для масштабирования (серверы, лицензии)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Согласовать сроки и ответственных за интеграцию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4013336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655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Вывод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1670608" y="1337310"/>
            <a:ext cx="6948525" cy="152975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Автоматизация вёрстки повышает скорость, качество и экономит ресурсы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1670608" y="3052226"/>
            <a:ext cx="6948525" cy="137118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показал значительный рост эффективности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Запуск на всю компанию – стратегический шаг к цифровой трансформации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
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сборки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до первой версии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6.0</c:v>
                </c:pt>
                <c:pt idx="1">
                  <c:v>1.0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дней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124879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102019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573" name="lead"/>
          <p:cNvSpPr txBox="1"/>
          <p:nvPr/>
        </p:nvSpPr>
        <p:spPr>
          <a:xfrm>
            <a:off x="1108801" y="1414513"/>
            <a:ext cx="6675851" cy="8555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 в первом квартале 2026 года</a:t>
            </a:r>
          </a:p>
        </p:txBody>
      </p:sp>
      <p:sp>
        <p:nvSpPr>
          <p:cNvPr id="574" name="body"/>
          <p:cNvSpPr txBox="1"/>
          <p:nvPr/>
        </p:nvSpPr>
        <p:spPr>
          <a:xfrm>
            <a:off x="1108801" y="2441185"/>
            <a:ext cx="6675851" cy="18251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12 слайдов занимает 186 минут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 дизайнера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Дизайн‑отдел из 4 человек закрывает 11 запросов в неделю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1051" name="lead"/>
          <p:cNvSpPr txBox="1"/>
          <p:nvPr/>
        </p:nvSpPr>
        <p:spPr>
          <a:xfrm>
            <a:off x="1108801" y="1476493"/>
            <a:ext cx="6675851" cy="29524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sp>
        <p:nvSpPr>
          <p:cNvPr id="1052" name="body"/>
          <p:cNvSpPr txBox="1"/>
          <p:nvPr/>
        </p:nvSpPr>
        <p:spPr>
          <a:xfrm>
            <a:off x="1108801" y="1830789"/>
            <a:ext cx="6675851" cy="6298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дизайн‑систему и план колоды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 и html с редактируемыми слайдами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2252" name="lead"/>
          <p:cNvSpPr txBox="1"/>
          <p:nvPr/>
        </p:nvSpPr>
        <p:spPr>
          <a:xfrm>
            <a:off x="993266" y="1414513"/>
            <a:ext cx="5751575" cy="64859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68 презентаций собраны за 6 недель пилота</a:t>
            </a:r>
          </a:p>
        </p:txBody>
      </p:sp>
      <p:sp>
        <p:nvSpPr>
          <p:cNvPr id="2253" name="body"/>
          <p:cNvSpPr txBox="1"/>
          <p:nvPr/>
        </p:nvSpPr>
        <p:spPr>
          <a:xfrm>
            <a:off x="993266" y="2192822"/>
            <a:ext cx="5751575" cy="13836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12 слайдов теперь 4 минуты</a:t>
            </a:r>
          </a:p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2 из 68, исправлены автоматически</a:t>
            </a:r>
          </a:p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7" name="Google Shape;2387;p88"/>
          <p:cNvSpPr/>
          <p:nvPr/>
        </p:nvSpPr>
        <p:spPr>
          <a:xfrm>
            <a:off x="319086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9" name="Google Shape;2389;p88"/>
          <p:cNvSpPr/>
          <p:nvPr/>
        </p:nvSpPr>
        <p:spPr>
          <a:xfrm>
            <a:off x="2600312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1" name="Google Shape;2391;p88"/>
          <p:cNvSpPr/>
          <p:nvPr/>
        </p:nvSpPr>
        <p:spPr>
          <a:xfrm>
            <a:off x="4881537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3" name="Google Shape;2393;p88"/>
          <p:cNvSpPr/>
          <p:nvPr/>
        </p:nvSpPr>
        <p:spPr>
          <a:xfrm>
            <a:off x="7162763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6" name="Google Shape;2396;p88"/>
          <p:cNvSpPr/>
          <p:nvPr/>
        </p:nvSpPr>
        <p:spPr>
          <a:xfrm>
            <a:off x="319086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8" name="Google Shape;2398;p88"/>
          <p:cNvSpPr/>
          <p:nvPr/>
        </p:nvSpPr>
        <p:spPr>
          <a:xfrm>
            <a:off x="2600312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0" name="Google Shape;2400;p88"/>
          <p:cNvSpPr/>
          <p:nvPr/>
        </p:nvSpPr>
        <p:spPr>
          <a:xfrm>
            <a:off x="4881537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Сравнение времени сборки</a:t>
            </a:r>
          </a:p>
        </p:txBody>
      </p:sp>
      <p:graphicFrame>
        <p:nvGraphicFramePr>
          <p:cNvPr id="2402" name="Chart 2401"/>
          <p:cNvGraphicFramePr>
            <a:graphicFrameLocks noGrp="1"/>
          </p:cNvGraphicFramePr>
          <p:nvPr/>
        </p:nvGraphicFramePr>
        <p:xfrm>
          <a:off x="274320" y="2071750"/>
          <a:ext cx="8344814" cy="157617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2" name="Google Shape;2432;p89"/>
          <p:cNvSpPr/>
          <p:nvPr/>
        </p:nvSpPr>
        <p:spPr>
          <a:xfrm>
            <a:off x="3565736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Google Shape;2434;p89"/>
          <p:cNvSpPr/>
          <p:nvPr/>
        </p:nvSpPr>
        <p:spPr>
          <a:xfrm>
            <a:off x="6578067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Сравнение времени до первой версии</a:t>
            </a:r>
          </a:p>
        </p:txBody>
      </p:sp>
      <p:graphicFrame>
        <p:nvGraphicFramePr>
          <p:cNvPr id="2436" name="Chart 2435"/>
          <p:cNvGraphicFramePr>
            <a:graphicFrameLocks noGrp="1"/>
          </p:cNvGraphicFramePr>
          <p:nvPr/>
        </p:nvGraphicFramePr>
        <p:xfrm>
          <a:off x="274320" y="1414513"/>
          <a:ext cx="8344814" cy="126957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затраты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1108801" y="1705121"/>
            <a:ext cx="6675851" cy="72140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Стоимость инференса за 6 недель 1 400 рублей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1108801" y="2570809"/>
            <a:ext cx="6675851" cy="153900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gpt‑oss‑20b подключается по OpenAI‑совместимому протоколу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 нагрузке более 20 задач требуется внешняя очередь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График масштабирования</a:t>
            </a:r>
          </a:p>
        </p:txBody>
      </p:sp>
      <p:sp>
        <p:nvSpPr>
          <p:cNvPr id="556" name="Rectangle 555"/>
          <p:cNvSpPr/>
          <p:nvPr/>
        </p:nvSpPr>
        <p:spPr>
          <a:xfrm>
            <a:off x="274320" y="2726370"/>
            <a:ext cx="8344814" cy="8555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351417" y="2455443"/>
            <a:ext cx="627410" cy="62741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274320" y="1414513"/>
            <a:ext cx="2781604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Q3 2026</a:t>
            </a:r>
          </a:p>
        </p:txBody>
      </p:sp>
      <p:sp>
        <p:nvSpPr>
          <p:cNvPr id="559" name="Oval 558"/>
          <p:cNvSpPr/>
          <p:nvPr/>
        </p:nvSpPr>
        <p:spPr>
          <a:xfrm>
            <a:off x="4133021" y="2455443"/>
            <a:ext cx="627410" cy="62741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3055924" y="3353781"/>
            <a:ext cx="2781604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Q4 2026</a:t>
            </a:r>
          </a:p>
        </p:txBody>
      </p:sp>
      <p:sp>
        <p:nvSpPr>
          <p:cNvPr id="561" name="Oval 560"/>
          <p:cNvSpPr/>
          <p:nvPr/>
        </p:nvSpPr>
        <p:spPr>
          <a:xfrm>
            <a:off x="6914626" y="2455443"/>
            <a:ext cx="627410" cy="62741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TextBox 561"/>
          <p:cNvSpPr txBox="1"/>
          <p:nvPr/>
        </p:nvSpPr>
        <p:spPr>
          <a:xfrm>
            <a:off x="5837529" y="1414513"/>
            <a:ext cx="2781604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Q1 2027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2252" name="lead"/>
          <p:cNvSpPr txBox="1"/>
          <p:nvPr/>
        </p:nvSpPr>
        <p:spPr>
          <a:xfrm>
            <a:off x="993266" y="1414513"/>
            <a:ext cx="5751575" cy="64859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пилота: 6 недель, 2 команды, 68 презентаций</a:t>
            </a:r>
          </a:p>
        </p:txBody>
      </p:sp>
      <p:sp>
        <p:nvSpPr>
          <p:cNvPr id="2253" name="body"/>
          <p:cNvSpPr txBox="1"/>
          <p:nvPr/>
        </p:nvSpPr>
        <p:spPr>
          <a:xfrm>
            <a:off x="993266" y="2192822"/>
            <a:ext cx="5751575" cy="13836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Цель – доказать экономию времени и соблюдение стиля</a:t>
            </a:r>
          </a:p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После пилота масштабируем на 4 команды в Q3 2026</a:t>
            </a:r>
          </a:p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Далее – доступ для всей компании в Q4 2026</a:t>
            </a:r>
          </a:p>
          <a:p>
            <a:pPr algn="l">
              <a:spcAft>
                <a:spcPts val="300"/>
              </a:spcAft>
              <a:defRPr sz="1406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И генерация иллюстраций в Q1 2027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7495554" cy="2911318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1377580" y="3046564"/>
            <a:ext cx="6436937" cy="41305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Запрос решения о запуске сервиса на всю компанию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1377580" y="3542228"/>
            <a:ext cx="6436937" cy="88118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одобрение руководства к концу Q4 2026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 поддержке выделить бюджет на инфраструктуру и обучение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Готовы предоставить детальный план внедрения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
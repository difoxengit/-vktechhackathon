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Время, мин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-во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кол-во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94996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721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Сейчас: 42 колоды, 186 мин сборки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47979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колоды, 186 мин сборки одной презентации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956460"/>
            <a:ext cx="6792986" cy="5041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74 мин правок после ревью дизайнера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19 из 42 колод нарушили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Сервис: автоматическая вёрстка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9912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Принимает шаблон pptx и материалы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576894"/>
            <a:ext cx="6792986" cy="168948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Экспортирует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68 колод, 4 мин сборки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361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68 колод собраны за 6 недель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897503"/>
            <a:ext cx="6792986" cy="56314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Среднее время сборки 4 мин вместо 186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</a:t>
            </a:r>
          </a:p>
        </p:txBody>
      </p:sp>
      <p:graphicFrame>
        <p:nvGraphicFramePr>
          <p:cNvPr id="2252" name="Chart 2251"/>
          <p:cNvGraphicFramePr>
            <a:graphicFrameLocks noGrp="1"/>
          </p:cNvGraphicFramePr>
          <p:nvPr/>
        </p:nvGraphicFramePr>
        <p:xfrm>
          <a:off x="274320" y="1414513"/>
          <a:ext cx="7189469" cy="216196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фирменного стиля</a:t>
            </a:r>
          </a:p>
        </p:txBody>
      </p:sp>
      <p:graphicFrame>
        <p:nvGraphicFramePr>
          <p:cNvPr id="2394" name="Chart 2393"/>
          <p:cNvGraphicFramePr>
            <a:graphicFrameLocks noGrp="1"/>
          </p:cNvGraphicFramePr>
          <p:nvPr/>
        </p:nvGraphicFramePr>
        <p:xfrm>
          <a:off x="274320" y="2009822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 недель, 2 команды</a:t>
            </a:r>
          </a:p>
        </p:txBody>
      </p:sp>
      <p:sp>
        <p:nvSpPr>
          <p:cNvPr id="2435" name="Pentagon 2434"/>
          <p:cNvSpPr/>
          <p:nvPr/>
        </p:nvSpPr>
        <p:spPr>
          <a:xfrm>
            <a:off x="274320" y="1414513"/>
            <a:ext cx="2011100" cy="661947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Подготовка</a:t>
            </a:r>
          </a:p>
        </p:txBody>
      </p:sp>
      <p:sp>
        <p:nvSpPr>
          <p:cNvPr id="2436" name="Chevron 2435"/>
          <p:cNvSpPr/>
          <p:nvPr/>
        </p:nvSpPr>
        <p:spPr>
          <a:xfrm>
            <a:off x="2385557" y="1414513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</a:t>
            </a:r>
          </a:p>
        </p:txBody>
      </p:sp>
      <p:sp>
        <p:nvSpPr>
          <p:cNvPr id="2437" name="Chevron 2436"/>
          <p:cNvSpPr/>
          <p:nvPr/>
        </p:nvSpPr>
        <p:spPr>
          <a:xfrm>
            <a:off x="4496795" y="1414513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2438" name="Chevron 2437"/>
          <p:cNvSpPr/>
          <p:nvPr/>
        </p:nvSpPr>
        <p:spPr>
          <a:xfrm>
            <a:off x="6608033" y="1414513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  <p:sp>
        <p:nvSpPr>
          <p:cNvPr id="2439" name="body"/>
          <p:cNvSpPr txBox="1"/>
          <p:nvPr/>
        </p:nvSpPr>
        <p:spPr>
          <a:xfrm>
            <a:off x="274320" y="2076461"/>
            <a:ext cx="8344814" cy="655611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недели подготовки и обучения команд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пилота на 2 командах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числа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готовых колод в pptx, pdf, html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573" name="lead"/>
          <p:cNvSpPr txBox="1"/>
          <p:nvPr/>
        </p:nvSpPr>
        <p:spPr>
          <a:xfrm>
            <a:off x="274320" y="1414513"/>
            <a:ext cx="6792986" cy="9696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 работает на 2 vCPU / 2 ГБ RAM</a:t>
            </a:r>
          </a:p>
        </p:txBody>
      </p:sp>
      <p:sp>
        <p:nvSpPr>
          <p:cNvPr id="574" name="body"/>
          <p:cNvSpPr txBox="1"/>
          <p:nvPr/>
        </p:nvSpPr>
        <p:spPr>
          <a:xfrm>
            <a:off x="274320" y="2555259"/>
            <a:ext cx="6792986" cy="171111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за 6 недель стоит 1 400 руб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подключить 4 команды, домен и HTTPS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705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705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48" name="lead"/>
          <p:cNvSpPr txBox="1"/>
          <p:nvPr/>
        </p:nvSpPr>
        <p:spPr>
          <a:xfrm>
            <a:off x="274320" y="1476493"/>
            <a:ext cx="6792986" cy="46319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аудит проверяет источники</a:t>
            </a:r>
          </a:p>
        </p:txBody>
      </p:sp>
      <p:sp>
        <p:nvSpPr>
          <p:cNvPr id="1049" name="body"/>
          <p:cNvSpPr txBox="1"/>
          <p:nvPr/>
        </p:nvSpPr>
        <p:spPr>
          <a:xfrm>
            <a:off x="274320" y="1956460"/>
            <a:ext cx="6792986" cy="50418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Плохой шаблон приводит к использованию рабочей области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4627118" cy="281185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на всю компанию</a:t>
            </a:r>
          </a:p>
        </p:txBody>
      </p:sp>
      <p:sp>
        <p:nvSpPr>
          <p:cNvPr id="4" name="lead"/>
          <p:cNvSpPr txBox="1"/>
          <p:nvPr/>
        </p:nvSpPr>
        <p:spPr>
          <a:xfrm>
            <a:off x="572963" y="3046564"/>
            <a:ext cx="4373118" cy="61373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>
                <a:solidFill>
                  <a:srgbClr val="000000"/>
                </a:solidFill>
                <a:latin typeface="Play"/>
                <a:ea typeface="Play"/>
                <a:cs typeface="Play"/>
              </a:rPr>
              <a:t>Попросить решение о запуске на всю компанию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72963" y="3742914"/>
            <a:ext cx="4373118" cy="68049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сокращения времени сборки до 4 мин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Планируем интеграцию с корпоративными системами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
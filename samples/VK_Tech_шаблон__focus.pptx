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Кол-во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Запросы</c:v>
                </c:pt>
                <c:pt idx="1">
                  <c:v>Закрыто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27.0</c:v>
                </c:pt>
                <c:pt idx="1">
                  <c:v>11.0</c:v>
                </c:pt>
              </c:numCache>
            </c:numRef>
          </c:val>
        </c:ser>
        <c:dLbls>
          <c:numFmt formatCode="0&quot; запросов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Кол-во, запросов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Сейчас</c:v>
                </c:pt>
                <c:pt idx="1">
                  <c:v>Сервис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dLbls>
          <c:numFmt formatCode="0&quot; мин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Время, 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Нарушения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Сейчас</c:v>
                </c:pt>
                <c:pt idx="1">
                  <c:v>Сервис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19.0</c:v>
                </c:pt>
                <c:pt idx="1">
                  <c:v>2.0</c:v>
                </c:pt>
              </c:numCache>
            </c:numRef>
          </c:val>
        </c:ser>
        <c:dLbls>
          <c:numFmt formatCode="0&quot; колод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Нарушения, колод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Запросы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Сейчас</c:v>
                </c:pt>
                <c:pt idx="1">
                  <c:v>Сервис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11.0</c:v>
                </c:pt>
                <c:pt idx="1">
                  <c:v>38.0</c:v>
                </c:pt>
              </c:numCache>
            </c:numRef>
          </c:val>
        </c:ser>
        <c:dLbls>
          <c:numFmt formatCode="0&quot; запросов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Запросы, запросов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8" Type="http://schemas.openxmlformats.org/officeDocument/2006/relationships/slideLayout" Target="../slideLayouts/slideLayout11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2" r:id="rId2"/>
    <p:sldLayoutId id="2147483658" r:id="rId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chart" Target="../charts/chart3.xml"/><Relationship Id="rId5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chart" Target="../charts/chart4.xml"/><Relationship Id="rId5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6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473726" y="1370485"/>
            <a:ext cx="4288261" cy="80007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1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Автоматическая вёрстка презентаций: инициатива запуска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Контекст и возможность: ручная сборка 42 колод</a:t>
            </a:r>
          </a:p>
        </p:txBody>
      </p:sp>
      <p:sp>
        <p:nvSpPr>
          <p:cNvPr id="3" name="stat_0:bar"/>
          <p:cNvSpPr/>
          <p:nvPr/>
        </p:nvSpPr>
        <p:spPr>
          <a:xfrm>
            <a:off x="274320" y="1468146"/>
            <a:ext cx="50800" cy="833628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tat_0"/>
          <p:cNvSpPr txBox="1"/>
          <p:nvPr/>
        </p:nvSpPr>
        <p:spPr>
          <a:xfrm>
            <a:off x="452119" y="1394994"/>
            <a:ext cx="8167014" cy="90678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32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186 мин</a:t>
            </a:r>
          </a:p>
          <a:p>
            <a:pPr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42 колоды за квартал: 186 мин на сборку 12-слайдной презентации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274320" y="3151475"/>
            <a:ext cx="8344814" cy="127193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74 мин на правки после ревью дизайнера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19 колод нарушили фирменный стиль (неправильные гарнитуры, цвета)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Дизайнеры закрывают 11 запросов из 27 в неделю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Средний срок ожидания в очереди – 6 рабочих дней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Нагрузка дизайнеров: 27 запросов, 11 закрыто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274320" y="1394994"/>
          <a:ext cx="8344814" cy="302841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55"/>
          <p:cNvSpPr/>
          <p:nvPr/>
        </p:nvSpPr>
        <p:spPr>
          <a:xfrm>
            <a:off x="285749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55"/>
          <p:cNvSpPr/>
          <p:nvPr/>
        </p:nvSpPr>
        <p:spPr>
          <a:xfrm>
            <a:off x="438148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55"/>
          <p:cNvSpPr/>
          <p:nvPr/>
        </p:nvSpPr>
        <p:spPr>
          <a:xfrm>
            <a:off x="2452675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55"/>
          <p:cNvSpPr/>
          <p:nvPr/>
        </p:nvSpPr>
        <p:spPr>
          <a:xfrm>
            <a:off x="2605074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55"/>
          <p:cNvSpPr/>
          <p:nvPr/>
        </p:nvSpPr>
        <p:spPr>
          <a:xfrm>
            <a:off x="4619601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55"/>
          <p:cNvSpPr/>
          <p:nvPr/>
        </p:nvSpPr>
        <p:spPr>
          <a:xfrm>
            <a:off x="4772001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55"/>
          <p:cNvSpPr/>
          <p:nvPr/>
        </p:nvSpPr>
        <p:spPr>
          <a:xfrm>
            <a:off x="6786527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55"/>
          <p:cNvSpPr/>
          <p:nvPr/>
        </p:nvSpPr>
        <p:spPr>
          <a:xfrm>
            <a:off x="6938927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3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Предложение: сервис принимает шаблон и материалы</a:t>
            </a:r>
          </a:p>
        </p:txBody>
      </p:sp>
      <p:sp>
        <p:nvSpPr>
          <p:cNvPr id="684" name="lead"/>
          <p:cNvSpPr txBox="1"/>
          <p:nvPr/>
        </p:nvSpPr>
        <p:spPr>
          <a:xfrm>
            <a:off x="274320" y="1590781"/>
            <a:ext cx="6792986" cy="101617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 принимает pptx шаблон и материалы (документы, таблицы, заметки)</a:t>
            </a:r>
          </a:p>
        </p:txBody>
      </p:sp>
      <p:sp>
        <p:nvSpPr>
          <p:cNvPr id="685" name="body"/>
          <p:cNvSpPr txBox="1"/>
          <p:nvPr/>
        </p:nvSpPr>
        <p:spPr>
          <a:xfrm>
            <a:off x="274320" y="2758101"/>
            <a:ext cx="6792986" cy="135170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Автоматически преобразует шаблон в дизайн-систему (гарнитуры, шкала, палитра)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Генерирует план колоды и вёрстку по ролям страниц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 в pptx, pdf, html с редактируемыми слайдами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249" name="Google Shape;2249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85748" y="3576507"/>
            <a:ext cx="2381238" cy="285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0" name="Google Shape;225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43234" y="3576507"/>
            <a:ext cx="3762355" cy="28571"/>
          </a:xfrm>
          <a:prstGeom prst="rect">
            <a:avLst/>
          </a:prstGeom>
          <a:noFill/>
          <a:ln>
            <a:noFill/>
          </a:ln>
        </p:spPr>
      </p:pic>
      <p:sp>
        <p:nvSpPr>
          <p:cNvPr id="2251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Предложение: аудит и автоматические правки</a:t>
            </a:r>
          </a:p>
        </p:txBody>
      </p:sp>
      <p:sp>
        <p:nvSpPr>
          <p:cNvPr id="2252" name="lead"/>
          <p:cNvSpPr txBox="1"/>
          <p:nvPr/>
        </p:nvSpPr>
        <p:spPr>
          <a:xfrm>
            <a:off x="274320" y="1664127"/>
            <a:ext cx="6792986" cy="6502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 b="1">
                <a:solidFill>
                  <a:srgbClr val="000000"/>
                </a:solidFill>
                <a:latin typeface="Play"/>
                <a:ea typeface="Play"/>
                <a:cs typeface="Play"/>
              </a:rPr>
              <a:t>Аудит качества до выдачи результата</a:t>
            </a:r>
          </a:p>
        </p:txBody>
      </p:sp>
      <p:sp>
        <p:nvSpPr>
          <p:cNvPr id="2253" name="body"/>
          <p:cNvSpPr txBox="1"/>
          <p:nvPr/>
        </p:nvSpPr>
        <p:spPr>
          <a:xfrm>
            <a:off x="274320" y="2429069"/>
            <a:ext cx="6792986" cy="114741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Автоматические правки нарушений фирменного стиля</a:t>
            </a:r>
          </a:p>
          <a:p>
            <a:pPr algn="l">
              <a:spcAft>
                <a:spcPts val="300"/>
              </a:spcAft>
              <a:defRPr sz="18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Слайды остаются редактируемыми, без картинок</a:t>
            </a:r>
          </a:p>
          <a:p>
            <a:pPr algn="l">
              <a:spcAft>
                <a:spcPts val="300"/>
              </a:spcAft>
              <a:defRPr sz="18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Поддержка OpenAI-совместимых моделей (gpt-oss-20b)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Ожидаемый эффект: сокращение времени сборки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274320" y="1394994"/>
          <a:ext cx="8344814" cy="302841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Ожидаемый эффект: снижение нарушений фирменного стиля</a:t>
            </a:r>
          </a:p>
        </p:txBody>
      </p:sp>
      <p:graphicFrame>
        <p:nvGraphicFramePr>
          <p:cNvPr id="1035" name="Chart 1034"/>
          <p:cNvGraphicFramePr>
            <a:graphicFrameLocks noGrp="1"/>
          </p:cNvGraphicFramePr>
          <p:nvPr/>
        </p:nvGraphicFramePr>
        <p:xfrm>
          <a:off x="274320" y="1394994"/>
          <a:ext cx="8344814" cy="302841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Ожидаемый эффект: рост закрытых запросов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274320" y="1394994"/>
          <a:ext cx="8344814" cy="302841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Что потребуется: ресурсы и сроки</a:t>
            </a:r>
          </a:p>
        </p:txBody>
      </p:sp>
      <p:sp>
        <p:nvSpPr>
          <p:cNvPr id="556" name="stat_0:bar"/>
          <p:cNvSpPr/>
          <p:nvPr/>
        </p:nvSpPr>
        <p:spPr>
          <a:xfrm>
            <a:off x="274320" y="1410462"/>
            <a:ext cx="50800" cy="833628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stat_0"/>
          <p:cNvSpPr txBox="1"/>
          <p:nvPr/>
        </p:nvSpPr>
        <p:spPr>
          <a:xfrm>
            <a:off x="452119" y="1337310"/>
            <a:ext cx="8167014" cy="90678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32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2 vCPU</a:t>
            </a:r>
          </a:p>
          <a:p>
            <a:pPr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 работает на машине 2 vCPU / 2 ГБ RAM</a:t>
            </a:r>
          </a:p>
        </p:txBody>
      </p:sp>
      <p:sp>
        <p:nvSpPr>
          <p:cNvPr id="558" name="body"/>
          <p:cNvSpPr txBox="1"/>
          <p:nvPr/>
        </p:nvSpPr>
        <p:spPr>
          <a:xfrm>
            <a:off x="274320" y="3127247"/>
            <a:ext cx="8344814" cy="12961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Стоимость инференса за 6 недель – 1 400 руб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Подключение 4 команд в Q3 2026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Запуск для всей компании в Q4 2026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План пилота: 6 недель, 2 команды</a:t>
            </a:r>
          </a:p>
        </p:txBody>
      </p:sp>
      <p:sp>
        <p:nvSpPr>
          <p:cNvPr id="3" name="Pentagon 2"/>
          <p:cNvSpPr/>
          <p:nvPr/>
        </p:nvSpPr>
        <p:spPr>
          <a:xfrm>
            <a:off x="274320" y="1373314"/>
            <a:ext cx="8344814" cy="442341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Неделя 1</a:t>
            </a:r>
          </a:p>
        </p:txBody>
      </p:sp>
      <p:sp>
        <p:nvSpPr>
          <p:cNvPr id="4" name="Chevron 3"/>
          <p:cNvSpPr/>
          <p:nvPr/>
        </p:nvSpPr>
        <p:spPr>
          <a:xfrm>
            <a:off x="274320" y="1887664"/>
            <a:ext cx="8344814" cy="44234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Неделя 2</a:t>
            </a:r>
          </a:p>
        </p:txBody>
      </p:sp>
      <p:sp>
        <p:nvSpPr>
          <p:cNvPr id="5" name="Chevron 4"/>
          <p:cNvSpPr/>
          <p:nvPr/>
        </p:nvSpPr>
        <p:spPr>
          <a:xfrm>
            <a:off x="274320" y="2402014"/>
            <a:ext cx="8344814" cy="44234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Неделя 3</a:t>
            </a:r>
          </a:p>
        </p:txBody>
      </p:sp>
      <p:sp>
        <p:nvSpPr>
          <p:cNvPr id="6" name="Chevron 5"/>
          <p:cNvSpPr/>
          <p:nvPr/>
        </p:nvSpPr>
        <p:spPr>
          <a:xfrm>
            <a:off x="274320" y="2916364"/>
            <a:ext cx="8344814" cy="44234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Неделя 4</a:t>
            </a:r>
          </a:p>
        </p:txBody>
      </p:sp>
      <p:sp>
        <p:nvSpPr>
          <p:cNvPr id="7" name="Chevron 6"/>
          <p:cNvSpPr/>
          <p:nvPr/>
        </p:nvSpPr>
        <p:spPr>
          <a:xfrm>
            <a:off x="274320" y="3430714"/>
            <a:ext cx="8344814" cy="44234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Неделя 5</a:t>
            </a:r>
          </a:p>
        </p:txBody>
      </p:sp>
      <p:sp>
        <p:nvSpPr>
          <p:cNvPr id="8" name="Chevron 7"/>
          <p:cNvSpPr/>
          <p:nvPr/>
        </p:nvSpPr>
        <p:spPr>
          <a:xfrm>
            <a:off x="274320" y="3945064"/>
            <a:ext cx="8344814" cy="44234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Неделя 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56" name="Google Shape;1056;p66"/>
          <p:cNvSpPr/>
          <p:nvPr/>
        </p:nvSpPr>
        <p:spPr>
          <a:xfrm>
            <a:off x="285748" y="276524"/>
            <a:ext cx="8572456" cy="68571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7" name="Google Shape;1057;p66"/>
          <p:cNvSpPr/>
          <p:nvPr/>
        </p:nvSpPr>
        <p:spPr>
          <a:xfrm>
            <a:off x="3838239" y="276524"/>
            <a:ext cx="4948861" cy="1025866"/>
          </a:xfrm>
          <a:prstGeom prst="roundRect">
            <a:avLst>
              <a:gd fmla="val 1036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8" name="Google Shape;1058;p66"/>
          <p:cNvSpPr/>
          <p:nvPr/>
        </p:nvSpPr>
        <p:spPr>
          <a:xfrm>
            <a:off x="4048160" y="486417"/>
            <a:ext cx="4529021" cy="12857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9" name="title"/>
          <p:cNvSpPr txBox="1"/>
          <p:nvPr/>
        </p:nvSpPr>
        <p:spPr>
          <a:xfrm>
            <a:off x="274320" y="282943"/>
            <a:ext cx="341226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Результаты пилота: эффективность</a:t>
            </a:r>
          </a:p>
        </p:txBody>
      </p:sp>
      <p:graphicFrame>
        <p:nvGraphicFramePr>
          <p:cNvPr id="1060" name="Table 1059"/>
          <p:cNvGraphicFramePr>
            <a:graphicFrameLocks noGrp="1"/>
          </p:cNvGraphicFramePr>
          <p:nvPr/>
        </p:nvGraphicFramePr>
        <p:xfrm>
          <a:off x="274320" y="1394994"/>
          <a:ext cx="8344814" cy="30284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1604"/>
                <a:gridCol w="2781604"/>
                <a:gridCol w="2781606"/>
              </a:tblGrid>
              <a:tr h="757103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Сейчас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Сервис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757103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Время, мин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7103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 колод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710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Запросы, кол-во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43608" y="159030"/>
            <a:ext cx="7202525" cy="4133046"/>
          </a:xfrm>
          <a:prstGeom prst="roundRect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1670608" y="286030"/>
            <a:ext cx="6948525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Что мы просим решить: запуск на всю компанию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1670608" y="1649692"/>
            <a:ext cx="6948525" cy="144233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Решение о запуске сервиса на всю компанию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1670608" y="3258448"/>
            <a:ext cx="6948525" cy="116496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Поддержка интеграции с корпоративным хранилищем документов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
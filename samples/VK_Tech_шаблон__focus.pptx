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Сборка</c:v>
                </c:pt>
                <c:pt idx="1">
                  <c:v>Правки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74.0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8" Type="http://schemas.openxmlformats.org/officeDocument/2006/relationships/slideLayout" Target="../slideLayouts/slideLayout11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2" r:id="rId2"/>
    <p:sldLayoutId id="2147483658" r:id="rId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43.png"/><Relationship Id="rId3" Type="http://schemas.openxmlformats.org/officeDocument/2006/relationships/image" Target="../media/image160.png"/><Relationship Id="rId4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4.xml"/></Relationships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159000" y="1243485"/>
            <a:ext cx="4542261" cy="1248791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2286000" y="1370485"/>
            <a:ext cx="4288261" cy="102019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2705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FFFFFF"/>
                </a:solidFill>
                <a:latin typeface="Play"/>
                <a:ea typeface="Play"/>
                <a:cs typeface="Play"/>
              </a:rPr>
              <a:t>Автоматическая вёрстка презентаций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2" name="Google Shape;532;p53"/>
          <p:cNvSpPr/>
          <p:nvPr/>
        </p:nvSpPr>
        <p:spPr>
          <a:xfrm>
            <a:off x="303214" y="1022533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53"/>
          <p:cNvSpPr/>
          <p:nvPr/>
        </p:nvSpPr>
        <p:spPr>
          <a:xfrm>
            <a:off x="276488" y="29555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53"/>
          <p:cNvSpPr/>
          <p:nvPr/>
        </p:nvSpPr>
        <p:spPr>
          <a:xfrm>
            <a:off x="303214" y="27978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Контекст и возможность</a:t>
            </a:r>
          </a:p>
        </p:txBody>
      </p:sp>
      <p:graphicFrame>
        <p:nvGraphicFramePr>
          <p:cNvPr id="556" name="Chart 555"/>
          <p:cNvGraphicFramePr>
            <a:graphicFrameLocks noGrp="1"/>
          </p:cNvGraphicFramePr>
          <p:nvPr/>
        </p:nvGraphicFramePr>
        <p:xfrm>
          <a:off x="274320" y="1414513"/>
          <a:ext cx="8344814" cy="158253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57" name="body"/>
          <p:cNvSpPr txBox="1"/>
          <p:nvPr/>
        </p:nvSpPr>
        <p:spPr>
          <a:xfrm>
            <a:off x="274320" y="3125632"/>
            <a:ext cx="8344814" cy="114074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2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25">
                <a:solidFill>
                  <a:srgbClr val="000000"/>
                </a:solidFill>
                <a:latin typeface="Play"/>
                <a:ea typeface="Play"/>
                <a:cs typeface="Play"/>
              </a:rPr>
              <a:t>• 186 минут на сборку одной презентации</a:t>
            </a:r>
          </a:p>
          <a:p>
            <a:pPr algn="l">
              <a:spcAft>
                <a:spcPts val="300"/>
              </a:spcAft>
              <a:defRPr sz="122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25">
                <a:solidFill>
                  <a:srgbClr val="000000"/>
                </a:solidFill>
                <a:latin typeface="Play"/>
                <a:ea typeface="Play"/>
                <a:cs typeface="Play"/>
              </a:rPr>
              <a:t>• 74 минуты на правки после ревью</a:t>
            </a:r>
          </a:p>
          <a:p>
            <a:pPr algn="l">
              <a:spcAft>
                <a:spcPts val="300"/>
              </a:spcAft>
              <a:defRPr sz="122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25">
                <a:solidFill>
                  <a:srgbClr val="000000"/>
                </a:solidFill>
                <a:latin typeface="Play"/>
                <a:ea typeface="Play"/>
                <a:cs typeface="Play"/>
              </a:rPr>
              <a:t>• 19 из 42 колод нарушили фирменный стиль</a:t>
            </a:r>
          </a:p>
          <a:p>
            <a:pPr algn="l">
              <a:spcAft>
                <a:spcPts val="300"/>
              </a:spcAft>
              <a:defRPr sz="122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25">
                <a:solidFill>
                  <a:srgbClr val="000000"/>
                </a:solidFill>
                <a:latin typeface="Play"/>
                <a:ea typeface="Play"/>
                <a:cs typeface="Play"/>
              </a:rPr>
              <a:t>• 4 дизайнера закрывают 11 запросов в неделю</a:t>
            </a:r>
          </a:p>
          <a:p>
            <a:pPr algn="l">
              <a:spcAft>
                <a:spcPts val="300"/>
              </a:spcAft>
              <a:defRPr sz="122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25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Средний срок ожидания 6 рабочих дней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249" name="Google Shape;2249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85748" y="3576507"/>
            <a:ext cx="2381238" cy="285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50" name="Google Shape;225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43234" y="3576507"/>
            <a:ext cx="3762355" cy="28571"/>
          </a:xfrm>
          <a:prstGeom prst="rect">
            <a:avLst/>
          </a:prstGeom>
          <a:noFill/>
          <a:ln>
            <a:noFill/>
          </a:ln>
        </p:spPr>
      </p:pic>
      <p:sp>
        <p:nvSpPr>
          <p:cNvPr id="2251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Предложение</a:t>
            </a:r>
          </a:p>
        </p:txBody>
      </p:sp>
      <p:sp>
        <p:nvSpPr>
          <p:cNvPr id="2252" name="lead"/>
          <p:cNvSpPr txBox="1"/>
          <p:nvPr/>
        </p:nvSpPr>
        <p:spPr>
          <a:xfrm>
            <a:off x="274320" y="1414513"/>
            <a:ext cx="6792986" cy="64859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 b="1">
                <a:solidFill>
                  <a:srgbClr val="000000"/>
                </a:solidFill>
                <a:latin typeface="Play"/>
                <a:ea typeface="Play"/>
                <a:cs typeface="Play"/>
              </a:rPr>
              <a:t>Принимает шаблон pptx и материалы</a:t>
            </a:r>
          </a:p>
        </p:txBody>
      </p:sp>
      <p:sp>
        <p:nvSpPr>
          <p:cNvPr id="2253" name="body"/>
          <p:cNvSpPr txBox="1"/>
          <p:nvPr/>
        </p:nvSpPr>
        <p:spPr>
          <a:xfrm>
            <a:off x="274320" y="2192822"/>
            <a:ext cx="6792986" cy="138365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3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3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Генерирует колоду по дизайн‑системе</a:t>
            </a:r>
          </a:p>
          <a:p>
            <a:pPr algn="l">
              <a:spcAft>
                <a:spcPts val="300"/>
              </a:spcAft>
              <a:defRPr sz="1803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3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Аудит качества проверяет каждый элемент</a:t>
            </a:r>
          </a:p>
          <a:p>
            <a:pPr algn="l">
              <a:spcAft>
                <a:spcPts val="300"/>
              </a:spcAft>
              <a:defRPr sz="1803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3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Экспорт в pptx, pdf и html</a:t>
            </a:r>
          </a:p>
          <a:p>
            <a:pPr algn="l">
              <a:spcAft>
                <a:spcPts val="300"/>
              </a:spcAft>
              <a:defRPr sz="1803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3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Слайды остаются редактируемыми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385" name="Google Shape;2385;p8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88142" y="2000324"/>
            <a:ext cx="8755811" cy="9524"/>
          </a:xfrm>
          <a:prstGeom prst="rect">
            <a:avLst/>
          </a:prstGeom>
          <a:noFill/>
          <a:ln>
            <a:noFill/>
          </a:ln>
        </p:spPr>
      </p:pic>
      <p:sp>
        <p:nvSpPr>
          <p:cNvPr id="2386" name="Google Shape;2386;p88"/>
          <p:cNvSpPr/>
          <p:nvPr/>
        </p:nvSpPr>
        <p:spPr>
          <a:xfrm>
            <a:off x="319086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8" name="Google Shape;2388;p88"/>
          <p:cNvSpPr/>
          <p:nvPr/>
        </p:nvSpPr>
        <p:spPr>
          <a:xfrm>
            <a:off x="2600312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0" name="Google Shape;2390;p88"/>
          <p:cNvSpPr/>
          <p:nvPr/>
        </p:nvSpPr>
        <p:spPr>
          <a:xfrm>
            <a:off x="4881537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2" name="Google Shape;2392;p88"/>
          <p:cNvSpPr/>
          <p:nvPr/>
        </p:nvSpPr>
        <p:spPr>
          <a:xfrm>
            <a:off x="7162763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2394" name="Google Shape;2394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3684300"/>
            <a:ext cx="7238962" cy="7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395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Ожидаемый эффект</a:t>
            </a:r>
          </a:p>
        </p:txBody>
      </p:sp>
      <p:graphicFrame>
        <p:nvGraphicFramePr>
          <p:cNvPr id="2396" name="Table 2395"/>
          <p:cNvGraphicFramePr>
            <a:graphicFrameLocks noGrp="1"/>
          </p:cNvGraphicFramePr>
          <p:nvPr/>
        </p:nvGraphicFramePr>
        <p:xfrm>
          <a:off x="274320" y="2009822"/>
          <a:ext cx="8344814" cy="16744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1604"/>
                <a:gridCol w="2781604"/>
                <a:gridCol w="2781606"/>
              </a:tblGrid>
              <a:tr h="334893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Метрика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Текущее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Пилот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334893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Сборка (мин)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4893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Время до первой версии (дней)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4893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Нарушения (колод)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489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Запросы (запросов)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428" name="Google Shape;2428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2732082"/>
            <a:ext cx="8515008" cy="92615"/>
          </a:xfrm>
          <a:prstGeom prst="rect">
            <a:avLst/>
          </a:prstGeom>
          <a:noFill/>
          <a:ln>
            <a:noFill/>
          </a:ln>
        </p:spPr>
      </p:pic>
      <p:sp>
        <p:nvSpPr>
          <p:cNvPr id="2429" name="Google Shape;2429;p89"/>
          <p:cNvSpPr/>
          <p:nvPr/>
        </p:nvSpPr>
        <p:spPr>
          <a:xfrm>
            <a:off x="553415" y="1828897"/>
            <a:ext cx="2232516" cy="149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1" name="Google Shape;2431;p89"/>
          <p:cNvSpPr/>
          <p:nvPr/>
        </p:nvSpPr>
        <p:spPr>
          <a:xfrm>
            <a:off x="3565736" y="1828897"/>
            <a:ext cx="2232516" cy="149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3" name="Google Shape;2433;p89"/>
          <p:cNvSpPr/>
          <p:nvPr/>
        </p:nvSpPr>
        <p:spPr>
          <a:xfrm>
            <a:off x="6578067" y="1828897"/>
            <a:ext cx="2232516" cy="149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4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Ресурсы и сроки</a:t>
            </a:r>
          </a:p>
        </p:txBody>
      </p:sp>
      <p:sp>
        <p:nvSpPr>
          <p:cNvPr id="2435" name="Rectangle 2434"/>
          <p:cNvSpPr/>
          <p:nvPr/>
        </p:nvSpPr>
        <p:spPr>
          <a:xfrm>
            <a:off x="274320" y="1719008"/>
            <a:ext cx="8344814" cy="19858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6" name="Oval 2435"/>
          <p:cNvSpPr/>
          <p:nvPr/>
        </p:nvSpPr>
        <p:spPr>
          <a:xfrm>
            <a:off x="1244607" y="1656123"/>
            <a:ext cx="145628" cy="145628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7" name="TextBox 2436"/>
          <p:cNvSpPr txBox="1"/>
          <p:nvPr/>
        </p:nvSpPr>
        <p:spPr>
          <a:xfrm>
            <a:off x="274320" y="1414513"/>
            <a:ext cx="2086203" cy="2515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Подключение 4 команд</a:t>
            </a:r>
          </a:p>
        </p:txBody>
      </p:sp>
      <p:sp>
        <p:nvSpPr>
          <p:cNvPr id="2438" name="Oval 2437"/>
          <p:cNvSpPr/>
          <p:nvPr/>
        </p:nvSpPr>
        <p:spPr>
          <a:xfrm>
            <a:off x="3330811" y="1656123"/>
            <a:ext cx="145628" cy="145628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9" name="TextBox 2438"/>
          <p:cNvSpPr txBox="1"/>
          <p:nvPr/>
        </p:nvSpPr>
        <p:spPr>
          <a:xfrm>
            <a:off x="2360523" y="1864636"/>
            <a:ext cx="2086203" cy="2515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Домен и HTTPS</a:t>
            </a:r>
          </a:p>
        </p:txBody>
      </p:sp>
      <p:sp>
        <p:nvSpPr>
          <p:cNvPr id="2440" name="Oval 2439"/>
          <p:cNvSpPr/>
          <p:nvPr/>
        </p:nvSpPr>
        <p:spPr>
          <a:xfrm>
            <a:off x="5417014" y="1656123"/>
            <a:ext cx="145628" cy="145628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1" name="TextBox 2440"/>
          <p:cNvSpPr txBox="1"/>
          <p:nvPr/>
        </p:nvSpPr>
        <p:spPr>
          <a:xfrm>
            <a:off x="4446727" y="1414513"/>
            <a:ext cx="2086203" cy="2515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Доступ всей компании</a:t>
            </a:r>
          </a:p>
        </p:txBody>
      </p:sp>
      <p:sp>
        <p:nvSpPr>
          <p:cNvPr id="2442" name="Oval 2441"/>
          <p:cNvSpPr/>
          <p:nvPr/>
        </p:nvSpPr>
        <p:spPr>
          <a:xfrm>
            <a:off x="7503218" y="1656123"/>
            <a:ext cx="145628" cy="145628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3" name="TextBox 2442"/>
          <p:cNvSpPr txBox="1"/>
          <p:nvPr/>
        </p:nvSpPr>
        <p:spPr>
          <a:xfrm>
            <a:off x="6532930" y="1864636"/>
            <a:ext cx="2086203" cy="2515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Генерация иллюстраций</a:t>
            </a:r>
          </a:p>
        </p:txBody>
      </p:sp>
      <p:sp>
        <p:nvSpPr>
          <p:cNvPr id="2444" name="body"/>
          <p:cNvSpPr txBox="1"/>
          <p:nvPr/>
        </p:nvSpPr>
        <p:spPr>
          <a:xfrm>
            <a:off x="274320" y="2205049"/>
            <a:ext cx="8344814" cy="527023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2 vCPU / 2 GB RAM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1 400 рублей за 6 недель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Модель gpt-oss-20b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Подключение 4 команд, домен и HTTPS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Доступ всей компании, интеграция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Генерация иллюстраций в Q1 2027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2" name="Google Shape;532;p53"/>
          <p:cNvSpPr/>
          <p:nvPr/>
        </p:nvSpPr>
        <p:spPr>
          <a:xfrm>
            <a:off x="303214" y="1022533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9" name="Google Shape;549;p53"/>
          <p:cNvSpPr/>
          <p:nvPr/>
        </p:nvSpPr>
        <p:spPr>
          <a:xfrm>
            <a:off x="7359897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53"/>
          <p:cNvSpPr/>
          <p:nvPr/>
        </p:nvSpPr>
        <p:spPr>
          <a:xfrm>
            <a:off x="276488" y="29555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53"/>
          <p:cNvSpPr/>
          <p:nvPr/>
        </p:nvSpPr>
        <p:spPr>
          <a:xfrm>
            <a:off x="303214" y="27978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p53"/>
          <p:cNvSpPr/>
          <p:nvPr/>
        </p:nvSpPr>
        <p:spPr>
          <a:xfrm>
            <a:off x="7359897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2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План пилота</a:t>
            </a:r>
          </a:p>
        </p:txBody>
      </p:sp>
      <p:sp>
        <p:nvSpPr>
          <p:cNvPr id="573" name="lead"/>
          <p:cNvSpPr txBox="1"/>
          <p:nvPr/>
        </p:nvSpPr>
        <p:spPr>
          <a:xfrm>
            <a:off x="274320" y="1414513"/>
            <a:ext cx="6792986" cy="85555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6 недель</a:t>
            </a:r>
          </a:p>
        </p:txBody>
      </p:sp>
      <p:sp>
        <p:nvSpPr>
          <p:cNvPr id="574" name="body"/>
          <p:cNvSpPr txBox="1"/>
          <p:nvPr/>
        </p:nvSpPr>
        <p:spPr>
          <a:xfrm>
            <a:off x="274320" y="2441185"/>
            <a:ext cx="6792986" cy="1825193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2 команды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68 презентаций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Сборка 4 мин вместо 186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Время до первой версии 1 день вместо 6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Нарушения 2 из 68, запросы 38 вместо 11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7" name="Google Shape;1027;p65"/>
          <p:cNvSpPr/>
          <p:nvPr/>
        </p:nvSpPr>
        <p:spPr>
          <a:xfrm>
            <a:off x="6064222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9" name="Google Shape;1029;p65"/>
          <p:cNvSpPr/>
          <p:nvPr/>
        </p:nvSpPr>
        <p:spPr>
          <a:xfrm>
            <a:off x="3174981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1" name="Google Shape;1031;p65"/>
          <p:cNvSpPr/>
          <p:nvPr/>
        </p:nvSpPr>
        <p:spPr>
          <a:xfrm>
            <a:off x="285749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6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3" name="Google Shape;1033;p6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5" name="Google Shape;1035;p65"/>
          <p:cNvSpPr/>
          <p:nvPr/>
        </p:nvSpPr>
        <p:spPr>
          <a:xfrm>
            <a:off x="476248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1" name="Google Shape;1041;p65"/>
          <p:cNvSpPr/>
          <p:nvPr/>
        </p:nvSpPr>
        <p:spPr>
          <a:xfrm>
            <a:off x="3365480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6" name="Google Shape;1046;p65"/>
          <p:cNvSpPr/>
          <p:nvPr/>
        </p:nvSpPr>
        <p:spPr>
          <a:xfrm>
            <a:off x="6254721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7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Риски</a:t>
            </a:r>
          </a:p>
        </p:txBody>
      </p:sp>
      <p:sp>
        <p:nvSpPr>
          <p:cNvPr id="1048" name="Oval 1047"/>
          <p:cNvSpPr/>
          <p:nvPr/>
        </p:nvSpPr>
        <p:spPr>
          <a:xfrm>
            <a:off x="1411519" y="1530621"/>
            <a:ext cx="433029" cy="433029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TextBox 1048"/>
          <p:cNvSpPr txBox="1"/>
          <p:nvPr/>
        </p:nvSpPr>
        <p:spPr>
          <a:xfrm>
            <a:off x="274320" y="2076828"/>
            <a:ext cx="2707428" cy="383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Слабая модель может выдумать цифры</a:t>
            </a:r>
          </a:p>
        </p:txBody>
      </p:sp>
      <p:sp>
        <p:nvSpPr>
          <p:cNvPr id="1050" name="Document 1049"/>
          <p:cNvSpPr/>
          <p:nvPr/>
        </p:nvSpPr>
        <p:spPr>
          <a:xfrm>
            <a:off x="4241038" y="1519795"/>
            <a:ext cx="411377" cy="454680"/>
          </a:xfrm>
          <a:prstGeom prst="flowChartDocumen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TextBox 1050"/>
          <p:cNvSpPr txBox="1"/>
          <p:nvPr/>
        </p:nvSpPr>
        <p:spPr>
          <a:xfrm>
            <a:off x="3093012" y="2076828"/>
            <a:ext cx="2707428" cy="383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Незнакомый шаблон может быть плохо сделан</a:t>
            </a:r>
          </a:p>
        </p:txBody>
      </p:sp>
      <p:sp>
        <p:nvSpPr>
          <p:cNvPr id="1052" name="Oval 1051"/>
          <p:cNvSpPr/>
          <p:nvPr/>
        </p:nvSpPr>
        <p:spPr>
          <a:xfrm>
            <a:off x="7016428" y="1498144"/>
            <a:ext cx="497983" cy="497983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Oval 1052"/>
          <p:cNvSpPr/>
          <p:nvPr/>
        </p:nvSpPr>
        <p:spPr>
          <a:xfrm>
            <a:off x="7103033" y="1584750"/>
            <a:ext cx="324771" cy="32477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Oval 1053"/>
          <p:cNvSpPr/>
          <p:nvPr/>
        </p:nvSpPr>
        <p:spPr>
          <a:xfrm>
            <a:off x="7178813" y="1660530"/>
            <a:ext cx="173211" cy="173211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Oval 1054"/>
          <p:cNvSpPr/>
          <p:nvPr/>
        </p:nvSpPr>
        <p:spPr>
          <a:xfrm>
            <a:off x="7232942" y="1714658"/>
            <a:ext cx="64954" cy="6495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TextBox 1055"/>
          <p:cNvSpPr txBox="1"/>
          <p:nvPr/>
        </p:nvSpPr>
        <p:spPr>
          <a:xfrm>
            <a:off x="5911705" y="2076828"/>
            <a:ext cx="2707428" cy="383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Нагрузка более 20 задач требует внешней очереди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249" name="Google Shape;2249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85748" y="3576507"/>
            <a:ext cx="2381238" cy="285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50" name="Google Shape;225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43234" y="3576507"/>
            <a:ext cx="3762355" cy="28571"/>
          </a:xfrm>
          <a:prstGeom prst="rect">
            <a:avLst/>
          </a:prstGeom>
          <a:noFill/>
          <a:ln>
            <a:noFill/>
          </a:ln>
        </p:spPr>
      </p:pic>
      <p:sp>
        <p:nvSpPr>
          <p:cNvPr id="2251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Потенциальные выгоды</a:t>
            </a:r>
          </a:p>
        </p:txBody>
      </p:sp>
      <p:sp>
        <p:nvSpPr>
          <p:cNvPr id="2252" name="lead"/>
          <p:cNvSpPr txBox="1"/>
          <p:nvPr/>
        </p:nvSpPr>
        <p:spPr>
          <a:xfrm>
            <a:off x="274320" y="1414513"/>
            <a:ext cx="6792986" cy="64859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3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3" b="1">
                <a:solidFill>
                  <a:srgbClr val="000000"/>
                </a:solidFill>
                <a:latin typeface="Play"/>
                <a:ea typeface="Play"/>
                <a:cs typeface="Play"/>
              </a:rPr>
              <a:t>Сокращение времени на создание презентаций</a:t>
            </a:r>
          </a:p>
        </p:txBody>
      </p:sp>
      <p:sp>
        <p:nvSpPr>
          <p:cNvPr id="2253" name="body"/>
          <p:cNvSpPr txBox="1"/>
          <p:nvPr/>
        </p:nvSpPr>
        <p:spPr>
          <a:xfrm>
            <a:off x="274320" y="2192822"/>
            <a:ext cx="6792986" cy="138365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Уменьшение нарушений фирменного стиля</a:t>
            </a:r>
          </a:p>
          <a:p>
            <a:pPr algn="l">
              <a:spcAft>
                <a:spcPts val="300"/>
              </a:spcAft>
              <a:defRPr sz="2438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Повышение продуктивности дизайнеров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7" name="Google Shape;1027;p65"/>
          <p:cNvSpPr/>
          <p:nvPr/>
        </p:nvSpPr>
        <p:spPr>
          <a:xfrm>
            <a:off x="6064222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9" name="Google Shape;1029;p65"/>
          <p:cNvSpPr/>
          <p:nvPr/>
        </p:nvSpPr>
        <p:spPr>
          <a:xfrm>
            <a:off x="3174981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1" name="Google Shape;1031;p65"/>
          <p:cNvSpPr/>
          <p:nvPr/>
        </p:nvSpPr>
        <p:spPr>
          <a:xfrm>
            <a:off x="285749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6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3" name="Google Shape;1033;p6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4" name="Google Shape;1034;p65"/>
          <p:cNvSpPr/>
          <p:nvPr/>
        </p:nvSpPr>
        <p:spPr>
          <a:xfrm>
            <a:off x="476248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5" name="Google Shape;1035;p65"/>
          <p:cNvSpPr/>
          <p:nvPr/>
        </p:nvSpPr>
        <p:spPr>
          <a:xfrm>
            <a:off x="476248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0" name="Google Shape;1040;p65"/>
          <p:cNvSpPr/>
          <p:nvPr/>
        </p:nvSpPr>
        <p:spPr>
          <a:xfrm>
            <a:off x="3365480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1" name="Google Shape;1041;p65"/>
          <p:cNvSpPr/>
          <p:nvPr/>
        </p:nvSpPr>
        <p:spPr>
          <a:xfrm>
            <a:off x="3365480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5" name="Google Shape;1045;p65"/>
          <p:cNvSpPr/>
          <p:nvPr/>
        </p:nvSpPr>
        <p:spPr>
          <a:xfrm>
            <a:off x="6254721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6" name="Google Shape;1046;p65"/>
          <p:cNvSpPr/>
          <p:nvPr/>
        </p:nvSpPr>
        <p:spPr>
          <a:xfrm>
            <a:off x="6254721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7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Что мы просим решить</a:t>
            </a:r>
          </a:p>
        </p:txBody>
      </p:sp>
      <p:sp>
        <p:nvSpPr>
          <p:cNvPr id="1048" name="lead"/>
          <p:cNvSpPr txBox="1"/>
          <p:nvPr/>
        </p:nvSpPr>
        <p:spPr>
          <a:xfrm>
            <a:off x="274320" y="1476493"/>
            <a:ext cx="6792986" cy="29524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Одобрить запуск сервиса на всю компанию</a:t>
            </a:r>
          </a:p>
        </p:txBody>
      </p:sp>
      <p:sp>
        <p:nvSpPr>
          <p:cNvPr id="1049" name="body"/>
          <p:cNvSpPr txBox="1"/>
          <p:nvPr/>
        </p:nvSpPr>
        <p:spPr>
          <a:xfrm>
            <a:off x="274320" y="1830789"/>
            <a:ext cx="6792986" cy="6298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406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6">
                <a:solidFill>
                  <a:srgbClr val="000000"/>
                </a:solidFill>
                <a:latin typeface="Play"/>
                <a:ea typeface="Play"/>
                <a:cs typeface="Play"/>
              </a:rPr>
              <a:t>• Обеспечить инфраструктуру и интеграцию</a:t>
            </a:r>
          </a:p>
          <a:p>
            <a:pPr algn="l">
              <a:spcAft>
                <a:spcPts val="300"/>
              </a:spcAft>
              <a:defRPr sz="1406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6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Поддерживать модель и обновления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45963" y="1555901"/>
            <a:ext cx="4627118" cy="2379662"/>
          </a:xfrm>
          <a:prstGeom prst="roundRect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72963" y="1682901"/>
            <a:ext cx="4373118" cy="6553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Вывод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72963" y="2518244"/>
            <a:ext cx="4373118" cy="190516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Успешный запуск позволит ускорить создание презентаций и повысить качество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
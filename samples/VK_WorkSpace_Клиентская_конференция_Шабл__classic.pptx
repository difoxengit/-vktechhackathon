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3" r:id="rId5"/>
  </p:sldMasterIdLst>
  <p:notesMasterIdLst>
    <p:notesMasterId r:id="rId6"/>
  </p:notesMasterIdLst>
  <p:sldIdLst>
    <p:sldId id="285" r:id="rId38"/>
    <p:sldId id="286" r:id="rId39"/>
    <p:sldId id="287" r:id="rId40"/>
    <p:sldId id="288" r:id="rId41"/>
    <p:sldId id="289" r:id="rId42"/>
    <p:sldId id="290" r:id="rId43"/>
    <p:sldId id="291" r:id="rId44"/>
    <p:sldId id="292" r:id="rId45"/>
    <p:sldId id="293" r:id="rId46"/>
  </p:sldIdLst>
  <p:sldSz cy="6858000" cx="12192000"/>
  <p:notesSz cx="6858000" cy="9144000"/>
  <p:embeddedFontLst>
    <p:embeddedFont>
      <p:font typeface="Play"/>
      <p:regular r:id="rId36"/>
      <p:bold r:id="rId3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  <p15:guide id="3" pos="2547">
          <p15:clr>
            <a:srgbClr val="A4A3A4"/>
          </p15:clr>
        </p15:guide>
        <p15:guide id="4" orient="horz" pos="77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AC9AF0A-6FEA-4B71-B213-FBF42B605303}">
  <a:tblStyle styleId="{5AC9AF0A-6FEA-4B71-B213-FBF42B605303}" styleName="Table_0">
    <a:wholeTbl>
      <a:tcTxStyle b="off" i="off">
        <a:font>
          <a:latin typeface="SF Pro Text Light"/>
          <a:ea typeface="SF Pro Text Light"/>
          <a:cs typeface="SF Pro Text Ligh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6EBFF"/>
          </a:solidFill>
        </a:fill>
      </a:tcStyle>
    </a:wholeTbl>
    <a:band1H>
      <a:tcTxStyle/>
      <a:tcStyle>
        <a:fill>
          <a:solidFill>
            <a:srgbClr val="CAD5FF"/>
          </a:solidFill>
        </a:fill>
      </a:tcStyle>
    </a:band1H>
    <a:band2H>
      <a:tcTxStyle/>
    </a:band2H>
    <a:band1V>
      <a:tcTxStyle/>
      <a:tcStyle>
        <a:fill>
          <a:solidFill>
            <a:srgbClr val="CAD5FF"/>
          </a:solidFill>
        </a:fill>
      </a:tcStyle>
    </a:band1V>
    <a:band2V>
      <a:tcTxStyle/>
    </a:band2V>
    <a:la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0"/>
        <p:guide pos="2547"/>
        <p:guide pos="777" orient="horz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36" Type="http://schemas.openxmlformats.org/officeDocument/2006/relationships/font" Target="fonts/Play-regular.fntdata"/><Relationship Id="rId37" Type="http://schemas.openxmlformats.org/officeDocument/2006/relationships/font" Target="fonts/Play-bold.fntdata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42" Type="http://schemas.openxmlformats.org/officeDocument/2006/relationships/slide" Target="slides/slide34.xml"/><Relationship Id="rId43" Type="http://schemas.openxmlformats.org/officeDocument/2006/relationships/slide" Target="slides/slide35.xml"/><Relationship Id="rId44" Type="http://schemas.openxmlformats.org/officeDocument/2006/relationships/slide" Target="slides/slide36.xml"/><Relationship Id="rId45" Type="http://schemas.openxmlformats.org/officeDocument/2006/relationships/slide" Target="slides/slide37.xml"/><Relationship Id="rId46" Type="http://schemas.openxmlformats.org/officeDocument/2006/relationships/slide" Target="slides/slide3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Время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Sheet1!$A$2:$A$3</c:f>
              <c:strCache>
                <c:ptCount val="2"/>
                <c:pt idx="0">
                  <c:v>Текущее время</c:v>
                </c:pt>
                <c:pt idx="1">
                  <c:v>Автоматизированное время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186.0</c:v>
                </c:pt>
                <c:pt idx="1">
                  <c:v>4.0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3C3C3C"/>
              </a:solidFill>
            </a:ln>
          </c:spPr>
        </c:majorGridlines>
        <c:title>
          <c:tx>
            <c:rich>
              <a:bodyPr/>
              <a:lstStyle/>
              <a:p>
                <a:pPr>
                  <a:defRPr sz="1100" b="0">
                    <a:solidFill>
                      <a:srgbClr val="FFFFFF"/>
                    </a:solidFill>
                    <a:latin typeface="Play"/>
                    <a:ea typeface="Play"/>
                    <a:cs typeface="Play"/>
                  </a:defRPr>
                </a:pPr>
                <a:r>
                  <a:t>минут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FFFFFF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-RU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Титульный слайд">
  <p:cSld name="13_Титульный слайд">
    <p:bg>
      <p:bgPr>
        <a:solidFill>
          <a:schemeClr val="dk1"/>
        </a:solid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5" name="Google Shape;175;p7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176" name="Google Shape;176;p7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7" name="Google Shape;177;p7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8" name="Google Shape;178;p7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9" name="Google Shape;179;p7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0" name="Google Shape;180;p7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1" name="Google Shape;181;p7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2" name="Google Shape;182;p7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3" name="Google Shape;183;p7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4" name="Google Shape;184;p7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5" name="Google Shape;185;p7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6" name="Google Shape;186;p7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7" name="Google Shape;187;p7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8" name="Google Shape;188;p7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9" name="Google Shape;189;p7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0" name="Google Shape;190;p7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1" name="Google Shape;191;p7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2" name="Google Shape;192;p7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3" name="Google Shape;193;p7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4" name="Google Shape;194;p7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195" name="Google Shape;195;p7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96" name="Google Shape;196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97" name="Google Shape;197;p7"/>
          <p:cNvPicPr preferRelativeResize="0"/>
          <p:nvPr/>
        </p:nvPicPr>
        <p:blipFill rotWithShape="1">
          <a:blip r:embed="rId3">
            <a:alphaModFix/>
          </a:blip>
          <a:srcRect b="86725" l="0" r="72339" t="0"/>
          <a:stretch/>
        </p:blipFill>
        <p:spPr>
          <a:xfrm flipH="1">
            <a:off x="8819540" y="0"/>
            <a:ext cx="3372437" cy="910269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7"/>
          <p:cNvSpPr/>
          <p:nvPr/>
        </p:nvSpPr>
        <p:spPr>
          <a:xfrm>
            <a:off x="8613058" y="322621"/>
            <a:ext cx="1407652" cy="58764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7"/>
          <p:cNvSpPr/>
          <p:nvPr/>
        </p:nvSpPr>
        <p:spPr>
          <a:xfrm>
            <a:off x="10858521" y="0"/>
            <a:ext cx="1049981" cy="261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7"/>
          <p:cNvSpPr/>
          <p:nvPr/>
        </p:nvSpPr>
        <p:spPr>
          <a:xfrm>
            <a:off x="10760947" y="616445"/>
            <a:ext cx="582556" cy="3386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 " id="201" name="Google Shape;201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7_Титульный слайд">
  <p:cSld name="17_Титульный слайд">
    <p:bg>
      <p:bgPr>
        <a:solidFill>
          <a:schemeClr val="dk1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9" name="Google Shape;209;p9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210" name="Google Shape;210;p9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1" name="Google Shape;211;p9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2" name="Google Shape;212;p9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3" name="Google Shape;213;p9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4" name="Google Shape;214;p9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5" name="Google Shape;215;p9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6" name="Google Shape;216;p9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7" name="Google Shape;217;p9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8" name="Google Shape;218;p9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9" name="Google Shape;219;p9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0" name="Google Shape;220;p9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1" name="Google Shape;221;p9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2" name="Google Shape;222;p9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3" name="Google Shape;223;p9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4" name="Google Shape;224;p9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5" name="Google Shape;225;p9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6" name="Google Shape;226;p9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7" name="Google Shape;227;p9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8" name="Google Shape;228;p9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229" name="Google Shape;229;p9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descr=" " id="230" name="Google Shape;230;p9"/>
          <p:cNvPicPr preferRelativeResize="0"/>
          <p:nvPr/>
        </p:nvPicPr>
        <p:blipFill rotWithShape="1">
          <a:blip r:embed="rId2">
            <a:alphaModFix/>
          </a:blip>
          <a:srcRect b="86725" l="0" r="72339" t="0"/>
          <a:stretch/>
        </p:blipFill>
        <p:spPr>
          <a:xfrm flipH="1">
            <a:off x="8819540" y="0"/>
            <a:ext cx="3372437" cy="910269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9"/>
          <p:cNvSpPr/>
          <p:nvPr/>
        </p:nvSpPr>
        <p:spPr>
          <a:xfrm>
            <a:off x="8613058" y="322621"/>
            <a:ext cx="1407652" cy="58764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9"/>
          <p:cNvSpPr/>
          <p:nvPr/>
        </p:nvSpPr>
        <p:spPr>
          <a:xfrm>
            <a:off x="10858521" y="0"/>
            <a:ext cx="1049981" cy="261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9"/>
          <p:cNvSpPr/>
          <p:nvPr/>
        </p:nvSpPr>
        <p:spPr>
          <a:xfrm>
            <a:off x="10760947" y="616445"/>
            <a:ext cx="582556" cy="3386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Титульный слайд">
  <p:cSld name="12_Титульный слайд">
    <p:bg>
      <p:bgPr>
        <a:solidFill>
          <a:schemeClr val="dk1"/>
        </a:solidFill>
      </p:bgPr>
    </p:bg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327" name="Google Shape;327;p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1979" cy="6857131"/>
          </a:xfrm>
          <a:prstGeom prst="rect">
            <a:avLst/>
          </a:prstGeom>
          <a:noFill/>
          <a:ln>
            <a:noFill/>
          </a:ln>
        </p:spPr>
      </p:pic>
      <p:sp>
        <p:nvSpPr>
          <p:cNvPr id="328" name="Google Shape;328;p15"/>
          <p:cNvSpPr/>
          <p:nvPr/>
        </p:nvSpPr>
        <p:spPr>
          <a:xfrm>
            <a:off x="0" y="4499104"/>
            <a:ext cx="6792686" cy="1661684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9" name="Google Shape;329;p15"/>
          <p:cNvSpPr/>
          <p:nvPr/>
        </p:nvSpPr>
        <p:spPr>
          <a:xfrm>
            <a:off x="1" y="5501389"/>
            <a:ext cx="4811842" cy="135660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30" name="Google Shape;330;p15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331" name="Google Shape;331;p15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2" name="Google Shape;332;p15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3" name="Google Shape;333;p15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4" name="Google Shape;334;p15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5" name="Google Shape;335;p15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6" name="Google Shape;336;p15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7" name="Google Shape;337;p15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8" name="Google Shape;338;p15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9" name="Google Shape;339;p15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0" name="Google Shape;340;p15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1" name="Google Shape;341;p15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2" name="Google Shape;342;p15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3" name="Google Shape;343;p15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4" name="Google Shape;344;p15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5" name="Google Shape;345;p15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6" name="Google Shape;346;p15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7" name="Google Shape;347;p15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8" name="Google Shape;348;p15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9" name="Google Shape;349;p15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350" name="Google Shape;350;p15"/>
          <p:cNvSpPr txBox="1"/>
          <p:nvPr>
            <p:ph type="title"/>
          </p:nvPr>
        </p:nvSpPr>
        <p:spPr>
          <a:xfrm>
            <a:off x="429253" y="2291422"/>
            <a:ext cx="7827335" cy="187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Play"/>
              <a:buNone/>
              <a:defRPr b="0" i="0" sz="5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351" name="Google Shape;35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5895936"/>
            <a:ext cx="3536690" cy="5572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352" name="Google Shape;352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858522" y="6160788"/>
            <a:ext cx="934755" cy="292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7" Type="http://schemas.openxmlformats.org/officeDocument/2006/relationships/slideLayout" Target="../slideLayouts/slideLayout6.xml"/><Relationship Id="rId9" Type="http://schemas.openxmlformats.org/officeDocument/2006/relationships/slideLayout" Target="../slideLayouts/slideLayout8.xml"/><Relationship Id="rId15" Type="http://schemas.openxmlformats.org/officeDocument/2006/relationships/slideLayout" Target="../slideLayouts/slideLayout14.xml"/><Relationship Id="rId1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427866" y="662333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b="0" i="0" sz="3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658813" y="1773239"/>
            <a:ext cx="10855852" cy="43926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295275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Char char="•"/>
              <a:defRPr b="0" i="0" sz="105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1" type="ftr"/>
          </p:nvPr>
        </p:nvSpPr>
        <p:spPr>
          <a:xfrm>
            <a:off x="671513" y="167981"/>
            <a:ext cx="10874375" cy="241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A6A6A6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3" name="Google Shape;13;p1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4" name="Google Shape;14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" name="Google Shape;15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" name="Google Shape;16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" name="Google Shape;17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" name="Google Shape;18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" name="Google Shape;19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" name="Google Shape;20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" name="Google Shape;21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" name="Google Shape;22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" name="Google Shape;23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" name="Google Shape;24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" name="Google Shape;25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6" name="Google Shape;26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" name="Google Shape;27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" name="Google Shape;28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9" name="Google Shape;29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" name="Google Shape;30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" name="Google Shape;31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2" name="Google Shape;32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33" name="Google Shape;33;p1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34" name="Google Shape;34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" name="Google Shape;35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" name="Google Shape;36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" name="Google Shape;37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8" name="Google Shape;38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9" name="Google Shape;39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0" name="Google Shape;40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1" name="Google Shape;41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2" name="Google Shape;42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3" name="Google Shape;43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4" name="Google Shape;44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5" name="Google Shape;45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6" name="Google Shape;46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7" name="Google Shape;47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8" name="Google Shape;48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9" name="Google Shape;49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0" name="Google Shape;50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1" name="Google Shape;51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2" name="Google Shape;52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pic>
        <p:nvPicPr>
          <p:cNvPr id="53" name="Google Shape;53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419564" y="6161239"/>
            <a:ext cx="932071" cy="288000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53" r:id="rId7"/>
    <p:sldLayoutId id="2147483655" r:id="rId9"/>
    <p:sldLayoutId id="2147483661" r:id="rId1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257">
          <p15:clr>
            <a:srgbClr val="FDE53C"/>
          </p15:clr>
        </p15:guide>
        <p15:guide id="2" pos="7423">
          <p15:clr>
            <a:srgbClr val="FDE53C"/>
          </p15:clr>
        </p15:guide>
        <p15:guide id="3" orient="horz" pos="4065">
          <p15:clr>
            <a:srgbClr val="FDE53C"/>
          </p15:clr>
        </p15:guide>
        <p15:guide id="4" pos="5201">
          <p15:clr>
            <a:srgbClr val="FDE53C"/>
          </p15:clr>
        </p15:guide>
        <p15:guide id="5" pos="2479">
          <p15:clr>
            <a:srgbClr val="FDE53C"/>
          </p15:clr>
        </p15:guide>
        <p15:guide id="6" pos="3840">
          <p15:clr>
            <a:srgbClr val="FDE53C"/>
          </p15:clr>
        </p15:guide>
        <p15:guide id="7" orient="horz" pos="640">
          <p15:clr>
            <a:srgbClr val="FDE53C"/>
          </p15:clr>
        </p15:guide>
        <p15:guide id="8" orient="horz" pos="1003">
          <p15:clr>
            <a:srgbClr val="FDE53C"/>
          </p15:clr>
        </p15:guide>
        <p15:guide id="9" pos="1073">
          <p15:clr>
            <a:srgbClr val="FDE53C"/>
          </p15:clr>
        </p15:guide>
        <p15:guide id="10" pos="6584">
          <p15:clr>
            <a:srgbClr val="FDE53C"/>
          </p15:clr>
        </p15:guide>
        <p15:guide id="11" orient="horz" pos="255">
          <p15:clr>
            <a:srgbClr val="FDE53C"/>
          </p15:clr>
        </p15:guide>
      </p15:sldGuideLst>
    </p:ext>
  </p:extLst>
</p:sldMaster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5.png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0.png"/><Relationship Id="rId3" Type="http://schemas.openxmlformats.org/officeDocument/2006/relationships/image" Target="../media/image19.png"/><Relationship Id="rId4" Type="http://schemas.openxmlformats.org/officeDocument/2006/relationships/chart" Target="../charts/chart1.xml"/><Relationship Id="rId5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8.xml"/></Relationships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11836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Автоматическая вёрстка презентаций: ускоряем работу команды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9" name="Google Shape;679;p31"/>
          <p:cNvSpPr/>
          <p:nvPr/>
        </p:nvSpPr>
        <p:spPr>
          <a:xfrm>
            <a:off x="0" y="4748271"/>
            <a:ext cx="12192000" cy="2109730"/>
          </a:xfrm>
          <a:prstGeom prst="rect">
            <a:avLst/>
          </a:prstGeom>
          <a:gradFill>
            <a:gsLst>
              <a:gs pos="0">
                <a:srgbClr val="0077FF">
                  <a:alpha val="61961"/>
                </a:srgbClr>
              </a:gs>
              <a:gs pos="99000">
                <a:srgbClr val="00AEE8"/>
              </a:gs>
              <a:gs pos="100000">
                <a:srgbClr val="00AEE8"/>
              </a:gs>
            </a:gsLst>
            <a:lin ang="14400000" scaled="0"/>
          </a:gradFill>
          <a:ln>
            <a:noFill/>
          </a:ln>
        </p:spPr>
        <p:txBody>
          <a:bodyPr anchorCtr="0" anchor="ctr" bIns="0" lIns="108000" spcFirstLastPara="1" rIns="914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680" name="Rounded Rectangle 679"/>
          <p:cNvSpPr/>
          <p:nvPr/>
        </p:nvSpPr>
        <p:spPr>
          <a:xfrm>
            <a:off x="300817" y="297715"/>
            <a:ext cx="11317142" cy="3307176"/>
          </a:xfrm>
          <a:prstGeom prst="roundRect">
            <a:avLst/>
          </a:prstGeom>
          <a:solidFill>
            <a:srgbClr val="111111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title"/>
          <p:cNvSpPr txBox="1"/>
          <p:nvPr/>
        </p:nvSpPr>
        <p:spPr>
          <a:xfrm>
            <a:off x="427817" y="424715"/>
            <a:ext cx="7827264" cy="11836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Текущие затраты времени на создание колод</a:t>
            </a:r>
          </a:p>
        </p:txBody>
      </p:sp>
      <p:sp>
        <p:nvSpPr>
          <p:cNvPr id="682" name="card_0"/>
          <p:cNvSpPr txBox="1"/>
          <p:nvPr/>
        </p:nvSpPr>
        <p:spPr>
          <a:xfrm>
            <a:off x="580217" y="1989452"/>
            <a:ext cx="3331220" cy="171721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42 колоды за Q1 2026: 186 минут на 12 слайдов</a:t>
            </a:r>
          </a:p>
        </p:txBody>
      </p:sp>
      <p:sp>
        <p:nvSpPr>
          <p:cNvPr id="683" name="card_1"/>
          <p:cNvSpPr txBox="1"/>
          <p:nvPr/>
        </p:nvSpPr>
        <p:spPr>
          <a:xfrm>
            <a:off x="4369978" y="1989452"/>
            <a:ext cx="3331220" cy="171721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74 минуты на правки после ревью</a:t>
            </a:r>
          </a:p>
        </p:txBody>
      </p:sp>
      <p:sp>
        <p:nvSpPr>
          <p:cNvPr id="684" name="card_2"/>
          <p:cNvSpPr txBox="1"/>
          <p:nvPr/>
        </p:nvSpPr>
        <p:spPr>
          <a:xfrm>
            <a:off x="8159739" y="1989452"/>
            <a:ext cx="3331220" cy="171721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19 колод нарушили фирменный стиль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Проблемы дизайна и ожидания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29280" y="2335824"/>
            <a:ext cx="11310884" cy="19507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Дизайн-отдел из 4 человек закрывает 11 запросов/неделю из 27</a:t>
            </a:r>
          </a:p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Средний срок ожидания 6 рабочих дней</a:t>
            </a:r>
          </a:p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19 колод с нарушением стиля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9" name="Google Shape;679;p31"/>
          <p:cNvSpPr/>
          <p:nvPr/>
        </p:nvSpPr>
        <p:spPr>
          <a:xfrm>
            <a:off x="0" y="4748271"/>
            <a:ext cx="12192000" cy="2109730"/>
          </a:xfrm>
          <a:prstGeom prst="rect">
            <a:avLst/>
          </a:prstGeom>
          <a:gradFill>
            <a:gsLst>
              <a:gs pos="0">
                <a:srgbClr val="0077FF">
                  <a:alpha val="61961"/>
                </a:srgbClr>
              </a:gs>
              <a:gs pos="99000">
                <a:srgbClr val="00AEE8"/>
              </a:gs>
              <a:gs pos="100000">
                <a:srgbClr val="00AEE8"/>
              </a:gs>
            </a:gsLst>
            <a:lin ang="14400000" scaled="0"/>
          </a:gradFill>
          <a:ln>
            <a:noFill/>
          </a:ln>
        </p:spPr>
        <p:txBody>
          <a:bodyPr anchorCtr="0" anchor="ctr" bIns="0" lIns="108000" spcFirstLastPara="1" rIns="914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680" name="Rounded Rectangle 679"/>
          <p:cNvSpPr/>
          <p:nvPr/>
        </p:nvSpPr>
        <p:spPr>
          <a:xfrm>
            <a:off x="300817" y="297715"/>
            <a:ext cx="11317142" cy="3307176"/>
          </a:xfrm>
          <a:prstGeom prst="roundRect">
            <a:avLst/>
          </a:prstGeom>
          <a:solidFill>
            <a:srgbClr val="111111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title"/>
          <p:cNvSpPr txBox="1"/>
          <p:nvPr/>
        </p:nvSpPr>
        <p:spPr>
          <a:xfrm>
            <a:off x="427817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Сервис автоматической вёрстки</a:t>
            </a:r>
          </a:p>
        </p:txBody>
      </p:sp>
      <p:sp>
        <p:nvSpPr>
          <p:cNvPr id="682" name="card_0"/>
          <p:cNvSpPr txBox="1"/>
          <p:nvPr/>
        </p:nvSpPr>
        <p:spPr>
          <a:xfrm>
            <a:off x="580217" y="1989452"/>
            <a:ext cx="3331220" cy="171721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Принимает шаблон pptx и материалы</a:t>
            </a:r>
          </a:p>
        </p:txBody>
      </p:sp>
      <p:sp>
        <p:nvSpPr>
          <p:cNvPr id="683" name="card_1"/>
          <p:cNvSpPr txBox="1"/>
          <p:nvPr/>
        </p:nvSpPr>
        <p:spPr>
          <a:xfrm>
            <a:off x="4369978" y="1989452"/>
            <a:ext cx="3331220" cy="171721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Автоматически формирует план колоды и вёрстку</a:t>
            </a:r>
          </a:p>
        </p:txBody>
      </p:sp>
      <p:sp>
        <p:nvSpPr>
          <p:cNvPr id="684" name="card_2"/>
          <p:cNvSpPr txBox="1"/>
          <p:nvPr/>
        </p:nvSpPr>
        <p:spPr>
          <a:xfrm>
            <a:off x="8159739" y="1989452"/>
            <a:ext cx="3331220" cy="171721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Экспорт в pptx, pdf, html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617" name="Google Shape;617;p28"/>
          <p:cNvGrpSpPr/>
          <p:nvPr/>
        </p:nvGrpSpPr>
        <p:grpSpPr>
          <a:xfrm>
            <a:off x="427865" y="1988423"/>
            <a:ext cx="476638" cy="474884"/>
            <a:chOff x="427865" y="2634106"/>
            <a:chExt cx="476638" cy="474884"/>
          </a:xfrm>
        </p:grpSpPr>
        <p:sp>
          <p:nvSpPr>
            <p:cNvPr id="618" name="Google Shape;618;p28"/>
            <p:cNvSpPr/>
            <p:nvPr/>
          </p:nvSpPr>
          <p:spPr>
            <a:xfrm>
              <a:off x="427865" y="2634106"/>
              <a:ext cx="476638" cy="474884"/>
            </a:xfrm>
            <a:prstGeom prst="roundRect">
              <a:avLst>
                <a:gd fmla="val 30745" name="adj"/>
              </a:avLst>
            </a:prstGeom>
            <a:gradFill>
              <a:gsLst>
                <a:gs pos="0">
                  <a:srgbClr val="00AEE8"/>
                </a:gs>
                <a:gs pos="100000">
                  <a:srgbClr val="0077FF"/>
                </a:gs>
              </a:gsLst>
              <a:lin ang="8100000" scaled="0"/>
            </a:gradFill>
            <a:ln>
              <a:noFill/>
            </a:ln>
          </p:spPr>
          <p:txBody>
            <a:bodyPr anchorCtr="0" anchor="ctr" bIns="45700" lIns="36000" spcFirstLastPara="1" rIns="36000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t/>
              </a:r>
              <a:endParaRPr sz="1400" u="none" cap="none" strike="noStrike">
                <a:solidFill>
                  <a:srgbClr val="00D3E3"/>
                </a:solidFill>
                <a:latin typeface="Play"/>
                <a:ea typeface="Play"/>
                <a:cs typeface="Play"/>
                <a:sym typeface="Play"/>
              </a:endParaRPr>
            </a:p>
          </p:txBody>
        </p:sp>
        <p:pic>
          <p:nvPicPr>
            <p:cNvPr id="619" name="Google Shape;619;p28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558184" y="2763548"/>
              <a:ext cx="216000" cy="21600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620" name="Google Shape;620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621" name="Google Shape;621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33" name="Google Shape;633;p28"/>
          <p:cNvGrpSpPr/>
          <p:nvPr/>
        </p:nvGrpSpPr>
        <p:grpSpPr>
          <a:xfrm>
            <a:off x="3323465" y="1988423"/>
            <a:ext cx="476638" cy="474884"/>
            <a:chOff x="427865" y="2634106"/>
            <a:chExt cx="476638" cy="474884"/>
          </a:xfrm>
        </p:grpSpPr>
        <p:sp>
          <p:nvSpPr>
            <p:cNvPr id="634" name="Google Shape;634;p28"/>
            <p:cNvSpPr/>
            <p:nvPr/>
          </p:nvSpPr>
          <p:spPr>
            <a:xfrm>
              <a:off x="427865" y="2634106"/>
              <a:ext cx="476638" cy="474884"/>
            </a:xfrm>
            <a:prstGeom prst="roundRect">
              <a:avLst>
                <a:gd fmla="val 30745" name="adj"/>
              </a:avLst>
            </a:prstGeom>
            <a:gradFill>
              <a:gsLst>
                <a:gs pos="0">
                  <a:srgbClr val="00AEE8"/>
                </a:gs>
                <a:gs pos="100000">
                  <a:srgbClr val="0077FF"/>
                </a:gs>
              </a:gsLst>
              <a:lin ang="8100000" scaled="0"/>
            </a:gradFill>
            <a:ln>
              <a:noFill/>
            </a:ln>
          </p:spPr>
          <p:txBody>
            <a:bodyPr anchorCtr="0" anchor="ctr" bIns="45700" lIns="36000" spcFirstLastPara="1" rIns="36000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t/>
              </a:r>
              <a:endParaRPr sz="1400" u="none" cap="none" strike="noStrike">
                <a:solidFill>
                  <a:srgbClr val="00D3E3"/>
                </a:solidFill>
                <a:latin typeface="Play"/>
                <a:ea typeface="Play"/>
                <a:cs typeface="Play"/>
                <a:sym typeface="Play"/>
              </a:endParaRPr>
            </a:p>
          </p:txBody>
        </p:sp>
        <p:pic>
          <p:nvPicPr>
            <p:cNvPr id="635" name="Google Shape;635;p28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558184" y="2763548"/>
              <a:ext cx="216000" cy="2160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636" name="Google Shape;636;p28"/>
          <p:cNvGrpSpPr/>
          <p:nvPr/>
        </p:nvGrpSpPr>
        <p:grpSpPr>
          <a:xfrm>
            <a:off x="6094374" y="1988423"/>
            <a:ext cx="476638" cy="474884"/>
            <a:chOff x="427865" y="2634106"/>
            <a:chExt cx="476638" cy="474884"/>
          </a:xfrm>
        </p:grpSpPr>
        <p:sp>
          <p:nvSpPr>
            <p:cNvPr id="637" name="Google Shape;637;p28"/>
            <p:cNvSpPr/>
            <p:nvPr/>
          </p:nvSpPr>
          <p:spPr>
            <a:xfrm>
              <a:off x="427865" y="2634106"/>
              <a:ext cx="476638" cy="474884"/>
            </a:xfrm>
            <a:prstGeom prst="roundRect">
              <a:avLst>
                <a:gd fmla="val 30745" name="adj"/>
              </a:avLst>
            </a:prstGeom>
            <a:gradFill>
              <a:gsLst>
                <a:gs pos="0">
                  <a:srgbClr val="00AEE8"/>
                </a:gs>
                <a:gs pos="100000">
                  <a:srgbClr val="0077FF"/>
                </a:gs>
              </a:gsLst>
              <a:lin ang="8100000" scaled="0"/>
            </a:gradFill>
            <a:ln>
              <a:noFill/>
            </a:ln>
          </p:spPr>
          <p:txBody>
            <a:bodyPr anchorCtr="0" anchor="ctr" bIns="45700" lIns="36000" spcFirstLastPara="1" rIns="36000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t/>
              </a:r>
              <a:endParaRPr sz="1400" u="none" cap="none" strike="noStrike">
                <a:solidFill>
                  <a:srgbClr val="00D3E3"/>
                </a:solidFill>
                <a:latin typeface="Play"/>
                <a:ea typeface="Play"/>
                <a:cs typeface="Play"/>
                <a:sym typeface="Play"/>
              </a:endParaRPr>
            </a:p>
          </p:txBody>
        </p:sp>
        <p:pic>
          <p:nvPicPr>
            <p:cNvPr id="638" name="Google Shape;638;p28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558184" y="2763548"/>
              <a:ext cx="216000" cy="2160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639" name="Google Shape;639;p28"/>
          <p:cNvGrpSpPr/>
          <p:nvPr/>
        </p:nvGrpSpPr>
        <p:grpSpPr>
          <a:xfrm>
            <a:off x="8989974" y="1988423"/>
            <a:ext cx="476638" cy="474884"/>
            <a:chOff x="427865" y="2634106"/>
            <a:chExt cx="476638" cy="474884"/>
          </a:xfrm>
        </p:grpSpPr>
        <p:sp>
          <p:nvSpPr>
            <p:cNvPr id="640" name="Google Shape;640;p28"/>
            <p:cNvSpPr/>
            <p:nvPr/>
          </p:nvSpPr>
          <p:spPr>
            <a:xfrm>
              <a:off x="427865" y="2634106"/>
              <a:ext cx="476638" cy="474884"/>
            </a:xfrm>
            <a:prstGeom prst="roundRect">
              <a:avLst>
                <a:gd fmla="val 30745" name="adj"/>
              </a:avLst>
            </a:prstGeom>
            <a:gradFill>
              <a:gsLst>
                <a:gs pos="0">
                  <a:srgbClr val="00AEE8"/>
                </a:gs>
                <a:gs pos="100000">
                  <a:srgbClr val="0077FF"/>
                </a:gs>
              </a:gsLst>
              <a:lin ang="8100000" scaled="0"/>
            </a:gradFill>
            <a:ln>
              <a:noFill/>
            </a:ln>
          </p:spPr>
          <p:txBody>
            <a:bodyPr anchorCtr="0" anchor="ctr" bIns="45700" lIns="36000" spcFirstLastPara="1" rIns="36000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t/>
              </a:r>
              <a:endParaRPr sz="1400" u="none" cap="none" strike="noStrike">
                <a:solidFill>
                  <a:srgbClr val="00D3E3"/>
                </a:solidFill>
                <a:latin typeface="Play"/>
                <a:ea typeface="Play"/>
                <a:cs typeface="Play"/>
                <a:sym typeface="Play"/>
              </a:endParaRPr>
            </a:p>
          </p:txBody>
        </p:sp>
        <p:pic>
          <p:nvPicPr>
            <p:cNvPr id="641" name="Google Shape;641;p28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558184" y="2763548"/>
              <a:ext cx="216000" cy="2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64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Качество и аудит</a:t>
            </a:r>
          </a:p>
        </p:txBody>
      </p:sp>
      <p:sp>
        <p:nvSpPr>
          <p:cNvPr id="643" name="body"/>
          <p:cNvSpPr txBox="1"/>
          <p:nvPr/>
        </p:nvSpPr>
        <p:spPr>
          <a:xfrm>
            <a:off x="429280" y="2310261"/>
            <a:ext cx="11310884" cy="14884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Аудит качества до публикации</a:t>
            </a:r>
          </a:p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Автоматические правки нарушений стиля</a:t>
            </a:r>
          </a:p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Слайды остаются редактируемыми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Эффект пилота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29280" y="1492575"/>
            <a:ext cx="11310884" cy="1605841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Средняя сборка 4 минуты вместо 186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Время до первой версии сократилось с 6 дней до 1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Нарушений стиля 2 из 68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Дизайнеры закрыли 38 запросов вместо 11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29280" y="3269866"/>
          <a:ext cx="11310884" cy="2237312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9" name="Google Shape;679;p31"/>
          <p:cNvSpPr/>
          <p:nvPr/>
        </p:nvSpPr>
        <p:spPr>
          <a:xfrm>
            <a:off x="0" y="4748271"/>
            <a:ext cx="12192000" cy="2109730"/>
          </a:xfrm>
          <a:prstGeom prst="rect">
            <a:avLst/>
          </a:prstGeom>
          <a:gradFill>
            <a:gsLst>
              <a:gs pos="0">
                <a:srgbClr val="0077FF">
                  <a:alpha val="61961"/>
                </a:srgbClr>
              </a:gs>
              <a:gs pos="99000">
                <a:srgbClr val="00AEE8"/>
              </a:gs>
              <a:gs pos="100000">
                <a:srgbClr val="00AEE8"/>
              </a:gs>
            </a:gsLst>
            <a:lin ang="14400000" scaled="0"/>
          </a:gradFill>
          <a:ln>
            <a:noFill/>
          </a:ln>
        </p:spPr>
        <p:txBody>
          <a:bodyPr anchorCtr="0" anchor="ctr" bIns="0" lIns="108000" spcFirstLastPara="1" rIns="914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680" name="Rounded Rectangle 679"/>
          <p:cNvSpPr/>
          <p:nvPr/>
        </p:nvSpPr>
        <p:spPr>
          <a:xfrm>
            <a:off x="300817" y="297715"/>
            <a:ext cx="11317142" cy="3505296"/>
          </a:xfrm>
          <a:prstGeom prst="roundRect">
            <a:avLst/>
          </a:prstGeom>
          <a:solidFill>
            <a:srgbClr val="111111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title"/>
          <p:cNvSpPr txBox="1"/>
          <p:nvPr/>
        </p:nvSpPr>
        <p:spPr>
          <a:xfrm>
            <a:off x="427817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Ресурсы и сроки</a:t>
            </a:r>
          </a:p>
        </p:txBody>
      </p:sp>
      <p:sp>
        <p:nvSpPr>
          <p:cNvPr id="682" name="card_0"/>
          <p:cNvSpPr txBox="1"/>
          <p:nvPr/>
        </p:nvSpPr>
        <p:spPr>
          <a:xfrm>
            <a:off x="580217" y="1989452"/>
            <a:ext cx="3331220" cy="171721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Сервис работает на 2 vCPU / 2 GB RAM</a:t>
            </a:r>
          </a:p>
        </p:txBody>
      </p:sp>
      <p:sp>
        <p:nvSpPr>
          <p:cNvPr id="683" name="card_1"/>
          <p:cNvSpPr txBox="1"/>
          <p:nvPr/>
        </p:nvSpPr>
        <p:spPr>
          <a:xfrm>
            <a:off x="4369978" y="1989452"/>
            <a:ext cx="3331220" cy="171721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Стоимость инференса 1 400 рублей за 6 недель</a:t>
            </a:r>
          </a:p>
        </p:txBody>
      </p:sp>
      <p:sp>
        <p:nvSpPr>
          <p:cNvPr id="684" name="card_2"/>
          <p:cNvSpPr txBox="1"/>
          <p:nvPr/>
        </p:nvSpPr>
        <p:spPr>
          <a:xfrm>
            <a:off x="8159739" y="1989452"/>
            <a:ext cx="3331220" cy="171721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План: Q3 2026 подключение 4 команд, Q4 2026 доступ для всей компании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План пилота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29280" y="2489917"/>
            <a:ext cx="11310884" cy="14884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6 недель на 2 командах, 68 презентаций</a:t>
            </a:r>
          </a:p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План колоды из 12 слайдов</a:t>
            </a:r>
          </a:p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Автоматический аудит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02280" y="2164394"/>
            <a:ext cx="11564884" cy="2901949"/>
          </a:xfrm>
          <a:prstGeom prst="roundRect">
            <a:avLst/>
          </a:prstGeom>
          <a:solidFill>
            <a:srgbClr val="111111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429280" y="2291394"/>
            <a:ext cx="7827385" cy="91948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4800">
                <a:solidFill>
                  <a:srgbClr val="FFFFFF"/>
                </a:solidFill>
                <a:latin typeface="Play"/>
                <a:ea typeface="Play"/>
                <a:cs typeface="Play"/>
              </a:rPr>
              <a:t>Что мы просим решить</a:t>
            </a:r>
          </a:p>
        </p:txBody>
      </p:sp>
      <p:sp>
        <p:nvSpPr>
          <p:cNvPr id="4" name="body"/>
          <p:cNvSpPr txBox="1"/>
          <p:nvPr/>
        </p:nvSpPr>
        <p:spPr>
          <a:xfrm>
            <a:off x="429280" y="3450904"/>
            <a:ext cx="11310884" cy="2446975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 b="1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 b="1">
                <a:solidFill>
                  <a:srgbClr val="FFFFFF"/>
                </a:solidFill>
                <a:latin typeface="Play"/>
                <a:ea typeface="Play"/>
                <a:cs typeface="Play"/>
              </a:rPr>
              <a:t>• Одобрить запуск сервиса на всю компанию</a:t>
            </a:r>
          </a:p>
          <a:p>
            <a:pPr algn="l">
              <a:spcAft>
                <a:spcPts val="300"/>
              </a:spcAft>
              <a:defRPr sz="2800" b="1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 b="1">
                <a:solidFill>
                  <a:srgbClr val="FFFFFF"/>
                </a:solidFill>
                <a:latin typeface="Play"/>
                <a:ea typeface="Play"/>
                <a:cs typeface="Play"/>
              </a:rPr>
              <a:t>• Предоставить ресурсы для масштабирования</a:t>
            </a:r>
          </a:p>
          <a:p>
            <a:pPr algn="l">
              <a:spcAft>
                <a:spcPts val="300"/>
              </a:spcAft>
              <a:defRPr sz="2800" b="1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 b="1">
                <a:solidFill>
                  <a:srgbClr val="FFFFFF"/>
                </a:solidFill>
                <a:latin typeface="Play"/>
                <a:ea typeface="Play"/>
                <a:cs typeface="Play"/>
              </a:rPr>
              <a:t>• Поддержать интеграцию с хранилищем документов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Контентные">
  <a:themeElements>
    <a:clrScheme name="VK Tech 2024">
      <a:dk1>
        <a:srgbClr val="000000"/>
      </a:dk1>
      <a:lt1>
        <a:srgbClr val="FFFFFF"/>
      </a:lt1>
      <a:dk2>
        <a:srgbClr val="0077FF"/>
      </a:dk2>
      <a:lt2>
        <a:srgbClr val="FFFFFF"/>
      </a:lt2>
      <a:accent1>
        <a:srgbClr val="0077FF"/>
      </a:accent1>
      <a:accent2>
        <a:srgbClr val="00E9FF"/>
      </a:accent2>
      <a:accent3>
        <a:srgbClr val="AAFBFF"/>
      </a:accent3>
      <a:accent4>
        <a:srgbClr val="EDF3FC"/>
      </a:accent4>
      <a:accent5>
        <a:srgbClr val="7C8A9A"/>
      </a:accent5>
      <a:accent6>
        <a:srgbClr val="202020"/>
      </a:accent6>
      <a:hlink>
        <a:srgbClr val="0077FF"/>
      </a:hlink>
      <a:folHlink>
        <a:srgbClr val="00E9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
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6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3" r:id="rId5"/>
  </p:sldMasterIdLst>
  <p:notesMasterIdLst>
    <p:notesMasterId r:id="rId6"/>
  </p:notesMasterIdLst>
  <p:sldIdLst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6858000" cx="12192000"/>
  <p:notesSz cx="6858000" cy="9144000"/>
  <p:embeddedFontLst>
    <p:embeddedFont>
      <p:font typeface="Play"/>
      <p:regular r:id="rId36"/>
      <p:bold r:id="rId3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  <p15:guide id="3" pos="2547">
          <p15:clr>
            <a:srgbClr val="A4A3A4"/>
          </p15:clr>
        </p15:guide>
        <p15:guide id="4" orient="horz" pos="77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AC9AF0A-6FEA-4B71-B213-FBF42B605303}">
  <a:tblStyle styleId="{5AC9AF0A-6FEA-4B71-B213-FBF42B605303}" styleName="Table_0">
    <a:wholeTbl>
      <a:tcTxStyle b="off" i="off">
        <a:font>
          <a:latin typeface="SF Pro Text Light"/>
          <a:ea typeface="SF Pro Text Light"/>
          <a:cs typeface="SF Pro Text Ligh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6EBFF"/>
          </a:solidFill>
        </a:fill>
      </a:tcStyle>
    </a:wholeTbl>
    <a:band1H>
      <a:tcTxStyle/>
      <a:tcStyle>
        <a:fill>
          <a:solidFill>
            <a:srgbClr val="CAD5FF"/>
          </a:solidFill>
        </a:fill>
      </a:tcStyle>
    </a:band1H>
    <a:band2H>
      <a:tcTxStyle/>
    </a:band2H>
    <a:band1V>
      <a:tcTxStyle/>
      <a:tcStyle>
        <a:fill>
          <a:solidFill>
            <a:srgbClr val="CAD5FF"/>
          </a:solidFill>
        </a:fill>
      </a:tcStyle>
    </a:band1V>
    <a:band2V>
      <a:tcTxStyle/>
    </a:band2V>
    <a:la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SF Pro Text Light"/>
          <a:ea typeface="SF Pro Text Light"/>
          <a:cs typeface="SF Pro Text Ligh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  <p:guide pos="2547"/>
        <p:guide pos="777" orient="horz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36" Type="http://schemas.openxmlformats.org/officeDocument/2006/relationships/font" Target="fonts/Play-regular.fntdata"/><Relationship Id="rId37" Type="http://schemas.openxmlformats.org/officeDocument/2006/relationships/font" Target="fonts/Play-bold.fntdata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Ручной</c:v>
                </c:pt>
                <c:pt idx="1">
                  <c:v>Автоматический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Время (мин)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Ручной</c:v>
                </c:pt>
                <c:pt idx="1">
                  <c:v>Автоматический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186.0</c:v>
                </c:pt>
                <c:pt idx="1">
                  <c:v>4.0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мин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Нарушения (колоды)</c:v>
                </c:pt>
              </c:strCache>
            </c:strRef>
          </c:tx>
          <c:spPr>
            <a:solidFill>
              <a:srgbClr val="0077FF"/>
            </a:solidFill>
            <a:ln>
              <a:solidFill>
                <a:srgbClr val="0077FF"/>
              </a:solidFill>
            </a:ln>
          </c:spPr>
          <c:cat>
            <c:strRef>
              <c:f>Sheet1!$A$2:$A$3</c:f>
              <c:strCache>
                <c:ptCount val="2"/>
                <c:pt idx="0">
                  <c:v>Ручной</c:v>
                </c:pt>
                <c:pt idx="1">
                  <c:v>Автоматический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19.0</c:v>
                </c:pt>
                <c:pt idx="1">
                  <c:v>2.0</c:v>
                </c:pt>
              </c:numCache>
            </c:numRef>
          </c:val>
        </c:ser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3C3C3C"/>
              </a:solidFill>
            </a:ln>
          </c:spPr>
        </c:majorGridlines>
        <c:title>
          <c:tx>
            <c:rich>
              <a:bodyPr/>
              <a:lstStyle/>
              <a:p>
                <a:pPr>
                  <a:defRPr sz="1100" b="0">
                    <a:solidFill>
                      <a:srgbClr val="FFFFFF"/>
                    </a:solidFill>
                    <a:latin typeface="Play"/>
                    <a:ea typeface="Play"/>
                    <a:cs typeface="Play"/>
                  </a:defRPr>
                </a:pPr>
                <a:r>
                  <a:t>колоды</a:t>
                </a:r>
              </a:p>
            </c:rich>
          </c:tx>
          <c:layout/>
          <c:overlay val="0"/>
        </c:title>
        <c:majorTickMark val="out"/>
        <c:minorTickMark val="none"/>
        <c:tickLblPos val="nextTo"/>
        <c:txPr>
          <a:bodyPr/>
          <a:lstStyle/>
          <a:p>
            <a:pPr>
              <a:defRPr sz="11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FFFFFF"/>
          </a:solidFill>
          <a:latin typeface="Play"/>
          <a:ea typeface="Play"/>
          <a:cs typeface="Play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Титульный слайд">
  <p:cSld name="13_Титульный слайд">
    <p:bg>
      <p:bgPr>
        <a:solidFill>
          <a:schemeClr val="dk1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5" name="Google Shape;175;p7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176" name="Google Shape;176;p7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7" name="Google Shape;177;p7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8" name="Google Shape;178;p7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9" name="Google Shape;179;p7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0" name="Google Shape;180;p7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1" name="Google Shape;181;p7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2" name="Google Shape;182;p7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3" name="Google Shape;183;p7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4" name="Google Shape;184;p7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5" name="Google Shape;185;p7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6" name="Google Shape;186;p7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7" name="Google Shape;187;p7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8" name="Google Shape;188;p7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9" name="Google Shape;189;p7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0" name="Google Shape;190;p7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1" name="Google Shape;191;p7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2" name="Google Shape;192;p7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3" name="Google Shape;193;p7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4" name="Google Shape;194;p7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195" name="Google Shape;195;p7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6" name="Google Shape;196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197" name="Google Shape;197;p7"/>
          <p:cNvPicPr preferRelativeResize="0"/>
          <p:nvPr/>
        </p:nvPicPr>
        <p:blipFill rotWithShape="1">
          <a:blip r:embed="rId3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198" name="Google Shape;198;p7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9" name="Google Shape;199;p7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7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 " id="201" name="Google Shape;201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7_Титульный слайд">
  <p:cSld name="17_Титульный слайд">
    <p:bg>
      <p:bgPr>
        <a:solidFill>
          <a:schemeClr val="dk1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9" name="Google Shape;209;p9"/>
          <p:cNvGrpSpPr/>
          <p:nvPr/>
        </p:nvGrpSpPr>
        <p:grpSpPr>
          <a:xfrm>
            <a:off x="224842" y="-74145"/>
            <a:ext cx="12188171" cy="64326"/>
            <a:chOff x="-2" y="-2"/>
            <a:chExt cx="12188169" cy="64324"/>
          </a:xfrm>
        </p:grpSpPr>
        <p:cxnSp>
          <p:nvCxnSpPr>
            <p:cNvPr id="210" name="Google Shape;210;p9"/>
            <p:cNvCxnSpPr/>
            <p:nvPr/>
          </p:nvCxnSpPr>
          <p:spPr>
            <a:xfrm flipH="1">
              <a:off x="-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9"/>
            <p:cNvCxnSpPr/>
            <p:nvPr/>
          </p:nvCxnSpPr>
          <p:spPr>
            <a:xfrm>
              <a:off x="67711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9"/>
            <p:cNvCxnSpPr/>
            <p:nvPr/>
          </p:nvCxnSpPr>
          <p:spPr>
            <a:xfrm>
              <a:off x="1354241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9"/>
            <p:cNvCxnSpPr/>
            <p:nvPr/>
          </p:nvCxnSpPr>
          <p:spPr>
            <a:xfrm>
              <a:off x="20313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9"/>
            <p:cNvCxnSpPr/>
            <p:nvPr/>
          </p:nvCxnSpPr>
          <p:spPr>
            <a:xfrm>
              <a:off x="2708479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9"/>
            <p:cNvCxnSpPr/>
            <p:nvPr/>
          </p:nvCxnSpPr>
          <p:spPr>
            <a:xfrm>
              <a:off x="3385598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9"/>
            <p:cNvCxnSpPr/>
            <p:nvPr/>
          </p:nvCxnSpPr>
          <p:spPr>
            <a:xfrm>
              <a:off x="406271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9"/>
            <p:cNvCxnSpPr/>
            <p:nvPr/>
          </p:nvCxnSpPr>
          <p:spPr>
            <a:xfrm>
              <a:off x="4739836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9"/>
            <p:cNvCxnSpPr/>
            <p:nvPr/>
          </p:nvCxnSpPr>
          <p:spPr>
            <a:xfrm>
              <a:off x="541695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9"/>
            <p:cNvCxnSpPr/>
            <p:nvPr/>
          </p:nvCxnSpPr>
          <p:spPr>
            <a:xfrm>
              <a:off x="6094077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9"/>
            <p:cNvCxnSpPr/>
            <p:nvPr/>
          </p:nvCxnSpPr>
          <p:spPr>
            <a:xfrm>
              <a:off x="677119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9"/>
            <p:cNvCxnSpPr/>
            <p:nvPr/>
          </p:nvCxnSpPr>
          <p:spPr>
            <a:xfrm>
              <a:off x="744831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2" name="Google Shape;222;p9"/>
            <p:cNvCxnSpPr/>
            <p:nvPr/>
          </p:nvCxnSpPr>
          <p:spPr>
            <a:xfrm>
              <a:off x="8125435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3" name="Google Shape;223;p9"/>
            <p:cNvCxnSpPr/>
            <p:nvPr/>
          </p:nvCxnSpPr>
          <p:spPr>
            <a:xfrm>
              <a:off x="880255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4" name="Google Shape;224;p9"/>
            <p:cNvCxnSpPr/>
            <p:nvPr/>
          </p:nvCxnSpPr>
          <p:spPr>
            <a:xfrm>
              <a:off x="9479673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5" name="Google Shape;225;p9"/>
            <p:cNvCxnSpPr/>
            <p:nvPr/>
          </p:nvCxnSpPr>
          <p:spPr>
            <a:xfrm>
              <a:off x="10156792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6" name="Google Shape;226;p9"/>
            <p:cNvCxnSpPr/>
            <p:nvPr/>
          </p:nvCxnSpPr>
          <p:spPr>
            <a:xfrm>
              <a:off x="1083391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7" name="Google Shape;227;p9"/>
            <p:cNvCxnSpPr/>
            <p:nvPr/>
          </p:nvCxnSpPr>
          <p:spPr>
            <a:xfrm>
              <a:off x="11511034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8" name="Google Shape;228;p9"/>
            <p:cNvCxnSpPr/>
            <p:nvPr/>
          </p:nvCxnSpPr>
          <p:spPr>
            <a:xfrm>
              <a:off x="12188160" y="-2"/>
              <a:ext cx="7" cy="64324"/>
            </a:xfrm>
            <a:prstGeom prst="straightConnector1">
              <a:avLst/>
            </a:prstGeom>
            <a:noFill/>
            <a:ln cap="flat" cmpd="sng" w="9525">
              <a:solidFill>
                <a:srgbClr val="808080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sp>
        <p:nvSpPr>
          <p:cNvPr id="229" name="Google Shape;229;p9"/>
          <p:cNvSpPr txBox="1"/>
          <p:nvPr>
            <p:ph type="title"/>
          </p:nvPr>
        </p:nvSpPr>
        <p:spPr>
          <a:xfrm>
            <a:off x="429253" y="424691"/>
            <a:ext cx="7827311" cy="11675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Play"/>
              <a:buNone/>
              <a:defRPr b="0" i="0" sz="3600">
                <a:solidFill>
                  <a:schemeClr val="lt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 " id="230" name="Google Shape;230;p9"/>
          <p:cNvPicPr preferRelativeResize="0"/>
          <p:nvPr/>
        </p:nvPicPr>
        <p:blipFill rotWithShape="1">
          <a:blip r:embed="rId2">
            <a:alphaModFix/>
          </a:blip>
          <a:srcRect b="86725" l="0" r="72339" t="0"/>
          <a:stretch/>
        </p:blipFill>
        <p:spPr>
          <a:xfrm flipH="1">
            <a:off x="8819540" y="0"/>
            <a:ext cx="3372437" cy="910269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9"/>
          <p:cNvSpPr/>
          <p:nvPr/>
        </p:nvSpPr>
        <p:spPr>
          <a:xfrm>
            <a:off x="8613058" y="322621"/>
            <a:ext cx="1407652" cy="587648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10858521" y="0"/>
            <a:ext cx="1049981" cy="26134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10760947" y="616445"/>
            <a:ext cx="582556" cy="3386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7" Type="http://schemas.openxmlformats.org/officeDocument/2006/relationships/slideLayout" Target="../slideLayouts/slideLayout6.xml"/><Relationship Id="rId9" Type="http://schemas.openxmlformats.org/officeDocument/2006/relationships/slideLayout" Target="../slideLayouts/slideLayout8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27866" y="662333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b="0" i="0" sz="3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58813" y="1773239"/>
            <a:ext cx="10855852" cy="43926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295275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Arial"/>
              <a:buChar char="•"/>
              <a:defRPr b="0" i="0" sz="105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A6A6A6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3" name="Google Shape;13;p1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4" name="Google Shape;1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" name="Google Shape;2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8" name="Google Shape;2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9" name="Google Shape;2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0" name="Google Shape;3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1" name="Google Shape;3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" name="Google Shape;3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grpSp>
        <p:nvGrpSpPr>
          <p:cNvPr id="33" name="Google Shape;33;p1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4" name="Google Shape;34;p1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5" name="Google Shape;35;p1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6" name="Google Shape;36;p1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7" name="Google Shape;37;p1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8" name="Google Shape;38;p1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9" name="Google Shape;39;p1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0" name="Google Shape;40;p1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1" name="Google Shape;41;p1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2" name="Google Shape;42;p1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3" name="Google Shape;43;p1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4" name="Google Shape;44;p1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5" name="Google Shape;45;p1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6" name="Google Shape;46;p1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7" name="Google Shape;47;p1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8" name="Google Shape;48;p1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49" name="Google Shape;49;p1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0" name="Google Shape;50;p1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1" name="Google Shape;51;p1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52" name="Google Shape;52;p1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7F7F7F"/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</p:grpSp>
      <p:pic>
        <p:nvPicPr>
          <p:cNvPr id="53" name="Google Shape;53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419564" y="6161239"/>
            <a:ext cx="932071" cy="288000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53" r:id="rId7"/>
    <p:sldLayoutId id="2147483655" r:id="rId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57">
          <p15:clr>
            <a:srgbClr val="FDE53C"/>
          </p15:clr>
        </p15:guide>
        <p15:guide id="2" pos="7423">
          <p15:clr>
            <a:srgbClr val="FDE53C"/>
          </p15:clr>
        </p15:guide>
        <p15:guide id="3" orient="horz" pos="4065">
          <p15:clr>
            <a:srgbClr val="FDE53C"/>
          </p15:clr>
        </p15:guide>
        <p15:guide id="4" pos="5201">
          <p15:clr>
            <a:srgbClr val="FDE53C"/>
          </p15:clr>
        </p15:guide>
        <p15:guide id="5" pos="2479">
          <p15:clr>
            <a:srgbClr val="FDE53C"/>
          </p15:clr>
        </p15:guide>
        <p15:guide id="6" pos="3840">
          <p15:clr>
            <a:srgbClr val="FDE53C"/>
          </p15:clr>
        </p15:guide>
        <p15:guide id="7" orient="horz" pos="640">
          <p15:clr>
            <a:srgbClr val="FDE53C"/>
          </p15:clr>
        </p15:guide>
        <p15:guide id="8" orient="horz" pos="1003">
          <p15:clr>
            <a:srgbClr val="FDE53C"/>
          </p15:clr>
        </p15:guide>
        <p15:guide id="9" pos="1073">
          <p15:clr>
            <a:srgbClr val="FDE53C"/>
          </p15:clr>
        </p15:guide>
        <p15:guide id="10" pos="6584">
          <p15:clr>
            <a:srgbClr val="FDE53C"/>
          </p15:clr>
        </p15:guide>
        <p15:guide id="11" orient="horz" pos="255">
          <p15:clr>
            <a:srgbClr val="FDE53C"/>
          </p15:clr>
        </p15:guide>
      </p15:sldGuideLst>
    </p:ext>
  </p:extLst>
</p:sldMaster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chart" Target="../charts/chart2.xml"/><Relationship Id="rId6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Relationship Id="rId3" Type="http://schemas.openxmlformats.org/officeDocument/2006/relationships/image" Target="../media/image19.png"/><Relationship Id="rId4" Type="http://schemas.openxmlformats.org/officeDocument/2006/relationships/chart" Target="../charts/chart3.xm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067996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800">
                <a:solidFill>
                  <a:srgbClr val="FFFFFF"/>
                </a:solidFill>
                <a:latin typeface="Play"/>
                <a:ea typeface="Play"/>
                <a:cs typeface="Play"/>
              </a:rPr>
              <a:t>Защита инициативы: сервис автоматической вёрстки презентаций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Контекст и возможность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11310884" cy="1672529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12‑слайдная колода занимает 186 мин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74 мин на правки после ревью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19 из 42 колод нарушают фирменный стиль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чел. закрывают 11 запросов/нед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Средний срок ожидания 6 рабочих дней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29280" y="3436269"/>
          <a:ext cx="11310884" cy="2337343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9" name="Google Shape;679;p31"/>
          <p:cNvSpPr/>
          <p:nvPr/>
        </p:nvSpPr>
        <p:spPr>
          <a:xfrm>
            <a:off x="0" y="4748271"/>
            <a:ext cx="12192000" cy="2109730"/>
          </a:xfrm>
          <a:prstGeom prst="rect">
            <a:avLst/>
          </a:prstGeom>
          <a:gradFill>
            <a:gsLst>
              <a:gs pos="0">
                <a:srgbClr val="0077FF">
                  <a:alpha val="61961"/>
                </a:srgbClr>
              </a:gs>
              <a:gs pos="99000">
                <a:srgbClr val="00AEE8"/>
              </a:gs>
              <a:gs pos="100000">
                <a:srgbClr val="00AEE8"/>
              </a:gs>
            </a:gsLst>
            <a:lin ang="14400000" scaled="0"/>
          </a:gradFill>
          <a:ln>
            <a:noFill/>
          </a:ln>
        </p:spPr>
        <p:txBody>
          <a:bodyPr anchorCtr="0" anchor="ctr" bIns="0" lIns="108000" spcFirstLastPara="1" rIns="91425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80" name="Rounded Rectangle 679"/>
          <p:cNvSpPr/>
          <p:nvPr/>
        </p:nvSpPr>
        <p:spPr>
          <a:xfrm>
            <a:off x="300817" y="297715"/>
            <a:ext cx="11566347" cy="5758505"/>
          </a:xfrm>
          <a:prstGeom prst="roundRect">
            <a:avLst/>
          </a:prstGeom>
          <a:solidFill>
            <a:srgbClr val="111111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1" name="title"/>
          <p:cNvSpPr txBox="1"/>
          <p:nvPr/>
        </p:nvSpPr>
        <p:spPr>
          <a:xfrm>
            <a:off x="427817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Предложение</a:t>
            </a:r>
          </a:p>
        </p:txBody>
      </p:sp>
      <p:sp>
        <p:nvSpPr>
          <p:cNvPr id="682" name="body"/>
          <p:cNvSpPr txBox="1"/>
          <p:nvPr/>
        </p:nvSpPr>
        <p:spPr>
          <a:xfrm>
            <a:off x="427817" y="1837052"/>
            <a:ext cx="11312347" cy="1636867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принимает pptx, документы, таблицы, заметки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Автоматически строит дизайн‑систему и план колоды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Экспорт в pptx, pdf, html с редактируемыми слайдами</a:t>
            </a:r>
          </a:p>
          <a:p>
            <a:pPr algn="l">
              <a:spcAft>
                <a:spcPts val="300"/>
              </a:spcAft>
              <a:defRPr sz="18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8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Аудит качества проверяет стиль и данные до выдачи</a:t>
            </a:r>
          </a:p>
        </p:txBody>
      </p:sp>
      <p:sp>
        <p:nvSpPr>
          <p:cNvPr id="683" name="Pentagon 682"/>
          <p:cNvSpPr/>
          <p:nvPr/>
        </p:nvSpPr>
        <p:spPr>
          <a:xfrm>
            <a:off x="427817" y="4237891"/>
            <a:ext cx="1772267" cy="1098805"/>
          </a:xfrm>
          <a:prstGeom prst="homePlat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868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868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Загрузка шаблона</a:t>
            </a:r>
          </a:p>
        </p:txBody>
      </p:sp>
      <p:sp>
        <p:nvSpPr>
          <p:cNvPr id="684" name="Chevron 683"/>
          <p:cNvSpPr/>
          <p:nvPr/>
        </p:nvSpPr>
        <p:spPr>
          <a:xfrm>
            <a:off x="2335832" y="4237891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Разбор дизайн‑системы</a:t>
            </a:r>
          </a:p>
        </p:txBody>
      </p:sp>
      <p:sp>
        <p:nvSpPr>
          <p:cNvPr id="685" name="Chevron 684"/>
          <p:cNvSpPr/>
          <p:nvPr/>
        </p:nvSpPr>
        <p:spPr>
          <a:xfrm>
            <a:off x="4243848" y="4237891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94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94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Построение плана колоды</a:t>
            </a:r>
          </a:p>
        </p:txBody>
      </p:sp>
      <p:sp>
        <p:nvSpPr>
          <p:cNvPr id="686" name="Chevron 685"/>
          <p:cNvSpPr/>
          <p:nvPr/>
        </p:nvSpPr>
        <p:spPr>
          <a:xfrm>
            <a:off x="6151864" y="4237891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Авто‑верстка</a:t>
            </a:r>
          </a:p>
        </p:txBody>
      </p:sp>
      <p:sp>
        <p:nvSpPr>
          <p:cNvPr id="687" name="Chevron 686"/>
          <p:cNvSpPr/>
          <p:nvPr/>
        </p:nvSpPr>
        <p:spPr>
          <a:xfrm>
            <a:off x="8059880" y="4237891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868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868" b="0">
                <a:solidFill>
                  <a:srgbClr val="FFFFFF"/>
                </a:solidFill>
                <a:latin typeface="Play"/>
                <a:ea typeface="Play"/>
                <a:cs typeface="Play"/>
              </a:rPr>
              <a:t>Аудит качества</a:t>
            </a:r>
          </a:p>
        </p:txBody>
      </p:sp>
      <p:sp>
        <p:nvSpPr>
          <p:cNvPr id="688" name="Chevron 687"/>
          <p:cNvSpPr/>
          <p:nvPr/>
        </p:nvSpPr>
        <p:spPr>
          <a:xfrm>
            <a:off x="9967896" y="4237891"/>
            <a:ext cx="1772267" cy="1098805"/>
          </a:xfrm>
          <a:prstGeom prst="chevron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" rIns="12700" tIns="12700" bIns="12700"/>
          <a:lstStyle/>
          <a:p>
            <a:pPr algn="ctr">
              <a:defRPr sz="694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694" b="0">
                <a:solidFill>
                  <a:srgbClr val="FFFFFF"/>
                </a:solidFill>
                <a:latin typeface="Play"/>
                <a:ea typeface="Play"/>
                <a:cs typeface="Play"/>
              </a:rPr>
              <a:t>Экспорт результата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620" name="Google Shape;620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8723" y="6160516"/>
            <a:ext cx="1857481" cy="29267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 " id="621" name="Google Shape;621;p2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1093496" y="6238282"/>
            <a:ext cx="690517" cy="2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62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 – Время</a:t>
            </a:r>
          </a:p>
        </p:txBody>
      </p:sp>
      <p:sp>
        <p:nvSpPr>
          <p:cNvPr id="623" name="body"/>
          <p:cNvSpPr txBox="1"/>
          <p:nvPr/>
        </p:nvSpPr>
        <p:spPr>
          <a:xfrm>
            <a:off x="429280" y="1504165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сборки колоды 12 слайдов сократилось с 186 до 4 мин</a:t>
            </a:r>
          </a:p>
          <a:p>
            <a:pPr algn="l">
              <a:spcAft>
                <a:spcPts val="300"/>
              </a:spcAft>
              <a:defRPr sz="20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20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Первый готовый вариант доступен за 1 день вместо 6</a:t>
            </a:r>
          </a:p>
        </p:txBody>
      </p:sp>
      <p:graphicFrame>
        <p:nvGraphicFramePr>
          <p:cNvPr id="624" name="Chart 623"/>
          <p:cNvGraphicFramePr>
            <a:graphicFrameLocks noGrp="1"/>
          </p:cNvGraphicFramePr>
          <p:nvPr/>
        </p:nvGraphicFramePr>
        <p:xfrm>
          <a:off x="429280" y="2620495"/>
          <a:ext cx="11310884" cy="2790398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Ожидаемый эффект – Нарушения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492575"/>
            <a:ext cx="11310884" cy="94488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фирменного стиля в пилоте – 2 из 68 колод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Все нарушения автоматически исправлены аудитором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29280" y="2608905"/>
          <a:ext cx="11310884" cy="2898274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118364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Что потребуется: ресурсы и сроки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745515"/>
            <a:ext cx="11310884" cy="1468894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Сервис работает на 2 vCPU / 2 GB RAM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Инференс за 6 недель пилота – 1 400 руб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3 квартал 2026: подключение 4 команд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4 квартал 2026: доступ для всей компании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1 квартал 2027: генерация иллюстраций</a:t>
            </a:r>
          </a:p>
        </p:txBody>
      </p:sp>
      <p:sp>
        <p:nvSpPr>
          <p:cNvPr id="4" name="Rectangle 3"/>
          <p:cNvSpPr/>
          <p:nvPr/>
        </p:nvSpPr>
        <p:spPr>
          <a:xfrm>
            <a:off x="429280" y="4320529"/>
            <a:ext cx="11310884" cy="60956"/>
          </a:xfrm>
          <a:prstGeom prst="rect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090919" y="4127500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29279" y="3385860"/>
            <a:ext cx="3770294" cy="772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3 квартал 2026: подключение 4 команд</a:t>
            </a:r>
          </a:p>
        </p:txBody>
      </p:sp>
      <p:sp>
        <p:nvSpPr>
          <p:cNvPr id="7" name="Oval 6"/>
          <p:cNvSpPr/>
          <p:nvPr/>
        </p:nvSpPr>
        <p:spPr>
          <a:xfrm>
            <a:off x="5861213" y="4127500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99574" y="4767545"/>
            <a:ext cx="3770294" cy="772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4 квартал 2026: доступ для всей компании</a:t>
            </a:r>
          </a:p>
        </p:txBody>
      </p:sp>
      <p:sp>
        <p:nvSpPr>
          <p:cNvPr id="9" name="Oval 8"/>
          <p:cNvSpPr/>
          <p:nvPr/>
        </p:nvSpPr>
        <p:spPr>
          <a:xfrm>
            <a:off x="9631508" y="4127500"/>
            <a:ext cx="447016" cy="447016"/>
          </a:xfrm>
          <a:prstGeom prst="ellipse">
            <a:avLst/>
          </a:prstGeom>
          <a:solidFill>
            <a:srgbClr val="007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69869" y="3385860"/>
            <a:ext cx="3770294" cy="7721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200" b="0">
                <a:solidFill>
                  <a:srgbClr val="FFFFFF"/>
                </a:solidFill>
                <a:latin typeface="Play"/>
                <a:ea typeface="Play"/>
                <a:cs typeface="Play"/>
              </a:rPr>
              <a:t>1 квартал 2027: генерация иллюстраций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29280" y="424715"/>
            <a:ext cx="7827264" cy="82296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32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3200">
                <a:solidFill>
                  <a:srgbClr val="FFFFFF"/>
                </a:solidFill>
                <a:latin typeface="Play"/>
                <a:ea typeface="Play"/>
                <a:cs typeface="Play"/>
              </a:rPr>
              <a:t>План пилота</a:t>
            </a:r>
          </a:p>
        </p:txBody>
      </p:sp>
      <p:sp>
        <p:nvSpPr>
          <p:cNvPr id="3" name="body"/>
          <p:cNvSpPr txBox="1"/>
          <p:nvPr/>
        </p:nvSpPr>
        <p:spPr>
          <a:xfrm>
            <a:off x="429280" y="1592290"/>
            <a:ext cx="11310884" cy="1341120"/>
          </a:xfrm>
          <a:prstGeom prst="rect">
            <a:avLst/>
          </a:prstGeom>
          <a:noFill/>
        </p:spPr>
        <p:txBody>
          <a:bodyPr wrap="square" lIns="76200" rIns="76200" tIns="50800" bIns="50800">
            <a:spAutoFit/>
          </a:bodyPr>
          <a:lstStyle/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6 недель, 2 команды, 68 презентаций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Время сборки 4 мин, 38 запросов закрыто</a:t>
            </a:r>
          </a:p>
          <a:p>
            <a:pPr algn="l">
              <a:spcAft>
                <a:spcPts val="300"/>
              </a:spcAft>
              <a:defRPr sz="1600">
                <a:solidFill>
                  <a:srgbClr val="FFFFFF"/>
                </a:solidFill>
                <a:latin typeface="Play"/>
                <a:ea typeface="Play"/>
                <a:cs typeface="Play"/>
              </a:defRPr>
            </a:pPr>
            <a:r>
              <a:rPr sz="1600">
                <a:solidFill>
                  <a:srgbClr val="FFFFFF"/>
                </a:solidFill>
                <a:latin typeface="Play"/>
                <a:ea typeface="Play"/>
                <a:cs typeface="Play"/>
              </a:rPr>
              <a:t>• Нарушений – 2 из 68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29280" y="3104860"/>
          <a:ext cx="11310884" cy="2668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0294"/>
                <a:gridCol w="3770294"/>
                <a:gridCol w="3770296"/>
              </a:tblGrid>
              <a:tr h="53375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Метрика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Ручной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Пилот</a:t>
                      </a:r>
                    </a:p>
                  </a:txBody>
                  <a:tcPr>
                    <a:solidFill>
                      <a:srgbClr val="0077FF"/>
                    </a:solidFill>
                  </a:tcPr>
                </a:tc>
              </a:tr>
              <a:tr h="53375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Кол-во презентаций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68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3375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Время сборки (мин)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186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33750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Запросы на вёрстку/нед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11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38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  <a:tr h="533752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Нарушения стиля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19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Контентные">
  <a:themeElements>
    <a:clrScheme name="VK Tech 2024">
      <a:dk1>
        <a:srgbClr val="000000"/>
      </a:dk1>
      <a:lt1>
        <a:srgbClr val="FFFFFF"/>
      </a:lt1>
      <a:dk2>
        <a:srgbClr val="0077FF"/>
      </a:dk2>
      <a:lt2>
        <a:srgbClr val="FFFFFF"/>
      </a:lt2>
      <a:accent1>
        <a:srgbClr val="0077FF"/>
      </a:accent1>
      <a:accent2>
        <a:srgbClr val="00E9FF"/>
      </a:accent2>
      <a:accent3>
        <a:srgbClr val="AAFBFF"/>
      </a:accent3>
      <a:accent4>
        <a:srgbClr val="EDF3FC"/>
      </a:accent4>
      <a:accent5>
        <a:srgbClr val="7C8A9A"/>
      </a:accent5>
      <a:accent6>
        <a:srgbClr val="202020"/>
      </a:accent6>
      <a:hlink>
        <a:srgbClr val="0077FF"/>
      </a:hlink>
      <a:folHlink>
        <a:srgbClr val="00E9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
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2" r:id="rId6"/>
    <p:sldLayoutId id="2147483653" r:id="rId7"/>
    <p:sldLayoutId id="2147483655" r:id="rId9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2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title"/>
          <p:cNvSpPr txBox="1"/>
          <p:nvPr/>
        </p:nvSpPr>
        <p:spPr>
          <a:xfrm>
            <a:off x="429280" y="2490551"/>
            <a:ext cx="7827385" cy="187689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инициативы: сервис автоматической вёрстки презентаций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Контекст и возможность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1783080"/>
            <a:ext cx="11310884" cy="1645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Сборка одной презентации занимает 186 минут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Правки после ревью добавляют 74 минуты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19 из 42 колод нарушают фирменный стиль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Дизайн-отдел из 4 человек обслуживает 11 запросов в неделю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9280" y="3600450"/>
          <a:ext cx="11310884" cy="229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0294"/>
                <a:gridCol w="3770294"/>
                <a:gridCol w="3770296"/>
              </a:tblGrid>
              <a:tr h="32820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Единица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282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Время сборки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мин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282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Время правок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мин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282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Нарушения стиля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19/42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шт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282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Размер команды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чел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2820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Запросы в неделю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11/27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запросов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32820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Срок ожидания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дней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Предложение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1783080"/>
            <a:ext cx="11310884" cy="1645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принимает шаблон pptx и материалы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Шаблон преобразуется в дизайн-систему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Автоматически формируется план колоды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Вёрстка выполняется по правилам дизайна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Проводится аудит качества до публикации</a:t>
            </a:r>
          </a:p>
        </p:txBody>
      </p:sp>
      <p:sp>
        <p:nvSpPr>
          <p:cNvPr id="4" name="Pentagon 3"/>
          <p:cNvSpPr/>
          <p:nvPr/>
        </p:nvSpPr>
        <p:spPr>
          <a:xfrm>
            <a:off x="429280" y="3627253"/>
            <a:ext cx="11310884" cy="329298"/>
          </a:xfrm>
          <a:prstGeom prst="homePlat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Загрузить шаблон</a:t>
            </a:r>
          </a:p>
        </p:txBody>
      </p:sp>
      <p:sp>
        <p:nvSpPr>
          <p:cNvPr id="5" name="Chevron 4"/>
          <p:cNvSpPr/>
          <p:nvPr/>
        </p:nvSpPr>
        <p:spPr>
          <a:xfrm>
            <a:off x="429280" y="4010158"/>
            <a:ext cx="11310884" cy="329298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Разобрать дизайн-систему</a:t>
            </a:r>
          </a:p>
        </p:txBody>
      </p:sp>
      <p:sp>
        <p:nvSpPr>
          <p:cNvPr id="6" name="Chevron 5"/>
          <p:cNvSpPr/>
          <p:nvPr/>
        </p:nvSpPr>
        <p:spPr>
          <a:xfrm>
            <a:off x="429280" y="4393063"/>
            <a:ext cx="11310884" cy="329298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Сформировать план колоды</a:t>
            </a:r>
          </a:p>
        </p:txBody>
      </p:sp>
      <p:sp>
        <p:nvSpPr>
          <p:cNvPr id="7" name="Chevron 6"/>
          <p:cNvSpPr/>
          <p:nvPr/>
        </p:nvSpPr>
        <p:spPr>
          <a:xfrm>
            <a:off x="429280" y="4775968"/>
            <a:ext cx="11310884" cy="329298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Автоматически вёрстать</a:t>
            </a:r>
          </a:p>
        </p:txBody>
      </p:sp>
      <p:sp>
        <p:nvSpPr>
          <p:cNvPr id="8" name="Chevron 7"/>
          <p:cNvSpPr/>
          <p:nvPr/>
        </p:nvSpPr>
        <p:spPr>
          <a:xfrm>
            <a:off x="429280" y="5158873"/>
            <a:ext cx="11310884" cy="329298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Провести аудит качества</a:t>
            </a:r>
          </a:p>
        </p:txBody>
      </p:sp>
      <p:sp>
        <p:nvSpPr>
          <p:cNvPr id="9" name="Chevron 8"/>
          <p:cNvSpPr/>
          <p:nvPr/>
        </p:nvSpPr>
        <p:spPr>
          <a:xfrm>
            <a:off x="429280" y="5541778"/>
            <a:ext cx="11310884" cy="329298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Экспортировать pptx/pdf/html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5727164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Ожидаемый эффект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427817" y="1783080"/>
            <a:ext cx="11312347" cy="1645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Время сборки колоды сократилось с 186 до 4 минут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Первый готовый вариант появился за 1 день вместо 6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Нарушения стиля уменьшились до 2 из 68 колод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Дизайнеры закрыли 38 запросов вместо 11 в неделю</a:t>
            </a:r>
          </a:p>
        </p:txBody>
      </p:sp>
      <p:graphicFrame>
        <p:nvGraphicFramePr>
          <p:cNvPr id="683" name="Table 682"/>
          <p:cNvGraphicFramePr>
            <a:graphicFrameLocks noGrp="1"/>
          </p:cNvGraphicFramePr>
          <p:nvPr/>
        </p:nvGraphicFramePr>
        <p:xfrm>
          <a:off x="427817" y="3600450"/>
          <a:ext cx="11312347" cy="229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0782"/>
                <a:gridCol w="3770782"/>
                <a:gridCol w="3770783"/>
              </a:tblGrid>
              <a:tr h="45948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Метрика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До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После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5948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Время сборки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5948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Первый вариант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5948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Нарушения стиля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19/42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2/68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5948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Загрузка дизайнеров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11/нед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38/нед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Ресурсы и сроки</a:t>
            </a:r>
          </a:p>
        </p:txBody>
      </p:sp>
      <p:sp>
        <p:nvSpPr>
          <p:cNvPr id="623" name="body"/>
          <p:cNvSpPr txBox="1"/>
          <p:nvPr/>
        </p:nvSpPr>
        <p:spPr>
          <a:xfrm>
            <a:off x="429280" y="1783080"/>
            <a:ext cx="11310884" cy="1645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работает на 2 vCPU / 2 ГБ RAM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Инференс gpt-oss-20b стоит 1 400 рублей за 6 недель</a:t>
            </a:r>
          </a:p>
          <a:p>
            <a:pPr algn="l">
              <a:spcAft>
                <a:spcPts val="300"/>
              </a:spcAft>
              <a:defRPr sz="2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План запуска: Q3 2026 подключение 4 команд, Q4 2026 доступ компании, Q1 2027 генерация иллюстраций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29280" y="4657267"/>
            <a:ext cx="11310884" cy="6892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061710" y="4439011"/>
            <a:ext cx="505434" cy="505434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29280" y="3600450"/>
            <a:ext cx="5655442" cy="873023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Q3 2026: подключение 4 команд</a:t>
            </a:r>
          </a:p>
        </p:txBody>
      </p:sp>
      <p:sp>
        <p:nvSpPr>
          <p:cNvPr id="627" name="Oval 626"/>
          <p:cNvSpPr/>
          <p:nvPr/>
        </p:nvSpPr>
        <p:spPr>
          <a:xfrm>
            <a:off x="5832004" y="4439011"/>
            <a:ext cx="505434" cy="505434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3257001" y="5162702"/>
            <a:ext cx="5655442" cy="873023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Q4 2026: доступ для всей компании</a:t>
            </a:r>
          </a:p>
        </p:txBody>
      </p:sp>
      <p:sp>
        <p:nvSpPr>
          <p:cNvPr id="629" name="Oval 628"/>
          <p:cNvSpPr/>
          <p:nvPr/>
        </p:nvSpPr>
        <p:spPr>
          <a:xfrm>
            <a:off x="9602299" y="4439011"/>
            <a:ext cx="505434" cy="505434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6084722" y="3600450"/>
            <a:ext cx="5655442" cy="873023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Q1 2027: генерация иллюстраций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пилота</a:t>
            </a:r>
          </a:p>
        </p:txBody>
      </p:sp>
      <p:grpSp>
        <p:nvGrpSpPr>
          <p:cNvPr id="3" name="icon:builtin-rocket"/>
          <p:cNvGrpSpPr/>
          <p:nvPr/>
        </p:nvGrpSpPr>
        <p:grpSpPr>
          <a:xfrm>
            <a:off x="526435" y="1852254"/>
            <a:ext cx="392311" cy="416601"/>
            <a:chOff x="526435" y="1852254"/>
            <a:chExt cx="392311" cy="416601"/>
          </a:xfrm>
        </p:grpSpPr>
        <p:sp>
          <p:nvSpPr>
            <p:cNvPr id="4" name="Freeform 3"/>
            <p:cNvSpPr/>
            <p:nvPr/>
          </p:nvSpPr>
          <p:spPr>
            <a:xfrm>
              <a:off x="623590" y="1852254"/>
              <a:ext cx="295156" cy="319446"/>
            </a:xfrm>
            <a:custGeom>
              <a:avLst/>
              <a:gdLst/>
              <a:ahLst/>
              <a:cxnLst/>
              <a:rect l="l" t="t" r="r" b="b"/>
              <a:pathLst>
                <a:path w="295156" h="319446">
                  <a:moveTo>
                    <a:pt x="145732" y="27981"/>
                  </a:moveTo>
                  <a:lnTo>
                    <a:pt x="167130" y="17804"/>
                  </a:lnTo>
                  <a:lnTo>
                    <a:pt x="187460" y="10298"/>
                  </a:lnTo>
                  <a:lnTo>
                    <a:pt x="206600" y="5125"/>
                  </a:lnTo>
                  <a:lnTo>
                    <a:pt x="224306" y="1943"/>
                  </a:lnTo>
                  <a:lnTo>
                    <a:pt x="240458" y="340"/>
                  </a:lnTo>
                  <a:lnTo>
                    <a:pt x="254861" y="0"/>
                  </a:lnTo>
                  <a:lnTo>
                    <a:pt x="267321" y="510"/>
                  </a:lnTo>
                  <a:lnTo>
                    <a:pt x="277717" y="1554"/>
                  </a:lnTo>
                  <a:lnTo>
                    <a:pt x="285805" y="2744"/>
                  </a:lnTo>
                  <a:lnTo>
                    <a:pt x="291465" y="3692"/>
                  </a:lnTo>
                  <a:lnTo>
                    <a:pt x="292436" y="9351"/>
                  </a:lnTo>
                  <a:lnTo>
                    <a:pt x="293602" y="17439"/>
                  </a:lnTo>
                  <a:lnTo>
                    <a:pt x="294622" y="27835"/>
                  </a:lnTo>
                  <a:lnTo>
                    <a:pt x="295156" y="40295"/>
                  </a:lnTo>
                  <a:lnTo>
                    <a:pt x="294816" y="54698"/>
                  </a:lnTo>
                  <a:lnTo>
                    <a:pt x="293213" y="70850"/>
                  </a:lnTo>
                  <a:lnTo>
                    <a:pt x="290031" y="88557"/>
                  </a:lnTo>
                  <a:lnTo>
                    <a:pt x="284858" y="107696"/>
                  </a:lnTo>
                  <a:lnTo>
                    <a:pt x="277377" y="128026"/>
                  </a:lnTo>
                  <a:lnTo>
                    <a:pt x="267176" y="149424"/>
                  </a:lnTo>
                  <a:lnTo>
                    <a:pt x="97155" y="319446"/>
                  </a:lnTo>
                  <a:lnTo>
                    <a:pt x="0" y="222291"/>
                  </a:lnTo>
                  <a:close/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550723" y="1977390"/>
              <a:ext cx="170022" cy="97155"/>
            </a:xfrm>
            <a:custGeom>
              <a:avLst/>
              <a:gdLst/>
              <a:ahLst/>
              <a:cxnLst/>
              <a:rect l="l" t="t" r="r" b="b"/>
              <a:pathLst>
                <a:path w="170022" h="97155">
                  <a:moveTo>
                    <a:pt x="72867" y="97155"/>
                  </a:moveTo>
                  <a:lnTo>
                    <a:pt x="0" y="97155"/>
                  </a:lnTo>
                  <a:lnTo>
                    <a:pt x="72867" y="0"/>
                  </a:lnTo>
                  <a:lnTo>
                    <a:pt x="170022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20745" y="2074545"/>
              <a:ext cx="97155" cy="170021"/>
            </a:xfrm>
            <a:custGeom>
              <a:avLst/>
              <a:gdLst/>
              <a:ahLst/>
              <a:cxnLst/>
              <a:rect l="l" t="t" r="r" b="b"/>
              <a:pathLst>
                <a:path w="97155" h="170021">
                  <a:moveTo>
                    <a:pt x="0" y="97155"/>
                  </a:moveTo>
                  <a:lnTo>
                    <a:pt x="0" y="170021"/>
                  </a:lnTo>
                  <a:lnTo>
                    <a:pt x="97155" y="97155"/>
                  </a:lnTo>
                  <a:lnTo>
                    <a:pt x="97155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771751" y="1955530"/>
              <a:ext cx="68008" cy="68008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526435" y="2183844"/>
              <a:ext cx="85010" cy="85011"/>
            </a:xfrm>
            <a:custGeom>
              <a:avLst/>
              <a:gdLst/>
              <a:ahLst/>
              <a:cxnLst/>
              <a:rect l="l" t="t" r="r" b="b"/>
              <a:pathLst>
                <a:path w="85010" h="85011">
                  <a:moveTo>
                    <a:pt x="60721" y="0"/>
                  </a:moveTo>
                  <a:lnTo>
                    <a:pt x="50156" y="4348"/>
                  </a:lnTo>
                  <a:lnTo>
                    <a:pt x="40416" y="10007"/>
                  </a:lnTo>
                  <a:lnTo>
                    <a:pt x="31526" y="16832"/>
                  </a:lnTo>
                  <a:lnTo>
                    <a:pt x="23608" y="24677"/>
                  </a:lnTo>
                  <a:lnTo>
                    <a:pt x="16710" y="33397"/>
                  </a:lnTo>
                  <a:lnTo>
                    <a:pt x="10881" y="42845"/>
                  </a:lnTo>
                  <a:lnTo>
                    <a:pt x="6217" y="52876"/>
                  </a:lnTo>
                  <a:lnTo>
                    <a:pt x="2817" y="63345"/>
                  </a:lnTo>
                  <a:lnTo>
                    <a:pt x="728" y="74105"/>
                  </a:lnTo>
                  <a:lnTo>
                    <a:pt x="0" y="85011"/>
                  </a:lnTo>
                  <a:lnTo>
                    <a:pt x="10905" y="84306"/>
                  </a:lnTo>
                  <a:lnTo>
                    <a:pt x="21665" y="82193"/>
                  </a:lnTo>
                  <a:lnTo>
                    <a:pt x="32134" y="78768"/>
                  </a:lnTo>
                  <a:lnTo>
                    <a:pt x="42165" y="74129"/>
                  </a:lnTo>
                  <a:lnTo>
                    <a:pt x="51613" y="68300"/>
                  </a:lnTo>
                  <a:lnTo>
                    <a:pt x="60333" y="61402"/>
                  </a:lnTo>
                  <a:lnTo>
                    <a:pt x="68178" y="53459"/>
                  </a:lnTo>
                  <a:lnTo>
                    <a:pt x="75003" y="44594"/>
                  </a:lnTo>
                  <a:lnTo>
                    <a:pt x="80662" y="34830"/>
                  </a:lnTo>
                  <a:lnTo>
                    <a:pt x="85010" y="24289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item_0"/>
          <p:cNvSpPr txBox="1"/>
          <p:nvPr/>
        </p:nvSpPr>
        <p:spPr>
          <a:xfrm>
            <a:off x="1274528" y="1792605"/>
            <a:ext cx="10465635" cy="67627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Пилот длился 6 недель на двух командах</a:t>
            </a:r>
          </a:p>
        </p:txBody>
      </p:sp>
      <p:grpSp>
        <p:nvGrpSpPr>
          <p:cNvPr id="10" name="icon:builtin-presentation"/>
          <p:cNvGrpSpPr/>
          <p:nvPr/>
        </p:nvGrpSpPr>
        <p:grpSpPr>
          <a:xfrm>
            <a:off x="502146" y="2703195"/>
            <a:ext cx="437197" cy="388620"/>
            <a:chOff x="502146" y="2703195"/>
            <a:chExt cx="437197" cy="388620"/>
          </a:xfrm>
        </p:grpSpPr>
        <p:sp>
          <p:nvSpPr>
            <p:cNvPr id="11" name="Rounded Rectangle 10"/>
            <p:cNvSpPr/>
            <p:nvPr/>
          </p:nvSpPr>
          <p:spPr>
            <a:xfrm>
              <a:off x="502146" y="2703195"/>
              <a:ext cx="437197" cy="291465"/>
            </a:xfrm>
            <a:prstGeom prst="roundRect">
              <a:avLst>
                <a:gd name="adj" fmla="val 12500"/>
              </a:avLst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20745" y="2994660"/>
              <a:ext cx="0" cy="97155"/>
            </a:xfrm>
            <a:custGeom>
              <a:avLst/>
              <a:gdLst/>
              <a:ahLst/>
              <a:cxnLst/>
              <a:rect l="l" t="t" r="r" b="b"/>
              <a:pathLst>
                <a:path w="0" h="97155">
                  <a:moveTo>
                    <a:pt x="0" y="0"/>
                  </a:moveTo>
                  <a:lnTo>
                    <a:pt x="0" y="97155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23590" y="3091815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 h="0">
                  <a:moveTo>
                    <a:pt x="0" y="0"/>
                  </a:moveTo>
                  <a:lnTo>
                    <a:pt x="194310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599301" y="2776061"/>
              <a:ext cx="242887" cy="121444"/>
            </a:xfrm>
            <a:custGeom>
              <a:avLst/>
              <a:gdLst/>
              <a:ahLst/>
              <a:cxnLst/>
              <a:rect l="l" t="t" r="r" b="b"/>
              <a:pathLst>
                <a:path w="242887" h="121444">
                  <a:moveTo>
                    <a:pt x="0" y="121444"/>
                  </a:moveTo>
                  <a:lnTo>
                    <a:pt x="72866" y="48577"/>
                  </a:lnTo>
                  <a:lnTo>
                    <a:pt x="145732" y="97155"/>
                  </a:lnTo>
                  <a:lnTo>
                    <a:pt x="242887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item_1"/>
          <p:cNvSpPr txBox="1"/>
          <p:nvPr/>
        </p:nvSpPr>
        <p:spPr>
          <a:xfrm>
            <a:off x="1274528" y="2615565"/>
            <a:ext cx="10465635" cy="67627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Собрано 68 презентаций</a:t>
            </a:r>
          </a:p>
        </p:txBody>
      </p:sp>
      <p:grpSp>
        <p:nvGrpSpPr>
          <p:cNvPr id="16" name="icon:builtin-clock"/>
          <p:cNvGrpSpPr/>
          <p:nvPr/>
        </p:nvGrpSpPr>
        <p:grpSpPr>
          <a:xfrm>
            <a:off x="502146" y="3501866"/>
            <a:ext cx="437197" cy="437197"/>
            <a:chOff x="502146" y="3501866"/>
            <a:chExt cx="437197" cy="437197"/>
          </a:xfrm>
        </p:grpSpPr>
        <p:sp>
          <p:nvSpPr>
            <p:cNvPr id="17" name="Oval 16"/>
            <p:cNvSpPr/>
            <p:nvPr/>
          </p:nvSpPr>
          <p:spPr>
            <a:xfrm>
              <a:off x="502146" y="3501866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20745" y="3599021"/>
              <a:ext cx="85010" cy="170021"/>
            </a:xfrm>
            <a:custGeom>
              <a:avLst/>
              <a:gdLst/>
              <a:ahLst/>
              <a:cxnLst/>
              <a:rect l="l" t="t" r="r" b="b"/>
              <a:pathLst>
                <a:path w="85010" h="170021">
                  <a:moveTo>
                    <a:pt x="0" y="0"/>
                  </a:moveTo>
                  <a:lnTo>
                    <a:pt x="0" y="121444"/>
                  </a:lnTo>
                  <a:lnTo>
                    <a:pt x="85010" y="170021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item_2"/>
          <p:cNvSpPr txBox="1"/>
          <p:nvPr/>
        </p:nvSpPr>
        <p:spPr>
          <a:xfrm>
            <a:off x="1274528" y="3438525"/>
            <a:ext cx="10465635" cy="67627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Среднее время сборки 4 минуты</a:t>
            </a:r>
          </a:p>
        </p:txBody>
      </p:sp>
      <p:grpSp>
        <p:nvGrpSpPr>
          <p:cNvPr id="20" name="icon:builtin-check"/>
          <p:cNvGrpSpPr/>
          <p:nvPr/>
        </p:nvGrpSpPr>
        <p:grpSpPr>
          <a:xfrm>
            <a:off x="502146" y="4324825"/>
            <a:ext cx="437197" cy="437197"/>
            <a:chOff x="502146" y="4324825"/>
            <a:chExt cx="437197" cy="437197"/>
          </a:xfrm>
        </p:grpSpPr>
        <p:sp>
          <p:nvSpPr>
            <p:cNvPr id="21" name="Oval 20"/>
            <p:cNvSpPr/>
            <p:nvPr/>
          </p:nvSpPr>
          <p:spPr>
            <a:xfrm>
              <a:off x="502146" y="4324825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623590" y="4470557"/>
              <a:ext cx="194310" cy="145733"/>
            </a:xfrm>
            <a:custGeom>
              <a:avLst/>
              <a:gdLst/>
              <a:ahLst/>
              <a:cxnLst/>
              <a:rect l="l" t="t" r="r" b="b"/>
              <a:pathLst>
                <a:path w="194310" h="145733">
                  <a:moveTo>
                    <a:pt x="0" y="72867"/>
                  </a:moveTo>
                  <a:lnTo>
                    <a:pt x="72866" y="145733"/>
                  </a:lnTo>
                  <a:lnTo>
                    <a:pt x="194310" y="0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" name="item_3"/>
          <p:cNvSpPr txBox="1"/>
          <p:nvPr/>
        </p:nvSpPr>
        <p:spPr>
          <a:xfrm>
            <a:off x="1274528" y="4261484"/>
            <a:ext cx="10465635" cy="67627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Первый вариант готов за 1 день</a:t>
            </a:r>
          </a:p>
        </p:txBody>
      </p:sp>
      <p:grpSp>
        <p:nvGrpSpPr>
          <p:cNvPr id="24" name="icon:builtin-cross"/>
          <p:cNvGrpSpPr/>
          <p:nvPr/>
        </p:nvGrpSpPr>
        <p:grpSpPr>
          <a:xfrm>
            <a:off x="502146" y="5147786"/>
            <a:ext cx="437197" cy="437197"/>
            <a:chOff x="502146" y="5147786"/>
            <a:chExt cx="437197" cy="437197"/>
          </a:xfrm>
        </p:grpSpPr>
        <p:sp>
          <p:nvSpPr>
            <p:cNvPr id="25" name="Oval 24"/>
            <p:cNvSpPr/>
            <p:nvPr/>
          </p:nvSpPr>
          <p:spPr>
            <a:xfrm>
              <a:off x="502146" y="5147786"/>
              <a:ext cx="437197" cy="437197"/>
            </a:xfrm>
            <a:prstGeom prst="ellipse">
              <a:avLst/>
            </a:pr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647878" y="5293518"/>
              <a:ext cx="145733" cy="145733"/>
            </a:xfrm>
            <a:custGeom>
              <a:avLst/>
              <a:gdLst/>
              <a:ahLst/>
              <a:cxnLst/>
              <a:rect l="l" t="t" r="r" b="b"/>
              <a:pathLst>
                <a:path w="145733" h="145733">
                  <a:moveTo>
                    <a:pt x="0" y="0"/>
                  </a:moveTo>
                  <a:lnTo>
                    <a:pt x="145733" y="145733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647878" y="5293518"/>
              <a:ext cx="145733" cy="145733"/>
            </a:xfrm>
            <a:custGeom>
              <a:avLst/>
              <a:gdLst/>
              <a:ahLst/>
              <a:cxnLst/>
              <a:rect l="l" t="t" r="r" b="b"/>
              <a:pathLst>
                <a:path w="145733" h="145733">
                  <a:moveTo>
                    <a:pt x="145733" y="0"/>
                  </a:moveTo>
                  <a:lnTo>
                    <a:pt x="0" y="145733"/>
                  </a:lnTo>
                </a:path>
              </a:pathLst>
            </a:custGeom>
            <a:noFill/>
            <a:ln w="48577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item_4"/>
          <p:cNvSpPr txBox="1"/>
          <p:nvPr/>
        </p:nvSpPr>
        <p:spPr>
          <a:xfrm>
            <a:off x="1274528" y="5084445"/>
            <a:ext cx="10465635" cy="67627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Нарушения стиля 2 из 68, исправлены автоматически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Что мы просим решить</a:t>
            </a:r>
          </a:p>
        </p:txBody>
      </p:sp>
      <p:sp>
        <p:nvSpPr>
          <p:cNvPr id="3" name="card_0"/>
          <p:cNvSpPr txBox="1"/>
          <p:nvPr/>
        </p:nvSpPr>
        <p:spPr>
          <a:xfrm>
            <a:off x="568147" y="1818894"/>
            <a:ext cx="3115177" cy="322021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Одобрить запуск сервиса на всю компанию</a:t>
            </a:r>
          </a:p>
        </p:txBody>
      </p:sp>
      <p:sp>
        <p:nvSpPr>
          <p:cNvPr id="4" name="card_1"/>
          <p:cNvSpPr txBox="1"/>
          <p:nvPr/>
        </p:nvSpPr>
        <p:spPr>
          <a:xfrm>
            <a:off x="4209288" y="1818894"/>
            <a:ext cx="3115177" cy="322021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Выделить бюджет на интеграцию и поддержку</a:t>
            </a:r>
          </a:p>
        </p:txBody>
      </p:sp>
      <p:sp>
        <p:nvSpPr>
          <p:cNvPr id="5" name="card_2"/>
          <p:cNvSpPr txBox="1"/>
          <p:nvPr/>
        </p:nvSpPr>
        <p:spPr>
          <a:xfrm>
            <a:off x="7881884" y="1818894"/>
            <a:ext cx="3115177" cy="3220212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0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Согласовать сроки и ответственных за расширение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Риски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1783080"/>
            <a:ext cx="11310884" cy="1341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Модель может выдумать цифры, которые не подтверждены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Неправильный шаблон может привести к некорректной вёрстке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Нагрузка выше 20 одновременных задач требует внешней очереди</a:t>
            </a:r>
          </a:p>
        </p:txBody>
      </p:sp>
      <p:grpSp>
        <p:nvGrpSpPr>
          <p:cNvPr id="4" name="icon:builtin-sparkles"/>
          <p:cNvGrpSpPr/>
          <p:nvPr/>
        </p:nvGrpSpPr>
        <p:grpSpPr>
          <a:xfrm>
            <a:off x="1884664" y="3458289"/>
            <a:ext cx="878252" cy="840303"/>
            <a:chOff x="1884664" y="3458289"/>
            <a:chExt cx="878252" cy="840303"/>
          </a:xfrm>
        </p:grpSpPr>
        <p:sp>
          <p:nvSpPr>
            <p:cNvPr id="5" name="Freeform 4"/>
            <p:cNvSpPr/>
            <p:nvPr/>
          </p:nvSpPr>
          <p:spPr>
            <a:xfrm>
              <a:off x="1884664" y="3458289"/>
              <a:ext cx="650557" cy="650557"/>
            </a:xfrm>
            <a:custGeom>
              <a:avLst/>
              <a:gdLst/>
              <a:ahLst/>
              <a:cxnLst/>
              <a:rect l="l" t="t" r="r" b="b"/>
              <a:pathLst>
                <a:path w="650557" h="650557">
                  <a:moveTo>
                    <a:pt x="325278" y="0"/>
                  </a:moveTo>
                  <a:lnTo>
                    <a:pt x="335145" y="61098"/>
                  </a:lnTo>
                  <a:lnTo>
                    <a:pt x="348698" y="114498"/>
                  </a:lnTo>
                  <a:lnTo>
                    <a:pt x="366480" y="160742"/>
                  </a:lnTo>
                  <a:lnTo>
                    <a:pt x="389033" y="200371"/>
                  </a:lnTo>
                  <a:lnTo>
                    <a:pt x="416790" y="233767"/>
                  </a:lnTo>
                  <a:lnTo>
                    <a:pt x="450185" y="261524"/>
                  </a:lnTo>
                  <a:lnTo>
                    <a:pt x="489761" y="284022"/>
                  </a:lnTo>
                  <a:lnTo>
                    <a:pt x="536059" y="301858"/>
                  </a:lnTo>
                  <a:lnTo>
                    <a:pt x="589459" y="315466"/>
                  </a:lnTo>
                  <a:lnTo>
                    <a:pt x="650557" y="325278"/>
                  </a:lnTo>
                  <a:lnTo>
                    <a:pt x="589459" y="335145"/>
                  </a:lnTo>
                  <a:lnTo>
                    <a:pt x="536059" y="348698"/>
                  </a:lnTo>
                  <a:lnTo>
                    <a:pt x="489761" y="366480"/>
                  </a:lnTo>
                  <a:lnTo>
                    <a:pt x="450185" y="389033"/>
                  </a:lnTo>
                  <a:lnTo>
                    <a:pt x="416790" y="416790"/>
                  </a:lnTo>
                  <a:lnTo>
                    <a:pt x="389033" y="450185"/>
                  </a:lnTo>
                  <a:lnTo>
                    <a:pt x="366480" y="489761"/>
                  </a:lnTo>
                  <a:lnTo>
                    <a:pt x="348698" y="536059"/>
                  </a:lnTo>
                  <a:lnTo>
                    <a:pt x="335145" y="589513"/>
                  </a:lnTo>
                  <a:lnTo>
                    <a:pt x="325278" y="650557"/>
                  </a:lnTo>
                  <a:lnTo>
                    <a:pt x="315466" y="589513"/>
                  </a:lnTo>
                  <a:lnTo>
                    <a:pt x="301858" y="536059"/>
                  </a:lnTo>
                  <a:lnTo>
                    <a:pt x="284022" y="489761"/>
                  </a:lnTo>
                  <a:lnTo>
                    <a:pt x="261524" y="450185"/>
                  </a:lnTo>
                  <a:lnTo>
                    <a:pt x="233767" y="416790"/>
                  </a:lnTo>
                  <a:lnTo>
                    <a:pt x="200371" y="389033"/>
                  </a:lnTo>
                  <a:lnTo>
                    <a:pt x="160742" y="366534"/>
                  </a:lnTo>
                  <a:lnTo>
                    <a:pt x="114498" y="348698"/>
                  </a:lnTo>
                  <a:lnTo>
                    <a:pt x="61098" y="335091"/>
                  </a:lnTo>
                  <a:lnTo>
                    <a:pt x="0" y="325278"/>
                  </a:lnTo>
                  <a:lnTo>
                    <a:pt x="61098" y="315466"/>
                  </a:lnTo>
                  <a:lnTo>
                    <a:pt x="114498" y="301858"/>
                  </a:lnTo>
                  <a:lnTo>
                    <a:pt x="160742" y="284022"/>
                  </a:lnTo>
                  <a:lnTo>
                    <a:pt x="200371" y="261524"/>
                  </a:lnTo>
                  <a:lnTo>
                    <a:pt x="233767" y="233767"/>
                  </a:lnTo>
                  <a:lnTo>
                    <a:pt x="261524" y="200371"/>
                  </a:lnTo>
                  <a:lnTo>
                    <a:pt x="284022" y="160796"/>
                  </a:lnTo>
                  <a:lnTo>
                    <a:pt x="301858" y="114498"/>
                  </a:lnTo>
                  <a:lnTo>
                    <a:pt x="315466" y="61098"/>
                  </a:lnTo>
                  <a:lnTo>
                    <a:pt x="325278" y="0"/>
                  </a:lnTo>
                  <a:close/>
                </a:path>
              </a:pathLst>
            </a:cu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2524378" y="4054633"/>
              <a:ext cx="238538" cy="243959"/>
            </a:xfrm>
            <a:custGeom>
              <a:avLst/>
              <a:gdLst/>
              <a:ahLst/>
              <a:cxnLst/>
              <a:rect l="l" t="t" r="r" b="b"/>
              <a:pathLst>
                <a:path w="238538" h="243959">
                  <a:moveTo>
                    <a:pt x="119269" y="0"/>
                  </a:moveTo>
                  <a:lnTo>
                    <a:pt x="123172" y="22986"/>
                  </a:lnTo>
                  <a:lnTo>
                    <a:pt x="128540" y="43153"/>
                  </a:lnTo>
                  <a:lnTo>
                    <a:pt x="135479" y="60718"/>
                  </a:lnTo>
                  <a:lnTo>
                    <a:pt x="144099" y="75898"/>
                  </a:lnTo>
                  <a:lnTo>
                    <a:pt x="154508" y="88801"/>
                  </a:lnTo>
                  <a:lnTo>
                    <a:pt x="166868" y="99535"/>
                  </a:lnTo>
                  <a:lnTo>
                    <a:pt x="181343" y="108317"/>
                  </a:lnTo>
                  <a:lnTo>
                    <a:pt x="198041" y="115365"/>
                  </a:lnTo>
                  <a:lnTo>
                    <a:pt x="217069" y="120732"/>
                  </a:lnTo>
                  <a:lnTo>
                    <a:pt x="238538" y="124690"/>
                  </a:lnTo>
                  <a:lnTo>
                    <a:pt x="217069" y="128593"/>
                  </a:lnTo>
                  <a:lnTo>
                    <a:pt x="198041" y="133960"/>
                  </a:lnTo>
                  <a:lnTo>
                    <a:pt x="181343" y="140899"/>
                  </a:lnTo>
                  <a:lnTo>
                    <a:pt x="166868" y="149519"/>
                  </a:lnTo>
                  <a:lnTo>
                    <a:pt x="154508" y="159928"/>
                  </a:lnTo>
                  <a:lnTo>
                    <a:pt x="144099" y="172289"/>
                  </a:lnTo>
                  <a:lnTo>
                    <a:pt x="135479" y="186764"/>
                  </a:lnTo>
                  <a:lnTo>
                    <a:pt x="128540" y="203461"/>
                  </a:lnTo>
                  <a:lnTo>
                    <a:pt x="123172" y="222490"/>
                  </a:lnTo>
                  <a:lnTo>
                    <a:pt x="119269" y="243959"/>
                  </a:lnTo>
                  <a:lnTo>
                    <a:pt x="115366" y="222490"/>
                  </a:lnTo>
                  <a:lnTo>
                    <a:pt x="109999" y="203461"/>
                  </a:lnTo>
                  <a:lnTo>
                    <a:pt x="103059" y="186764"/>
                  </a:lnTo>
                  <a:lnTo>
                    <a:pt x="94439" y="172289"/>
                  </a:lnTo>
                  <a:lnTo>
                    <a:pt x="84031" y="159928"/>
                  </a:lnTo>
                  <a:lnTo>
                    <a:pt x="71670" y="149519"/>
                  </a:lnTo>
                  <a:lnTo>
                    <a:pt x="57195" y="140899"/>
                  </a:lnTo>
                  <a:lnTo>
                    <a:pt x="40497" y="133960"/>
                  </a:lnTo>
                  <a:lnTo>
                    <a:pt x="21469" y="128593"/>
                  </a:lnTo>
                  <a:lnTo>
                    <a:pt x="0" y="124690"/>
                  </a:lnTo>
                  <a:lnTo>
                    <a:pt x="21469" y="120786"/>
                  </a:lnTo>
                  <a:lnTo>
                    <a:pt x="40497" y="115365"/>
                  </a:lnTo>
                  <a:lnTo>
                    <a:pt x="57195" y="108317"/>
                  </a:lnTo>
                  <a:lnTo>
                    <a:pt x="71670" y="99535"/>
                  </a:lnTo>
                  <a:lnTo>
                    <a:pt x="84031" y="88801"/>
                  </a:lnTo>
                  <a:lnTo>
                    <a:pt x="94439" y="75898"/>
                  </a:lnTo>
                  <a:lnTo>
                    <a:pt x="103059" y="60718"/>
                  </a:lnTo>
                  <a:lnTo>
                    <a:pt x="109999" y="43153"/>
                  </a:lnTo>
                  <a:lnTo>
                    <a:pt x="115366" y="22986"/>
                  </a:lnTo>
                  <a:lnTo>
                    <a:pt x="119269" y="0"/>
                  </a:lnTo>
                  <a:close/>
                </a:path>
              </a:pathLst>
            </a:cu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29280" y="4752898"/>
            <a:ext cx="3669753" cy="11449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Модель может выдумать цифры</a:t>
            </a:r>
          </a:p>
        </p:txBody>
      </p:sp>
      <p:grpSp>
        <p:nvGrpSpPr>
          <p:cNvPr id="8" name="icon:builtin-layout"/>
          <p:cNvGrpSpPr/>
          <p:nvPr/>
        </p:nvGrpSpPr>
        <p:grpSpPr>
          <a:xfrm>
            <a:off x="5596803" y="3458289"/>
            <a:ext cx="975835" cy="975835"/>
            <a:chOff x="5596803" y="3458289"/>
            <a:chExt cx="975835" cy="975835"/>
          </a:xfrm>
        </p:grpSpPr>
        <p:sp>
          <p:nvSpPr>
            <p:cNvPr id="9" name="Rounded Rectangle 8"/>
            <p:cNvSpPr/>
            <p:nvPr/>
          </p:nvSpPr>
          <p:spPr>
            <a:xfrm>
              <a:off x="5596803" y="3458289"/>
              <a:ext cx="975835" cy="975835"/>
            </a:xfrm>
            <a:prstGeom prst="roundRect">
              <a:avLst>
                <a:gd name="adj" fmla="val 11111"/>
              </a:avLst>
            </a:pr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5596803" y="3783567"/>
              <a:ext cx="975835" cy="0"/>
            </a:xfrm>
            <a:custGeom>
              <a:avLst/>
              <a:gdLst/>
              <a:ahLst/>
              <a:cxnLst/>
              <a:rect l="l" t="t" r="r" b="b"/>
              <a:pathLst>
                <a:path w="975835" h="0">
                  <a:moveTo>
                    <a:pt x="0" y="0"/>
                  </a:moveTo>
                  <a:lnTo>
                    <a:pt x="975835" y="0"/>
                  </a:lnTo>
                </a:path>
              </a:pathLst>
            </a:cu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5922081" y="3783567"/>
              <a:ext cx="0" cy="650557"/>
            </a:xfrm>
            <a:custGeom>
              <a:avLst/>
              <a:gdLst/>
              <a:ahLst/>
              <a:cxnLst/>
              <a:rect l="l" t="t" r="r" b="b"/>
              <a:pathLst>
                <a:path w="0" h="650557">
                  <a:moveTo>
                    <a:pt x="0" y="0"/>
                  </a:moveTo>
                  <a:lnTo>
                    <a:pt x="0" y="650557"/>
                  </a:lnTo>
                </a:path>
              </a:pathLst>
            </a:cu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249845" y="4752898"/>
            <a:ext cx="3669753" cy="11449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Неправильный шаблон</a:t>
            </a:r>
          </a:p>
        </p:txBody>
      </p:sp>
      <p:grpSp>
        <p:nvGrpSpPr>
          <p:cNvPr id="13" name="icon:builtin-target"/>
          <p:cNvGrpSpPr/>
          <p:nvPr/>
        </p:nvGrpSpPr>
        <p:grpSpPr>
          <a:xfrm>
            <a:off x="9417369" y="3458289"/>
            <a:ext cx="975835" cy="975835"/>
            <a:chOff x="9417369" y="3458289"/>
            <a:chExt cx="975835" cy="975835"/>
          </a:xfrm>
        </p:grpSpPr>
        <p:sp>
          <p:nvSpPr>
            <p:cNvPr id="14" name="Oval 13"/>
            <p:cNvSpPr/>
            <p:nvPr/>
          </p:nvSpPr>
          <p:spPr>
            <a:xfrm>
              <a:off x="9417369" y="3458289"/>
              <a:ext cx="975835" cy="975835"/>
            </a:xfrm>
            <a:prstGeom prst="ellipse">
              <a:avLst/>
            </a:pr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9634221" y="3675141"/>
              <a:ext cx="542130" cy="542130"/>
            </a:xfrm>
            <a:prstGeom prst="ellipse">
              <a:avLst/>
            </a:prstGeom>
            <a:noFill/>
            <a:ln w="108426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Oval 15"/>
            <p:cNvSpPr/>
            <p:nvPr/>
          </p:nvSpPr>
          <p:spPr>
            <a:xfrm>
              <a:off x="9829388" y="3870308"/>
              <a:ext cx="151796" cy="151796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8070410" y="4752898"/>
            <a:ext cx="3669753" cy="11449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Нагрузка &gt;20 задач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Итоги</a:t>
            </a:r>
          </a:p>
        </p:txBody>
      </p:sp>
      <p:sp>
        <p:nvSpPr>
          <p:cNvPr id="3" name="stat_0:bar"/>
          <p:cNvSpPr/>
          <p:nvPr/>
        </p:nvSpPr>
        <p:spPr>
          <a:xfrm>
            <a:off x="429280" y="1874520"/>
            <a:ext cx="50800" cy="223012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_0"/>
          <p:cNvSpPr txBox="1"/>
          <p:nvPr/>
        </p:nvSpPr>
        <p:spPr>
          <a:xfrm>
            <a:off x="607080" y="1783080"/>
            <a:ext cx="2310594" cy="2321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4 мин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Время сборки сократилось с 186 до 4 минут</a:t>
            </a:r>
          </a:p>
        </p:txBody>
      </p:sp>
      <p:sp>
        <p:nvSpPr>
          <p:cNvPr id="5" name="stat_1:bar"/>
          <p:cNvSpPr/>
          <p:nvPr/>
        </p:nvSpPr>
        <p:spPr>
          <a:xfrm>
            <a:off x="3370110" y="1874520"/>
            <a:ext cx="50800" cy="223012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_1"/>
          <p:cNvSpPr txBox="1"/>
          <p:nvPr/>
        </p:nvSpPr>
        <p:spPr>
          <a:xfrm>
            <a:off x="3547910" y="1783080"/>
            <a:ext cx="2310594" cy="2321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1 день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Первый вариант появился за 1 день вместо 6</a:t>
            </a:r>
          </a:p>
        </p:txBody>
      </p:sp>
      <p:sp>
        <p:nvSpPr>
          <p:cNvPr id="7" name="stat_2:bar"/>
          <p:cNvSpPr/>
          <p:nvPr/>
        </p:nvSpPr>
        <p:spPr>
          <a:xfrm>
            <a:off x="6310940" y="1874520"/>
            <a:ext cx="50800" cy="183388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_2"/>
          <p:cNvSpPr txBox="1"/>
          <p:nvPr/>
        </p:nvSpPr>
        <p:spPr>
          <a:xfrm>
            <a:off x="6488740" y="1783080"/>
            <a:ext cx="2310594" cy="192532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2 из 68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Нарушения стиля уменьшились до 2 из 68</a:t>
            </a:r>
          </a:p>
        </p:txBody>
      </p:sp>
      <p:sp>
        <p:nvSpPr>
          <p:cNvPr id="9" name="stat_3:bar"/>
          <p:cNvSpPr/>
          <p:nvPr/>
        </p:nvSpPr>
        <p:spPr>
          <a:xfrm>
            <a:off x="9251769" y="1874520"/>
            <a:ext cx="50800" cy="2230120"/>
          </a:xfrm>
          <a:prstGeom prst="rect">
            <a:avLst/>
          </a:prstGeom>
          <a:solidFill>
            <a:srgbClr val="007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_3"/>
          <p:cNvSpPr txBox="1"/>
          <p:nvPr/>
        </p:nvSpPr>
        <p:spPr>
          <a:xfrm>
            <a:off x="9429569" y="1783080"/>
            <a:ext cx="2310594" cy="2321560"/>
          </a:xfrm>
          <a:prstGeom prst="rect">
            <a:avLst/>
          </a:prstGeom>
          <a:noFill/>
        </p:spPr>
        <p:txBody>
          <a:bodyPr wrap="square" lIns="76200" rIns="7620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4000" b="1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4000" b="1">
                <a:solidFill>
                  <a:srgbClr val="0077FF"/>
                </a:solidFill>
                <a:latin typeface="Play"/>
                <a:ea typeface="Play"/>
                <a:cs typeface="Play"/>
              </a:rPr>
              <a:t>38</a:t>
            </a:r>
          </a:p>
          <a:p>
            <a:pPr>
              <a:spcAft>
                <a:spcPts val="300"/>
              </a:spcAft>
              <a:defRPr sz="2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Дизайнеры закрыли 38 запросов вместо 11 в неделю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5727164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Следующие шаги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427817" y="1783080"/>
            <a:ext cx="11312347" cy="13411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Согласовать бюджет и ресурсы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Интегрировать сервис с корпоративным хранилищем</a:t>
            </a:r>
          </a:p>
          <a:p>
            <a:pPr algn="l">
              <a:spcAft>
                <a:spcPts val="300"/>
              </a:spcAft>
              <a:defRPr sz="16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Расширить команды до 8 в Q3 2026</a:t>
            </a:r>
          </a:p>
        </p:txBody>
      </p:sp>
      <p:sp>
        <p:nvSpPr>
          <p:cNvPr id="683" name="Pentagon 682"/>
          <p:cNvSpPr/>
          <p:nvPr/>
        </p:nvSpPr>
        <p:spPr>
          <a:xfrm>
            <a:off x="427817" y="3455876"/>
            <a:ext cx="3680283" cy="2281775"/>
          </a:xfrm>
          <a:prstGeom prst="homePlat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26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26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Согласовать бюджет</a:t>
            </a:r>
          </a:p>
        </p:txBody>
      </p:sp>
      <p:sp>
        <p:nvSpPr>
          <p:cNvPr id="684" name="Chevron 683"/>
          <p:cNvSpPr/>
          <p:nvPr/>
        </p:nvSpPr>
        <p:spPr>
          <a:xfrm>
            <a:off x="4243848" y="3455876"/>
            <a:ext cx="3680283" cy="2281775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26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26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Интеграция с хранилищем</a:t>
            </a:r>
          </a:p>
        </p:txBody>
      </p:sp>
      <p:sp>
        <p:nvSpPr>
          <p:cNvPr id="685" name="Chevron 684"/>
          <p:cNvSpPr/>
          <p:nvPr/>
        </p:nvSpPr>
        <p:spPr>
          <a:xfrm>
            <a:off x="8059880" y="3455876"/>
            <a:ext cx="3680283" cy="2281775"/>
          </a:xfrm>
          <a:prstGeom prst="chevron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12700" bIns="12700"/>
          <a:lstStyle/>
          <a:p>
            <a:pPr algn="ctr">
              <a:defRPr sz="126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26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Расширить команды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Вопросы и ответы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1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Rounded Rectangle 883"/>
          <p:cNvSpPr/>
          <p:nvPr/>
        </p:nvSpPr>
        <p:spPr>
          <a:xfrm>
            <a:off x="302280" y="2164394"/>
            <a:ext cx="11564884" cy="2540741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5" name="title"/>
          <p:cNvSpPr txBox="1"/>
          <p:nvPr/>
        </p:nvSpPr>
        <p:spPr>
          <a:xfrm>
            <a:off x="429280" y="2291394"/>
            <a:ext cx="7827385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40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4000">
                <a:solidFill>
                  <a:srgbClr val="FFFFFF"/>
                </a:solidFill>
                <a:latin typeface="Play"/>
                <a:ea typeface="Play"/>
                <a:cs typeface="Play"/>
              </a:rPr>
              <a:t>Контактная информация</a:t>
            </a:r>
          </a:p>
        </p:txBody>
      </p:sp>
      <p:sp>
        <p:nvSpPr>
          <p:cNvPr id="886" name="body"/>
          <p:cNvSpPr txBox="1"/>
          <p:nvPr/>
        </p:nvSpPr>
        <p:spPr>
          <a:xfrm>
            <a:off x="429280" y="4014256"/>
            <a:ext cx="11310884" cy="563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800" b="1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 b="1">
                <a:solidFill>
                  <a:srgbClr val="FFFFFF"/>
                </a:solidFill>
                <a:latin typeface="Play"/>
                <a:ea typeface="Play"/>
                <a:cs typeface="Play"/>
              </a:rPr>
              <a:t>Email: support@example.com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
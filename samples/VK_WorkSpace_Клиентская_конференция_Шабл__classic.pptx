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846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42 колоды в первом квартале 2026 года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848385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на правки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нарушили стиль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280" y="3360955"/>
          <a:ext cx="11310884" cy="2536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507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5073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073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Средняя сборка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073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0738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Сборка одной презентации занимает 186 мин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848385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12 слайдов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дней ожидания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280" y="2964715"/>
          <a:ext cx="11310884" cy="2933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73329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73329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Слайдов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73329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73329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 (дней)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27164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автоматической вёрстки: как это работает</a:t>
            </a:r>
          </a:p>
        </p:txBody>
      </p:sp>
      <p:sp>
        <p:nvSpPr>
          <p:cNvPr id="682" name="Pentagon 681"/>
          <p:cNvSpPr/>
          <p:nvPr/>
        </p:nvSpPr>
        <p:spPr>
          <a:xfrm>
            <a:off x="427817" y="1895629"/>
            <a:ext cx="11312347" cy="580427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Ввод</a:t>
            </a:r>
          </a:p>
        </p:txBody>
      </p:sp>
      <p:sp>
        <p:nvSpPr>
          <p:cNvPr id="683" name="Chevron 682"/>
          <p:cNvSpPr/>
          <p:nvPr/>
        </p:nvSpPr>
        <p:spPr>
          <a:xfrm>
            <a:off x="427817" y="2570544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Парсинг</a:t>
            </a:r>
          </a:p>
        </p:txBody>
      </p:sp>
      <p:sp>
        <p:nvSpPr>
          <p:cNvPr id="684" name="Chevron 683"/>
          <p:cNvSpPr/>
          <p:nvPr/>
        </p:nvSpPr>
        <p:spPr>
          <a:xfrm>
            <a:off x="427817" y="3245460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Дизайн-система</a:t>
            </a:r>
          </a:p>
        </p:txBody>
      </p:sp>
      <p:sp>
        <p:nvSpPr>
          <p:cNvPr id="685" name="Chevron 684"/>
          <p:cNvSpPr/>
          <p:nvPr/>
        </p:nvSpPr>
        <p:spPr>
          <a:xfrm>
            <a:off x="427817" y="3920376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686" name="Chevron 685"/>
          <p:cNvSpPr/>
          <p:nvPr/>
        </p:nvSpPr>
        <p:spPr>
          <a:xfrm>
            <a:off x="427817" y="4595291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687" name="Chevron 686"/>
          <p:cNvSpPr/>
          <p:nvPr/>
        </p:nvSpPr>
        <p:spPr>
          <a:xfrm>
            <a:off x="427817" y="5270207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grpSp>
        <p:nvGrpSpPr>
          <p:cNvPr id="2" name="icon:builtin-palette"/>
          <p:cNvGrpSpPr/>
          <p:nvPr/>
        </p:nvGrpSpPr>
        <p:grpSpPr>
          <a:xfrm>
            <a:off x="502146" y="1896962"/>
            <a:ext cx="437197" cy="461486"/>
            <a:chOff x="502146" y="1896962"/>
            <a:chExt cx="437197" cy="461486"/>
          </a:xfrm>
        </p:grpSpPr>
        <p:sp>
          <p:nvSpPr>
            <p:cNvPr id="3" name="Freeform 2"/>
            <p:cNvSpPr/>
            <p:nvPr/>
          </p:nvSpPr>
          <p:spPr>
            <a:xfrm>
              <a:off x="502146" y="1896962"/>
              <a:ext cx="437197" cy="461486"/>
            </a:xfrm>
            <a:custGeom>
              <a:avLst/>
              <a:gdLst/>
              <a:ahLst/>
              <a:cxnLst/>
              <a:rect l="l" t="t" r="r" b="b"/>
              <a:pathLst>
                <a:path w="437197" h="461486">
                  <a:moveTo>
                    <a:pt x="218599" y="24289"/>
                  </a:moveTo>
                  <a:lnTo>
                    <a:pt x="175947" y="28491"/>
                  </a:lnTo>
                  <a:lnTo>
                    <a:pt x="134948" y="40927"/>
                  </a:lnTo>
                  <a:lnTo>
                    <a:pt x="97155" y="61135"/>
                  </a:lnTo>
                  <a:lnTo>
                    <a:pt x="64025" y="88314"/>
                  </a:lnTo>
                  <a:lnTo>
                    <a:pt x="36846" y="121444"/>
                  </a:lnTo>
                  <a:lnTo>
                    <a:pt x="16638" y="159237"/>
                  </a:lnTo>
                  <a:lnTo>
                    <a:pt x="4202" y="200236"/>
                  </a:lnTo>
                  <a:lnTo>
                    <a:pt x="0" y="242888"/>
                  </a:lnTo>
                  <a:lnTo>
                    <a:pt x="4202" y="285539"/>
                  </a:lnTo>
                  <a:lnTo>
                    <a:pt x="16638" y="326538"/>
                  </a:lnTo>
                  <a:lnTo>
                    <a:pt x="36846" y="364331"/>
                  </a:lnTo>
                  <a:lnTo>
                    <a:pt x="64025" y="397461"/>
                  </a:lnTo>
                  <a:lnTo>
                    <a:pt x="97155" y="424640"/>
                  </a:lnTo>
                  <a:lnTo>
                    <a:pt x="134948" y="444848"/>
                  </a:lnTo>
                  <a:lnTo>
                    <a:pt x="175947" y="457284"/>
                  </a:lnTo>
                  <a:lnTo>
                    <a:pt x="218599" y="461486"/>
                  </a:lnTo>
                  <a:lnTo>
                    <a:pt x="226322" y="460928"/>
                  </a:lnTo>
                  <a:lnTo>
                    <a:pt x="233415" y="459276"/>
                  </a:lnTo>
                  <a:lnTo>
                    <a:pt x="239827" y="456629"/>
                  </a:lnTo>
                  <a:lnTo>
                    <a:pt x="245535" y="453082"/>
                  </a:lnTo>
                  <a:lnTo>
                    <a:pt x="250465" y="448735"/>
                  </a:lnTo>
                  <a:lnTo>
                    <a:pt x="254619" y="443658"/>
                  </a:lnTo>
                  <a:lnTo>
                    <a:pt x="257922" y="437926"/>
                  </a:lnTo>
                  <a:lnTo>
                    <a:pt x="260327" y="431635"/>
                  </a:lnTo>
                  <a:lnTo>
                    <a:pt x="261808" y="424883"/>
                  </a:lnTo>
                  <a:lnTo>
                    <a:pt x="262318" y="417767"/>
                  </a:lnTo>
                  <a:lnTo>
                    <a:pt x="262173" y="414196"/>
                  </a:lnTo>
                  <a:lnTo>
                    <a:pt x="261760" y="410771"/>
                  </a:lnTo>
                  <a:lnTo>
                    <a:pt x="261080" y="407492"/>
                  </a:lnTo>
                  <a:lnTo>
                    <a:pt x="260132" y="404359"/>
                  </a:lnTo>
                  <a:lnTo>
                    <a:pt x="258966" y="401372"/>
                  </a:lnTo>
                  <a:lnTo>
                    <a:pt x="257606" y="398530"/>
                  </a:lnTo>
                  <a:lnTo>
                    <a:pt x="256003" y="395834"/>
                  </a:lnTo>
                  <a:lnTo>
                    <a:pt x="254230" y="393283"/>
                  </a:lnTo>
                  <a:lnTo>
                    <a:pt x="252287" y="390879"/>
                  </a:lnTo>
                  <a:lnTo>
                    <a:pt x="250174" y="388620"/>
                  </a:lnTo>
                  <a:lnTo>
                    <a:pt x="248061" y="386288"/>
                  </a:lnTo>
                  <a:lnTo>
                    <a:pt x="246118" y="383714"/>
                  </a:lnTo>
                  <a:lnTo>
                    <a:pt x="244345" y="380945"/>
                  </a:lnTo>
                  <a:lnTo>
                    <a:pt x="242742" y="378006"/>
                  </a:lnTo>
                  <a:lnTo>
                    <a:pt x="241381" y="374970"/>
                  </a:lnTo>
                  <a:lnTo>
                    <a:pt x="240215" y="371836"/>
                  </a:lnTo>
                  <a:lnTo>
                    <a:pt x="239268" y="368679"/>
                  </a:lnTo>
                  <a:lnTo>
                    <a:pt x="238588" y="365546"/>
                  </a:lnTo>
                  <a:lnTo>
                    <a:pt x="238175" y="362461"/>
                  </a:lnTo>
                  <a:lnTo>
                    <a:pt x="238030" y="359474"/>
                  </a:lnTo>
                  <a:lnTo>
                    <a:pt x="238588" y="352357"/>
                  </a:lnTo>
                  <a:lnTo>
                    <a:pt x="240240" y="345605"/>
                  </a:lnTo>
                  <a:lnTo>
                    <a:pt x="242887" y="339314"/>
                  </a:lnTo>
                  <a:lnTo>
                    <a:pt x="246433" y="333582"/>
                  </a:lnTo>
                  <a:lnTo>
                    <a:pt x="250781" y="328505"/>
                  </a:lnTo>
                  <a:lnTo>
                    <a:pt x="255857" y="324158"/>
                  </a:lnTo>
                  <a:lnTo>
                    <a:pt x="261590" y="320612"/>
                  </a:lnTo>
                  <a:lnTo>
                    <a:pt x="267880" y="317964"/>
                  </a:lnTo>
                  <a:lnTo>
                    <a:pt x="274633" y="316312"/>
                  </a:lnTo>
                  <a:lnTo>
                    <a:pt x="281749" y="315754"/>
                  </a:lnTo>
                  <a:lnTo>
                    <a:pt x="315754" y="315754"/>
                  </a:lnTo>
                  <a:lnTo>
                    <a:pt x="339435" y="313422"/>
                  </a:lnTo>
                  <a:lnTo>
                    <a:pt x="362218" y="306500"/>
                  </a:lnTo>
                  <a:lnTo>
                    <a:pt x="383228" y="295278"/>
                  </a:lnTo>
                  <a:lnTo>
                    <a:pt x="401639" y="280195"/>
                  </a:lnTo>
                  <a:lnTo>
                    <a:pt x="416722" y="261784"/>
                  </a:lnTo>
                  <a:lnTo>
                    <a:pt x="427943" y="240774"/>
                  </a:lnTo>
                  <a:lnTo>
                    <a:pt x="434866" y="217992"/>
                  </a:lnTo>
                  <a:lnTo>
                    <a:pt x="437197" y="194310"/>
                  </a:lnTo>
                  <a:lnTo>
                    <a:pt x="434355" y="162905"/>
                  </a:lnTo>
                  <a:lnTo>
                    <a:pt x="426122" y="133054"/>
                  </a:lnTo>
                  <a:lnTo>
                    <a:pt x="412933" y="105219"/>
                  </a:lnTo>
                  <a:lnTo>
                    <a:pt x="395226" y="79740"/>
                  </a:lnTo>
                  <a:lnTo>
                    <a:pt x="373439" y="57079"/>
                  </a:lnTo>
                  <a:lnTo>
                    <a:pt x="348009" y="37623"/>
                  </a:lnTo>
                  <a:lnTo>
                    <a:pt x="319373" y="21763"/>
                  </a:lnTo>
                  <a:lnTo>
                    <a:pt x="287967" y="9958"/>
                  </a:lnTo>
                  <a:lnTo>
                    <a:pt x="254230" y="2550"/>
                  </a:lnTo>
                  <a:lnTo>
                    <a:pt x="218599" y="0"/>
                  </a:lnTo>
                  <a:close/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3" name="Oval 622"/>
            <p:cNvSpPr/>
            <p:nvPr/>
          </p:nvSpPr>
          <p:spPr>
            <a:xfrm>
              <a:off x="582299" y="2098559"/>
              <a:ext cx="58292" cy="58292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4" name="Oval 623"/>
            <p:cNvSpPr/>
            <p:nvPr/>
          </p:nvSpPr>
          <p:spPr>
            <a:xfrm>
              <a:off x="643021" y="2001404"/>
              <a:ext cx="58292" cy="58292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5" name="Oval 624"/>
            <p:cNvSpPr/>
            <p:nvPr/>
          </p:nvSpPr>
          <p:spPr>
            <a:xfrm>
              <a:off x="752320" y="2001404"/>
              <a:ext cx="58292" cy="58292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26" name="item_0"/>
          <p:cNvSpPr txBox="1"/>
          <p:nvPr/>
        </p:nvSpPr>
        <p:spPr>
          <a:xfrm>
            <a:off x="1274528" y="1857910"/>
            <a:ext cx="10465635" cy="86568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Разбирает дизайн-систему</a:t>
            </a:r>
          </a:p>
        </p:txBody>
      </p:sp>
      <p:grpSp>
        <p:nvGrpSpPr>
          <p:cNvPr id="4" name="icon:builtin-next"/>
          <p:cNvGrpSpPr/>
          <p:nvPr/>
        </p:nvGrpSpPr>
        <p:grpSpPr>
          <a:xfrm>
            <a:off x="502146" y="2933625"/>
            <a:ext cx="437197" cy="437197"/>
            <a:chOff x="502146" y="2933625"/>
            <a:chExt cx="437197" cy="437197"/>
          </a:xfrm>
        </p:grpSpPr>
        <p:sp>
          <p:nvSpPr>
            <p:cNvPr id="627" name="Oval 626"/>
            <p:cNvSpPr/>
            <p:nvPr/>
          </p:nvSpPr>
          <p:spPr>
            <a:xfrm>
              <a:off x="502146" y="2933625"/>
              <a:ext cx="437197" cy="437197"/>
            </a:xfrm>
            <a:prstGeom prst="ellipse">
              <a:avLst/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623590" y="3152224"/>
              <a:ext cx="194310" cy="0"/>
            </a:xfrm>
            <a:custGeom>
              <a:avLst/>
              <a:gdLst/>
              <a:ahLst/>
              <a:cxnLst/>
              <a:rect l="l" t="t" r="r" b="b"/>
              <a:pathLst>
                <a:path w="194310" h="0">
                  <a:moveTo>
                    <a:pt x="0" y="0"/>
                  </a:moveTo>
                  <a:lnTo>
                    <a:pt x="194310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720745" y="3055069"/>
              <a:ext cx="97155" cy="194310"/>
            </a:xfrm>
            <a:custGeom>
              <a:avLst/>
              <a:gdLst/>
              <a:ahLst/>
              <a:cxnLst/>
              <a:rect l="l" t="t" r="r" b="b"/>
              <a:pathLst>
                <a:path w="97155" h="194310">
                  <a:moveTo>
                    <a:pt x="0" y="0"/>
                  </a:moveTo>
                  <a:lnTo>
                    <a:pt x="97155" y="97155"/>
                  </a:lnTo>
                  <a:lnTo>
                    <a:pt x="0" y="19431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28" name="item_1"/>
          <p:cNvSpPr txBox="1"/>
          <p:nvPr/>
        </p:nvSpPr>
        <p:spPr>
          <a:xfrm>
            <a:off x="1274528" y="2870284"/>
            <a:ext cx="10465635" cy="86568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Собирает план колоды</a:t>
            </a:r>
          </a:p>
        </p:txBody>
      </p:sp>
      <p:grpSp>
        <p:nvGrpSpPr>
          <p:cNvPr id="7" name="icon:builtin-layout"/>
          <p:cNvGrpSpPr/>
          <p:nvPr/>
        </p:nvGrpSpPr>
        <p:grpSpPr>
          <a:xfrm>
            <a:off x="502146" y="3945998"/>
            <a:ext cx="437197" cy="437197"/>
            <a:chOff x="502146" y="3945998"/>
            <a:chExt cx="437197" cy="437197"/>
          </a:xfrm>
        </p:grpSpPr>
        <p:sp>
          <p:nvSpPr>
            <p:cNvPr id="629" name="Rounded Rectangle 628"/>
            <p:cNvSpPr/>
            <p:nvPr/>
          </p:nvSpPr>
          <p:spPr>
            <a:xfrm>
              <a:off x="502146" y="3945998"/>
              <a:ext cx="437197" cy="437197"/>
            </a:xfrm>
            <a:prstGeom prst="roundRect">
              <a:avLst>
                <a:gd name="adj" fmla="val 11111"/>
              </a:avLst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502146" y="4091730"/>
              <a:ext cx="437197" cy="0"/>
            </a:xfrm>
            <a:custGeom>
              <a:avLst/>
              <a:gdLst/>
              <a:ahLst/>
              <a:cxnLst/>
              <a:rect l="l" t="t" r="r" b="b"/>
              <a:pathLst>
                <a:path w="437197" h="0">
                  <a:moveTo>
                    <a:pt x="0" y="0"/>
                  </a:moveTo>
                  <a:lnTo>
                    <a:pt x="437197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647878" y="4091730"/>
              <a:ext cx="0" cy="291465"/>
            </a:xfrm>
            <a:custGeom>
              <a:avLst/>
              <a:gdLst/>
              <a:ahLst/>
              <a:cxnLst/>
              <a:rect l="l" t="t" r="r" b="b"/>
              <a:pathLst>
                <a:path w="0" h="291465">
                  <a:moveTo>
                    <a:pt x="0" y="0"/>
                  </a:moveTo>
                  <a:lnTo>
                    <a:pt x="0" y="291465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30" name="item_2"/>
          <p:cNvSpPr txBox="1"/>
          <p:nvPr/>
        </p:nvSpPr>
        <p:spPr>
          <a:xfrm>
            <a:off x="1274528" y="3882657"/>
            <a:ext cx="10465635" cy="86568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 по системе</a:t>
            </a:r>
          </a:p>
        </p:txBody>
      </p:sp>
      <p:grpSp>
        <p:nvGrpSpPr>
          <p:cNvPr id="10" name="icon:builtin-search"/>
          <p:cNvGrpSpPr/>
          <p:nvPr/>
        </p:nvGrpSpPr>
        <p:grpSpPr>
          <a:xfrm>
            <a:off x="526435" y="4982661"/>
            <a:ext cx="412908" cy="412908"/>
            <a:chOff x="526435" y="4982661"/>
            <a:chExt cx="412908" cy="412908"/>
          </a:xfrm>
        </p:grpSpPr>
        <p:sp>
          <p:nvSpPr>
            <p:cNvPr id="631" name="Oval 630"/>
            <p:cNvSpPr/>
            <p:nvPr/>
          </p:nvSpPr>
          <p:spPr>
            <a:xfrm>
              <a:off x="526435" y="4982661"/>
              <a:ext cx="340042" cy="340042"/>
            </a:xfrm>
            <a:prstGeom prst="ellipse">
              <a:avLst/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22757" y="5278983"/>
              <a:ext cx="116586" cy="116586"/>
            </a:xfrm>
            <a:custGeom>
              <a:avLst/>
              <a:gdLst/>
              <a:ahLst/>
              <a:cxnLst/>
              <a:rect l="l" t="t" r="r" b="b"/>
              <a:pathLst>
                <a:path w="116586" h="116586">
                  <a:moveTo>
                    <a:pt x="0" y="0"/>
                  </a:moveTo>
                  <a:lnTo>
                    <a:pt x="116586" y="116586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32" name="item_3"/>
          <p:cNvSpPr txBox="1"/>
          <p:nvPr/>
        </p:nvSpPr>
        <p:spPr>
          <a:xfrm>
            <a:off x="1274528" y="4895031"/>
            <a:ext cx="10465635" cy="86568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 качества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Сокращение времени сборки до 4 мин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848385"/>
          <a:ext cx="11310884" cy="404949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Нарушений фирменного стиля — 2 из 68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2431298"/>
          <a:ext cx="11310884" cy="34665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Ресурсы: 2 vCPU / 2 ГБ RAM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783079"/>
          <a:ext cx="1131088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13716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Ресурс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vCPU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RAM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ГБ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инференса за 6 недель — 1 400 руб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848385"/>
          <a:ext cx="11310884" cy="4049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202474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02474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Инференс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1 400 руб.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285347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выше 20 задач: главный риск</a:t>
            </a:r>
          </a:p>
        </p:txBody>
      </p:sp>
      <p:grpSp>
        <p:nvGrpSpPr>
          <p:cNvPr id="2" name="icon:builtin-layers"/>
          <p:cNvGrpSpPr/>
          <p:nvPr/>
        </p:nvGrpSpPr>
        <p:grpSpPr>
          <a:xfrm>
            <a:off x="500683" y="1921251"/>
            <a:ext cx="437197" cy="437197"/>
            <a:chOff x="500683" y="1921251"/>
            <a:chExt cx="437197" cy="437197"/>
          </a:xfrm>
        </p:grpSpPr>
        <p:sp>
          <p:nvSpPr>
            <p:cNvPr id="3" name="Freeform 2"/>
            <p:cNvSpPr/>
            <p:nvPr/>
          </p:nvSpPr>
          <p:spPr>
            <a:xfrm>
              <a:off x="500683" y="1921251"/>
              <a:ext cx="437197" cy="242887"/>
            </a:xfrm>
            <a:custGeom>
              <a:avLst/>
              <a:gdLst/>
              <a:ahLst/>
              <a:cxnLst/>
              <a:rect l="l" t="t" r="r" b="b"/>
              <a:pathLst>
                <a:path w="437197" h="242887">
                  <a:moveTo>
                    <a:pt x="218599" y="0"/>
                  </a:moveTo>
                  <a:lnTo>
                    <a:pt x="437197" y="121444"/>
                  </a:lnTo>
                  <a:lnTo>
                    <a:pt x="218599" y="242887"/>
                  </a:lnTo>
                  <a:lnTo>
                    <a:pt x="0" y="121444"/>
                  </a:lnTo>
                  <a:close/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Freeform 3"/>
            <p:cNvSpPr/>
            <p:nvPr/>
          </p:nvSpPr>
          <p:spPr>
            <a:xfrm>
              <a:off x="500683" y="2139850"/>
              <a:ext cx="437197" cy="121443"/>
            </a:xfrm>
            <a:custGeom>
              <a:avLst/>
              <a:gdLst/>
              <a:ahLst/>
              <a:cxnLst/>
              <a:rect l="l" t="t" r="r" b="b"/>
              <a:pathLst>
                <a:path w="437197" h="121443">
                  <a:moveTo>
                    <a:pt x="0" y="0"/>
                  </a:moveTo>
                  <a:lnTo>
                    <a:pt x="218599" y="121443"/>
                  </a:lnTo>
                  <a:lnTo>
                    <a:pt x="437197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500683" y="2237005"/>
              <a:ext cx="437197" cy="121443"/>
            </a:xfrm>
            <a:custGeom>
              <a:avLst/>
              <a:gdLst/>
              <a:ahLst/>
              <a:cxnLst/>
              <a:rect l="l" t="t" r="r" b="b"/>
              <a:pathLst>
                <a:path w="437197" h="121443">
                  <a:moveTo>
                    <a:pt x="0" y="0"/>
                  </a:moveTo>
                  <a:lnTo>
                    <a:pt x="218599" y="121443"/>
                  </a:lnTo>
                  <a:lnTo>
                    <a:pt x="437197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82" name="item_0"/>
          <p:cNvSpPr txBox="1"/>
          <p:nvPr/>
        </p:nvSpPr>
        <p:spPr>
          <a:xfrm>
            <a:off x="1273065" y="1857910"/>
            <a:ext cx="10467098" cy="18780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Требуется внешняя очередь</a:t>
            </a:r>
          </a:p>
        </p:txBody>
      </p:sp>
      <p:grpSp>
        <p:nvGrpSpPr>
          <p:cNvPr id="6" name="icon:builtin-sparkles"/>
          <p:cNvGrpSpPr/>
          <p:nvPr/>
        </p:nvGrpSpPr>
        <p:grpSpPr>
          <a:xfrm>
            <a:off x="549260" y="3945998"/>
            <a:ext cx="393478" cy="376475"/>
            <a:chOff x="549260" y="3945998"/>
            <a:chExt cx="393478" cy="376475"/>
          </a:xfrm>
        </p:grpSpPr>
        <p:sp>
          <p:nvSpPr>
            <p:cNvPr id="7" name="Freeform 6"/>
            <p:cNvSpPr/>
            <p:nvPr/>
          </p:nvSpPr>
          <p:spPr>
            <a:xfrm>
              <a:off x="549260" y="3945998"/>
              <a:ext cx="291465" cy="291465"/>
            </a:xfrm>
            <a:custGeom>
              <a:avLst/>
              <a:gdLst/>
              <a:ahLst/>
              <a:cxnLst/>
              <a:rect l="l" t="t" r="r" b="b"/>
              <a:pathLst>
                <a:path w="291465" h="291465">
                  <a:moveTo>
                    <a:pt x="145733" y="0"/>
                  </a:moveTo>
                  <a:lnTo>
                    <a:pt x="150153" y="27373"/>
                  </a:lnTo>
                  <a:lnTo>
                    <a:pt x="156225" y="51298"/>
                  </a:lnTo>
                  <a:lnTo>
                    <a:pt x="164192" y="72016"/>
                  </a:lnTo>
                  <a:lnTo>
                    <a:pt x="174296" y="89771"/>
                  </a:lnTo>
                  <a:lnTo>
                    <a:pt x="186732" y="104733"/>
                  </a:lnTo>
                  <a:lnTo>
                    <a:pt x="201694" y="117169"/>
                  </a:lnTo>
                  <a:lnTo>
                    <a:pt x="219425" y="127249"/>
                  </a:lnTo>
                  <a:lnTo>
                    <a:pt x="240167" y="135240"/>
                  </a:lnTo>
                  <a:lnTo>
                    <a:pt x="264092" y="141336"/>
                  </a:lnTo>
                  <a:lnTo>
                    <a:pt x="291465" y="145732"/>
                  </a:lnTo>
                  <a:lnTo>
                    <a:pt x="264092" y="150153"/>
                  </a:lnTo>
                  <a:lnTo>
                    <a:pt x="240167" y="156225"/>
                  </a:lnTo>
                  <a:lnTo>
                    <a:pt x="219425" y="164192"/>
                  </a:lnTo>
                  <a:lnTo>
                    <a:pt x="201694" y="174296"/>
                  </a:lnTo>
                  <a:lnTo>
                    <a:pt x="186732" y="186732"/>
                  </a:lnTo>
                  <a:lnTo>
                    <a:pt x="174296" y="201694"/>
                  </a:lnTo>
                  <a:lnTo>
                    <a:pt x="164192" y="219424"/>
                  </a:lnTo>
                  <a:lnTo>
                    <a:pt x="156225" y="240167"/>
                  </a:lnTo>
                  <a:lnTo>
                    <a:pt x="150153" y="264116"/>
                  </a:lnTo>
                  <a:lnTo>
                    <a:pt x="145733" y="291465"/>
                  </a:lnTo>
                  <a:lnTo>
                    <a:pt x="141336" y="264116"/>
                  </a:lnTo>
                  <a:lnTo>
                    <a:pt x="135240" y="240167"/>
                  </a:lnTo>
                  <a:lnTo>
                    <a:pt x="127249" y="219424"/>
                  </a:lnTo>
                  <a:lnTo>
                    <a:pt x="117169" y="201694"/>
                  </a:lnTo>
                  <a:lnTo>
                    <a:pt x="104733" y="186732"/>
                  </a:lnTo>
                  <a:lnTo>
                    <a:pt x="89771" y="174296"/>
                  </a:lnTo>
                  <a:lnTo>
                    <a:pt x="72016" y="164216"/>
                  </a:lnTo>
                  <a:lnTo>
                    <a:pt x="51298" y="156225"/>
                  </a:lnTo>
                  <a:lnTo>
                    <a:pt x="27374" y="150129"/>
                  </a:lnTo>
                  <a:lnTo>
                    <a:pt x="0" y="145732"/>
                  </a:lnTo>
                  <a:lnTo>
                    <a:pt x="27374" y="141336"/>
                  </a:lnTo>
                  <a:lnTo>
                    <a:pt x="51298" y="135240"/>
                  </a:lnTo>
                  <a:lnTo>
                    <a:pt x="72016" y="127249"/>
                  </a:lnTo>
                  <a:lnTo>
                    <a:pt x="89771" y="117169"/>
                  </a:lnTo>
                  <a:lnTo>
                    <a:pt x="104733" y="104733"/>
                  </a:lnTo>
                  <a:lnTo>
                    <a:pt x="117169" y="89771"/>
                  </a:lnTo>
                  <a:lnTo>
                    <a:pt x="127249" y="72040"/>
                  </a:lnTo>
                  <a:lnTo>
                    <a:pt x="135240" y="51298"/>
                  </a:lnTo>
                  <a:lnTo>
                    <a:pt x="141336" y="27373"/>
                  </a:lnTo>
                  <a:lnTo>
                    <a:pt x="145733" y="0"/>
                  </a:lnTo>
                  <a:close/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835868" y="4213174"/>
              <a:ext cx="106870" cy="109299"/>
            </a:xfrm>
            <a:custGeom>
              <a:avLst/>
              <a:gdLst/>
              <a:ahLst/>
              <a:cxnLst/>
              <a:rect l="l" t="t" r="r" b="b"/>
              <a:pathLst>
                <a:path w="106870" h="109299">
                  <a:moveTo>
                    <a:pt x="53435" y="0"/>
                  </a:moveTo>
                  <a:lnTo>
                    <a:pt x="55184" y="10298"/>
                  </a:lnTo>
                  <a:lnTo>
                    <a:pt x="57588" y="19334"/>
                  </a:lnTo>
                  <a:lnTo>
                    <a:pt x="60697" y="27203"/>
                  </a:lnTo>
                  <a:lnTo>
                    <a:pt x="64559" y="34004"/>
                  </a:lnTo>
                  <a:lnTo>
                    <a:pt x="69222" y="39785"/>
                  </a:lnTo>
                  <a:lnTo>
                    <a:pt x="74760" y="44594"/>
                  </a:lnTo>
                  <a:lnTo>
                    <a:pt x="81245" y="48529"/>
                  </a:lnTo>
                  <a:lnTo>
                    <a:pt x="88726" y="51686"/>
                  </a:lnTo>
                  <a:lnTo>
                    <a:pt x="97252" y="54091"/>
                  </a:lnTo>
                  <a:lnTo>
                    <a:pt x="106870" y="55864"/>
                  </a:lnTo>
                  <a:lnTo>
                    <a:pt x="97252" y="57613"/>
                  </a:lnTo>
                  <a:lnTo>
                    <a:pt x="88726" y="60018"/>
                  </a:lnTo>
                  <a:lnTo>
                    <a:pt x="81245" y="63126"/>
                  </a:lnTo>
                  <a:lnTo>
                    <a:pt x="74760" y="66988"/>
                  </a:lnTo>
                  <a:lnTo>
                    <a:pt x="69222" y="71652"/>
                  </a:lnTo>
                  <a:lnTo>
                    <a:pt x="64559" y="77190"/>
                  </a:lnTo>
                  <a:lnTo>
                    <a:pt x="60697" y="83675"/>
                  </a:lnTo>
                  <a:lnTo>
                    <a:pt x="57588" y="91156"/>
                  </a:lnTo>
                  <a:lnTo>
                    <a:pt x="55184" y="99681"/>
                  </a:lnTo>
                  <a:lnTo>
                    <a:pt x="53435" y="109299"/>
                  </a:lnTo>
                  <a:lnTo>
                    <a:pt x="51686" y="99681"/>
                  </a:lnTo>
                  <a:lnTo>
                    <a:pt x="49281" y="91156"/>
                  </a:lnTo>
                  <a:lnTo>
                    <a:pt x="46172" y="83675"/>
                  </a:lnTo>
                  <a:lnTo>
                    <a:pt x="42311" y="77190"/>
                  </a:lnTo>
                  <a:lnTo>
                    <a:pt x="37647" y="71652"/>
                  </a:lnTo>
                  <a:lnTo>
                    <a:pt x="32109" y="66988"/>
                  </a:lnTo>
                  <a:lnTo>
                    <a:pt x="25624" y="63126"/>
                  </a:lnTo>
                  <a:lnTo>
                    <a:pt x="18143" y="60018"/>
                  </a:lnTo>
                  <a:lnTo>
                    <a:pt x="9618" y="57613"/>
                  </a:lnTo>
                  <a:lnTo>
                    <a:pt x="0" y="55864"/>
                  </a:lnTo>
                  <a:lnTo>
                    <a:pt x="9618" y="54115"/>
                  </a:lnTo>
                  <a:lnTo>
                    <a:pt x="18143" y="51686"/>
                  </a:lnTo>
                  <a:lnTo>
                    <a:pt x="25624" y="48529"/>
                  </a:lnTo>
                  <a:lnTo>
                    <a:pt x="32109" y="44594"/>
                  </a:lnTo>
                  <a:lnTo>
                    <a:pt x="37647" y="39785"/>
                  </a:lnTo>
                  <a:lnTo>
                    <a:pt x="42311" y="34004"/>
                  </a:lnTo>
                  <a:lnTo>
                    <a:pt x="46172" y="27203"/>
                  </a:lnTo>
                  <a:lnTo>
                    <a:pt x="49281" y="19334"/>
                  </a:lnTo>
                  <a:lnTo>
                    <a:pt x="51686" y="10298"/>
                  </a:lnTo>
                  <a:lnTo>
                    <a:pt x="53435" y="0"/>
                  </a:lnTo>
                  <a:close/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83" name="item_1"/>
          <p:cNvSpPr txBox="1"/>
          <p:nvPr/>
        </p:nvSpPr>
        <p:spPr>
          <a:xfrm>
            <a:off x="1273065" y="3882657"/>
            <a:ext cx="10467098" cy="18780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Модель может выдумать цифры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Пилот: 6 недель, 68 колод</a:t>
            </a:r>
          </a:p>
        </p:txBody>
      </p:sp>
      <p:graphicFrame>
        <p:nvGraphicFramePr>
          <p:cNvPr id="623" name="Table 622"/>
          <p:cNvGraphicFramePr>
            <a:graphicFrameLocks noGrp="1"/>
          </p:cNvGraphicFramePr>
          <p:nvPr/>
        </p:nvGraphicFramePr>
        <p:xfrm>
          <a:off x="429280" y="1783079"/>
          <a:ext cx="1131088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13716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Длительность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недель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0817" y="297715"/>
            <a:ext cx="11566347" cy="3377993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7817" y="424715"/>
            <a:ext cx="11312347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Решение о полном запуске</a:t>
            </a:r>
          </a:p>
        </p:txBody>
      </p:sp>
      <p:sp>
        <p:nvSpPr>
          <p:cNvPr id="886" name="body"/>
          <p:cNvSpPr txBox="1"/>
          <p:nvPr/>
        </p:nvSpPr>
        <p:spPr>
          <a:xfrm>
            <a:off x="427817" y="2258389"/>
            <a:ext cx="11312347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Третий квартал 2026 подключение 4 команд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Четвертый квартал 2026 доступ для всей компании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квартал 2027 генерация иллюстраций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
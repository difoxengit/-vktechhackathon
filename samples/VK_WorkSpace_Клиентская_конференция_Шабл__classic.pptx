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Текущее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Пилот</c:v>
                </c:pt>
              </c:strCache>
            </c:strRef>
          </c:tx>
          <c:spPr>
            <a:solidFill>
              <a:srgbClr val="6DBCFF"/>
            </a:solidFill>
            <a:ln>
              <a:solidFill>
                <a:srgbClr val="6DBC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4.0</c:v>
                </c:pt>
                <c:pt idx="1">
                  <c:v>1.0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Текущая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3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11310884" cy="15014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одной презентации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закрывает 11 запросов в неделю из 27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3337047"/>
          <a:ext cx="11310884" cy="208070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все данные до выдачи</a:t>
            </a:r>
          </a:p>
        </p:txBody>
      </p:sp>
      <p:sp>
        <p:nvSpPr>
          <p:cNvPr id="4" name="Pentagon 3"/>
          <p:cNvSpPr/>
          <p:nvPr/>
        </p:nvSpPr>
        <p:spPr>
          <a:xfrm>
            <a:off x="429280" y="3463538"/>
            <a:ext cx="11310884" cy="335019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429280" y="3853095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6" name="Chevron 5"/>
          <p:cNvSpPr/>
          <p:nvPr/>
        </p:nvSpPr>
        <p:spPr>
          <a:xfrm>
            <a:off x="429280" y="4242652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7" name="Chevron 6"/>
          <p:cNvSpPr/>
          <p:nvPr/>
        </p:nvSpPr>
        <p:spPr>
          <a:xfrm>
            <a:off x="429280" y="4632209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8" name="Chevron 7"/>
          <p:cNvSpPr/>
          <p:nvPr/>
        </p:nvSpPr>
        <p:spPr>
          <a:xfrm>
            <a:off x="429280" y="5021766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9" name="Chevron 8"/>
          <p:cNvSpPr/>
          <p:nvPr/>
        </p:nvSpPr>
        <p:spPr>
          <a:xfrm>
            <a:off x="429280" y="5411323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время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 собраны за 6 недель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  <p:graphicFrame>
        <p:nvGraphicFramePr>
          <p:cNvPr id="683" name="Chart 682"/>
          <p:cNvGraphicFramePr>
            <a:graphicFrameLocks noGrp="1"/>
          </p:cNvGraphicFramePr>
          <p:nvPr/>
        </p:nvGraphicFramePr>
        <p:xfrm>
          <a:off x="427817" y="3349622"/>
          <a:ext cx="11312347" cy="257959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качество и нагрузка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1745515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2 из 68 колод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624" name="Chart 623"/>
          <p:cNvGraphicFramePr>
            <a:graphicFrameLocks noGrp="1"/>
          </p:cNvGraphicFramePr>
          <p:nvPr/>
        </p:nvGraphicFramePr>
        <p:xfrm>
          <a:off x="429280" y="2861845"/>
          <a:ext cx="11310884" cy="254904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 ресурсы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568147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4209288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Модель gpt-oss-20b подключается по OpenAI-совместимому протоколу</a:t>
            </a:r>
          </a:p>
        </p:txBody>
      </p:sp>
      <p:sp>
        <p:nvSpPr>
          <p:cNvPr id="5" name="card_2"/>
          <p:cNvSpPr txBox="1"/>
          <p:nvPr/>
        </p:nvSpPr>
        <p:spPr>
          <a:xfrm>
            <a:off x="7881884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инференса за 6 недель 1 400 рублей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цифры, аудит проверяет каждое число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  <p:sp>
        <p:nvSpPr>
          <p:cNvPr id="4" name="Oval 3"/>
          <p:cNvSpPr/>
          <p:nvPr/>
        </p:nvSpPr>
        <p:spPr>
          <a:xfrm>
            <a:off x="1713709" y="3080206"/>
            <a:ext cx="1100894" cy="110089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88851" y="3255348"/>
            <a:ext cx="750610" cy="75061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89014" y="3455511"/>
            <a:ext cx="350284" cy="35028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280" y="440628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Выдумка</a:t>
            </a:r>
          </a:p>
        </p:txBody>
      </p:sp>
      <p:sp>
        <p:nvSpPr>
          <p:cNvPr id="8" name="Document 7"/>
          <p:cNvSpPr/>
          <p:nvPr/>
        </p:nvSpPr>
        <p:spPr>
          <a:xfrm>
            <a:off x="5609335" y="3105226"/>
            <a:ext cx="950772" cy="1050854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49845" y="440628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Плохой шаблон</a:t>
            </a:r>
          </a:p>
        </p:txBody>
      </p:sp>
      <p:sp>
        <p:nvSpPr>
          <p:cNvPr id="10" name="Oval 9"/>
          <p:cNvSpPr/>
          <p:nvPr/>
        </p:nvSpPr>
        <p:spPr>
          <a:xfrm>
            <a:off x="9354839" y="3080206"/>
            <a:ext cx="1100894" cy="110089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29982" y="3255348"/>
            <a:ext cx="750610" cy="75061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30144" y="3455511"/>
            <a:ext cx="350284" cy="35028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0410" y="440628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Перегрузка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Q3 2026: подключение 4 команд, домен и HTTPS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Q4 2026: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Q1 2027: генерация иллюстраций под стиль шаблона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280" y="4207600"/>
            <a:ext cx="11310884" cy="6723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67915" y="399470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280" y="3176732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5838209" y="399470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7001" y="4700624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9608504" y="399470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4722" y="3176732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 сервиса на всю компанию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Выделение бюджета на поддержку и развитие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Поддержка интеграции с корпоративными системами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8081385" cy="124714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
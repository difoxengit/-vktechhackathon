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(мин)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 (мин),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Нарушения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2.0</c:v>
                </c:pt>
              </c:numCache>
            </c:numRef>
          </c:val>
        </c:ser>
        <c:dLbls>
          <c:numFmt formatCode="0&quot; колод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Нарушения, колод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2" r:id="rId6"/>
    <p:sldLayoutId id="2147483653" r:id="rId7"/>
    <p:sldLayoutId id="2147483655" r:id="rId9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2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title"/>
          <p:cNvSpPr txBox="1"/>
          <p:nvPr/>
        </p:nvSpPr>
        <p:spPr>
          <a:xfrm>
            <a:off x="429280" y="2490551"/>
            <a:ext cx="7827385" cy="18846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5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5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Автоматическая вёрстка презентаций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Сборка вручную занимает 186 мин</a:t>
            </a:r>
          </a:p>
        </p:txBody>
      </p:sp>
      <p:sp>
        <p:nvSpPr>
          <p:cNvPr id="3" name="card_0"/>
          <p:cNvSpPr txBox="1"/>
          <p:nvPr/>
        </p:nvSpPr>
        <p:spPr>
          <a:xfrm>
            <a:off x="580217" y="1816562"/>
            <a:ext cx="3331220" cy="154716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42 колоды за квартал 2026</a:t>
            </a:r>
          </a:p>
        </p:txBody>
      </p:sp>
      <p:sp>
        <p:nvSpPr>
          <p:cNvPr id="4" name="card_1"/>
          <p:cNvSpPr txBox="1"/>
          <p:nvPr/>
        </p:nvSpPr>
        <p:spPr>
          <a:xfrm>
            <a:off x="4369978" y="1816562"/>
            <a:ext cx="3331220" cy="154716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186 мин на 12 слайдов</a:t>
            </a:r>
          </a:p>
        </p:txBody>
      </p:sp>
      <p:sp>
        <p:nvSpPr>
          <p:cNvPr id="5" name="card_2"/>
          <p:cNvSpPr txBox="1"/>
          <p:nvPr/>
        </p:nvSpPr>
        <p:spPr>
          <a:xfrm>
            <a:off x="8159739" y="1816562"/>
            <a:ext cx="3331220" cy="154716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74 мин на правки после ревью</a:t>
            </a:r>
          </a:p>
        </p:txBody>
      </p:sp>
      <p:sp>
        <p:nvSpPr>
          <p:cNvPr id="6" name="card_3"/>
          <p:cNvSpPr txBox="1"/>
          <p:nvPr/>
        </p:nvSpPr>
        <p:spPr>
          <a:xfrm>
            <a:off x="580217" y="3770132"/>
            <a:ext cx="3331220" cy="149521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19 из 42 колод нарушили фирменный стиль</a:t>
            </a:r>
          </a:p>
        </p:txBody>
      </p:sp>
      <p:sp>
        <p:nvSpPr>
          <p:cNvPr id="7" name="card_4"/>
          <p:cNvSpPr txBox="1"/>
          <p:nvPr/>
        </p:nvSpPr>
        <p:spPr>
          <a:xfrm>
            <a:off x="4369978" y="3770132"/>
            <a:ext cx="3331220" cy="149521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4 дизайнера обрабатывают 11 запросов/нед</a:t>
            </a:r>
          </a:p>
        </p:txBody>
      </p:sp>
      <p:sp>
        <p:nvSpPr>
          <p:cNvPr id="8" name="card_5"/>
          <p:cNvSpPr txBox="1"/>
          <p:nvPr/>
        </p:nvSpPr>
        <p:spPr>
          <a:xfrm>
            <a:off x="8158276" y="3770132"/>
            <a:ext cx="3331220" cy="149521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Средний срок ожидания 6 рабочих дней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9640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Сервис автоматически вёрстит презентации</a:t>
            </a:r>
          </a:p>
        </p:txBody>
      </p:sp>
      <p:sp>
        <p:nvSpPr>
          <p:cNvPr id="3" name="card_0"/>
          <p:cNvSpPr txBox="1"/>
          <p:nvPr/>
        </p:nvSpPr>
        <p:spPr>
          <a:xfrm>
            <a:off x="580217" y="1644975"/>
            <a:ext cx="2407554" cy="167177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Принимает шаблон pptx и материалы</a:t>
            </a:r>
          </a:p>
        </p:txBody>
      </p:sp>
      <p:sp>
        <p:nvSpPr>
          <p:cNvPr id="4" name="card_1"/>
          <p:cNvSpPr txBox="1"/>
          <p:nvPr/>
        </p:nvSpPr>
        <p:spPr>
          <a:xfrm>
            <a:off x="3451067" y="1644975"/>
            <a:ext cx="2407554" cy="167177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Парсит дизайн-систему</a:t>
            </a:r>
          </a:p>
        </p:txBody>
      </p:sp>
      <p:sp>
        <p:nvSpPr>
          <p:cNvPr id="5" name="card_2"/>
          <p:cNvSpPr txBox="1"/>
          <p:nvPr/>
        </p:nvSpPr>
        <p:spPr>
          <a:xfrm>
            <a:off x="6329111" y="1644975"/>
            <a:ext cx="2407554" cy="37098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Собирает план колоды</a:t>
            </a:r>
          </a:p>
        </p:txBody>
      </p:sp>
      <p:sp>
        <p:nvSpPr>
          <p:cNvPr id="6" name="card_3"/>
          <p:cNvSpPr txBox="1"/>
          <p:nvPr/>
        </p:nvSpPr>
        <p:spPr>
          <a:xfrm>
            <a:off x="9206423" y="1644975"/>
            <a:ext cx="2407554" cy="37098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Проводит аудит качества</a:t>
            </a:r>
          </a:p>
        </p:txBody>
      </p:sp>
      <p:sp>
        <p:nvSpPr>
          <p:cNvPr id="7" name="card_4"/>
          <p:cNvSpPr txBox="1"/>
          <p:nvPr/>
        </p:nvSpPr>
        <p:spPr>
          <a:xfrm>
            <a:off x="580217" y="3723154"/>
            <a:ext cx="2407554" cy="1631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Экспортирует pptx, pdf, html</a:t>
            </a:r>
          </a:p>
        </p:txBody>
      </p:sp>
      <p:sp>
        <p:nvSpPr>
          <p:cNvPr id="8" name="card_5"/>
          <p:cNvSpPr txBox="1"/>
          <p:nvPr/>
        </p:nvSpPr>
        <p:spPr>
          <a:xfrm>
            <a:off x="3451067" y="3723154"/>
            <a:ext cx="2407554" cy="1631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Слайды остаются редактируемыми</a:t>
            </a:r>
          </a:p>
        </p:txBody>
      </p:sp>
      <p:grpSp>
        <p:nvGrpSpPr>
          <p:cNvPr id="9" name="icon:builtin-download"/>
          <p:cNvGrpSpPr/>
          <p:nvPr/>
        </p:nvGrpSpPr>
        <p:grpSpPr>
          <a:xfrm>
            <a:off x="2753100" y="1734027"/>
            <a:ext cx="126015" cy="162020"/>
            <a:chOff x="2753100" y="1734027"/>
            <a:chExt cx="126015" cy="162020"/>
          </a:xfrm>
        </p:grpSpPr>
        <p:sp>
          <p:nvSpPr>
            <p:cNvPr id="10" name="Freeform 9"/>
            <p:cNvSpPr/>
            <p:nvPr/>
          </p:nvSpPr>
          <p:spPr>
            <a:xfrm>
              <a:off x="2816108" y="1734027"/>
              <a:ext cx="0" cy="108013"/>
            </a:xfrm>
            <a:custGeom>
              <a:avLst/>
              <a:gdLst/>
              <a:ahLst/>
              <a:cxnLst/>
              <a:rect l="l" t="t" r="r" b="b"/>
              <a:pathLst>
                <a:path w="0" h="108013">
                  <a:moveTo>
                    <a:pt x="0" y="0"/>
                  </a:moveTo>
                  <a:lnTo>
                    <a:pt x="0" y="108013"/>
                  </a:lnTo>
                </a:path>
              </a:pathLst>
            </a:custGeom>
            <a:noFill/>
            <a:ln w="18002" cap="rnd">
              <a:solidFill>
                <a:srgbClr val="0074F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771102" y="1797035"/>
              <a:ext cx="90011" cy="45005"/>
            </a:xfrm>
            <a:custGeom>
              <a:avLst/>
              <a:gdLst/>
              <a:ahLst/>
              <a:cxnLst/>
              <a:rect l="l" t="t" r="r" b="b"/>
              <a:pathLst>
                <a:path w="90011" h="45005">
                  <a:moveTo>
                    <a:pt x="0" y="0"/>
                  </a:moveTo>
                  <a:lnTo>
                    <a:pt x="45006" y="45005"/>
                  </a:lnTo>
                  <a:lnTo>
                    <a:pt x="90011" y="0"/>
                  </a:lnTo>
                </a:path>
              </a:pathLst>
            </a:custGeom>
            <a:noFill/>
            <a:ln w="18002" cap="rnd">
              <a:solidFill>
                <a:srgbClr val="0074F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2753100" y="1896047"/>
              <a:ext cx="126015" cy="0"/>
            </a:xfrm>
            <a:custGeom>
              <a:avLst/>
              <a:gdLst/>
              <a:ahLst/>
              <a:cxnLst/>
              <a:rect l="l" t="t" r="r" b="b"/>
              <a:pathLst>
                <a:path w="126015" h="0">
                  <a:moveTo>
                    <a:pt x="0" y="0"/>
                  </a:moveTo>
                  <a:lnTo>
                    <a:pt x="126015" y="0"/>
                  </a:lnTo>
                </a:path>
              </a:pathLst>
            </a:custGeom>
            <a:noFill/>
            <a:ln w="18002" cap="rnd">
              <a:solidFill>
                <a:srgbClr val="0074F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icon:builtin-presentation"/>
          <p:cNvGrpSpPr/>
          <p:nvPr/>
        </p:nvGrpSpPr>
        <p:grpSpPr>
          <a:xfrm>
            <a:off x="5603752" y="1743028"/>
            <a:ext cx="162020" cy="144018"/>
            <a:chOff x="5603752" y="1743028"/>
            <a:chExt cx="162020" cy="144018"/>
          </a:xfrm>
        </p:grpSpPr>
        <p:sp>
          <p:nvSpPr>
            <p:cNvPr id="14" name="Rounded Rectangle 13"/>
            <p:cNvSpPr/>
            <p:nvPr/>
          </p:nvSpPr>
          <p:spPr>
            <a:xfrm>
              <a:off x="5603752" y="1743028"/>
              <a:ext cx="162020" cy="108013"/>
            </a:xfrm>
            <a:prstGeom prst="roundRect">
              <a:avLst>
                <a:gd name="adj" fmla="val 12500"/>
              </a:avLst>
            </a:prstGeom>
            <a:noFill/>
            <a:ln w="18002" cap="rnd">
              <a:solidFill>
                <a:srgbClr val="0074F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5684763" y="1851042"/>
              <a:ext cx="0" cy="36004"/>
            </a:xfrm>
            <a:custGeom>
              <a:avLst/>
              <a:gdLst/>
              <a:ahLst/>
              <a:cxnLst/>
              <a:rect l="l" t="t" r="r" b="b"/>
              <a:pathLst>
                <a:path w="0" h="36004">
                  <a:moveTo>
                    <a:pt x="0" y="0"/>
                  </a:moveTo>
                  <a:lnTo>
                    <a:pt x="0" y="36004"/>
                  </a:lnTo>
                </a:path>
              </a:pathLst>
            </a:custGeom>
            <a:noFill/>
            <a:ln w="18002" cap="rnd">
              <a:solidFill>
                <a:srgbClr val="0074F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5648758" y="1887046"/>
              <a:ext cx="72009" cy="0"/>
            </a:xfrm>
            <a:custGeom>
              <a:avLst/>
              <a:gdLst/>
              <a:ahLst/>
              <a:cxnLst/>
              <a:rect l="l" t="t" r="r" b="b"/>
              <a:pathLst>
                <a:path w="72009" h="0">
                  <a:moveTo>
                    <a:pt x="0" y="0"/>
                  </a:moveTo>
                  <a:lnTo>
                    <a:pt x="72009" y="0"/>
                  </a:lnTo>
                </a:path>
              </a:pathLst>
            </a:custGeom>
            <a:noFill/>
            <a:ln w="18002" cap="rnd">
              <a:solidFill>
                <a:srgbClr val="0074F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5639757" y="1770031"/>
              <a:ext cx="90011" cy="45006"/>
            </a:xfrm>
            <a:custGeom>
              <a:avLst/>
              <a:gdLst/>
              <a:ahLst/>
              <a:cxnLst/>
              <a:rect l="l" t="t" r="r" b="b"/>
              <a:pathLst>
                <a:path w="90011" h="45006">
                  <a:moveTo>
                    <a:pt x="0" y="45006"/>
                  </a:moveTo>
                  <a:lnTo>
                    <a:pt x="27003" y="18003"/>
                  </a:lnTo>
                  <a:lnTo>
                    <a:pt x="54007" y="36005"/>
                  </a:lnTo>
                  <a:lnTo>
                    <a:pt x="90011" y="0"/>
                  </a:lnTo>
                </a:path>
              </a:pathLst>
            </a:custGeom>
            <a:noFill/>
            <a:ln w="18002" cap="rnd">
              <a:solidFill>
                <a:srgbClr val="0074F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Время сборки сократилось до 4 мин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1848385"/>
            <a:ext cx="11310884" cy="1341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 мин вместо 186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 день до первой версии вместо 6 дней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68 колод собраны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29280" y="3360955"/>
          <a:ext cx="11310884" cy="25369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5727164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Стиль соблюдается в 98% колод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427817" y="1783080"/>
            <a:ext cx="11312347" cy="944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2 из 68 колод нарушили стиль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Обе исправлены автоматическими правками</a:t>
            </a:r>
          </a:p>
        </p:txBody>
      </p:sp>
      <p:graphicFrame>
        <p:nvGraphicFramePr>
          <p:cNvPr id="683" name="Chart 682"/>
          <p:cNvGraphicFramePr>
            <a:graphicFrameLocks noGrp="1"/>
          </p:cNvGraphicFramePr>
          <p:nvPr/>
        </p:nvGraphicFramePr>
        <p:xfrm>
          <a:off x="427817" y="2899410"/>
          <a:ext cx="11312347" cy="299847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Инфраструктура: 2 vCPU / 2 GB RAM, 1 400 руб за 6 недель</a:t>
            </a:r>
          </a:p>
        </p:txBody>
      </p:sp>
      <p:sp>
        <p:nvSpPr>
          <p:cNvPr id="623" name="body"/>
          <p:cNvSpPr txBox="1"/>
          <p:nvPr/>
        </p:nvSpPr>
        <p:spPr>
          <a:xfrm>
            <a:off x="429280" y="1848385"/>
            <a:ext cx="11310884" cy="4978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Модель gpt-oss-20b</a:t>
            </a:r>
          </a:p>
        </p:txBody>
      </p:sp>
      <p:sp>
        <p:nvSpPr>
          <p:cNvPr id="624" name="stat_0:bar"/>
          <p:cNvSpPr/>
          <p:nvPr/>
        </p:nvSpPr>
        <p:spPr>
          <a:xfrm>
            <a:off x="429280" y="2675409"/>
            <a:ext cx="50800" cy="162788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stat_0"/>
          <p:cNvSpPr txBox="1"/>
          <p:nvPr/>
        </p:nvSpPr>
        <p:spPr>
          <a:xfrm>
            <a:off x="607080" y="2551965"/>
            <a:ext cx="5251424" cy="175133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vCPU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Работает на одной машине 2 vCPU / 2 GB RAM</a:t>
            </a:r>
          </a:p>
        </p:txBody>
      </p:sp>
      <p:sp>
        <p:nvSpPr>
          <p:cNvPr id="626" name="stat_1:bar"/>
          <p:cNvSpPr/>
          <p:nvPr/>
        </p:nvSpPr>
        <p:spPr>
          <a:xfrm>
            <a:off x="6310940" y="2675409"/>
            <a:ext cx="50800" cy="123164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stat_1"/>
          <p:cNvSpPr txBox="1"/>
          <p:nvPr/>
        </p:nvSpPr>
        <p:spPr>
          <a:xfrm>
            <a:off x="6488740" y="2551965"/>
            <a:ext cx="5251424" cy="135509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нед.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Инференс за 6 недель 1 400 руб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завершён за 6 недель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3882649"/>
            <a:ext cx="6129269" cy="563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38 сложных запросов закрыто</a:t>
            </a:r>
          </a:p>
        </p:txBody>
      </p:sp>
      <p:grpSp>
        <p:nvGrpSpPr>
          <p:cNvPr id="4" name="illustration:builtin-launch"/>
          <p:cNvGrpSpPr/>
          <p:nvPr/>
        </p:nvGrpSpPr>
        <p:grpSpPr>
          <a:xfrm>
            <a:off x="7973238" y="2708660"/>
            <a:ext cx="3027405" cy="2911855"/>
            <a:chOff x="7973238" y="2708660"/>
            <a:chExt cx="3027405" cy="2911855"/>
          </a:xfrm>
        </p:grpSpPr>
        <p:sp>
          <p:nvSpPr>
            <p:cNvPr id="5" name="Oval 4"/>
            <p:cNvSpPr/>
            <p:nvPr/>
          </p:nvSpPr>
          <p:spPr>
            <a:xfrm>
              <a:off x="7973238" y="2708660"/>
              <a:ext cx="2911855" cy="2911855"/>
            </a:xfrm>
            <a:prstGeom prst="ellipse">
              <a:avLst/>
            </a:prstGeom>
            <a:solidFill>
              <a:srgbClr val="0E21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8853081" y="2847320"/>
              <a:ext cx="1152170" cy="1594588"/>
            </a:xfrm>
            <a:custGeom>
              <a:avLst/>
              <a:gdLst/>
              <a:ahLst/>
              <a:cxnLst/>
              <a:rect l="l" t="t" r="r" b="b"/>
              <a:pathLst>
                <a:path w="1152170" h="1594588">
                  <a:moveTo>
                    <a:pt x="576085" y="0"/>
                  </a:moveTo>
                  <a:lnTo>
                    <a:pt x="712642" y="111413"/>
                  </a:lnTo>
                  <a:lnTo>
                    <a:pt x="831034" y="236831"/>
                  </a:lnTo>
                  <a:lnTo>
                    <a:pt x="931123" y="375005"/>
                  </a:lnTo>
                  <a:lnTo>
                    <a:pt x="1012771" y="524689"/>
                  </a:lnTo>
                  <a:lnTo>
                    <a:pt x="1075838" y="684633"/>
                  </a:lnTo>
                  <a:lnTo>
                    <a:pt x="1120186" y="853590"/>
                  </a:lnTo>
                  <a:lnTo>
                    <a:pt x="1145676" y="1030312"/>
                  </a:lnTo>
                  <a:lnTo>
                    <a:pt x="1152170" y="1213550"/>
                  </a:lnTo>
                  <a:lnTo>
                    <a:pt x="1139529" y="1402058"/>
                  </a:lnTo>
                  <a:lnTo>
                    <a:pt x="1107614" y="1594588"/>
                  </a:lnTo>
                  <a:lnTo>
                    <a:pt x="44556" y="1594588"/>
                  </a:lnTo>
                  <a:lnTo>
                    <a:pt x="12641" y="1402058"/>
                  </a:lnTo>
                  <a:lnTo>
                    <a:pt x="0" y="1213550"/>
                  </a:lnTo>
                  <a:lnTo>
                    <a:pt x="6494" y="1030312"/>
                  </a:lnTo>
                  <a:lnTo>
                    <a:pt x="31984" y="853590"/>
                  </a:lnTo>
                  <a:lnTo>
                    <a:pt x="76332" y="684633"/>
                  </a:lnTo>
                  <a:lnTo>
                    <a:pt x="139399" y="524689"/>
                  </a:lnTo>
                  <a:lnTo>
                    <a:pt x="221047" y="375005"/>
                  </a:lnTo>
                  <a:lnTo>
                    <a:pt x="321136" y="236831"/>
                  </a:lnTo>
                  <a:lnTo>
                    <a:pt x="439528" y="111413"/>
                  </a:lnTo>
                  <a:lnTo>
                    <a:pt x="576085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9151846" y="3448179"/>
              <a:ext cx="554639" cy="554639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267396" y="3563729"/>
              <a:ext cx="323539" cy="323539"/>
            </a:xfrm>
            <a:prstGeom prst="ellipse">
              <a:avLst/>
            </a:pr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504767" y="4164588"/>
              <a:ext cx="462200" cy="762629"/>
            </a:xfrm>
            <a:custGeom>
              <a:avLst/>
              <a:gdLst/>
              <a:ahLst/>
              <a:cxnLst/>
              <a:rect l="l" t="t" r="r" b="b"/>
              <a:pathLst>
                <a:path w="462200" h="762629">
                  <a:moveTo>
                    <a:pt x="392870" y="0"/>
                  </a:moveTo>
                  <a:lnTo>
                    <a:pt x="0" y="485309"/>
                  </a:lnTo>
                  <a:lnTo>
                    <a:pt x="0" y="762629"/>
                  </a:lnTo>
                  <a:lnTo>
                    <a:pt x="462200" y="554639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9891365" y="4164588"/>
              <a:ext cx="462200" cy="762629"/>
            </a:xfrm>
            <a:custGeom>
              <a:avLst/>
              <a:gdLst/>
              <a:ahLst/>
              <a:cxnLst/>
              <a:rect l="l" t="t" r="r" b="b"/>
              <a:pathLst>
                <a:path w="462200" h="762629">
                  <a:moveTo>
                    <a:pt x="69330" y="0"/>
                  </a:moveTo>
                  <a:lnTo>
                    <a:pt x="462200" y="485309"/>
                  </a:lnTo>
                  <a:lnTo>
                    <a:pt x="462200" y="762629"/>
                  </a:lnTo>
                  <a:lnTo>
                    <a:pt x="0" y="554639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151846" y="4488128"/>
              <a:ext cx="554640" cy="346649"/>
            </a:xfrm>
            <a:custGeom>
              <a:avLst/>
              <a:gdLst/>
              <a:ahLst/>
              <a:cxnLst/>
              <a:rect l="l" t="t" r="r" b="b"/>
              <a:pathLst>
                <a:path w="554640" h="346649">
                  <a:moveTo>
                    <a:pt x="0" y="0"/>
                  </a:moveTo>
                  <a:lnTo>
                    <a:pt x="554640" y="0"/>
                  </a:lnTo>
                  <a:lnTo>
                    <a:pt x="462200" y="346649"/>
                  </a:lnTo>
                  <a:lnTo>
                    <a:pt x="92440" y="346649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244286" y="4834777"/>
              <a:ext cx="369760" cy="647079"/>
            </a:xfrm>
            <a:custGeom>
              <a:avLst/>
              <a:gdLst/>
              <a:ahLst/>
              <a:cxnLst/>
              <a:rect l="l" t="t" r="r" b="b"/>
              <a:pathLst>
                <a:path w="369760" h="647079">
                  <a:moveTo>
                    <a:pt x="0" y="0"/>
                  </a:moveTo>
                  <a:lnTo>
                    <a:pt x="369760" y="0"/>
                  </a:lnTo>
                  <a:lnTo>
                    <a:pt x="367079" y="86755"/>
                  </a:lnTo>
                  <a:lnTo>
                    <a:pt x="359406" y="167131"/>
                  </a:lnTo>
                  <a:lnTo>
                    <a:pt x="347297" y="241684"/>
                  </a:lnTo>
                  <a:lnTo>
                    <a:pt x="331305" y="310968"/>
                  </a:lnTo>
                  <a:lnTo>
                    <a:pt x="311985" y="375537"/>
                  </a:lnTo>
                  <a:lnTo>
                    <a:pt x="289892" y="435946"/>
                  </a:lnTo>
                  <a:lnTo>
                    <a:pt x="265580" y="492751"/>
                  </a:lnTo>
                  <a:lnTo>
                    <a:pt x="239604" y="546504"/>
                  </a:lnTo>
                  <a:lnTo>
                    <a:pt x="212520" y="597762"/>
                  </a:lnTo>
                  <a:lnTo>
                    <a:pt x="184880" y="647079"/>
                  </a:lnTo>
                  <a:lnTo>
                    <a:pt x="157240" y="597762"/>
                  </a:lnTo>
                  <a:lnTo>
                    <a:pt x="130156" y="546504"/>
                  </a:lnTo>
                  <a:lnTo>
                    <a:pt x="104180" y="492751"/>
                  </a:lnTo>
                  <a:lnTo>
                    <a:pt x="79868" y="435946"/>
                  </a:lnTo>
                  <a:lnTo>
                    <a:pt x="57775" y="375537"/>
                  </a:lnTo>
                  <a:lnTo>
                    <a:pt x="38455" y="310968"/>
                  </a:lnTo>
                  <a:lnTo>
                    <a:pt x="22463" y="241684"/>
                  </a:lnTo>
                  <a:lnTo>
                    <a:pt x="10354" y="167131"/>
                  </a:lnTo>
                  <a:lnTo>
                    <a:pt x="2681" y="867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100343" y="3344184"/>
              <a:ext cx="161769" cy="16176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10653994" y="3124640"/>
              <a:ext cx="231099" cy="231099"/>
            </a:xfrm>
            <a:prstGeom prst="ellipse">
              <a:avLst/>
            </a:prstGeom>
            <a:solidFill>
              <a:srgbClr val="6DB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0861984" y="4673007"/>
              <a:ext cx="138659" cy="13865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Главный риск — нагрузка выше 20 задач</a:t>
            </a:r>
          </a:p>
        </p:txBody>
      </p:sp>
      <p:grpSp>
        <p:nvGrpSpPr>
          <p:cNvPr id="3" name="icon:builtin-alert"/>
          <p:cNvGrpSpPr/>
          <p:nvPr/>
        </p:nvGrpSpPr>
        <p:grpSpPr>
          <a:xfrm>
            <a:off x="485969" y="1930043"/>
            <a:ext cx="469551" cy="428405"/>
            <a:chOff x="485969" y="1930043"/>
            <a:chExt cx="469551" cy="428405"/>
          </a:xfrm>
        </p:grpSpPr>
        <p:sp>
          <p:nvSpPr>
            <p:cNvPr id="4" name="Freeform 3"/>
            <p:cNvSpPr/>
            <p:nvPr/>
          </p:nvSpPr>
          <p:spPr>
            <a:xfrm>
              <a:off x="485969" y="1930043"/>
              <a:ext cx="469551" cy="428405"/>
            </a:xfrm>
            <a:custGeom>
              <a:avLst/>
              <a:gdLst/>
              <a:ahLst/>
              <a:cxnLst/>
              <a:rect l="l" t="t" r="r" b="b"/>
              <a:pathLst>
                <a:path w="469551" h="428405">
                  <a:moveTo>
                    <a:pt x="193485" y="22783"/>
                  </a:moveTo>
                  <a:lnTo>
                    <a:pt x="6461" y="355539"/>
                  </a:lnTo>
                  <a:lnTo>
                    <a:pt x="2648" y="363870"/>
                  </a:lnTo>
                  <a:lnTo>
                    <a:pt x="462" y="372784"/>
                  </a:lnTo>
                  <a:lnTo>
                    <a:pt x="0" y="381941"/>
                  </a:lnTo>
                  <a:lnTo>
                    <a:pt x="1263" y="391001"/>
                  </a:lnTo>
                  <a:lnTo>
                    <a:pt x="4202" y="399696"/>
                  </a:lnTo>
                  <a:lnTo>
                    <a:pt x="8720" y="407663"/>
                  </a:lnTo>
                  <a:lnTo>
                    <a:pt x="14647" y="414658"/>
                  </a:lnTo>
                  <a:lnTo>
                    <a:pt x="21787" y="420390"/>
                  </a:lnTo>
                  <a:lnTo>
                    <a:pt x="29876" y="424689"/>
                  </a:lnTo>
                  <a:lnTo>
                    <a:pt x="38644" y="427385"/>
                  </a:lnTo>
                  <a:lnTo>
                    <a:pt x="47752" y="428405"/>
                  </a:lnTo>
                  <a:lnTo>
                    <a:pt x="421799" y="428405"/>
                  </a:lnTo>
                  <a:lnTo>
                    <a:pt x="430907" y="427385"/>
                  </a:lnTo>
                  <a:lnTo>
                    <a:pt x="439675" y="424689"/>
                  </a:lnTo>
                  <a:lnTo>
                    <a:pt x="447764" y="420390"/>
                  </a:lnTo>
                  <a:lnTo>
                    <a:pt x="454904" y="414658"/>
                  </a:lnTo>
                  <a:lnTo>
                    <a:pt x="460831" y="407663"/>
                  </a:lnTo>
                  <a:lnTo>
                    <a:pt x="465349" y="399696"/>
                  </a:lnTo>
                  <a:lnTo>
                    <a:pt x="468288" y="391001"/>
                  </a:lnTo>
                  <a:lnTo>
                    <a:pt x="469551" y="381941"/>
                  </a:lnTo>
                  <a:lnTo>
                    <a:pt x="469089" y="372784"/>
                  </a:lnTo>
                  <a:lnTo>
                    <a:pt x="466903" y="363870"/>
                  </a:lnTo>
                  <a:lnTo>
                    <a:pt x="463090" y="355539"/>
                  </a:lnTo>
                  <a:lnTo>
                    <a:pt x="276066" y="22783"/>
                  </a:lnTo>
                  <a:lnTo>
                    <a:pt x="270674" y="15642"/>
                  </a:lnTo>
                  <a:lnTo>
                    <a:pt x="264043" y="9594"/>
                  </a:lnTo>
                  <a:lnTo>
                    <a:pt x="256417" y="4882"/>
                  </a:lnTo>
                  <a:lnTo>
                    <a:pt x="248061" y="1652"/>
                  </a:lnTo>
                  <a:lnTo>
                    <a:pt x="239245" y="0"/>
                  </a:lnTo>
                  <a:lnTo>
                    <a:pt x="230306" y="0"/>
                  </a:lnTo>
                  <a:lnTo>
                    <a:pt x="221490" y="1652"/>
                  </a:lnTo>
                  <a:lnTo>
                    <a:pt x="213134" y="4882"/>
                  </a:lnTo>
                  <a:lnTo>
                    <a:pt x="205508" y="9594"/>
                  </a:lnTo>
                  <a:lnTo>
                    <a:pt x="198877" y="15642"/>
                  </a:lnTo>
                  <a:lnTo>
                    <a:pt x="193485" y="22783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20745" y="2079128"/>
              <a:ext cx="0" cy="97155"/>
            </a:xfrm>
            <a:custGeom>
              <a:avLst/>
              <a:gdLst/>
              <a:ahLst/>
              <a:cxnLst/>
              <a:rect l="l" t="t" r="r" b="b"/>
              <a:pathLst>
                <a:path w="0" h="97155">
                  <a:moveTo>
                    <a:pt x="0" y="0"/>
                  </a:moveTo>
                  <a:lnTo>
                    <a:pt x="0" y="9715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4027" y="2234576"/>
              <a:ext cx="53435" cy="5343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item_0"/>
          <p:cNvSpPr txBox="1"/>
          <p:nvPr/>
        </p:nvSpPr>
        <p:spPr>
          <a:xfrm>
            <a:off x="1274528" y="1857910"/>
            <a:ext cx="10465635" cy="8656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Слабая модель может выдумать цифры</a:t>
            </a:r>
          </a:p>
        </p:txBody>
      </p:sp>
      <p:grpSp>
        <p:nvGrpSpPr>
          <p:cNvPr id="8" name="icon:builtin-search"/>
          <p:cNvGrpSpPr/>
          <p:nvPr/>
        </p:nvGrpSpPr>
        <p:grpSpPr>
          <a:xfrm>
            <a:off x="526435" y="2957914"/>
            <a:ext cx="412908" cy="412908"/>
            <a:chOff x="526435" y="2957914"/>
            <a:chExt cx="412908" cy="412908"/>
          </a:xfrm>
        </p:grpSpPr>
        <p:sp>
          <p:nvSpPr>
            <p:cNvPr id="9" name="Oval 8"/>
            <p:cNvSpPr/>
            <p:nvPr/>
          </p:nvSpPr>
          <p:spPr>
            <a:xfrm>
              <a:off x="526435" y="2957914"/>
              <a:ext cx="340042" cy="340042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22757" y="3254236"/>
              <a:ext cx="116586" cy="116586"/>
            </a:xfrm>
            <a:custGeom>
              <a:avLst/>
              <a:gdLst/>
              <a:ahLst/>
              <a:cxnLst/>
              <a:rect l="l" t="t" r="r" b="b"/>
              <a:pathLst>
                <a:path w="116586" h="116586">
                  <a:moveTo>
                    <a:pt x="0" y="0"/>
                  </a:moveTo>
                  <a:lnTo>
                    <a:pt x="116586" y="116586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item_1"/>
          <p:cNvSpPr txBox="1"/>
          <p:nvPr/>
        </p:nvSpPr>
        <p:spPr>
          <a:xfrm>
            <a:off x="1274528" y="2870284"/>
            <a:ext cx="10465635" cy="8656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Аудит проверяет каждое число</a:t>
            </a:r>
          </a:p>
        </p:txBody>
      </p:sp>
      <p:grpSp>
        <p:nvGrpSpPr>
          <p:cNvPr id="12" name="icon:builtin-layout"/>
          <p:cNvGrpSpPr/>
          <p:nvPr/>
        </p:nvGrpSpPr>
        <p:grpSpPr>
          <a:xfrm>
            <a:off x="502146" y="3945998"/>
            <a:ext cx="437197" cy="437197"/>
            <a:chOff x="502146" y="3945998"/>
            <a:chExt cx="437197" cy="437197"/>
          </a:xfrm>
        </p:grpSpPr>
        <p:sp>
          <p:nvSpPr>
            <p:cNvPr id="13" name="Rounded Rectangle 12"/>
            <p:cNvSpPr/>
            <p:nvPr/>
          </p:nvSpPr>
          <p:spPr>
            <a:xfrm>
              <a:off x="502146" y="3945998"/>
              <a:ext cx="437197" cy="437197"/>
            </a:xfrm>
            <a:prstGeom prst="roundRect">
              <a:avLst>
                <a:gd name="adj" fmla="val 11111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502146" y="4091730"/>
              <a:ext cx="437197" cy="0"/>
            </a:xfrm>
            <a:custGeom>
              <a:avLst/>
              <a:gdLst/>
              <a:ahLst/>
              <a:cxnLst/>
              <a:rect l="l" t="t" r="r" b="b"/>
              <a:pathLst>
                <a:path w="437197" h="0">
                  <a:moveTo>
                    <a:pt x="0" y="0"/>
                  </a:moveTo>
                  <a:lnTo>
                    <a:pt x="437197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647878" y="4091730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0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item_2"/>
          <p:cNvSpPr txBox="1"/>
          <p:nvPr/>
        </p:nvSpPr>
        <p:spPr>
          <a:xfrm>
            <a:off x="1274528" y="3882657"/>
            <a:ext cx="10465635" cy="8656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Неизнакомый шаблон может быть плохо сделанным</a:t>
            </a:r>
          </a:p>
        </p:txBody>
      </p:sp>
      <p:grpSp>
        <p:nvGrpSpPr>
          <p:cNvPr id="17" name="icon:builtin-target"/>
          <p:cNvGrpSpPr/>
          <p:nvPr/>
        </p:nvGrpSpPr>
        <p:grpSpPr>
          <a:xfrm>
            <a:off x="502146" y="4958372"/>
            <a:ext cx="437197" cy="437197"/>
            <a:chOff x="502146" y="4958372"/>
            <a:chExt cx="437197" cy="437197"/>
          </a:xfrm>
        </p:grpSpPr>
        <p:sp>
          <p:nvSpPr>
            <p:cNvPr id="18" name="Oval 17"/>
            <p:cNvSpPr/>
            <p:nvPr/>
          </p:nvSpPr>
          <p:spPr>
            <a:xfrm>
              <a:off x="502146" y="4958372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99301" y="5055527"/>
              <a:ext cx="242887" cy="24288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686740" y="5142966"/>
              <a:ext cx="68008" cy="68008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" name="item_3"/>
          <p:cNvSpPr txBox="1"/>
          <p:nvPr/>
        </p:nvSpPr>
        <p:spPr>
          <a:xfrm>
            <a:off x="1274528" y="4895031"/>
            <a:ext cx="10465635" cy="8656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План масштабирования: Q3 2026 – 4 команды, Q4 2026 – доступ компании</a:t>
            </a:r>
          </a:p>
        </p:txBody>
      </p:sp>
      <p:sp>
        <p:nvSpPr>
          <p:cNvPr id="3" name="stat_0:bar"/>
          <p:cNvSpPr/>
          <p:nvPr/>
        </p:nvSpPr>
        <p:spPr>
          <a:xfrm>
            <a:off x="429280" y="1906524"/>
            <a:ext cx="50800" cy="202412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607080" y="1783080"/>
            <a:ext cx="3290871" cy="214757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Q3 2026 подключение 4 команд, домен и HTTPS</a:t>
            </a:r>
          </a:p>
        </p:txBody>
      </p:sp>
      <p:sp>
        <p:nvSpPr>
          <p:cNvPr id="5" name="stat_1:bar"/>
          <p:cNvSpPr/>
          <p:nvPr/>
        </p:nvSpPr>
        <p:spPr>
          <a:xfrm>
            <a:off x="4350386" y="1906524"/>
            <a:ext cx="50800" cy="242036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4528186" y="1783080"/>
            <a:ext cx="3290871" cy="254381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Q4 2026 доступ для всей компании, интеграция с хранилищем документов</a:t>
            </a:r>
          </a:p>
        </p:txBody>
      </p:sp>
      <p:sp>
        <p:nvSpPr>
          <p:cNvPr id="7" name="stat_2:bar"/>
          <p:cNvSpPr/>
          <p:nvPr/>
        </p:nvSpPr>
        <p:spPr>
          <a:xfrm>
            <a:off x="8271493" y="1906524"/>
            <a:ext cx="50800" cy="2024126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449293" y="1783080"/>
            <a:ext cx="3290871" cy="214757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54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54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2027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Q1 2027 генерация иллюстраций под стиль шаблона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2280" y="2164394"/>
            <a:ext cx="11564884" cy="2957301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29280" y="2291394"/>
            <a:ext cx="7827385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доказал эффективность автоматической вёрстки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4430816"/>
            <a:ext cx="11310884" cy="563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Автоматизация повышает скорость и качество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
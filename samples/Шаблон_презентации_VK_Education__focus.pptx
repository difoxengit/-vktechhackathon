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2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57" r:id="rId10"/>
    <p:sldLayoutId id="2147483659" r:id="rId12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7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86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42 колоды за квартал 2026: 186 минут на сборку</a:t>
            </a:r>
          </a:p>
        </p:txBody>
      </p:sp>
      <p:sp>
        <p:nvSpPr>
          <p:cNvPr id="3" name="stat_0:bar"/>
          <p:cNvSpPr/>
          <p:nvPr/>
        </p:nvSpPr>
        <p:spPr>
          <a:xfrm>
            <a:off x="677387" y="2489735"/>
            <a:ext cx="50800" cy="128219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855187" y="2380007"/>
            <a:ext cx="10678078" cy="139192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12</a:t>
            </a:r>
          </a:p>
          <a:p>
            <a:pPr>
              <a:spcAft>
                <a:spcPts val="300"/>
              </a:spcAft>
              <a:defRPr sz="3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12 слайдов в каждой колоде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677387" y="4596066"/>
            <a:ext cx="10855878" cy="160473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минуты на правки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нарушили стиль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186 минут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Дизайн-отдел из 4 человек обслуживает 11 запросов в неделю</a:t>
            </a:r>
          </a:p>
        </p:txBody>
      </p:sp>
      <p:sp>
        <p:nvSpPr>
          <p:cNvPr id="3" name="stat_0:bar"/>
          <p:cNvSpPr/>
          <p:nvPr/>
        </p:nvSpPr>
        <p:spPr>
          <a:xfrm>
            <a:off x="677387" y="2489735"/>
            <a:ext cx="50800" cy="11501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855187" y="2380007"/>
            <a:ext cx="10678078" cy="125984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11</a:t>
            </a:r>
          </a:p>
          <a:p>
            <a:pPr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 человека обслуживают 11 запросов в неделю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677387" y="4596066"/>
            <a:ext cx="10855878" cy="160473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27 поступающих запросов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Средний срок ожидания 6 дней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19" name="Google Shape;919;p74"/>
          <p:cNvCxnSpPr/>
          <p:nvPr/>
        </p:nvCxnSpPr>
        <p:spPr>
          <a:xfrm flipH="1">
            <a:off x="1" y="4351265"/>
            <a:ext cx="8112124" cy="42098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lg" w="lg" type="stealth"/>
            <a:tailEnd len="sm" w="sm" type="none"/>
          </a:ln>
        </p:spPr>
      </p:cxnSp>
      <p:sp>
        <p:nvSpPr>
          <p:cNvPr id="920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Сервис автоматической вёрстки: 4 минуты вместо 186</a:t>
            </a:r>
          </a:p>
        </p:txBody>
      </p:sp>
      <p:sp>
        <p:nvSpPr>
          <p:cNvPr id="921" name="lead"/>
          <p:cNvSpPr txBox="1"/>
          <p:nvPr/>
        </p:nvSpPr>
        <p:spPr>
          <a:xfrm>
            <a:off x="677387" y="2434452"/>
            <a:ext cx="10855878" cy="78005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Принимает шаблон pptx и материалы</a:t>
            </a:r>
          </a:p>
        </p:txBody>
      </p:sp>
      <p:sp>
        <p:nvSpPr>
          <p:cNvPr id="922" name="body"/>
          <p:cNvSpPr txBox="1"/>
          <p:nvPr/>
        </p:nvSpPr>
        <p:spPr>
          <a:xfrm>
            <a:off x="677387" y="3329520"/>
            <a:ext cx="10855878" cy="102174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строит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Встроенный аудит качества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Слайды остаются редактируемыми без картинок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77387" y="2895245"/>
            <a:ext cx="5454861" cy="2082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Нативные объекты, таблицы, диаграммы, фигуры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77387" y="5187719"/>
            <a:ext cx="5454861" cy="4978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Готовые страницы с ролями</a:t>
            </a:r>
          </a:p>
        </p:txBody>
      </p:sp>
      <p:grpSp>
        <p:nvGrpSpPr>
          <p:cNvPr id="5" name="illustration:builtin-presentation"/>
          <p:cNvGrpSpPr/>
          <p:nvPr/>
        </p:nvGrpSpPr>
        <p:grpSpPr>
          <a:xfrm>
            <a:off x="7429531" y="2704296"/>
            <a:ext cx="3172211" cy="3172211"/>
            <a:chOff x="7429531" y="2704296"/>
            <a:chExt cx="3172211" cy="3172211"/>
          </a:xfrm>
        </p:grpSpPr>
        <p:sp>
          <p:nvSpPr>
            <p:cNvPr id="6" name="Oval 5"/>
            <p:cNvSpPr/>
            <p:nvPr/>
          </p:nvSpPr>
          <p:spPr>
            <a:xfrm>
              <a:off x="7429531" y="2704296"/>
              <a:ext cx="3172211" cy="3172211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555412" y="3132293"/>
              <a:ext cx="2920448" cy="1888221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555412" y="3132293"/>
              <a:ext cx="2920448" cy="377644"/>
            </a:xfrm>
            <a:prstGeom prst="roundRect">
              <a:avLst>
                <a:gd name="adj" fmla="val 46666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7555412" y="3333703"/>
              <a:ext cx="2920448" cy="176233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857528" y="3761700"/>
              <a:ext cx="1057403" cy="125881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7857528" y="4013463"/>
              <a:ext cx="805640" cy="100705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857528" y="4214873"/>
              <a:ext cx="931522" cy="100705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857528" y="4416283"/>
              <a:ext cx="704935" cy="100705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91870" y="4290402"/>
              <a:ext cx="226586" cy="478349"/>
            </a:xfrm>
            <a:prstGeom prst="roundRect">
              <a:avLst>
                <a:gd name="adj" fmla="val 22222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519162" y="4038639"/>
              <a:ext cx="226586" cy="730112"/>
            </a:xfrm>
            <a:prstGeom prst="roundRect">
              <a:avLst>
                <a:gd name="adj" fmla="val 22222"/>
              </a:avLst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846454" y="3786876"/>
              <a:ext cx="226586" cy="981874"/>
            </a:xfrm>
            <a:prstGeom prst="roundRect">
              <a:avLst>
                <a:gd name="adj" fmla="val 22222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940108" y="5020514"/>
              <a:ext cx="151057" cy="453173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386230" y="5423335"/>
              <a:ext cx="1258814" cy="151057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68 презентаций за 6 недель: 4 минуты на сборку</a:t>
            </a:r>
          </a:p>
        </p:txBody>
      </p:sp>
      <p:sp>
        <p:nvSpPr>
          <p:cNvPr id="797" name="stat_0:bar"/>
          <p:cNvSpPr/>
          <p:nvPr/>
        </p:nvSpPr>
        <p:spPr>
          <a:xfrm>
            <a:off x="677387" y="2489735"/>
            <a:ext cx="50800" cy="11501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stat_0"/>
          <p:cNvSpPr txBox="1"/>
          <p:nvPr/>
        </p:nvSpPr>
        <p:spPr>
          <a:xfrm>
            <a:off x="855187" y="2380007"/>
            <a:ext cx="10678078" cy="125984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4 мин</a:t>
            </a:r>
          </a:p>
          <a:p>
            <a:pPr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 минуты на сборку</a:t>
            </a:r>
          </a:p>
        </p:txBody>
      </p:sp>
      <p:sp>
        <p:nvSpPr>
          <p:cNvPr id="799" name="body"/>
          <p:cNvSpPr txBox="1"/>
          <p:nvPr/>
        </p:nvSpPr>
        <p:spPr>
          <a:xfrm>
            <a:off x="677387" y="4596066"/>
            <a:ext cx="10855878" cy="160473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1 день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стиля 2 из 68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919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Рутина ушла в сервис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77387" y="2472589"/>
            <a:ext cx="5454861" cy="2082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Дизайнеры сосредоточились на сложных задачах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77387" y="5082055"/>
            <a:ext cx="5454861" cy="4978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на правки сократилось</a:t>
            </a:r>
          </a:p>
        </p:txBody>
      </p:sp>
      <p:grpSp>
        <p:nvGrpSpPr>
          <p:cNvPr id="5" name="illustration:builtin-team"/>
          <p:cNvGrpSpPr/>
          <p:nvPr/>
        </p:nvGrpSpPr>
        <p:grpSpPr>
          <a:xfrm>
            <a:off x="7228121" y="2591194"/>
            <a:ext cx="3600207" cy="3121858"/>
            <a:chOff x="7228121" y="2591194"/>
            <a:chExt cx="3600207" cy="3121858"/>
          </a:xfrm>
        </p:grpSpPr>
        <p:sp>
          <p:nvSpPr>
            <p:cNvPr id="6" name="Oval 5"/>
            <p:cNvSpPr/>
            <p:nvPr/>
          </p:nvSpPr>
          <p:spPr>
            <a:xfrm>
              <a:off x="7454707" y="2591194"/>
              <a:ext cx="3121858" cy="3121858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7860045" y="3296130"/>
              <a:ext cx="498490" cy="498490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Freeform 7"/>
            <p:cNvSpPr/>
            <p:nvPr/>
          </p:nvSpPr>
          <p:spPr>
            <a:xfrm>
              <a:off x="7678776" y="3907913"/>
              <a:ext cx="861029" cy="611784"/>
            </a:xfrm>
            <a:custGeom>
              <a:avLst/>
              <a:gdLst/>
              <a:ahLst/>
              <a:cxnLst/>
              <a:rect l="l" t="t" r="r" b="b"/>
              <a:pathLst>
                <a:path w="861029" h="611784">
                  <a:moveTo>
                    <a:pt x="0" y="611784"/>
                  </a:moveTo>
                  <a:lnTo>
                    <a:pt x="8270" y="492436"/>
                  </a:lnTo>
                  <a:lnTo>
                    <a:pt x="32767" y="377670"/>
                  </a:lnTo>
                  <a:lnTo>
                    <a:pt x="72558" y="271892"/>
                  </a:lnTo>
                  <a:lnTo>
                    <a:pt x="126095" y="179193"/>
                  </a:lnTo>
                  <a:lnTo>
                    <a:pt x="191327" y="103110"/>
                  </a:lnTo>
                  <a:lnTo>
                    <a:pt x="265761" y="46564"/>
                  </a:lnTo>
                  <a:lnTo>
                    <a:pt x="346526" y="11758"/>
                  </a:lnTo>
                  <a:lnTo>
                    <a:pt x="430514" y="0"/>
                  </a:lnTo>
                  <a:lnTo>
                    <a:pt x="514502" y="11758"/>
                  </a:lnTo>
                  <a:lnTo>
                    <a:pt x="595268" y="46564"/>
                  </a:lnTo>
                  <a:lnTo>
                    <a:pt x="669702" y="103110"/>
                  </a:lnTo>
                  <a:lnTo>
                    <a:pt x="734933" y="179193"/>
                  </a:lnTo>
                  <a:lnTo>
                    <a:pt x="788471" y="271892"/>
                  </a:lnTo>
                  <a:lnTo>
                    <a:pt x="828262" y="377670"/>
                  </a:lnTo>
                  <a:lnTo>
                    <a:pt x="852758" y="492436"/>
                  </a:lnTo>
                  <a:lnTo>
                    <a:pt x="861029" y="611784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9672737" y="3296130"/>
              <a:ext cx="498490" cy="498490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9491468" y="3907913"/>
              <a:ext cx="861029" cy="611784"/>
            </a:xfrm>
            <a:custGeom>
              <a:avLst/>
              <a:gdLst/>
              <a:ahLst/>
              <a:cxnLst/>
              <a:rect l="l" t="t" r="r" b="b"/>
              <a:pathLst>
                <a:path w="861029" h="611784">
                  <a:moveTo>
                    <a:pt x="0" y="611784"/>
                  </a:moveTo>
                  <a:lnTo>
                    <a:pt x="8271" y="492436"/>
                  </a:lnTo>
                  <a:lnTo>
                    <a:pt x="32767" y="377670"/>
                  </a:lnTo>
                  <a:lnTo>
                    <a:pt x="72558" y="271892"/>
                  </a:lnTo>
                  <a:lnTo>
                    <a:pt x="126096" y="179193"/>
                  </a:lnTo>
                  <a:lnTo>
                    <a:pt x="191327" y="103110"/>
                  </a:lnTo>
                  <a:lnTo>
                    <a:pt x="265761" y="46564"/>
                  </a:lnTo>
                  <a:lnTo>
                    <a:pt x="346527" y="11758"/>
                  </a:lnTo>
                  <a:lnTo>
                    <a:pt x="430515" y="0"/>
                  </a:lnTo>
                  <a:lnTo>
                    <a:pt x="514503" y="11758"/>
                  </a:lnTo>
                  <a:lnTo>
                    <a:pt x="595268" y="46564"/>
                  </a:lnTo>
                  <a:lnTo>
                    <a:pt x="669702" y="103110"/>
                  </a:lnTo>
                  <a:lnTo>
                    <a:pt x="734934" y="179193"/>
                  </a:lnTo>
                  <a:lnTo>
                    <a:pt x="788471" y="271892"/>
                  </a:lnTo>
                  <a:lnTo>
                    <a:pt x="828262" y="377670"/>
                  </a:lnTo>
                  <a:lnTo>
                    <a:pt x="852759" y="492436"/>
                  </a:lnTo>
                  <a:lnTo>
                    <a:pt x="861029" y="611784"/>
                  </a:lnTo>
                  <a:close/>
                </a:path>
              </a:pathLst>
            </a:cu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8697157" y="3019191"/>
              <a:ext cx="636959" cy="636959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65535" y="3800914"/>
              <a:ext cx="1100203" cy="781724"/>
            </a:xfrm>
            <a:custGeom>
              <a:avLst/>
              <a:gdLst/>
              <a:ahLst/>
              <a:cxnLst/>
              <a:rect l="l" t="t" r="r" b="b"/>
              <a:pathLst>
                <a:path w="1100203" h="781724">
                  <a:moveTo>
                    <a:pt x="0" y="781724"/>
                  </a:moveTo>
                  <a:lnTo>
                    <a:pt x="10574" y="629218"/>
                  </a:lnTo>
                  <a:lnTo>
                    <a:pt x="41868" y="482567"/>
                  </a:lnTo>
                  <a:lnTo>
                    <a:pt x="92711" y="347420"/>
                  </a:lnTo>
                  <a:lnTo>
                    <a:pt x="161115" y="228966"/>
                  </a:lnTo>
                  <a:lnTo>
                    <a:pt x="244487" y="131748"/>
                  </a:lnTo>
                  <a:lnTo>
                    <a:pt x="339590" y="59504"/>
                  </a:lnTo>
                  <a:lnTo>
                    <a:pt x="442788" y="15018"/>
                  </a:lnTo>
                  <a:lnTo>
                    <a:pt x="550102" y="0"/>
                  </a:lnTo>
                  <a:lnTo>
                    <a:pt x="657415" y="15018"/>
                  </a:lnTo>
                  <a:lnTo>
                    <a:pt x="760613" y="59504"/>
                  </a:lnTo>
                  <a:lnTo>
                    <a:pt x="855716" y="131748"/>
                  </a:lnTo>
                  <a:lnTo>
                    <a:pt x="939088" y="228966"/>
                  </a:lnTo>
                  <a:lnTo>
                    <a:pt x="1007492" y="347420"/>
                  </a:lnTo>
                  <a:lnTo>
                    <a:pt x="1058335" y="482567"/>
                  </a:lnTo>
                  <a:lnTo>
                    <a:pt x="1089629" y="629218"/>
                  </a:lnTo>
                  <a:lnTo>
                    <a:pt x="1100203" y="781724"/>
                  </a:lnTo>
                  <a:close/>
                </a:path>
              </a:pathLst>
            </a:cu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706470" y="5058469"/>
              <a:ext cx="2618333" cy="151057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10526213" y="3044367"/>
              <a:ext cx="302115" cy="302115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7228121" y="3422011"/>
              <a:ext cx="201410" cy="201410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875" y="692177"/>
            <a:ext cx="10855391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Инференс за 6 недель стоит 1 400 рублей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77875" y="2829205"/>
            <a:ext cx="5454608" cy="16865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на 2 vCPU / 2 GB RAM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77875" y="5121679"/>
            <a:ext cx="5454608" cy="629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gpt-oss-20b</a:t>
            </a:r>
          </a:p>
        </p:txBody>
      </p:sp>
      <p:grpSp>
        <p:nvGrpSpPr>
          <p:cNvPr id="5" name="illustration:builtin-money"/>
          <p:cNvGrpSpPr/>
          <p:nvPr/>
        </p:nvGrpSpPr>
        <p:grpSpPr>
          <a:xfrm>
            <a:off x="7429722" y="2704370"/>
            <a:ext cx="3172063" cy="3172063"/>
            <a:chOff x="7429722" y="2704370"/>
            <a:chExt cx="3172063" cy="3172063"/>
          </a:xfrm>
        </p:grpSpPr>
        <p:sp>
          <p:nvSpPr>
            <p:cNvPr id="6" name="Oval 5"/>
            <p:cNvSpPr/>
            <p:nvPr/>
          </p:nvSpPr>
          <p:spPr>
            <a:xfrm>
              <a:off x="7429722" y="2704370"/>
              <a:ext cx="3172063" cy="3172063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656298" y="3610674"/>
              <a:ext cx="2215409" cy="1309105"/>
            </a:xfrm>
            <a:prstGeom prst="roundRect">
              <a:avLst>
                <a:gd name="adj" fmla="val 13461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8386376" y="3887600"/>
              <a:ext cx="755253" cy="75525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8612952" y="4063826"/>
              <a:ext cx="302101" cy="427977"/>
            </a:xfrm>
            <a:custGeom>
              <a:avLst/>
              <a:gdLst/>
              <a:ahLst/>
              <a:cxnLst/>
              <a:rect l="l" t="t" r="r" b="b"/>
              <a:pathLst>
                <a:path w="302101" h="427977">
                  <a:moveTo>
                    <a:pt x="75525" y="427977"/>
                  </a:moveTo>
                  <a:lnTo>
                    <a:pt x="75525" y="0"/>
                  </a:lnTo>
                  <a:lnTo>
                    <a:pt x="201401" y="0"/>
                  </a:lnTo>
                  <a:lnTo>
                    <a:pt x="221050" y="1938"/>
                  </a:lnTo>
                  <a:lnTo>
                    <a:pt x="239931" y="7666"/>
                  </a:lnTo>
                  <a:lnTo>
                    <a:pt x="257352" y="16968"/>
                  </a:lnTo>
                  <a:lnTo>
                    <a:pt x="272608" y="29493"/>
                  </a:lnTo>
                  <a:lnTo>
                    <a:pt x="285133" y="44749"/>
                  </a:lnTo>
                  <a:lnTo>
                    <a:pt x="294435" y="62170"/>
                  </a:lnTo>
                  <a:lnTo>
                    <a:pt x="300163" y="81051"/>
                  </a:lnTo>
                  <a:lnTo>
                    <a:pt x="302101" y="100700"/>
                  </a:lnTo>
                  <a:lnTo>
                    <a:pt x="300163" y="120350"/>
                  </a:lnTo>
                  <a:lnTo>
                    <a:pt x="294435" y="139231"/>
                  </a:lnTo>
                  <a:lnTo>
                    <a:pt x="285133" y="156652"/>
                  </a:lnTo>
                  <a:lnTo>
                    <a:pt x="272608" y="171908"/>
                  </a:lnTo>
                  <a:lnTo>
                    <a:pt x="257352" y="184433"/>
                  </a:lnTo>
                  <a:lnTo>
                    <a:pt x="239931" y="193735"/>
                  </a:lnTo>
                  <a:lnTo>
                    <a:pt x="221050" y="199462"/>
                  </a:lnTo>
                  <a:lnTo>
                    <a:pt x="201401" y="201401"/>
                  </a:lnTo>
                  <a:lnTo>
                    <a:pt x="0" y="201401"/>
                  </a:lnTo>
                </a:path>
              </a:pathLst>
            </a:custGeom>
            <a:noFill/>
            <a:ln w="75525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612952" y="4378515"/>
              <a:ext cx="226576" cy="0"/>
            </a:xfrm>
            <a:custGeom>
              <a:avLst/>
              <a:gdLst/>
              <a:ahLst/>
              <a:cxnLst/>
              <a:rect l="l" t="t" r="r" b="b"/>
              <a:pathLst>
                <a:path w="226576" h="0">
                  <a:moveTo>
                    <a:pt x="0" y="0"/>
                  </a:moveTo>
                  <a:lnTo>
                    <a:pt x="226576" y="0"/>
                  </a:lnTo>
                </a:path>
              </a:pathLst>
            </a:custGeom>
            <a:solidFill>
              <a:srgbClr val="000000"/>
            </a:solidFill>
            <a:ln w="75525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9519256" y="5146356"/>
              <a:ext cx="1007004" cy="302101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9519256" y="4919780"/>
              <a:ext cx="1007004" cy="302101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9519256" y="4693204"/>
              <a:ext cx="1007004" cy="302101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9519256" y="4466628"/>
              <a:ext cx="1007004" cy="302101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9519256" y="4240052"/>
              <a:ext cx="1007004" cy="302101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7555597" y="5171531"/>
              <a:ext cx="302101" cy="302101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Главный риск — нагрузка выше 20 задач</a:t>
            </a:r>
          </a:p>
        </p:txBody>
      </p:sp>
      <p:sp>
        <p:nvSpPr>
          <p:cNvPr id="766" name="lead"/>
          <p:cNvSpPr txBox="1"/>
          <p:nvPr/>
        </p:nvSpPr>
        <p:spPr>
          <a:xfrm>
            <a:off x="677387" y="2825777"/>
            <a:ext cx="10855878" cy="12942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может выдумать цифры, аудит проверяет</a:t>
            </a:r>
          </a:p>
        </p:txBody>
      </p:sp>
      <p:sp>
        <p:nvSpPr>
          <p:cNvPr id="767" name="body"/>
          <p:cNvSpPr txBox="1"/>
          <p:nvPr/>
        </p:nvSpPr>
        <p:spPr>
          <a:xfrm>
            <a:off x="677387" y="4322508"/>
            <a:ext cx="10855878" cy="187828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Неизвестный шаблон может быть плохо сделан, сервис использует рабочую область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title"/>
          <p:cNvSpPr txBox="1"/>
          <p:nvPr/>
        </p:nvSpPr>
        <p:spPr>
          <a:xfrm>
            <a:off x="677387" y="692177"/>
            <a:ext cx="10855878" cy="919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>
                <a:solidFill>
                  <a:srgbClr val="000000"/>
                </a:solidFill>
                <a:latin typeface="Arial"/>
                <a:ea typeface="Arial"/>
                <a:cs typeface="Arial"/>
              </a:rPr>
              <a:t>3Q 2026 – 4Q 2026 – 1Q 2027</a:t>
            </a:r>
          </a:p>
        </p:txBody>
      </p:sp>
      <p:sp>
        <p:nvSpPr>
          <p:cNvPr id="451" name="stat_0:bar"/>
          <p:cNvSpPr/>
          <p:nvPr/>
        </p:nvSpPr>
        <p:spPr>
          <a:xfrm>
            <a:off x="677387" y="1961415"/>
            <a:ext cx="50800" cy="11501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stat_0"/>
          <p:cNvSpPr txBox="1"/>
          <p:nvPr/>
        </p:nvSpPr>
        <p:spPr>
          <a:xfrm>
            <a:off x="855187" y="1851687"/>
            <a:ext cx="10678078" cy="125984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2026</a:t>
            </a:r>
          </a:p>
          <a:p>
            <a:pPr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2026: подключение 4 команд, домен и HTTPS</a:t>
            </a:r>
          </a:p>
        </p:txBody>
      </p:sp>
      <p:sp>
        <p:nvSpPr>
          <p:cNvPr id="453" name="body"/>
          <p:cNvSpPr txBox="1"/>
          <p:nvPr/>
        </p:nvSpPr>
        <p:spPr>
          <a:xfrm>
            <a:off x="677387" y="4374171"/>
            <a:ext cx="10855878" cy="182662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Четвёртый квартал 2026: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Первый квартал 2027: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решения о запуске сервиса на всю компанию</a:t>
            </a:r>
          </a:p>
        </p:txBody>
      </p:sp>
      <p:sp>
        <p:nvSpPr>
          <p:cNvPr id="784" name="lead"/>
          <p:cNvSpPr txBox="1"/>
          <p:nvPr/>
        </p:nvSpPr>
        <p:spPr>
          <a:xfrm>
            <a:off x="677387" y="2825777"/>
            <a:ext cx="10855878" cy="131479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8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Решить о полном запуске сервиса</a:t>
            </a:r>
          </a:p>
        </p:txBody>
      </p:sp>
      <p:sp>
        <p:nvSpPr>
          <p:cNvPr id="785" name="body"/>
          <p:cNvSpPr txBox="1"/>
          <p:nvPr/>
        </p:nvSpPr>
        <p:spPr>
          <a:xfrm>
            <a:off x="677387" y="4343069"/>
            <a:ext cx="10855878" cy="185772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Подтвердить план по генерации иллюстраций в 1Q 2027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Обеспечить доступ для всех команд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Сервис повышает эффективность компании</a:t>
            </a:r>
          </a:p>
        </p:txBody>
      </p:sp>
      <p:sp>
        <p:nvSpPr>
          <p:cNvPr id="3" name="lead"/>
          <p:cNvSpPr txBox="1"/>
          <p:nvPr/>
        </p:nvSpPr>
        <p:spPr>
          <a:xfrm>
            <a:off x="658855" y="2115847"/>
            <a:ext cx="5242438" cy="138285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Сервис повышает эффективность дизайнеров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58855" y="3710304"/>
            <a:ext cx="5242438" cy="193225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Сокращение времени сборки ускоряет коммуникацию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Уменьшение ошибок стиля снижает риск недовольства заказчиков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
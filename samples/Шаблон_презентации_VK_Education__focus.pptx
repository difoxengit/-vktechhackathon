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7" r:id="rId10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4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состояние: ручная сборка презентаций</a:t>
            </a:r>
          </a:p>
        </p:txBody>
      </p:sp>
      <p:sp>
        <p:nvSpPr>
          <p:cNvPr id="801" name="lead"/>
          <p:cNvSpPr txBox="1"/>
          <p:nvPr/>
        </p:nvSpPr>
        <p:spPr>
          <a:xfrm>
            <a:off x="1762975" y="3054073"/>
            <a:ext cx="8684702" cy="9823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Сборка одной колоды 12 слайдов занимает 186 минут</a:t>
            </a:r>
          </a:p>
        </p:txBody>
      </p:sp>
      <p:sp>
        <p:nvSpPr>
          <p:cNvPr id="802" name="body"/>
          <p:cNvSpPr txBox="1"/>
          <p:nvPr/>
        </p:nvSpPr>
        <p:spPr>
          <a:xfrm>
            <a:off x="1762975" y="4232938"/>
            <a:ext cx="8684702" cy="20957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Правки после ревью дизайнера 74 минуты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19 из 42 колод нарушают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Ограничения команды дизайна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1762975" y="2888294"/>
            <a:ext cx="8684702" cy="4978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4 дизайнера закрывают 11 запросов в неделю из 27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762975" y="4328244"/>
            <a:ext cx="8684702" cy="4978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Средний срок ожидания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Предлагаемый сервис: автоматическая вёрстка</a:t>
            </a:r>
          </a:p>
        </p:txBody>
      </p:sp>
      <p:sp>
        <p:nvSpPr>
          <p:cNvPr id="774" name="lead"/>
          <p:cNvSpPr txBox="1"/>
          <p:nvPr/>
        </p:nvSpPr>
        <p:spPr>
          <a:xfrm>
            <a:off x="1762975" y="3429000"/>
            <a:ext cx="8684702" cy="86990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Принимает шаблон pptx и материалы: документы, таблицы, заметки</a:t>
            </a:r>
          </a:p>
        </p:txBody>
      </p:sp>
      <p:sp>
        <p:nvSpPr>
          <p:cNvPr id="775" name="body"/>
          <p:cNvSpPr txBox="1"/>
          <p:nvPr/>
        </p:nvSpPr>
        <p:spPr>
          <a:xfrm>
            <a:off x="1762975" y="4472891"/>
            <a:ext cx="8684702" cy="185580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Генерирует колоду по дизайн-системе и аудит качества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Экспорт в pptx, pdf, html, слайды редактируемы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Ключевые возможности сервиса</a:t>
            </a:r>
          </a:p>
        </p:txBody>
      </p:sp>
      <p:sp>
        <p:nvSpPr>
          <p:cNvPr id="988" name="Document 987"/>
          <p:cNvSpPr/>
          <p:nvPr/>
        </p:nvSpPr>
        <p:spPr>
          <a:xfrm>
            <a:off x="1437601" y="2262123"/>
            <a:ext cx="581269" cy="642455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677387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Шаблон</a:t>
            </a:r>
          </a:p>
        </p:txBody>
      </p:sp>
      <p:sp>
        <p:nvSpPr>
          <p:cNvPr id="990" name="Document 989"/>
          <p:cNvSpPr/>
          <p:nvPr/>
        </p:nvSpPr>
        <p:spPr>
          <a:xfrm>
            <a:off x="3626146" y="2262123"/>
            <a:ext cx="581269" cy="642455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2865932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Материалы</a:t>
            </a:r>
          </a:p>
        </p:txBody>
      </p:sp>
      <p:sp>
        <p:nvSpPr>
          <p:cNvPr id="992" name="Gear 6 991"/>
          <p:cNvSpPr/>
          <p:nvPr/>
        </p:nvSpPr>
        <p:spPr>
          <a:xfrm>
            <a:off x="5753505" y="2231530"/>
            <a:ext cx="474193" cy="474193"/>
          </a:xfrm>
          <a:prstGeom prst="gear6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ear 6 992"/>
          <p:cNvSpPr/>
          <p:nvPr/>
        </p:nvSpPr>
        <p:spPr>
          <a:xfrm>
            <a:off x="6074732" y="2522164"/>
            <a:ext cx="382413" cy="382413"/>
          </a:xfrm>
          <a:prstGeom prst="gear6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TextBox 993"/>
          <p:cNvSpPr txBox="1"/>
          <p:nvPr/>
        </p:nvSpPr>
        <p:spPr>
          <a:xfrm>
            <a:off x="5054477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Генерация</a:t>
            </a:r>
          </a:p>
        </p:txBody>
      </p:sp>
      <p:sp>
        <p:nvSpPr>
          <p:cNvPr id="995" name="Document 994"/>
          <p:cNvSpPr/>
          <p:nvPr/>
        </p:nvSpPr>
        <p:spPr>
          <a:xfrm>
            <a:off x="8003236" y="2262123"/>
            <a:ext cx="581269" cy="642455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7243022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Экспорт</a:t>
            </a:r>
          </a:p>
        </p:txBody>
      </p:sp>
      <p:sp>
        <p:nvSpPr>
          <p:cNvPr id="997" name="Oval 996"/>
          <p:cNvSpPr/>
          <p:nvPr/>
        </p:nvSpPr>
        <p:spPr>
          <a:xfrm>
            <a:off x="10176484" y="2277419"/>
            <a:ext cx="611862" cy="61186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TextBox 997"/>
          <p:cNvSpPr txBox="1"/>
          <p:nvPr/>
        </p:nvSpPr>
        <p:spPr>
          <a:xfrm>
            <a:off x="9431567" y="3049200"/>
            <a:ext cx="2101697" cy="542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Редактируемость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Сокращение времени сборки</a:t>
            </a:r>
          </a:p>
        </p:txBody>
      </p:sp>
      <p:sp>
        <p:nvSpPr>
          <p:cNvPr id="451" name="lead"/>
          <p:cNvSpPr txBox="1"/>
          <p:nvPr/>
        </p:nvSpPr>
        <p:spPr>
          <a:xfrm>
            <a:off x="1264859" y="2200937"/>
            <a:ext cx="4699772" cy="12484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Средняя сборка колоды 12 слайдов 4 минуты вместо 186</a:t>
            </a:r>
          </a:p>
        </p:txBody>
      </p:sp>
      <p:sp>
        <p:nvSpPr>
          <p:cNvPr id="452" name="body"/>
          <p:cNvSpPr txBox="1"/>
          <p:nvPr/>
        </p:nvSpPr>
        <p:spPr>
          <a:xfrm>
            <a:off x="1264859" y="3699103"/>
            <a:ext cx="4699772" cy="2663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Улучшение качества и стиля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1762975" y="2200937"/>
            <a:ext cx="8684702" cy="119995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Нарушений фирменного стиля в пилоте 2 из 68, исправлены автоматически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762975" y="3640887"/>
            <a:ext cx="8684702" cy="255991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Дизайнеры закрыли 38 запросов вместо 11 за 6 недель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 запуска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77387" y="3809896"/>
            <a:ext cx="10855878" cy="13282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99664" y="3389275"/>
            <a:ext cx="974070" cy="97407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7387" y="1773204"/>
            <a:ext cx="3618626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5618290" y="3389275"/>
            <a:ext cx="974070" cy="97407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6013" y="4783967"/>
            <a:ext cx="3618626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Доступ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9236916" y="3389275"/>
            <a:ext cx="974070" cy="97407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4639" y="1773204"/>
            <a:ext cx="3618626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Пилотные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77387" y="1773204"/>
          <a:ext cx="10855878" cy="44275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8626"/>
                <a:gridCol w="3618626"/>
                <a:gridCol w="3618626"/>
              </a:tblGrid>
              <a:tr h="88551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Сборка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2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Запросы дизайнеров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решения руководства</a:t>
            </a:r>
          </a:p>
        </p:txBody>
      </p:sp>
      <p:sp>
        <p:nvSpPr>
          <p:cNvPr id="787" name="lead"/>
          <p:cNvSpPr txBox="1"/>
          <p:nvPr/>
        </p:nvSpPr>
        <p:spPr>
          <a:xfrm>
            <a:off x="1762975" y="3429000"/>
            <a:ext cx="8684702" cy="86990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Одобрить запуск сервиса на всю компанию</a:t>
            </a:r>
          </a:p>
        </p:txBody>
      </p:sp>
      <p:sp>
        <p:nvSpPr>
          <p:cNvPr id="788" name="body"/>
          <p:cNvSpPr txBox="1"/>
          <p:nvPr/>
        </p:nvSpPr>
        <p:spPr>
          <a:xfrm>
            <a:off x="1762975" y="4472891"/>
            <a:ext cx="8684702" cy="185580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Выделить ресурсы для интеграции с хранилищем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Поддержка модели и масштабирование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
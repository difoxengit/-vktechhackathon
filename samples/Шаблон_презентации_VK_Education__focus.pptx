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 колоды</c:v>
                </c:pt>
                <c:pt idx="1">
                  <c:v>Время до первой версии</c:v>
                </c:pt>
                <c:pt idx="2">
                  <c:v>Запросы/неделя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186.0</c:v>
                </c:pt>
                <c:pt idx="1">
                  <c:v>6.0</c:v>
                </c:pt>
                <c:pt idx="2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FF3885"/>
            </a:solidFill>
            <a:ln>
              <a:solidFill>
                <a:srgbClr val="FF3885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 колоды</c:v>
                </c:pt>
                <c:pt idx="1">
                  <c:v>Время до первой версии</c:v>
                </c:pt>
                <c:pt idx="2">
                  <c:v>Запросы/неделя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4.0</c:v>
                </c:pt>
                <c:pt idx="1">
                  <c:v>1.0</c:v>
                </c:pt>
                <c:pt idx="2">
                  <c:v>38.0</c:v>
                </c:pt>
              </c:numCache>
            </c:numRef>
          </c:val>
        </c:ser>
        <c:dLbls>
          <c:numFmt formatCode="0&quot; единицы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единицы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graphicFrame>
        <p:nvGraphicFramePr>
          <p:cNvPr id="988" name="Table 987"/>
          <p:cNvGraphicFramePr>
            <a:graphicFrameLocks noGrp="1"/>
          </p:cNvGraphicFramePr>
          <p:nvPr/>
        </p:nvGraphicFramePr>
        <p:xfrm>
          <a:off x="677387" y="2200937"/>
          <a:ext cx="10855878" cy="662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27939"/>
                <a:gridCol w="5427939"/>
              </a:tblGrid>
              <a:tr h="9470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 колоды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Запросы/неделя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ожидания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9" name="body"/>
          <p:cNvSpPr txBox="1"/>
          <p:nvPr/>
        </p:nvSpPr>
        <p:spPr>
          <a:xfrm>
            <a:off x="677387" y="2863845"/>
            <a:ext cx="10855878" cy="72768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собраны вручную 2026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занимает 186 мин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Правки ревью добавляют 74 мин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19/42 колод нарушают стиль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4 закрывает 11 запросов/нед.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Pentagon 2"/>
          <p:cNvSpPr/>
          <p:nvPr/>
        </p:nvSpPr>
        <p:spPr>
          <a:xfrm>
            <a:off x="677387" y="1802589"/>
            <a:ext cx="10855878" cy="361025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Ввод шаблона</a:t>
            </a:r>
          </a:p>
        </p:txBody>
      </p:sp>
      <p:sp>
        <p:nvSpPr>
          <p:cNvPr id="4" name="Chevron 3"/>
          <p:cNvSpPr/>
          <p:nvPr/>
        </p:nvSpPr>
        <p:spPr>
          <a:xfrm>
            <a:off x="677387" y="2222386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Анализ</a:t>
            </a:r>
          </a:p>
        </p:txBody>
      </p:sp>
      <p:sp>
        <p:nvSpPr>
          <p:cNvPr id="5" name="Chevron 4"/>
          <p:cNvSpPr/>
          <p:nvPr/>
        </p:nvSpPr>
        <p:spPr>
          <a:xfrm>
            <a:off x="677387" y="2642184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" name="Chevron 5"/>
          <p:cNvSpPr/>
          <p:nvPr/>
        </p:nvSpPr>
        <p:spPr>
          <a:xfrm>
            <a:off x="677387" y="3061981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677387" y="3481778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8" name="Chevron 7"/>
          <p:cNvSpPr/>
          <p:nvPr/>
        </p:nvSpPr>
        <p:spPr>
          <a:xfrm>
            <a:off x="677387" y="3901575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677387" y="4463437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строит план колоды и вёрстку по дизайн‑системе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все цифры и стили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 без картинок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1773204"/>
          <a:ext cx="10855878" cy="251878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ody"/>
          <p:cNvSpPr txBox="1"/>
          <p:nvPr/>
        </p:nvSpPr>
        <p:spPr>
          <a:xfrm>
            <a:off x="677387" y="4463437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фирменного стиля снизились до 2 из 68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</a:t>
            </a:r>
          </a:p>
        </p:txBody>
      </p:sp>
      <p:sp>
        <p:nvSpPr>
          <p:cNvPr id="921" name="Rectangle 920"/>
          <p:cNvSpPr/>
          <p:nvPr/>
        </p:nvSpPr>
        <p:spPr>
          <a:xfrm>
            <a:off x="677387" y="2715559"/>
            <a:ext cx="10855878" cy="33562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2363638" y="2609278"/>
            <a:ext cx="246123" cy="2461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TextBox 922"/>
          <p:cNvSpPr txBox="1"/>
          <p:nvPr/>
        </p:nvSpPr>
        <p:spPr>
          <a:xfrm>
            <a:off x="677387" y="2200937"/>
            <a:ext cx="5427939" cy="425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924" name="Oval 923"/>
          <p:cNvSpPr/>
          <p:nvPr/>
        </p:nvSpPr>
        <p:spPr>
          <a:xfrm>
            <a:off x="5982264" y="2609278"/>
            <a:ext cx="246123" cy="2461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3391356" y="2961683"/>
            <a:ext cx="5427939" cy="425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26" name="Oval 925"/>
          <p:cNvSpPr/>
          <p:nvPr/>
        </p:nvSpPr>
        <p:spPr>
          <a:xfrm>
            <a:off x="9600890" y="2609278"/>
            <a:ext cx="246123" cy="2461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TextBox 926"/>
          <p:cNvSpPr txBox="1"/>
          <p:nvPr/>
        </p:nvSpPr>
        <p:spPr>
          <a:xfrm>
            <a:off x="6105326" y="2200937"/>
            <a:ext cx="5427939" cy="425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  <p:sp>
        <p:nvSpPr>
          <p:cNvPr id="928" name="body"/>
          <p:cNvSpPr txBox="1"/>
          <p:nvPr/>
        </p:nvSpPr>
        <p:spPr>
          <a:xfrm>
            <a:off x="677387" y="3319683"/>
            <a:ext cx="10855878" cy="10315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vCPU / 2 ГБ RAM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gpt-oss-20b подключен протоколу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6 недель 1 400 руб.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Квартал 2026: 4 команды, домен, HTTPS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Квартал 2026: доступ, интеграция хранилища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2027: генерация иллюстраций в стиле шаблона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797" name="lead"/>
          <p:cNvSpPr txBox="1"/>
          <p:nvPr/>
        </p:nvSpPr>
        <p:spPr>
          <a:xfrm>
            <a:off x="677387" y="2200937"/>
            <a:ext cx="10855878" cy="196953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 шёл 6 недель на двух командах</a:t>
            </a:r>
          </a:p>
        </p:txBody>
      </p:sp>
      <p:sp>
        <p:nvSpPr>
          <p:cNvPr id="798" name="body"/>
          <p:cNvSpPr txBox="1"/>
          <p:nvPr/>
        </p:nvSpPr>
        <p:spPr>
          <a:xfrm>
            <a:off x="677387" y="4418135"/>
            <a:ext cx="10855878" cy="191056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Собрано 68 презентаций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77875" y="2716257"/>
            <a:ext cx="10855391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Принять решение о запуске сервиса на всю компанию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
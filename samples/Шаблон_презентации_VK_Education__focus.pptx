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8" r:id="rId4"/>
    <p:sldMasterId id="2147483679" r:id="rId5"/>
  </p:sldMasterIdLst>
  <p:notesMasterIdLst>
    <p:notesMasterId r:id="rId6"/>
  </p:notesMasterIdLst>
  <p:sldIdLst>
    <p:sldId id="311" r:id="rId64"/>
    <p:sldId id="312" r:id="rId65"/>
    <p:sldId id="313" r:id="rId66"/>
    <p:sldId id="314" r:id="rId67"/>
    <p:sldId id="315" r:id="rId68"/>
    <p:sldId id="316" r:id="rId69"/>
    <p:sldId id="317" r:id="rId70"/>
    <p:sldId id="318" r:id="rId71"/>
    <p:sldId id="319" r:id="rId72"/>
    <p:sldId id="320" r:id="rId73"/>
  </p:sldIdLst>
  <p:sldSz cy="6858000" cx="12192000"/>
  <p:notesSz cx="6858000" cy="9144000"/>
  <p:embeddedFontLst>
    <p:embeddedFont>
      <p:font typeface="Play"/>
      <p:regular r:id="rId62"/>
      <p:bold r:id="rId6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52006A8-8AF6-428E-B8E6-5754F7C527DE}">
  <a:tblStyle styleId="{552006A8-8AF6-428E-B8E6-5754F7C527DE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  <a:tblStyle styleId="{D62A05B1-10D2-4378-96B9-F810E7567A26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62" Type="http://schemas.openxmlformats.org/officeDocument/2006/relationships/font" Target="fonts/Play-regular.fntdata"/><Relationship Id="rId63" Type="http://schemas.openxmlformats.org/officeDocument/2006/relationships/font" Target="fonts/Play-bold.fntdata"/><Relationship Id="rId64" Type="http://schemas.openxmlformats.org/officeDocument/2006/relationships/slide" Target="slides/slide56.xml"/><Relationship Id="rId65" Type="http://schemas.openxmlformats.org/officeDocument/2006/relationships/slide" Target="slides/slide57.xml"/><Relationship Id="rId66" Type="http://schemas.openxmlformats.org/officeDocument/2006/relationships/slide" Target="slides/slide58.xml"/><Relationship Id="rId67" Type="http://schemas.openxmlformats.org/officeDocument/2006/relationships/slide" Target="slides/slide59.xml"/><Relationship Id="rId68" Type="http://schemas.openxmlformats.org/officeDocument/2006/relationships/slide" Target="slides/slide60.xml"/><Relationship Id="rId69" Type="http://schemas.openxmlformats.org/officeDocument/2006/relationships/slide" Target="slides/slide61.xml"/><Relationship Id="rId70" Type="http://schemas.openxmlformats.org/officeDocument/2006/relationships/slide" Target="slides/slide62.xml"/><Relationship Id="rId71" Type="http://schemas.openxmlformats.org/officeDocument/2006/relationships/slide" Target="slides/slide63.xml"/><Relationship Id="rId72" Type="http://schemas.openxmlformats.org/officeDocument/2006/relationships/slide" Target="slides/slide64.xml"/><Relationship Id="rId73" Type="http://schemas.openxmlformats.org/officeDocument/2006/relationships/slide" Target="slides/slide6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Титульный слайд">
  <p:cSld name="3_Титульный слайд">
    <p:bg>
      <p:bgPr>
        <a:solidFill>
          <a:schemeClr val="accent1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"/>
          <p:cNvSpPr txBox="1"/>
          <p:nvPr>
            <p:ph idx="1" type="body"/>
          </p:nvPr>
        </p:nvSpPr>
        <p:spPr>
          <a:xfrm>
            <a:off x="658813" y="4728001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  <a:defRPr sz="2000">
                <a:solidFill>
                  <a:schemeClr val="lt2"/>
                </a:solidFill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0" name="Google Shape;60;p3"/>
          <p:cNvSpPr txBox="1"/>
          <p:nvPr>
            <p:ph type="title"/>
          </p:nvPr>
        </p:nvSpPr>
        <p:spPr>
          <a:xfrm>
            <a:off x="622261" y="2598003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3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2" name="Google Shape;62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692150"/>
            <a:ext cx="2772297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63" name="Google Shape;63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03845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">
  <p:cSld name="Заголовок">
    <p:bg>
      <p:bgPr>
        <a:solidFill>
          <a:schemeClr val="lt2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7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инальный с QR + подпись">
  <p:cSld name="Финальный с QR + подпись">
    <p:bg>
      <p:bgPr>
        <a:solidFill>
          <a:schemeClr val="accent1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" name="Google Shape;133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23251" y="692149"/>
            <a:ext cx="6168749" cy="616874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9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19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136" name="Google Shape;136;p19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37" name="Google Shape;137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3" y="5711140"/>
            <a:ext cx="2772297" cy="4896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2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29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2" name="Google Shape;12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3" name="Google Shape;1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4" name="Google Shape;1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2" name="Google Shape;32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3" name="Google Shape;3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" name="Google Shape;3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3" r:id="rId6"/>
    <p:sldLayoutId id="2147483665" r:id="rId1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85" name="Google Shape;185;p30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86" name="Google Shape;186;p30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87" name="Google Shape;18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5" name="Google Shape;19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6" name="Google Shape;19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7" name="Google Shape;19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8" name="Google Shape;19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9" name="Google Shape;19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0" name="Google Shape;20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1" name="Google Shape;20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2" name="Google Shape;20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3" name="Google Shape;20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4" name="Google Shape;20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5" name="Google Shape;20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206" name="Google Shape;206;p30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207" name="Google Shape;20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8" name="Google Shape;20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9" name="Google Shape;20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0" name="Google Shape;21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/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3" Type="http://schemas.openxmlformats.org/officeDocument/2006/relationships/image" Target="../media/image237.png"/><Relationship Id="rId4" Type="http://schemas.openxmlformats.org/officeDocument/2006/relationships/image" Target="../media/image229.png"/><Relationship Id="rId5" Type="http://schemas.openxmlformats.org/officeDocument/2006/relationships/image" Target="../media/image238.png"/><Relationship Id="rId6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7.png"/><Relationship Id="rId3" Type="http://schemas.openxmlformats.org/officeDocument/2006/relationships/image" Target="../media/image228.png"/><Relationship Id="rId4" Type="http://schemas.openxmlformats.org/officeDocument/2006/relationships/image" Target="../media/image229.png"/><Relationship Id="rId5" Type="http://schemas.openxmlformats.org/officeDocument/2006/relationships/image" Target="../media/image230.png"/><Relationship Id="rId6" Type="http://schemas.openxmlformats.org/officeDocument/2006/relationships/image" Target="../media/image231.png"/><Relationship Id="rId7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8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32.png"/><Relationship Id="rId3" Type="http://schemas.openxmlformats.org/officeDocument/2006/relationships/image" Target="../media/image233.png"/><Relationship Id="rId4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5" Type="http://schemas.openxmlformats.org/officeDocument/2006/relationships/image" Target="../media/image235.png"/><Relationship Id="rId6" Type="http://schemas.openxmlformats.org/officeDocument/2006/relationships/image" Target="../media/image234.png"/><Relationship Id="rId7" Type="http://schemas.openxmlformats.org/officeDocument/2006/relationships/image" Target="../media/image236.png"/><Relationship Id="rId8" Type="http://schemas.openxmlformats.org/officeDocument/2006/relationships/image" Target="../media/image231.png"/><Relationship Id="rId9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257.png"/><Relationship Id="rId3" Type="http://schemas.openxmlformats.org/officeDocument/2006/relationships/notesSlide" Target="../notesSlides/notesSlide65.xml"/></Relationships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22279" y="2598016"/>
            <a:ext cx="7535387" cy="166196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Защита инициативы: сервис автоматической вёрстки презентаций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986" name="Google Shape;986;p76"/>
          <p:cNvCxnSpPr/>
          <p:nvPr/>
        </p:nvCxnSpPr>
        <p:spPr>
          <a:xfrm rot="10800000">
            <a:off x="-42658" y="3591512"/>
            <a:ext cx="12234658" cy="0"/>
          </a:xfrm>
          <a:prstGeom prst="straightConnector1">
            <a:avLst/>
          </a:prstGeom>
          <a:noFill/>
          <a:ln cap="flat" cmpd="sng" w="12700">
            <a:solidFill>
              <a:srgbClr val="E1E1E2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87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Контекст и возможность</a:t>
            </a:r>
          </a:p>
        </p:txBody>
      </p:sp>
      <p:sp>
        <p:nvSpPr>
          <p:cNvPr id="988" name="lead"/>
          <p:cNvSpPr txBox="1"/>
          <p:nvPr/>
        </p:nvSpPr>
        <p:spPr>
          <a:xfrm>
            <a:off x="677387" y="2200937"/>
            <a:ext cx="10855878" cy="50917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ctr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Отделы собирают презентации вручную, затрачивая 186 минут на 12-слайдовую колоду</a:t>
            </a:r>
          </a:p>
        </p:txBody>
      </p:sp>
      <p:sp>
        <p:nvSpPr>
          <p:cNvPr id="989" name="body"/>
          <p:cNvSpPr txBox="1"/>
          <p:nvPr/>
        </p:nvSpPr>
        <p:spPr>
          <a:xfrm>
            <a:off x="677387" y="2710110"/>
            <a:ext cx="10855878" cy="881424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После ревью дизайнеров добавляется 74 минуты правок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19 из 42 колод нарушают фирменный стиль: чужие гарнитуры и цвета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Дизайнеры закрывают 11 запросов в неделю из 27 поступающих, ожидание 6 дней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Время до первой версии колоды составляет 6 рабочих дней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Предложение</a:t>
            </a:r>
          </a:p>
        </p:txBody>
      </p:sp>
      <p:sp>
        <p:nvSpPr>
          <p:cNvPr id="3" name="Pentagon 2"/>
          <p:cNvSpPr/>
          <p:nvPr/>
        </p:nvSpPr>
        <p:spPr>
          <a:xfrm>
            <a:off x="677387" y="2391838"/>
            <a:ext cx="2066959" cy="1281514"/>
          </a:xfrm>
          <a:prstGeom prst="homePlat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096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096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Шаблон</a:t>
            </a:r>
          </a:p>
        </p:txBody>
      </p:sp>
      <p:sp>
        <p:nvSpPr>
          <p:cNvPr id="4" name="Chevron 3"/>
          <p:cNvSpPr/>
          <p:nvPr/>
        </p:nvSpPr>
        <p:spPr>
          <a:xfrm>
            <a:off x="2874616" y="2391838"/>
            <a:ext cx="2066959" cy="1281514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096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096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План</a:t>
            </a:r>
          </a:p>
        </p:txBody>
      </p:sp>
      <p:sp>
        <p:nvSpPr>
          <p:cNvPr id="5" name="Chevron 4"/>
          <p:cNvSpPr/>
          <p:nvPr/>
        </p:nvSpPr>
        <p:spPr>
          <a:xfrm>
            <a:off x="5071846" y="2391838"/>
            <a:ext cx="2066959" cy="1281514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096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096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Вёрстка</a:t>
            </a:r>
          </a:p>
        </p:txBody>
      </p:sp>
      <p:sp>
        <p:nvSpPr>
          <p:cNvPr id="6" name="Chevron 5"/>
          <p:cNvSpPr/>
          <p:nvPr/>
        </p:nvSpPr>
        <p:spPr>
          <a:xfrm>
            <a:off x="7269076" y="2391838"/>
            <a:ext cx="2066959" cy="1281514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096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096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Аудит</a:t>
            </a:r>
          </a:p>
        </p:txBody>
      </p:sp>
      <p:sp>
        <p:nvSpPr>
          <p:cNvPr id="7" name="Chevron 6"/>
          <p:cNvSpPr/>
          <p:nvPr/>
        </p:nvSpPr>
        <p:spPr>
          <a:xfrm>
            <a:off x="9466305" y="2391838"/>
            <a:ext cx="2066959" cy="1281514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096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096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Экспорт</a:t>
            </a:r>
          </a:p>
        </p:txBody>
      </p:sp>
      <p:sp>
        <p:nvSpPr>
          <p:cNvPr id="8" name="body"/>
          <p:cNvSpPr txBox="1"/>
          <p:nvPr/>
        </p:nvSpPr>
        <p:spPr>
          <a:xfrm>
            <a:off x="677387" y="4463437"/>
            <a:ext cx="10855878" cy="17373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Сервис принимает pptx-шаблон, документы, таблицы, заметки.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Шабл превращается:гарнитуры, шкала кеглей, палитра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Бриф генерирует колоду, автоматическая вёрстка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Экспорт в pptx, pdf, html; слайды редактируемы.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918" name="Google Shape;918;p74"/>
          <p:cNvCxnSpPr/>
          <p:nvPr/>
        </p:nvCxnSpPr>
        <p:spPr>
          <a:xfrm rot="10800000">
            <a:off x="658813" y="2199500"/>
            <a:ext cx="11533187" cy="0"/>
          </a:xfrm>
          <a:prstGeom prst="straightConnector1">
            <a:avLst/>
          </a:prstGeom>
          <a:noFill/>
          <a:ln cap="flat" cmpd="sng" w="19050">
            <a:solidFill>
              <a:schemeClr val="accent4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919" name="Google Shape;919;p74"/>
          <p:cNvCxnSpPr/>
          <p:nvPr/>
        </p:nvCxnSpPr>
        <p:spPr>
          <a:xfrm flipH="1">
            <a:off x="1" y="4351265"/>
            <a:ext cx="8112124" cy="42098"/>
          </a:xfrm>
          <a:prstGeom prst="straightConnector1">
            <a:avLst/>
          </a:prstGeom>
          <a:noFill/>
          <a:ln cap="flat" cmpd="sng" w="19050">
            <a:solidFill>
              <a:schemeClr val="accent4"/>
            </a:solidFill>
            <a:prstDash val="solid"/>
            <a:miter lim="8000"/>
            <a:headEnd len="lg" w="lg" type="stealth"/>
            <a:tailEnd len="sm" w="sm" type="none"/>
          </a:ln>
        </p:spPr>
      </p:cxnSp>
      <p:sp>
        <p:nvSpPr>
          <p:cNvPr id="920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Ожидаемый эффект</a:t>
            </a:r>
          </a:p>
        </p:txBody>
      </p:sp>
      <p:sp>
        <p:nvSpPr>
          <p:cNvPr id="921" name="lead"/>
          <p:cNvSpPr txBox="1"/>
          <p:nvPr/>
        </p:nvSpPr>
        <p:spPr>
          <a:xfrm>
            <a:off x="677387" y="2200937"/>
            <a:ext cx="10855878" cy="73111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000000"/>
                </a:solidFill>
                <a:latin typeface="Play"/>
                <a:ea typeface="Play"/>
                <a:cs typeface="Play"/>
              </a:rPr>
              <a:t>Время сборки колоды сократилось с 186 до 4 минут</a:t>
            </a:r>
          </a:p>
        </p:txBody>
      </p:sp>
      <p:sp>
        <p:nvSpPr>
          <p:cNvPr id="922" name="body"/>
          <p:cNvSpPr txBox="1"/>
          <p:nvPr/>
        </p:nvSpPr>
        <p:spPr>
          <a:xfrm>
            <a:off x="677387" y="3061068"/>
            <a:ext cx="10855878" cy="129019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Первая версия готова за 1 день вместо 6 рабочих дней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Нарушений фирменного стиля в пилоте 2 из 68 колод, исправлены автоматически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Дизайнеры закрыли 38 запросов вместо 11 в неделю, рутина ушла в сервис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Что потребуется: ресурсы и сроки</a:t>
            </a:r>
          </a:p>
        </p:txBody>
      </p:sp>
      <p:sp>
        <p:nvSpPr>
          <p:cNvPr id="3" name="Rectangle 2"/>
          <p:cNvSpPr/>
          <p:nvPr/>
        </p:nvSpPr>
        <p:spPr>
          <a:xfrm>
            <a:off x="677387" y="2931844"/>
            <a:ext cx="10855878" cy="75563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757305" y="2692559"/>
            <a:ext cx="554132" cy="55413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77387" y="1773204"/>
            <a:ext cx="4070954" cy="95713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Подключение 4 команд</a:t>
            </a:r>
          </a:p>
        </p:txBody>
      </p:sp>
      <p:sp>
        <p:nvSpPr>
          <p:cNvPr id="6" name="Oval 5"/>
          <p:cNvSpPr/>
          <p:nvPr/>
        </p:nvSpPr>
        <p:spPr>
          <a:xfrm>
            <a:off x="4471275" y="2692559"/>
            <a:ext cx="554132" cy="55413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12864" y="3485976"/>
            <a:ext cx="4070954" cy="95713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Домен и HTTPS</a:t>
            </a:r>
          </a:p>
        </p:txBody>
      </p:sp>
      <p:sp>
        <p:nvSpPr>
          <p:cNvPr id="8" name="Oval 7"/>
          <p:cNvSpPr/>
          <p:nvPr/>
        </p:nvSpPr>
        <p:spPr>
          <a:xfrm>
            <a:off x="7185244" y="2692559"/>
            <a:ext cx="554132" cy="55413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26833" y="1773204"/>
            <a:ext cx="4070954" cy="95713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Доступ для всей компании</a:t>
            </a:r>
          </a:p>
        </p:txBody>
      </p:sp>
      <p:sp>
        <p:nvSpPr>
          <p:cNvPr id="10" name="Oval 9"/>
          <p:cNvSpPr/>
          <p:nvPr/>
        </p:nvSpPr>
        <p:spPr>
          <a:xfrm>
            <a:off x="9899214" y="2692559"/>
            <a:ext cx="554132" cy="55413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62310" y="3485976"/>
            <a:ext cx="4070954" cy="95713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Генерация иллюстраций</a:t>
            </a:r>
          </a:p>
        </p:txBody>
      </p:sp>
      <p:sp>
        <p:nvSpPr>
          <p:cNvPr id="12" name="body"/>
          <p:cNvSpPr txBox="1"/>
          <p:nvPr/>
        </p:nvSpPr>
        <p:spPr>
          <a:xfrm>
            <a:off x="677387" y="4463437"/>
            <a:ext cx="10855878" cy="17373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Сервис на машине 2 vCPU / 2 ГБ RAM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Модель gpt-oss-20b подключена через OpenAI-протокол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Стоимость инференса за 6 недель 1 400 руб.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Нагрузка выше 20 задач требует внешней очереди.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План пилота</a:t>
            </a:r>
          </a:p>
        </p:txBody>
      </p:sp>
      <p:sp>
        <p:nvSpPr>
          <p:cNvPr id="3" name="lead"/>
          <p:cNvSpPr txBox="1"/>
          <p:nvPr/>
        </p:nvSpPr>
        <p:spPr>
          <a:xfrm>
            <a:off x="677387" y="1773204"/>
            <a:ext cx="10855878" cy="1505381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4000">
                <a:solidFill>
                  <a:srgbClr val="000000"/>
                </a:solidFill>
                <a:latin typeface="Play"/>
                <a:ea typeface="Play"/>
                <a:cs typeface="Play"/>
              </a:rPr>
              <a:t>Пилот длился 6 недель, включал 2 команды и 68 презентаций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677387" y="3544241"/>
            <a:ext cx="10855878" cy="2656556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Средняя сборка колоды 4 минуты вместо 186, первая версия 1 день вместо 6</a:t>
            </a:r>
          </a:p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Нарушений стиля 2 из 68 колод, обе исправлены автоматическими правками</a:t>
            </a:r>
          </a:p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Дизайнеры закрыли 38 запросов вместо 11 в неделю, рутина ушла в сервис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795" name="Google Shape;795;p60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6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Что мы просим решить</a:t>
            </a:r>
          </a:p>
        </p:txBody>
      </p:sp>
      <p:sp>
        <p:nvSpPr>
          <p:cNvPr id="797" name="lead"/>
          <p:cNvSpPr txBox="1"/>
          <p:nvPr/>
        </p:nvSpPr>
        <p:spPr>
          <a:xfrm>
            <a:off x="677387" y="2200937"/>
            <a:ext cx="10855878" cy="1621084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4000">
                <a:solidFill>
                  <a:srgbClr val="000000"/>
                </a:solidFill>
                <a:latin typeface="Play"/>
                <a:ea typeface="Play"/>
                <a:cs typeface="Play"/>
              </a:rPr>
              <a:t>Одобрить запуск сервиса на всю компанию</a:t>
            </a:r>
          </a:p>
        </p:txBody>
      </p:sp>
      <p:sp>
        <p:nvSpPr>
          <p:cNvPr id="798" name="body"/>
          <p:cNvSpPr txBox="1"/>
          <p:nvPr/>
        </p:nvSpPr>
        <p:spPr>
          <a:xfrm>
            <a:off x="677387" y="4069688"/>
            <a:ext cx="10855878" cy="2259011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Интеграция с корпоративным хранилищем документов</a:t>
            </a:r>
          </a:p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Обеспечить поддержку очереди для нагрузки более 20 задач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764" name="Google Shape;764;p58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5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Риски</a:t>
            </a:r>
          </a:p>
        </p:txBody>
      </p:sp>
      <p:sp>
        <p:nvSpPr>
          <p:cNvPr id="766" name="lead"/>
          <p:cNvSpPr txBox="1"/>
          <p:nvPr/>
        </p:nvSpPr>
        <p:spPr>
          <a:xfrm>
            <a:off x="677387" y="2200937"/>
            <a:ext cx="10855878" cy="1925976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4800">
                <a:solidFill>
                  <a:srgbClr val="000000"/>
                </a:solidFill>
                <a:latin typeface="Play"/>
                <a:ea typeface="Play"/>
                <a:cs typeface="Play"/>
              </a:rPr>
              <a:t>Модель может выдумать цифры, которые отсутствуют в материалах</a:t>
            </a:r>
          </a:p>
        </p:txBody>
      </p:sp>
      <p:sp>
        <p:nvSpPr>
          <p:cNvPr id="767" name="body"/>
          <p:cNvSpPr txBox="1"/>
          <p:nvPr/>
        </p:nvSpPr>
        <p:spPr>
          <a:xfrm>
            <a:off x="677387" y="4374579"/>
            <a:ext cx="10855878" cy="1954119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Неполный шаблон приводит к ошибкам, сервис использует рабочую область</a:t>
            </a:r>
          </a:p>
          <a:p>
            <a:pPr algn="l">
              <a:spcAft>
                <a:spcPts val="300"/>
              </a:spcAft>
              <a:defRPr sz="2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Нагрузка выше 20 задач требует внешней очереди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782" name="Google Shape;782;p59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3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Вопросы к руководству</a:t>
            </a:r>
          </a:p>
        </p:txBody>
      </p:sp>
      <p:sp>
        <p:nvSpPr>
          <p:cNvPr id="784" name="lead"/>
          <p:cNvSpPr txBox="1"/>
          <p:nvPr/>
        </p:nvSpPr>
        <p:spPr>
          <a:xfrm>
            <a:off x="677387" y="2200937"/>
            <a:ext cx="10855878" cy="185200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4800">
                <a:solidFill>
                  <a:srgbClr val="000000"/>
                </a:solidFill>
                <a:latin typeface="Play"/>
                <a:ea typeface="Play"/>
                <a:cs typeface="Play"/>
              </a:rPr>
              <a:t>Какие ресурсы нужны для масштабирования сервиса</a:t>
            </a:r>
          </a:p>
        </p:txBody>
      </p:sp>
      <p:sp>
        <p:nvSpPr>
          <p:cNvPr id="785" name="body"/>
          <p:cNvSpPr txBox="1"/>
          <p:nvPr/>
        </p:nvSpPr>
        <p:spPr>
          <a:xfrm>
            <a:off x="677387" y="4300611"/>
            <a:ext cx="10855878" cy="202808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Как обеспечить качество и проверку данных</a:t>
            </a:r>
          </a:p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Как быстро интегрировать сервис в существующие процессы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855" y="692177"/>
            <a:ext cx="524243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FFFFFF"/>
                </a:solidFill>
                <a:latin typeface="Arial"/>
                <a:ea typeface="Arial"/>
                <a:cs typeface="Arial"/>
              </a:rPr>
              <a:t>Следующие шаги после одобрения</a:t>
            </a:r>
          </a:p>
        </p:txBody>
      </p:sp>
      <p:sp>
        <p:nvSpPr>
          <p:cNvPr id="3" name="lead"/>
          <p:cNvSpPr txBox="1"/>
          <p:nvPr/>
        </p:nvSpPr>
        <p:spPr>
          <a:xfrm>
            <a:off x="658855" y="2380007"/>
            <a:ext cx="5242438" cy="130661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После одобрения подключить 4 команды в Q3 2026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658855" y="3882371"/>
            <a:ext cx="5242438" cy="1760184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В Q4 2026 обеспечить домен, HTTPS и доступ для всей компании</a:t>
            </a:r>
          </a:p>
          <a:p>
            <a:pPr algn="l">
              <a:spcAft>
                <a:spcPts val="300"/>
              </a:spcAft>
              <a:defRPr sz="1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В Q1 2027 добавить генерацию иллюстраций под стиль шаблона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
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2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8" r:id="rId4"/>
    <p:sldMasterId id="2147483679" r:id="rId5"/>
  </p:sldMasterIdLst>
  <p:notesMasterIdLst>
    <p:notesMasterId r:id="rId6"/>
  </p:notesMasterIdLst>
  <p:sldIdLst>
    <p:sldId id="311" r:id="rId64"/>
    <p:sldId id="312" r:id="rId65"/>
    <p:sldId id="313" r:id="rId66"/>
    <p:sldId id="314" r:id="rId67"/>
    <p:sldId id="315" r:id="rId68"/>
    <p:sldId id="316" r:id="rId69"/>
    <p:sldId id="317" r:id="rId70"/>
  </p:sldIdLst>
  <p:sldSz cy="6858000" cx="12192000"/>
  <p:notesSz cx="6858000" cy="9144000"/>
  <p:embeddedFontLst>
    <p:embeddedFont>
      <p:font typeface="Play"/>
      <p:regular r:id="rId62"/>
      <p:bold r:id="rId6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52006A8-8AF6-428E-B8E6-5754F7C527DE}">
  <a:tblStyle styleId="{552006A8-8AF6-428E-B8E6-5754F7C527DE}" styleName="Table_0">
    <a:wholeTbl>
      <a:tcTxStyle b="off" i="off">
        <a:font>
          <a:latin typeface="SF Pro Text Light"/>
          <a:ea typeface="SF Pro Text Light"/>
          <a:cs typeface="SF Pro Text Ligh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6EBFF"/>
          </a:solidFill>
        </a:fill>
      </a:tcStyle>
    </a:wholeTbl>
    <a:band1H>
      <a:tcTxStyle/>
      <a:tcStyle>
        <a:fill>
          <a:solidFill>
            <a:srgbClr val="CAD5FF"/>
          </a:solidFill>
        </a:fill>
      </a:tcStyle>
    </a:band1H>
    <a:band2H>
      <a:tcTxStyle/>
    </a:band2H>
    <a:band1V>
      <a:tcTxStyle/>
      <a:tcStyle>
        <a:fill>
          <a:solidFill>
            <a:srgbClr val="CAD5FF"/>
          </a:solidFill>
        </a:fill>
      </a:tcStyle>
    </a:band1V>
    <a:band2V>
      <a:tcTxStyle/>
    </a:band2V>
    <a:lastCol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  <a:tblStyle styleId="{D62A05B1-10D2-4378-96B9-F810E7567A26}" styleName="Table_1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62" Type="http://schemas.openxmlformats.org/officeDocument/2006/relationships/font" Target="fonts/Play-regular.fntdata"/><Relationship Id="rId63" Type="http://schemas.openxmlformats.org/officeDocument/2006/relationships/font" Target="fonts/Play-bold.fntdata"/><Relationship Id="rId64" Type="http://schemas.openxmlformats.org/officeDocument/2006/relationships/slide" Target="slides/slide56.xml"/><Relationship Id="rId65" Type="http://schemas.openxmlformats.org/officeDocument/2006/relationships/slide" Target="slides/slide57.xml"/><Relationship Id="rId66" Type="http://schemas.openxmlformats.org/officeDocument/2006/relationships/slide" Target="slides/slide58.xml"/><Relationship Id="rId67" Type="http://schemas.openxmlformats.org/officeDocument/2006/relationships/slide" Target="slides/slide59.xml"/><Relationship Id="rId68" Type="http://schemas.openxmlformats.org/officeDocument/2006/relationships/slide" Target="slides/slide60.xml"/><Relationship Id="rId69" Type="http://schemas.openxmlformats.org/officeDocument/2006/relationships/slide" Target="slides/slide61.xml"/><Relationship Id="rId70" Type="http://schemas.openxmlformats.org/officeDocument/2006/relationships/slide" Target="slides/slide6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Время</c:v>
                </c:pt>
              </c:strCache>
            </c:strRef>
          </c:tx>
          <c:spPr>
            <a:solidFill>
              <a:srgbClr val="0077FF"/>
            </a:solidFill>
            <a:ln>
              <a:solidFill>
                <a:srgbClr val="0077FF"/>
              </a:solidFill>
            </a:ln>
          </c:spPr>
          <c:cat>
            <c:strRef>
              <c:f>Sheet1!$A$2:$A$3</c:f>
              <c:strCache>
                <c:ptCount val="2"/>
                <c:pt idx="0">
                  <c:v>Сборка</c:v>
                </c:pt>
                <c:pt idx="1">
                  <c:v>Правки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186.0</c:v>
                </c:pt>
                <c:pt idx="1">
                  <c:v>74.0</c:v>
                </c:pt>
              </c:numCache>
            </c:numRef>
          </c:val>
        </c:ser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D1D1D1"/>
              </a:solidFill>
            </a:ln>
          </c:spPr>
        </c:majorGridlines>
        <c:title>
          <c:tx>
            <c:rich>
              <a:bodyPr/>
              <a:lstStyle/>
              <a:p>
                <a:pPr>
                  <a:defRPr sz="1100" b="0">
                    <a:solidFill>
                      <a:srgbClr val="000000"/>
                    </a:solidFill>
                    <a:latin typeface="Arial"/>
                    <a:ea typeface="Arial"/>
                    <a:cs typeface="Arial"/>
                  </a:defRPr>
                </a:pPr>
                <a:r>
                  <a:t>мин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000000"/>
          </a:solidFill>
          <a:latin typeface="Arial"/>
          <a:ea typeface="Arial"/>
          <a:cs typeface="Arial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Время</c:v>
                </c:pt>
              </c:strCache>
            </c:strRef>
          </c:tx>
          <c:spPr>
            <a:solidFill>
              <a:srgbClr val="0077FF"/>
            </a:solidFill>
            <a:ln>
              <a:solidFill>
                <a:srgbClr val="0077FF"/>
              </a:solidFill>
            </a:ln>
          </c:spPr>
          <c:cat>
            <c:strRef>
              <c:f>Sheet1!$A$2:$A$3</c:f>
              <c:strCache>
                <c:ptCount val="2"/>
                <c:pt idx="0">
                  <c:v>До пилота</c:v>
                </c:pt>
                <c:pt idx="1">
                  <c:v>После пилота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186.0</c:v>
                </c:pt>
                <c:pt idx="1">
                  <c:v>4.0</c:v>
                </c:pt>
              </c:numCache>
            </c:numRef>
          </c:val>
        </c:ser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D1D1D1"/>
              </a:solidFill>
            </a:ln>
          </c:spPr>
        </c:majorGridlines>
        <c:title>
          <c:tx>
            <c:rich>
              <a:bodyPr/>
              <a:lstStyle/>
              <a:p>
                <a:pPr>
                  <a:defRPr sz="1100" b="0">
                    <a:solidFill>
                      <a:srgbClr val="000000"/>
                    </a:solidFill>
                    <a:latin typeface="Arial"/>
                    <a:ea typeface="Arial"/>
                    <a:cs typeface="Arial"/>
                  </a:defRPr>
                </a:pPr>
                <a:r>
                  <a:t>мин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000000"/>
          </a:solidFill>
          <a:latin typeface="Arial"/>
          <a:ea typeface="Arial"/>
          <a:cs typeface="Arial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ru-RU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">
  <p:cSld name="Заголовок">
    <p:bg>
      <p:bgPr>
        <a:solidFill>
          <a:schemeClr val="lt2"/>
        </a:solidFill>
      </p:bgPr>
    </p:bg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7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Заголовок + текст в две колонки">
  <p:cSld name="2_Заголовок + текст в две колонки">
    <p:bg>
      <p:bgPr>
        <a:solidFill>
          <a:schemeClr val="lt2"/>
        </a:solidFill>
      </p:bgPr>
    </p:bg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3"/>
          <p:cNvSpPr txBox="1"/>
          <p:nvPr>
            <p:ph idx="1" type="body"/>
          </p:nvPr>
        </p:nvSpPr>
        <p:spPr>
          <a:xfrm>
            <a:off x="677334" y="1773238"/>
            <a:ext cx="5304365" cy="44275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9" name="Google Shape;109;p13"/>
          <p:cNvSpPr txBox="1"/>
          <p:nvPr>
            <p:ph idx="2" type="body"/>
          </p:nvPr>
        </p:nvSpPr>
        <p:spPr>
          <a:xfrm>
            <a:off x="6228824" y="1773239"/>
            <a:ext cx="5304364" cy="44275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0" name="Google Shape;110;p13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6" Type="http://schemas.openxmlformats.org/officeDocument/2006/relationships/slideLayout" Target="../slideLayouts/slideLayout6.xml"/><Relationship Id="rId12" Type="http://schemas.openxmlformats.org/officeDocument/2006/relationships/slideLayout" Target="../slideLayouts/slideLayout12.xml"/><Relationship Id="rId29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3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2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Play"/>
              <a:buNone/>
              <a:defRPr b="0" i="0" sz="3600" u="none" cap="none" strike="noStrike">
                <a:solidFill>
                  <a:schemeClr val="dk2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658813" y="1773238"/>
            <a:ext cx="10855852" cy="44640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marR="0" rtl="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17500" lvl="1" marL="9144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−"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grpSp>
        <p:nvGrpSpPr>
          <p:cNvPr id="12" name="Google Shape;12;p1"/>
          <p:cNvGrpSpPr/>
          <p:nvPr/>
        </p:nvGrpSpPr>
        <p:grpSpPr>
          <a:xfrm>
            <a:off x="0" y="-114752"/>
            <a:ext cx="12188148" cy="64309"/>
            <a:chOff x="0" y="1773238"/>
            <a:chExt cx="12188148" cy="735184"/>
          </a:xfrm>
        </p:grpSpPr>
        <p:cxnSp>
          <p:nvCxnSpPr>
            <p:cNvPr id="13" name="Google Shape;13;p1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4" name="Google Shape;14;p1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" name="Google Shape;15;p1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" name="Google Shape;16;p1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" name="Google Shape;17;p1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" name="Google Shape;18;p1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" name="Google Shape;19;p1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" name="Google Shape;20;p1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" name="Google Shape;21;p1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" name="Google Shape;22;p1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3" name="Google Shape;23;p1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" name="Google Shape;24;p1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5" name="Google Shape;25;p1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6" name="Google Shape;26;p1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7" name="Google Shape;27;p1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8" name="Google Shape;28;p1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9" name="Google Shape;29;p1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0" name="Google Shape;30;p1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1" name="Google Shape;31;p1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grpSp>
        <p:nvGrpSpPr>
          <p:cNvPr id="32" name="Google Shape;32;p1"/>
          <p:cNvGrpSpPr/>
          <p:nvPr/>
        </p:nvGrpSpPr>
        <p:grpSpPr>
          <a:xfrm>
            <a:off x="-3" y="6987088"/>
            <a:ext cx="12188148" cy="64309"/>
            <a:chOff x="0" y="1773238"/>
            <a:chExt cx="12188148" cy="735184"/>
          </a:xfrm>
        </p:grpSpPr>
        <p:cxnSp>
          <p:nvCxnSpPr>
            <p:cNvPr id="33" name="Google Shape;33;p1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" name="Google Shape;34;p1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5" name="Google Shape;35;p1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6" name="Google Shape;36;p1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7" name="Google Shape;37;p1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8" name="Google Shape;38;p1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9" name="Google Shape;39;p1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0" name="Google Shape;40;p1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1" name="Google Shape;41;p1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2" name="Google Shape;42;p1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3" name="Google Shape;43;p1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4" name="Google Shape;44;p1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5" name="Google Shape;45;p1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6" name="Google Shape;46;p1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7" name="Google Shape;47;p1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8" name="Google Shape;48;p1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9" name="Google Shape;49;p1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0" name="Google Shape;50;p1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1" name="Google Shape;51;p1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3" r:id="rId6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415">
          <p15:clr>
            <a:srgbClr val="FDE53C"/>
          </p15:clr>
        </p15:guide>
        <p15:guide id="2" pos="7265">
          <p15:clr>
            <a:srgbClr val="FDE53C"/>
          </p15:clr>
        </p15:guide>
        <p15:guide id="3" orient="horz" pos="3906">
          <p15:clr>
            <a:srgbClr val="FDE53C"/>
          </p15:clr>
        </p15:guide>
        <p15:guide id="4" pos="3840">
          <p15:clr>
            <a:srgbClr val="FDE53C"/>
          </p15:clr>
        </p15:guide>
        <p15:guide id="5" orient="horz" pos="436">
          <p15:clr>
            <a:srgbClr val="FDE53C"/>
          </p15:clr>
        </p15:guide>
        <p15:guide id="6" orient="horz" pos="1117">
          <p15:clr>
            <a:srgbClr val="FDE53C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2"/>
        </a:solid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0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Play"/>
              <a:buNone/>
              <a:defRPr b="0" i="0" sz="3600" u="none" cap="none" strike="noStrike">
                <a:solidFill>
                  <a:schemeClr val="lt2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85" name="Google Shape;185;p30"/>
          <p:cNvSpPr txBox="1"/>
          <p:nvPr>
            <p:ph idx="1" type="body"/>
          </p:nvPr>
        </p:nvSpPr>
        <p:spPr>
          <a:xfrm>
            <a:off x="658813" y="1773238"/>
            <a:ext cx="10855852" cy="44640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marR="0" rtl="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17500" lvl="1" marL="9144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−"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grpSp>
        <p:nvGrpSpPr>
          <p:cNvPr id="186" name="Google Shape;186;p30"/>
          <p:cNvGrpSpPr/>
          <p:nvPr/>
        </p:nvGrpSpPr>
        <p:grpSpPr>
          <a:xfrm>
            <a:off x="0" y="-114752"/>
            <a:ext cx="12188148" cy="64309"/>
            <a:chOff x="0" y="1773238"/>
            <a:chExt cx="12188148" cy="735184"/>
          </a:xfrm>
        </p:grpSpPr>
        <p:cxnSp>
          <p:nvCxnSpPr>
            <p:cNvPr id="187" name="Google Shape;187;p30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8" name="Google Shape;188;p30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9" name="Google Shape;189;p30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0" name="Google Shape;190;p30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1" name="Google Shape;191;p30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2" name="Google Shape;192;p30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3" name="Google Shape;193;p30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4" name="Google Shape;194;p30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5" name="Google Shape;195;p30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6" name="Google Shape;196;p30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7" name="Google Shape;197;p30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8" name="Google Shape;198;p30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9" name="Google Shape;199;p30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0" name="Google Shape;200;p30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1" name="Google Shape;201;p30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2" name="Google Shape;202;p30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3" name="Google Shape;203;p30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4" name="Google Shape;204;p30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5" name="Google Shape;205;p30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grpSp>
        <p:nvGrpSpPr>
          <p:cNvPr id="206" name="Google Shape;206;p30"/>
          <p:cNvGrpSpPr/>
          <p:nvPr/>
        </p:nvGrpSpPr>
        <p:grpSpPr>
          <a:xfrm>
            <a:off x="-3" y="6987088"/>
            <a:ext cx="12188148" cy="64309"/>
            <a:chOff x="0" y="1773238"/>
            <a:chExt cx="12188148" cy="735184"/>
          </a:xfrm>
        </p:grpSpPr>
        <p:cxnSp>
          <p:nvCxnSpPr>
            <p:cNvPr id="207" name="Google Shape;207;p30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8" name="Google Shape;208;p30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9" name="Google Shape;209;p30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0" name="Google Shape;210;p30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1" name="Google Shape;211;p30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2" name="Google Shape;212;p30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3" name="Google Shape;213;p30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4" name="Google Shape;214;p30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5" name="Google Shape;215;p30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6" name="Google Shape;216;p30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7" name="Google Shape;217;p30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8" name="Google Shape;218;p30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9" name="Google Shape;219;p30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0" name="Google Shape;220;p30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1" name="Google Shape;221;p30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2" name="Google Shape;222;p30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3" name="Google Shape;223;p30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4" name="Google Shape;224;p30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5" name="Google Shape;225;p30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</p:spTree>
  </p:cSld>
  <p:clrMap accent1="accent1" accent2="accent2" accent3="accent3" accent4="accent4" accent5="accent5" accent6="accent6" bg1="lt1" bg2="dk2" tx1="dk1" tx2="lt2" folHlink="folHlink" hlink="hlink"/>
  <p:sldLayoutIdLst/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415">
          <p15:clr>
            <a:srgbClr val="FDE53C"/>
          </p15:clr>
        </p15:guide>
        <p15:guide id="2" pos="7265">
          <p15:clr>
            <a:srgbClr val="FDE53C"/>
          </p15:clr>
        </p15:guide>
        <p15:guide id="3" orient="horz" pos="3906">
          <p15:clr>
            <a:srgbClr val="FDE53C"/>
          </p15:clr>
        </p15:guide>
        <p15:guide id="4" pos="3840">
          <p15:clr>
            <a:srgbClr val="FDE53C"/>
          </p15:clr>
        </p15:guide>
        <p15:guide id="5" orient="horz" pos="436">
          <p15:clr>
            <a:srgbClr val="FDE53C"/>
          </p15:clr>
        </p15:guide>
        <p15:guide id="6" orient="horz" pos="1117">
          <p15:clr>
            <a:srgbClr val="FDE53C"/>
          </p15:clr>
        </p15:guide>
      </p15:sldGuideLst>
    </p:ext>
  </p:extLst>
</p:sldMaster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www.figma.com/file/sVARvsqs7Npc84xaHlniX7/%F0%9F%A7%A9-VKUI-Icons-Library?type=design&amp;node-id=94%3A6307&amp;mode=design&amp;t=5iYjSQsap5UdmwiW-1" TargetMode="External"/><Relationship Id="rId3" Type="http://schemas.openxmlformats.org/officeDocument/2006/relationships/image" Target="../media/image237.png"/><Relationship Id="rId4" Type="http://schemas.openxmlformats.org/officeDocument/2006/relationships/image" Target="../media/image229.png"/><Relationship Id="rId5" Type="http://schemas.openxmlformats.org/officeDocument/2006/relationships/image" Target="../media/image238.png"/><Relationship Id="rId6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27.png"/><Relationship Id="rId3" Type="http://schemas.openxmlformats.org/officeDocument/2006/relationships/image" Target="../media/image228.png"/><Relationship Id="rId4" Type="http://schemas.openxmlformats.org/officeDocument/2006/relationships/image" Target="../media/image229.png"/><Relationship Id="rId5" Type="http://schemas.openxmlformats.org/officeDocument/2006/relationships/image" Target="../media/image230.png"/><Relationship Id="rId6" Type="http://schemas.openxmlformats.org/officeDocument/2006/relationships/image" Target="../media/image231.png"/><Relationship Id="rId7" Type="http://schemas.openxmlformats.org/officeDocument/2006/relationships/hyperlink" Target="https://www.figma.com/file/sVARvsqs7Npc84xaHlniX7/%F0%9F%A7%A9-VKUI-Icons-Library?type=design&amp;node-id=94%3A6307&amp;mode=design&amp;t=5iYjSQsap5UdmwiW-1" TargetMode="External"/><Relationship Id="rId8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32.png"/><Relationship Id="rId3" Type="http://schemas.openxmlformats.org/officeDocument/2006/relationships/image" Target="../media/image233.png"/><Relationship Id="rId4" Type="http://schemas.openxmlformats.org/officeDocument/2006/relationships/hyperlink" Target="https://www.figma.com/file/sVARvsqs7Npc84xaHlniX7/%F0%9F%A7%A9-VKUI-Icons-Library?type=design&amp;node-id=94%3A6307&amp;mode=design&amp;t=5iYjSQsap5UdmwiW-1" TargetMode="External"/><Relationship Id="rId5" Type="http://schemas.openxmlformats.org/officeDocument/2006/relationships/image" Target="../media/image235.png"/><Relationship Id="rId6" Type="http://schemas.openxmlformats.org/officeDocument/2006/relationships/image" Target="../media/image234.png"/><Relationship Id="rId7" Type="http://schemas.openxmlformats.org/officeDocument/2006/relationships/image" Target="../media/image236.png"/><Relationship Id="rId8" Type="http://schemas.openxmlformats.org/officeDocument/2006/relationships/image" Target="../media/image231.png"/><Relationship Id="rId9" Type="http://schemas.openxmlformats.org/officeDocument/2006/relationships/notesSlide" Target="../notesSlides/notesSlide62.xml"/></Relationships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77387" y="692177"/>
            <a:ext cx="10855878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Автоматическая вёрстка презентаций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986" name="Google Shape;986;p76"/>
          <p:cNvCxnSpPr/>
          <p:nvPr/>
        </p:nvCxnSpPr>
        <p:spPr>
          <a:xfrm rot="10800000">
            <a:off x="-42658" y="3591512"/>
            <a:ext cx="12234658" cy="0"/>
          </a:xfrm>
          <a:prstGeom prst="straightConnector1">
            <a:avLst/>
          </a:prstGeom>
          <a:noFill/>
          <a:ln cap="flat" cmpd="sng" w="12700">
            <a:solidFill>
              <a:srgbClr val="E1E1E2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987" name="title"/>
          <p:cNvSpPr txBox="1"/>
          <p:nvPr/>
        </p:nvSpPr>
        <p:spPr>
          <a:xfrm>
            <a:off x="677387" y="692177"/>
            <a:ext cx="10855878" cy="1447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Сейчас сборка презентаций занимает 186 минут</a:t>
            </a:r>
          </a:p>
        </p:txBody>
      </p:sp>
      <p:graphicFrame>
        <p:nvGraphicFramePr>
          <p:cNvPr id="988" name="Chart 987"/>
          <p:cNvGraphicFramePr>
            <a:graphicFrameLocks noGrp="1"/>
          </p:cNvGraphicFramePr>
          <p:nvPr/>
        </p:nvGraphicFramePr>
        <p:xfrm>
          <a:off x="677387" y="3591534"/>
          <a:ext cx="10855878" cy="581517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89" name="body"/>
          <p:cNvSpPr txBox="1"/>
          <p:nvPr/>
        </p:nvSpPr>
        <p:spPr>
          <a:xfrm>
            <a:off x="677387" y="4344501"/>
            <a:ext cx="10855878" cy="501978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2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Отдел маркетинга вручную собирает 42 колоды за квартал</a:t>
            </a:r>
          </a:p>
          <a:p>
            <a:pPr algn="l">
              <a:spcAft>
                <a:spcPts val="300"/>
              </a:spcAft>
              <a:defRPr sz="12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74 минуты уходит на правки после ревью дизайнера</a:t>
            </a:r>
          </a:p>
          <a:p>
            <a:pPr algn="l">
              <a:spcAft>
                <a:spcPts val="300"/>
              </a:spcAft>
              <a:defRPr sz="12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19 колод нарушают фирменный стиль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77387" y="692177"/>
            <a:ext cx="10855878" cy="1447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Сервис автоматически вёрстит презентации за 4 минуты</a:t>
            </a:r>
          </a:p>
        </p:txBody>
      </p:sp>
      <p:sp>
        <p:nvSpPr>
          <p:cNvPr id="3" name="Pentagon 2"/>
          <p:cNvSpPr/>
          <p:nvPr/>
        </p:nvSpPr>
        <p:spPr>
          <a:xfrm>
            <a:off x="677387" y="2841924"/>
            <a:ext cx="2066959" cy="1281514"/>
          </a:xfrm>
          <a:prstGeom prst="homePlat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13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Шаблон</a:t>
            </a:r>
          </a:p>
        </p:txBody>
      </p:sp>
      <p:sp>
        <p:nvSpPr>
          <p:cNvPr id="4" name="Chevron 3"/>
          <p:cNvSpPr/>
          <p:nvPr/>
        </p:nvSpPr>
        <p:spPr>
          <a:xfrm>
            <a:off x="2874616" y="2841924"/>
            <a:ext cx="2066959" cy="1281514"/>
          </a:xfrm>
          <a:prstGeom prst="chevron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13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План</a:t>
            </a:r>
          </a:p>
        </p:txBody>
      </p:sp>
      <p:sp>
        <p:nvSpPr>
          <p:cNvPr id="5" name="Chevron 4"/>
          <p:cNvSpPr/>
          <p:nvPr/>
        </p:nvSpPr>
        <p:spPr>
          <a:xfrm>
            <a:off x="5071846" y="2841924"/>
            <a:ext cx="2066959" cy="1281514"/>
          </a:xfrm>
          <a:prstGeom prst="chevron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116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6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Вёрстка</a:t>
            </a:r>
          </a:p>
        </p:txBody>
      </p:sp>
      <p:sp>
        <p:nvSpPr>
          <p:cNvPr id="6" name="Chevron 5"/>
          <p:cNvSpPr/>
          <p:nvPr/>
        </p:nvSpPr>
        <p:spPr>
          <a:xfrm>
            <a:off x="7269076" y="2841924"/>
            <a:ext cx="2066959" cy="1281514"/>
          </a:xfrm>
          <a:prstGeom prst="chevron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13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Аудит</a:t>
            </a:r>
          </a:p>
        </p:txBody>
      </p:sp>
      <p:sp>
        <p:nvSpPr>
          <p:cNvPr id="7" name="Chevron 6"/>
          <p:cNvSpPr/>
          <p:nvPr/>
        </p:nvSpPr>
        <p:spPr>
          <a:xfrm>
            <a:off x="9466305" y="2841924"/>
            <a:ext cx="2066959" cy="1281514"/>
          </a:xfrm>
          <a:prstGeom prst="chevron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116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6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Экспорт</a:t>
            </a:r>
          </a:p>
        </p:txBody>
      </p:sp>
      <p:sp>
        <p:nvSpPr>
          <p:cNvPr id="8" name="body"/>
          <p:cNvSpPr txBox="1"/>
          <p:nvPr/>
        </p:nvSpPr>
        <p:spPr>
          <a:xfrm>
            <a:off x="677387" y="4859677"/>
            <a:ext cx="10855878" cy="13411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Принимает шаблон pptx и материалы</a:t>
            </a:r>
          </a:p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Автоматически формирует план колоды</a:t>
            </a:r>
          </a:p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Экспорт в pptx, pdf, html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77387" y="692177"/>
            <a:ext cx="10855878" cy="1447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Пилот сократил время сборки до 4 минут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677387" y="2277137"/>
          <a:ext cx="10855878" cy="241108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body"/>
          <p:cNvSpPr txBox="1"/>
          <p:nvPr/>
        </p:nvSpPr>
        <p:spPr>
          <a:xfrm>
            <a:off x="677387" y="4859677"/>
            <a:ext cx="10855878" cy="13411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0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Среднее время 4 минуты вместо 186</a:t>
            </a:r>
          </a:p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0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Срок до первой версии сократился с 6 дней до 1</a:t>
            </a:r>
          </a:p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0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Нарушений стиля 2 из 68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795" name="Google Shape;795;p60"/>
          <p:cNvSpPr txBox="1"/>
          <p:nvPr/>
        </p:nvSpPr>
        <p:spPr>
          <a:xfrm>
            <a:off x="18692059" y="4674436"/>
            <a:ext cx="4304330" cy="6781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t/>
            </a:r>
            <a:endParaRPr sz="1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6" name="title"/>
          <p:cNvSpPr txBox="1"/>
          <p:nvPr/>
        </p:nvSpPr>
        <p:spPr>
          <a:xfrm>
            <a:off x="677387" y="692177"/>
            <a:ext cx="10855878" cy="1447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Для запуска требуется 2 vCPU, 2 ГБ RAM и 1 400 руб. за инференс</a:t>
            </a:r>
          </a:p>
        </p:txBody>
      </p:sp>
      <p:sp>
        <p:nvSpPr>
          <p:cNvPr id="797" name="lead"/>
          <p:cNvSpPr txBox="1"/>
          <p:nvPr/>
        </p:nvSpPr>
        <p:spPr>
          <a:xfrm>
            <a:off x="677387" y="2825777"/>
            <a:ext cx="10855878" cy="1050876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>
                <a:solidFill>
                  <a:srgbClr val="000000"/>
                </a:solidFill>
                <a:latin typeface="Arial"/>
                <a:ea typeface="Arial"/>
                <a:cs typeface="Arial"/>
              </a:rPr>
              <a:t>Сервис работает на одной машине</a:t>
            </a:r>
          </a:p>
        </p:txBody>
      </p:sp>
      <p:sp>
        <p:nvSpPr>
          <p:cNvPr id="798" name="body"/>
          <p:cNvSpPr txBox="1"/>
          <p:nvPr/>
        </p:nvSpPr>
        <p:spPr>
          <a:xfrm>
            <a:off x="677387" y="4086829"/>
            <a:ext cx="10855878" cy="2241869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Модель gpt-oss-20b подключается по OpenAI</a:t>
            </a:r>
          </a:p>
          <a:p>
            <a:pPr algn="l">
              <a:spcAft>
                <a:spcPts val="300"/>
              </a:spcAft>
              <a:defRPr sz="24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План запуска: Q3 2026 подключить 4 команды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764" name="Google Shape;764;p58"/>
          <p:cNvSpPr txBox="1"/>
          <p:nvPr/>
        </p:nvSpPr>
        <p:spPr>
          <a:xfrm>
            <a:off x="18692059" y="4674436"/>
            <a:ext cx="4304330" cy="6781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t/>
            </a:r>
            <a:endParaRPr sz="1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5" name="title"/>
          <p:cNvSpPr txBox="1"/>
          <p:nvPr/>
        </p:nvSpPr>
        <p:spPr>
          <a:xfrm>
            <a:off x="677387" y="692177"/>
            <a:ext cx="10855878" cy="1447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Пилот собрал 68 презентаций за 6 недель</a:t>
            </a:r>
          </a:p>
        </p:txBody>
      </p:sp>
      <p:sp>
        <p:nvSpPr>
          <p:cNvPr id="766" name="lead"/>
          <p:cNvSpPr txBox="1"/>
          <p:nvPr/>
        </p:nvSpPr>
        <p:spPr>
          <a:xfrm>
            <a:off x="677387" y="2825777"/>
            <a:ext cx="10855878" cy="1050876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>
                <a:solidFill>
                  <a:srgbClr val="000000"/>
                </a:solidFill>
                <a:latin typeface="Arial"/>
                <a:ea typeface="Arial"/>
                <a:cs typeface="Arial"/>
              </a:rPr>
              <a:t>Дизайнеры закрыли 38 запросов вместо 11</a:t>
            </a:r>
          </a:p>
        </p:txBody>
      </p:sp>
      <p:sp>
        <p:nvSpPr>
          <p:cNvPr id="767" name="body"/>
          <p:cNvSpPr txBox="1"/>
          <p:nvPr/>
        </p:nvSpPr>
        <p:spPr>
          <a:xfrm>
            <a:off x="677387" y="4086829"/>
            <a:ext cx="10855878" cy="2241869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Рутина вёрстки ушла в сервис</a:t>
            </a:r>
          </a:p>
          <a:p>
            <a:pPr algn="l">
              <a:spcAft>
                <a:spcPts val="300"/>
              </a:spcAft>
              <a:defRPr sz="24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Нагрузка выше 20 задач требует внешней очереди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782" name="Google Shape;782;p59"/>
          <p:cNvSpPr txBox="1"/>
          <p:nvPr/>
        </p:nvSpPr>
        <p:spPr>
          <a:xfrm>
            <a:off x="18692059" y="4674436"/>
            <a:ext cx="4304330" cy="6781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t/>
            </a:r>
            <a:endParaRPr sz="1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3" name="title"/>
          <p:cNvSpPr txBox="1"/>
          <p:nvPr/>
        </p:nvSpPr>
        <p:spPr>
          <a:xfrm>
            <a:off x="677387" y="692177"/>
            <a:ext cx="10855878" cy="1447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Решение о запуске сервиса на всю компанию</a:t>
            </a:r>
          </a:p>
        </p:txBody>
      </p:sp>
      <p:sp>
        <p:nvSpPr>
          <p:cNvPr id="784" name="lead"/>
          <p:cNvSpPr txBox="1"/>
          <p:nvPr/>
        </p:nvSpPr>
        <p:spPr>
          <a:xfrm>
            <a:off x="677387" y="2825777"/>
            <a:ext cx="10855878" cy="1050876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>
                <a:solidFill>
                  <a:srgbClr val="000000"/>
                </a:solidFill>
                <a:latin typeface="Arial"/>
                <a:ea typeface="Arial"/>
                <a:cs typeface="Arial"/>
              </a:rPr>
              <a:t>Запрос одобрения на масштабирование</a:t>
            </a:r>
          </a:p>
        </p:txBody>
      </p:sp>
      <p:sp>
        <p:nvSpPr>
          <p:cNvPr id="785" name="body"/>
          <p:cNvSpPr txBox="1"/>
          <p:nvPr/>
        </p:nvSpPr>
        <p:spPr>
          <a:xfrm>
            <a:off x="677387" y="4086829"/>
            <a:ext cx="10855878" cy="2241869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Подключение к корпоративному хранилищу</a:t>
            </a:r>
          </a:p>
          <a:p>
            <a:pPr algn="l">
              <a:spcAft>
                <a:spcPts val="300"/>
              </a:spcAft>
              <a:defRPr sz="24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Интеграция с доменом и HTTPS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VK New Color">
  <a:themeElements>
    <a:clrScheme name="VK Education">
      <a:dk1>
        <a:srgbClr val="000000"/>
      </a:dk1>
      <a:lt1>
        <a:srgbClr val="EBF3F9"/>
      </a:lt1>
      <a:dk2>
        <a:srgbClr val="0077FF"/>
      </a:dk2>
      <a:lt2>
        <a:srgbClr val="FFFFFF"/>
      </a:lt2>
      <a:accent1>
        <a:srgbClr val="0077FF"/>
      </a:accent1>
      <a:accent2>
        <a:srgbClr val="FF3885"/>
      </a:accent2>
      <a:accent3>
        <a:srgbClr val="7CEDF8"/>
      </a:accent3>
      <a:accent4>
        <a:srgbClr val="EBF3F9"/>
      </a:accent4>
      <a:accent5>
        <a:srgbClr val="D8FAFD"/>
      </a:accent5>
      <a:accent6>
        <a:srgbClr val="FFEBF3"/>
      </a:accent6>
      <a:hlink>
        <a:srgbClr val="0077FF"/>
      </a:hlink>
      <a:folHlink>
        <a:srgbClr val="005E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VK New Color">
  <a:themeElements>
    <a:clrScheme name="VK Education">
      <a:dk1>
        <a:srgbClr val="000000"/>
      </a:dk1>
      <a:lt1>
        <a:srgbClr val="EBF3F9"/>
      </a:lt1>
      <a:dk2>
        <a:srgbClr val="0077FF"/>
      </a:dk2>
      <a:lt2>
        <a:srgbClr val="FFFFFF"/>
      </a:lt2>
      <a:accent1>
        <a:srgbClr val="0077FF"/>
      </a:accent1>
      <a:accent2>
        <a:srgbClr val="FF3885"/>
      </a:accent2>
      <a:accent3>
        <a:srgbClr val="7CEDF8"/>
      </a:accent3>
      <a:accent4>
        <a:srgbClr val="EBF3F9"/>
      </a:accent4>
      <a:accent5>
        <a:srgbClr val="D8FAFD"/>
      </a:accent5>
      <a:accent6>
        <a:srgbClr val="FFEBF3"/>
      </a:accent6>
      <a:hlink>
        <a:srgbClr val="0077FF"/>
      </a:hlink>
      <a:folHlink>
        <a:srgbClr val="005E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
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8" r:id="rId4"/>
    <p:sldMasterId id="2147483679" r:id="rId5"/>
  </p:sldMasterIdLst>
  <p:notesMasterIdLst>
    <p:notesMasterId r:id="rId6"/>
  </p:notesMasterIdLst>
  <p:sldIdLst>
    <p:sldId id="311" r:id="rId64"/>
    <p:sldId id="312" r:id="rId65"/>
    <p:sldId id="313" r:id="rId66"/>
    <p:sldId id="314" r:id="rId67"/>
    <p:sldId id="315" r:id="rId68"/>
    <p:sldId id="316" r:id="rId69"/>
    <p:sldId id="317" r:id="rId70"/>
    <p:sldId id="318" r:id="rId71"/>
    <p:sldId id="319" r:id="rId72"/>
    <p:sldId id="320" r:id="rId73"/>
  </p:sldIdLst>
  <p:sldSz cy="6858000" cx="12192000"/>
  <p:notesSz cx="6858000" cy="9144000"/>
  <p:embeddedFontLst>
    <p:embeddedFont>
      <p:font typeface="Play"/>
      <p:regular r:id="rId62"/>
      <p:bold r:id="rId6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52006A8-8AF6-428E-B8E6-5754F7C527DE}">
  <a:tblStyle styleId="{552006A8-8AF6-428E-B8E6-5754F7C527DE}" styleName="Table_0">
    <a:wholeTbl>
      <a:tcTxStyle b="off" i="off">
        <a:font>
          <a:latin typeface="SF Pro Text Light"/>
          <a:ea typeface="SF Pro Text Light"/>
          <a:cs typeface="SF Pro Text Light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6EBFF"/>
          </a:solidFill>
        </a:fill>
      </a:tcStyle>
    </a:wholeTbl>
    <a:band1H>
      <a:tcTxStyle/>
      <a:tcStyle>
        <a:fill>
          <a:solidFill>
            <a:srgbClr val="CAD5FF"/>
          </a:solidFill>
        </a:fill>
      </a:tcStyle>
    </a:band1H>
    <a:band2H>
      <a:tcTxStyle/>
    </a:band2H>
    <a:band1V>
      <a:tcTxStyle/>
      <a:tcStyle>
        <a:fill>
          <a:solidFill>
            <a:srgbClr val="CAD5FF"/>
          </a:solidFill>
        </a:fill>
      </a:tcStyle>
    </a:band1V>
    <a:band2V>
      <a:tcTxStyle/>
    </a:band2V>
    <a:lastCol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  <a:tblStyle styleId="{D62A05B1-10D2-4378-96B9-F810E7567A26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62" Type="http://schemas.openxmlformats.org/officeDocument/2006/relationships/font" Target="fonts/Play-regular.fntdata"/><Relationship Id="rId63" Type="http://schemas.openxmlformats.org/officeDocument/2006/relationships/font" Target="fonts/Play-bold.fntdata"/><Relationship Id="rId64" Type="http://schemas.openxmlformats.org/officeDocument/2006/relationships/slide" Target="slides/slide56.xml"/><Relationship Id="rId65" Type="http://schemas.openxmlformats.org/officeDocument/2006/relationships/slide" Target="slides/slide57.xml"/><Relationship Id="rId66" Type="http://schemas.openxmlformats.org/officeDocument/2006/relationships/slide" Target="slides/slide58.xml"/><Relationship Id="rId67" Type="http://schemas.openxmlformats.org/officeDocument/2006/relationships/slide" Target="slides/slide59.xml"/><Relationship Id="rId68" Type="http://schemas.openxmlformats.org/officeDocument/2006/relationships/slide" Target="slides/slide60.xml"/><Relationship Id="rId69" Type="http://schemas.openxmlformats.org/officeDocument/2006/relationships/slide" Target="slides/slide61.xml"/><Relationship Id="rId70" Type="http://schemas.openxmlformats.org/officeDocument/2006/relationships/slide" Target="slides/slide62.xml"/><Relationship Id="rId71" Type="http://schemas.openxmlformats.org/officeDocument/2006/relationships/slide" Target="slides/slide63.xml"/><Relationship Id="rId72" Type="http://schemas.openxmlformats.org/officeDocument/2006/relationships/slide" Target="slides/slide64.xml"/><Relationship Id="rId73" Type="http://schemas.openxmlformats.org/officeDocument/2006/relationships/slide" Target="slides/slide6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2.png"/></Relationships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Титульный слайд">
  <p:cSld name="3_Титульный слайд">
    <p:bg>
      <p:bgPr>
        <a:solidFill>
          <a:schemeClr val="accent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"/>
          <p:cNvSpPr txBox="1"/>
          <p:nvPr>
            <p:ph idx="1" type="body"/>
          </p:nvPr>
        </p:nvSpPr>
        <p:spPr>
          <a:xfrm>
            <a:off x="658813" y="4728001"/>
            <a:ext cx="5012644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  <a:defRPr sz="2000">
                <a:solidFill>
                  <a:schemeClr val="lt2"/>
                </a:solidFill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0" name="Google Shape;60;p3"/>
          <p:cNvSpPr txBox="1"/>
          <p:nvPr>
            <p:ph type="title"/>
          </p:nvPr>
        </p:nvSpPr>
        <p:spPr>
          <a:xfrm>
            <a:off x="622261" y="2598003"/>
            <a:ext cx="10220325" cy="166199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Play"/>
              <a:buNone/>
              <a:defRPr sz="6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3"/>
          <p:cNvSpPr txBox="1"/>
          <p:nvPr/>
        </p:nvSpPr>
        <p:spPr>
          <a:xfrm>
            <a:off x="3358342" y="482138"/>
            <a:ext cx="72768" cy="362141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2" name="Google Shape;62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692150"/>
            <a:ext cx="2772297" cy="48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03845" y="0"/>
            <a:ext cx="339778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">
  <p:cSld name="Заголовок">
    <p:bg>
      <p:bgPr>
        <a:solidFill>
          <a:schemeClr val="lt2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7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Финальный с QR + подпись">
  <p:cSld name="Финальный с QR + подпись">
    <p:bg>
      <p:bgPr>
        <a:solidFill>
          <a:schemeClr val="accent1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23251" y="692149"/>
            <a:ext cx="6168749" cy="6168749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9"/>
          <p:cNvSpPr txBox="1"/>
          <p:nvPr>
            <p:ph type="title"/>
          </p:nvPr>
        </p:nvSpPr>
        <p:spPr>
          <a:xfrm>
            <a:off x="620713" y="2483712"/>
            <a:ext cx="5475287" cy="147732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Play"/>
              <a:buNone/>
              <a:defRPr sz="6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19"/>
          <p:cNvSpPr/>
          <p:nvPr>
            <p:ph idx="2" type="pic"/>
          </p:nvPr>
        </p:nvSpPr>
        <p:spPr>
          <a:xfrm>
            <a:off x="658813" y="692150"/>
            <a:ext cx="1081088" cy="1081088"/>
          </a:xfrm>
          <a:prstGeom prst="rect">
            <a:avLst/>
          </a:prstGeom>
          <a:noFill/>
          <a:ln>
            <a:noFill/>
          </a:ln>
        </p:spPr>
      </p:sp>
      <p:sp>
        <p:nvSpPr>
          <p:cNvPr id="136" name="Google Shape;136;p19"/>
          <p:cNvSpPr txBox="1"/>
          <p:nvPr>
            <p:ph idx="1" type="body"/>
          </p:nvPr>
        </p:nvSpPr>
        <p:spPr>
          <a:xfrm>
            <a:off x="658813" y="4161565"/>
            <a:ext cx="5437187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b="0" i="0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37" name="Google Shape;13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813" y="5711140"/>
            <a:ext cx="2772297" cy="4896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2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29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3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Play"/>
              <a:buNone/>
              <a:defRPr b="0" i="0" sz="3600" u="none" cap="none" strike="noStrike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658813" y="1773238"/>
            <a:ext cx="10855852" cy="44640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17500" lvl="1" marL="9144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−"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12" name="Google Shape;12;p1"/>
          <p:cNvGrpSpPr/>
          <p:nvPr/>
        </p:nvGrpSpPr>
        <p:grpSpPr>
          <a:xfrm>
            <a:off x="0" y="-114752"/>
            <a:ext cx="12188148" cy="64309"/>
            <a:chOff x="0" y="1773238"/>
            <a:chExt cx="12188148" cy="735184"/>
          </a:xfrm>
        </p:grpSpPr>
        <p:cxnSp>
          <p:nvCxnSpPr>
            <p:cNvPr id="13" name="Google Shape;13;p1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4" name="Google Shape;14;p1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" name="Google Shape;15;p1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" name="Google Shape;16;p1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" name="Google Shape;17;p1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" name="Google Shape;18;p1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" name="Google Shape;19;p1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" name="Google Shape;20;p1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" name="Google Shape;21;p1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" name="Google Shape;22;p1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3" name="Google Shape;23;p1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" name="Google Shape;24;p1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" name="Google Shape;25;p1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6" name="Google Shape;26;p1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" name="Google Shape;27;p1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" name="Google Shape;28;p1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9" name="Google Shape;29;p1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" name="Google Shape;30;p1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" name="Google Shape;31;p1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grpSp>
        <p:nvGrpSpPr>
          <p:cNvPr id="32" name="Google Shape;32;p1"/>
          <p:cNvGrpSpPr/>
          <p:nvPr/>
        </p:nvGrpSpPr>
        <p:grpSpPr>
          <a:xfrm>
            <a:off x="-3" y="6987088"/>
            <a:ext cx="12188148" cy="64309"/>
            <a:chOff x="0" y="1773238"/>
            <a:chExt cx="12188148" cy="735184"/>
          </a:xfrm>
        </p:grpSpPr>
        <p:cxnSp>
          <p:nvCxnSpPr>
            <p:cNvPr id="33" name="Google Shape;33;p1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" name="Google Shape;34;p1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5" name="Google Shape;35;p1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" name="Google Shape;36;p1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7" name="Google Shape;37;p1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8" name="Google Shape;38;p1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9" name="Google Shape;39;p1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0" name="Google Shape;40;p1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1" name="Google Shape;41;p1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2" name="Google Shape;42;p1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3" name="Google Shape;43;p1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4" name="Google Shape;44;p1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5" name="Google Shape;45;p1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6" name="Google Shape;46;p1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7" name="Google Shape;47;p1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8" name="Google Shape;48;p1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9" name="Google Shape;49;p1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0" name="Google Shape;50;p1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1" name="Google Shape;51;p1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3" r:id="rId6"/>
    <p:sldLayoutId id="2147483665" r:id="rId1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415">
          <p15:clr>
            <a:srgbClr val="FDE53C"/>
          </p15:clr>
        </p15:guide>
        <p15:guide id="2" pos="7265">
          <p15:clr>
            <a:srgbClr val="FDE53C"/>
          </p15:clr>
        </p15:guide>
        <p15:guide id="3" orient="horz" pos="3906">
          <p15:clr>
            <a:srgbClr val="FDE53C"/>
          </p15:clr>
        </p15:guide>
        <p15:guide id="4" pos="3840">
          <p15:clr>
            <a:srgbClr val="FDE53C"/>
          </p15:clr>
        </p15:guide>
        <p15:guide id="5" orient="horz" pos="436">
          <p15:clr>
            <a:srgbClr val="FDE53C"/>
          </p15:clr>
        </p15:guide>
        <p15:guide id="6" orient="horz" pos="1117">
          <p15:clr>
            <a:srgbClr val="FDE53C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0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Play"/>
              <a:buNone/>
              <a:defRPr b="0" i="0" sz="3600" u="none" cap="none" strike="noStrike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85" name="Google Shape;185;p30"/>
          <p:cNvSpPr txBox="1"/>
          <p:nvPr>
            <p:ph idx="1" type="body"/>
          </p:nvPr>
        </p:nvSpPr>
        <p:spPr>
          <a:xfrm>
            <a:off x="658813" y="1773238"/>
            <a:ext cx="10855852" cy="44640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17500" lvl="1" marL="9144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−"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186" name="Google Shape;186;p30"/>
          <p:cNvGrpSpPr/>
          <p:nvPr/>
        </p:nvGrpSpPr>
        <p:grpSpPr>
          <a:xfrm>
            <a:off x="0" y="-114752"/>
            <a:ext cx="12188148" cy="64309"/>
            <a:chOff x="0" y="1773238"/>
            <a:chExt cx="12188148" cy="735184"/>
          </a:xfrm>
        </p:grpSpPr>
        <p:cxnSp>
          <p:nvCxnSpPr>
            <p:cNvPr id="187" name="Google Shape;187;p30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8" name="Google Shape;188;p30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9" name="Google Shape;189;p30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0" name="Google Shape;190;p30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1" name="Google Shape;191;p30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2" name="Google Shape;192;p30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3" name="Google Shape;193;p30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4" name="Google Shape;194;p30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5" name="Google Shape;195;p30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6" name="Google Shape;196;p30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7" name="Google Shape;197;p30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8" name="Google Shape;198;p30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9" name="Google Shape;199;p30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0" name="Google Shape;200;p30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1" name="Google Shape;201;p30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2" name="Google Shape;202;p30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3" name="Google Shape;203;p30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4" name="Google Shape;204;p30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5" name="Google Shape;205;p30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grpSp>
        <p:nvGrpSpPr>
          <p:cNvPr id="206" name="Google Shape;206;p30"/>
          <p:cNvGrpSpPr/>
          <p:nvPr/>
        </p:nvGrpSpPr>
        <p:grpSpPr>
          <a:xfrm>
            <a:off x="-3" y="6987088"/>
            <a:ext cx="12188148" cy="64309"/>
            <a:chOff x="0" y="1773238"/>
            <a:chExt cx="12188148" cy="735184"/>
          </a:xfrm>
        </p:grpSpPr>
        <p:cxnSp>
          <p:nvCxnSpPr>
            <p:cNvPr id="207" name="Google Shape;207;p30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8" name="Google Shape;208;p30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9" name="Google Shape;209;p30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0" name="Google Shape;210;p30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1" name="Google Shape;211;p30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2" name="Google Shape;212;p30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3" name="Google Shape;213;p30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4" name="Google Shape;214;p30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5" name="Google Shape;215;p30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6" name="Google Shape;216;p30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7" name="Google Shape;217;p30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8" name="Google Shape;218;p30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9" name="Google Shape;219;p30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0" name="Google Shape;220;p30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1" name="Google Shape;221;p30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2" name="Google Shape;222;p30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3" name="Google Shape;223;p30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4" name="Google Shape;224;p30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5" name="Google Shape;225;p30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</p:spTree>
  </p:cSld>
  <p:clrMap accent1="accent1" accent2="accent2" accent3="accent3" accent4="accent4" accent5="accent5" accent6="accent6" bg1="lt1" bg2="dk2" tx1="dk1" tx2="lt2" folHlink="folHlink" hlink="hlink"/>
  <p:sldLayoutIdLst/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415">
          <p15:clr>
            <a:srgbClr val="FDE53C"/>
          </p15:clr>
        </p15:guide>
        <p15:guide id="2" pos="7265">
          <p15:clr>
            <a:srgbClr val="FDE53C"/>
          </p15:clr>
        </p15:guide>
        <p15:guide id="3" orient="horz" pos="3906">
          <p15:clr>
            <a:srgbClr val="FDE53C"/>
          </p15:clr>
        </p15:guide>
        <p15:guide id="4" pos="3840">
          <p15:clr>
            <a:srgbClr val="FDE53C"/>
          </p15:clr>
        </p15:guide>
        <p15:guide id="5" orient="horz" pos="436">
          <p15:clr>
            <a:srgbClr val="FDE53C"/>
          </p15:clr>
        </p15:guide>
        <p15:guide id="6" orient="horz" pos="1117">
          <p15:clr>
            <a:srgbClr val="FDE53C"/>
          </p15:clr>
        </p15:guide>
      </p15:sldGuideLst>
    </p:ext>
  </p:extLst>
</p:sldMaster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hyperlink" Target="https://www.figma.com/file/sVARvsqs7Npc84xaHlniX7/%F0%9F%A7%A9-VKUI-Icons-Library?type=design&amp;node-id=94%3A6307&amp;mode=design&amp;t=5iYjSQsap5UdmwiW-1" TargetMode="External"/><Relationship Id="rId3" Type="http://schemas.openxmlformats.org/officeDocument/2006/relationships/image" Target="../media/image237.png"/><Relationship Id="rId4" Type="http://schemas.openxmlformats.org/officeDocument/2006/relationships/image" Target="../media/image229.png"/><Relationship Id="rId5" Type="http://schemas.openxmlformats.org/officeDocument/2006/relationships/image" Target="../media/image238.png"/><Relationship Id="rId6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27.png"/><Relationship Id="rId3" Type="http://schemas.openxmlformats.org/officeDocument/2006/relationships/image" Target="../media/image228.png"/><Relationship Id="rId4" Type="http://schemas.openxmlformats.org/officeDocument/2006/relationships/image" Target="../media/image229.png"/><Relationship Id="rId5" Type="http://schemas.openxmlformats.org/officeDocument/2006/relationships/image" Target="../media/image230.png"/><Relationship Id="rId6" Type="http://schemas.openxmlformats.org/officeDocument/2006/relationships/image" Target="../media/image231.png"/><Relationship Id="rId7" Type="http://schemas.openxmlformats.org/officeDocument/2006/relationships/hyperlink" Target="https://www.figma.com/file/sVARvsqs7Npc84xaHlniX7/%F0%9F%A7%A9-VKUI-Icons-Library?type=design&amp;node-id=94%3A6307&amp;mode=design&amp;t=5iYjSQsap5UdmwiW-1" TargetMode="External"/><Relationship Id="rId8" Type="http://schemas.openxmlformats.org/officeDocument/2006/relationships/notesSlide" Target="../notesSlides/notesSlide6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32.png"/><Relationship Id="rId3" Type="http://schemas.openxmlformats.org/officeDocument/2006/relationships/image" Target="../media/image233.png"/><Relationship Id="rId4" Type="http://schemas.openxmlformats.org/officeDocument/2006/relationships/hyperlink" Target="https://www.figma.com/file/sVARvsqs7Npc84xaHlniX7/%F0%9F%A7%A9-VKUI-Icons-Library?type=design&amp;node-id=94%3A6307&amp;mode=design&amp;t=5iYjSQsap5UdmwiW-1" TargetMode="External"/><Relationship Id="rId5" Type="http://schemas.openxmlformats.org/officeDocument/2006/relationships/image" Target="../media/image235.png"/><Relationship Id="rId6" Type="http://schemas.openxmlformats.org/officeDocument/2006/relationships/image" Target="../media/image234.png"/><Relationship Id="rId7" Type="http://schemas.openxmlformats.org/officeDocument/2006/relationships/image" Target="../media/image236.png"/><Relationship Id="rId8" Type="http://schemas.openxmlformats.org/officeDocument/2006/relationships/image" Target="../media/image231.png"/><Relationship Id="rId9" Type="http://schemas.openxmlformats.org/officeDocument/2006/relationships/notesSlide" Target="../notesSlides/notesSlide6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4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257.png"/><Relationship Id="rId3" Type="http://schemas.openxmlformats.org/officeDocument/2006/relationships/notesSlide" Target="../notesSlides/notesSlide65.xml"/></Relationships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22279" y="2598016"/>
            <a:ext cx="7535387" cy="1661967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4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Автоматическая вёрстка презентаций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986" name="Google Shape;986;p76"/>
          <p:cNvCxnSpPr/>
          <p:nvPr/>
        </p:nvCxnSpPr>
        <p:spPr>
          <a:xfrm rot="10800000">
            <a:off x="-42658" y="3591512"/>
            <a:ext cx="12234658" cy="0"/>
          </a:xfrm>
          <a:prstGeom prst="straightConnector1">
            <a:avLst/>
          </a:prstGeom>
          <a:noFill/>
          <a:ln cap="flat" cmpd="sng" w="12700">
            <a:solidFill>
              <a:srgbClr val="E1E1E2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987" name="title"/>
          <p:cNvSpPr txBox="1"/>
          <p:nvPr/>
        </p:nvSpPr>
        <p:spPr>
          <a:xfrm>
            <a:off x="677387" y="692177"/>
            <a:ext cx="10855878" cy="82296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40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000">
                <a:solidFill>
                  <a:srgbClr val="000000"/>
                </a:solidFill>
                <a:latin typeface="Arial"/>
                <a:ea typeface="Arial"/>
                <a:cs typeface="Arial"/>
              </a:rPr>
              <a:t>Контекст и возможность</a:t>
            </a:r>
          </a:p>
        </p:txBody>
      </p:sp>
      <p:sp>
        <p:nvSpPr>
          <p:cNvPr id="988" name="lead"/>
          <p:cNvSpPr txBox="1"/>
          <p:nvPr/>
        </p:nvSpPr>
        <p:spPr>
          <a:xfrm>
            <a:off x="677387" y="2200937"/>
            <a:ext cx="10855878" cy="47280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>
              <a:spcAft>
                <a:spcPts val="300"/>
              </a:spcAft>
              <a:defRPr sz="180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1800">
                <a:solidFill>
                  <a:srgbClr val="000000"/>
                </a:solidFill>
                <a:latin typeface="Play"/>
                <a:ea typeface="Play"/>
                <a:cs typeface="Play"/>
              </a:rPr>
              <a:t>Сборка одной колоды 12 слайдов занимает 186 минут</a:t>
            </a:r>
          </a:p>
        </p:txBody>
      </p:sp>
      <p:sp>
        <p:nvSpPr>
          <p:cNvPr id="989" name="body"/>
          <p:cNvSpPr txBox="1"/>
          <p:nvPr/>
        </p:nvSpPr>
        <p:spPr>
          <a:xfrm>
            <a:off x="677387" y="2691104"/>
            <a:ext cx="10855878" cy="90043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120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1200">
                <a:solidFill>
                  <a:srgbClr val="000000"/>
                </a:solidFill>
                <a:latin typeface="Play"/>
                <a:ea typeface="Play"/>
                <a:cs typeface="Play"/>
              </a:rPr>
              <a:t>• 74 минуты уходит на правки после ревью дизайнера</a:t>
            </a:r>
          </a:p>
          <a:p>
            <a:pPr algn="l">
              <a:spcAft>
                <a:spcPts val="300"/>
              </a:spcAft>
              <a:defRPr sz="120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1200">
                <a:solidFill>
                  <a:srgbClr val="000000"/>
                </a:solidFill>
                <a:latin typeface="Play"/>
                <a:ea typeface="Play"/>
                <a:cs typeface="Play"/>
              </a:rPr>
              <a:t>• 19 из 42 колод нарушают фирменный стиль</a:t>
            </a:r>
          </a:p>
          <a:p>
            <a:pPr algn="l">
              <a:spcAft>
                <a:spcPts val="300"/>
              </a:spcAft>
              <a:defRPr sz="120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1200">
                <a:solidFill>
                  <a:srgbClr val="000000"/>
                </a:solidFill>
                <a:latin typeface="Play"/>
                <a:ea typeface="Play"/>
                <a:cs typeface="Play"/>
              </a:rPr>
              <a:t>• Дизайн-отдел из 4 человек закрывает 11 запросов в неделю из 27</a:t>
            </a:r>
          </a:p>
          <a:p>
            <a:pPr algn="l">
              <a:spcAft>
                <a:spcPts val="300"/>
              </a:spcAft>
              <a:defRPr sz="120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1200">
                <a:solidFill>
                  <a:srgbClr val="000000"/>
                </a:solidFill>
                <a:latin typeface="Play"/>
                <a:ea typeface="Play"/>
                <a:cs typeface="Play"/>
              </a:rPr>
              <a:t>• Средний срок ожидания в очереди — 6 рабочих дней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77387" y="692177"/>
            <a:ext cx="10855878" cy="82296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40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000">
                <a:solidFill>
                  <a:srgbClr val="000000"/>
                </a:solidFill>
                <a:latin typeface="Arial"/>
                <a:ea typeface="Arial"/>
                <a:cs typeface="Arial"/>
              </a:rPr>
              <a:t>Предложение</a:t>
            </a:r>
          </a:p>
        </p:txBody>
      </p:sp>
      <p:sp>
        <p:nvSpPr>
          <p:cNvPr id="3" name="Pentagon 2"/>
          <p:cNvSpPr/>
          <p:nvPr/>
        </p:nvSpPr>
        <p:spPr>
          <a:xfrm>
            <a:off x="677387" y="1824859"/>
            <a:ext cx="10855878" cy="634621"/>
          </a:xfrm>
          <a:prstGeom prst="homePlate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12700" bIns="12700"/>
          <a:lstStyle/>
          <a:p>
            <a:pPr algn="ctr">
              <a:defRPr sz="1400" b="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1400" b="0">
                <a:solidFill>
                  <a:srgbClr val="FFFFFF"/>
                </a:solidFill>
                <a:latin typeface="Play"/>
                <a:ea typeface="Play"/>
                <a:cs typeface="Play"/>
              </a:rPr>
              <a:t>Загрузка шаблона</a:t>
            </a:r>
          </a:p>
        </p:txBody>
      </p:sp>
      <p:sp>
        <p:nvSpPr>
          <p:cNvPr id="4" name="Chevron 3"/>
          <p:cNvSpPr/>
          <p:nvPr/>
        </p:nvSpPr>
        <p:spPr>
          <a:xfrm>
            <a:off x="677387" y="2562791"/>
            <a:ext cx="10855878" cy="634621"/>
          </a:xfrm>
          <a:prstGeom prst="chevron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12700" bIns="12700"/>
          <a:lstStyle/>
          <a:p>
            <a:pPr algn="ctr">
              <a:defRPr sz="1400" b="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1400" b="0">
                <a:solidFill>
                  <a:srgbClr val="FFFFFF"/>
                </a:solidFill>
                <a:latin typeface="Play"/>
                <a:ea typeface="Play"/>
                <a:cs typeface="Play"/>
              </a:rPr>
              <a:t>Анализ дизайна</a:t>
            </a:r>
          </a:p>
        </p:txBody>
      </p:sp>
      <p:sp>
        <p:nvSpPr>
          <p:cNvPr id="5" name="Chevron 4"/>
          <p:cNvSpPr/>
          <p:nvPr/>
        </p:nvSpPr>
        <p:spPr>
          <a:xfrm>
            <a:off x="677387" y="3300723"/>
            <a:ext cx="10855878" cy="634621"/>
          </a:xfrm>
          <a:prstGeom prst="chevron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12700" bIns="12700"/>
          <a:lstStyle/>
          <a:p>
            <a:pPr algn="ctr">
              <a:defRPr sz="1400" b="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1400" b="0">
                <a:solidFill>
                  <a:srgbClr val="FFFFFF"/>
                </a:solidFill>
                <a:latin typeface="Play"/>
                <a:ea typeface="Play"/>
                <a:cs typeface="Play"/>
              </a:rPr>
              <a:t>План колоды</a:t>
            </a:r>
          </a:p>
        </p:txBody>
      </p:sp>
      <p:sp>
        <p:nvSpPr>
          <p:cNvPr id="6" name="Chevron 5"/>
          <p:cNvSpPr/>
          <p:nvPr/>
        </p:nvSpPr>
        <p:spPr>
          <a:xfrm>
            <a:off x="677387" y="4038655"/>
            <a:ext cx="10855878" cy="634621"/>
          </a:xfrm>
          <a:prstGeom prst="chevron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12700" bIns="12700"/>
          <a:lstStyle/>
          <a:p>
            <a:pPr algn="ctr">
              <a:defRPr sz="1400" b="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1400" b="0">
                <a:solidFill>
                  <a:srgbClr val="FFFFFF"/>
                </a:solidFill>
                <a:latin typeface="Play"/>
                <a:ea typeface="Play"/>
                <a:cs typeface="Play"/>
              </a:rPr>
              <a:t>Авто-верстка</a:t>
            </a:r>
          </a:p>
        </p:txBody>
      </p:sp>
      <p:sp>
        <p:nvSpPr>
          <p:cNvPr id="7" name="Chevron 6"/>
          <p:cNvSpPr/>
          <p:nvPr/>
        </p:nvSpPr>
        <p:spPr>
          <a:xfrm>
            <a:off x="677387" y="4776587"/>
            <a:ext cx="10855878" cy="634621"/>
          </a:xfrm>
          <a:prstGeom prst="chevron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12700" bIns="12700"/>
          <a:lstStyle/>
          <a:p>
            <a:pPr algn="ctr">
              <a:defRPr sz="1400" b="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1400" b="0">
                <a:solidFill>
                  <a:srgbClr val="FFFFFF"/>
                </a:solidFill>
                <a:latin typeface="Play"/>
                <a:ea typeface="Play"/>
                <a:cs typeface="Play"/>
              </a:rPr>
              <a:t>Аудит качества</a:t>
            </a:r>
          </a:p>
        </p:txBody>
      </p:sp>
      <p:sp>
        <p:nvSpPr>
          <p:cNvPr id="8" name="Chevron 7"/>
          <p:cNvSpPr/>
          <p:nvPr/>
        </p:nvSpPr>
        <p:spPr>
          <a:xfrm>
            <a:off x="677387" y="5514520"/>
            <a:ext cx="10855878" cy="634621"/>
          </a:xfrm>
          <a:prstGeom prst="chevron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12700" bIns="12700"/>
          <a:lstStyle/>
          <a:p>
            <a:pPr algn="ctr">
              <a:defRPr sz="1400" b="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1400" b="0">
                <a:solidFill>
                  <a:srgbClr val="FFFFFF"/>
                </a:solidFill>
                <a:latin typeface="Play"/>
                <a:ea typeface="Play"/>
                <a:cs typeface="Play"/>
              </a:rPr>
              <a:t>Экспорт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918" name="Google Shape;918;p74"/>
          <p:cNvCxnSpPr/>
          <p:nvPr/>
        </p:nvCxnSpPr>
        <p:spPr>
          <a:xfrm rot="10800000">
            <a:off x="658813" y="2199500"/>
            <a:ext cx="11533187" cy="0"/>
          </a:xfrm>
          <a:prstGeom prst="straightConnector1">
            <a:avLst/>
          </a:prstGeom>
          <a:noFill/>
          <a:ln cap="flat" cmpd="sng" w="19050">
            <a:solidFill>
              <a:schemeClr val="accent4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919" name="Google Shape;919;p74"/>
          <p:cNvCxnSpPr/>
          <p:nvPr/>
        </p:nvCxnSpPr>
        <p:spPr>
          <a:xfrm flipH="1">
            <a:off x="1" y="4351265"/>
            <a:ext cx="8112124" cy="42098"/>
          </a:xfrm>
          <a:prstGeom prst="straightConnector1">
            <a:avLst/>
          </a:prstGeom>
          <a:noFill/>
          <a:ln cap="flat" cmpd="sng" w="19050">
            <a:solidFill>
              <a:schemeClr val="accent4"/>
            </a:solidFill>
            <a:prstDash val="solid"/>
            <a:miter lim="8000"/>
            <a:headEnd len="lg" w="lg" type="stealth"/>
            <a:tailEnd len="sm" w="sm" type="none"/>
          </a:ln>
        </p:spPr>
      </p:cxnSp>
      <p:sp>
        <p:nvSpPr>
          <p:cNvPr id="920" name="title"/>
          <p:cNvSpPr txBox="1"/>
          <p:nvPr/>
        </p:nvSpPr>
        <p:spPr>
          <a:xfrm>
            <a:off x="677387" y="692177"/>
            <a:ext cx="10855878" cy="82296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40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000">
                <a:solidFill>
                  <a:srgbClr val="000000"/>
                </a:solidFill>
                <a:latin typeface="Arial"/>
                <a:ea typeface="Arial"/>
                <a:cs typeface="Arial"/>
              </a:rPr>
              <a:t>Ожидаемый эффект</a:t>
            </a:r>
          </a:p>
        </p:txBody>
      </p:sp>
      <p:sp>
        <p:nvSpPr>
          <p:cNvPr id="921" name="lead"/>
          <p:cNvSpPr txBox="1"/>
          <p:nvPr/>
        </p:nvSpPr>
        <p:spPr>
          <a:xfrm>
            <a:off x="677387" y="2200937"/>
            <a:ext cx="10855878" cy="78345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280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2800">
                <a:solidFill>
                  <a:srgbClr val="000000"/>
                </a:solidFill>
                <a:latin typeface="Play"/>
                <a:ea typeface="Play"/>
                <a:cs typeface="Play"/>
              </a:rPr>
              <a:t>Средняя сборка колоды 12 слайдов — 4 минуты вместо 186</a:t>
            </a:r>
          </a:p>
        </p:txBody>
      </p:sp>
      <p:sp>
        <p:nvSpPr>
          <p:cNvPr id="922" name="body"/>
          <p:cNvSpPr txBox="1"/>
          <p:nvPr/>
        </p:nvSpPr>
        <p:spPr>
          <a:xfrm>
            <a:off x="677387" y="3113415"/>
            <a:ext cx="10855878" cy="123784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180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1800">
                <a:solidFill>
                  <a:srgbClr val="000000"/>
                </a:solidFill>
                <a:latin typeface="Play"/>
                <a:ea typeface="Play"/>
                <a:cs typeface="Play"/>
              </a:rPr>
              <a:t>• Время до первой версии сократилось с 6 рабочих дней до 1</a:t>
            </a:r>
          </a:p>
          <a:p>
            <a:pPr algn="l">
              <a:spcAft>
                <a:spcPts val="300"/>
              </a:spcAft>
              <a:defRPr sz="180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1800">
                <a:solidFill>
                  <a:srgbClr val="000000"/>
                </a:solidFill>
                <a:latin typeface="Play"/>
                <a:ea typeface="Play"/>
                <a:cs typeface="Play"/>
              </a:rPr>
              <a:t>• Нарушений фирменного стиля в пилоте — 2 из 68 колод</a:t>
            </a:r>
          </a:p>
          <a:p>
            <a:pPr algn="l">
              <a:spcAft>
                <a:spcPts val="300"/>
              </a:spcAft>
              <a:defRPr sz="180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1800">
                <a:solidFill>
                  <a:srgbClr val="000000"/>
                </a:solidFill>
                <a:latin typeface="Play"/>
                <a:ea typeface="Play"/>
                <a:cs typeface="Play"/>
              </a:rPr>
              <a:t>• Дизайнеры закрыли 38 запросов за 6 недель вместо 11 в неделю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77387" y="692177"/>
            <a:ext cx="10855878" cy="82296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40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000">
                <a:solidFill>
                  <a:srgbClr val="000000"/>
                </a:solidFill>
                <a:latin typeface="Arial"/>
                <a:ea typeface="Arial"/>
                <a:cs typeface="Arial"/>
              </a:rPr>
              <a:t>Что потребуется: ресурсы и сроки</a:t>
            </a:r>
          </a:p>
        </p:txBody>
      </p:sp>
      <p:sp>
        <p:nvSpPr>
          <p:cNvPr id="3" name="Rectangle 2"/>
          <p:cNvSpPr/>
          <p:nvPr/>
        </p:nvSpPr>
        <p:spPr>
          <a:xfrm>
            <a:off x="677387" y="2916352"/>
            <a:ext cx="10855878" cy="74553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213338" y="2680267"/>
            <a:ext cx="546723" cy="546723"/>
          </a:xfrm>
          <a:prstGeom prst="ellipse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77387" y="1773204"/>
            <a:ext cx="5427939" cy="9443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defRPr sz="1400" b="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1400" b="0">
                <a:solidFill>
                  <a:srgbClr val="000000"/>
                </a:solidFill>
                <a:latin typeface="Play"/>
                <a:ea typeface="Play"/>
                <a:cs typeface="Play"/>
              </a:rPr>
              <a:t>Третий квартал 2026: подключение 4 команд</a:t>
            </a:r>
          </a:p>
        </p:txBody>
      </p:sp>
      <p:sp>
        <p:nvSpPr>
          <p:cNvPr id="6" name="Oval 5"/>
          <p:cNvSpPr/>
          <p:nvPr/>
        </p:nvSpPr>
        <p:spPr>
          <a:xfrm>
            <a:off x="5831964" y="2680267"/>
            <a:ext cx="546723" cy="546723"/>
          </a:xfrm>
          <a:prstGeom prst="ellipse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91356" y="3463076"/>
            <a:ext cx="5427939" cy="9443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defRPr sz="1400" b="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1400" b="0">
                <a:solidFill>
                  <a:srgbClr val="000000"/>
                </a:solidFill>
                <a:latin typeface="Play"/>
                <a:ea typeface="Play"/>
                <a:cs typeface="Play"/>
              </a:rPr>
              <a:t>Четвёртый квартал 2026: доступ для всей компании</a:t>
            </a:r>
          </a:p>
        </p:txBody>
      </p:sp>
      <p:sp>
        <p:nvSpPr>
          <p:cNvPr id="8" name="Oval 7"/>
          <p:cNvSpPr/>
          <p:nvPr/>
        </p:nvSpPr>
        <p:spPr>
          <a:xfrm>
            <a:off x="9450590" y="2680267"/>
            <a:ext cx="546723" cy="546723"/>
          </a:xfrm>
          <a:prstGeom prst="ellipse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05326" y="1773204"/>
            <a:ext cx="5427939" cy="9443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defRPr sz="1400" b="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1400" b="0">
                <a:solidFill>
                  <a:srgbClr val="000000"/>
                </a:solidFill>
                <a:latin typeface="Play"/>
                <a:ea typeface="Play"/>
                <a:cs typeface="Play"/>
              </a:rPr>
              <a:t>Первый квартал 2027: генерация иллюстраций</a:t>
            </a:r>
          </a:p>
        </p:txBody>
      </p:sp>
      <p:sp>
        <p:nvSpPr>
          <p:cNvPr id="10" name="body"/>
          <p:cNvSpPr txBox="1"/>
          <p:nvPr/>
        </p:nvSpPr>
        <p:spPr>
          <a:xfrm>
            <a:off x="677387" y="4429760"/>
            <a:ext cx="10855878" cy="1771037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160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1600">
                <a:solidFill>
                  <a:srgbClr val="000000"/>
                </a:solidFill>
                <a:latin typeface="Play"/>
                <a:ea typeface="Play"/>
                <a:cs typeface="Play"/>
              </a:rPr>
              <a:t>• Сервис на 1 машине: 2 vCPU / 2 ГБ RAM</a:t>
            </a:r>
          </a:p>
          <a:p>
            <a:pPr algn="l">
              <a:spcAft>
                <a:spcPts val="300"/>
              </a:spcAft>
              <a:defRPr sz="160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1600">
                <a:solidFill>
                  <a:srgbClr val="000000"/>
                </a:solidFill>
                <a:latin typeface="Play"/>
                <a:ea typeface="Play"/>
                <a:cs typeface="Play"/>
              </a:rPr>
              <a:t>• Инференс 6 недель: 1 400 руб.</a:t>
            </a:r>
          </a:p>
          <a:p>
            <a:pPr algn="l">
              <a:spcAft>
                <a:spcPts val="300"/>
              </a:spcAft>
              <a:defRPr sz="160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1600">
                <a:solidFill>
                  <a:srgbClr val="000000"/>
                </a:solidFill>
                <a:latin typeface="Play"/>
                <a:ea typeface="Play"/>
                <a:cs typeface="Play"/>
              </a:rPr>
              <a:t>• Подключение 4 команд: 3й квартал 2026</a:t>
            </a:r>
          </a:p>
          <a:p>
            <a:pPr algn="l">
              <a:spcAft>
                <a:spcPts val="300"/>
              </a:spcAft>
              <a:defRPr sz="160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1600">
                <a:solidFill>
                  <a:srgbClr val="000000"/>
                </a:solidFill>
                <a:latin typeface="Play"/>
                <a:ea typeface="Play"/>
                <a:cs typeface="Play"/>
              </a:rPr>
              <a:t>• Доступ всей компании: 4й квартал 2026</a:t>
            </a:r>
          </a:p>
          <a:p>
            <a:pPr algn="l">
              <a:spcAft>
                <a:spcPts val="300"/>
              </a:spcAft>
              <a:defRPr sz="160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1600">
                <a:solidFill>
                  <a:srgbClr val="000000"/>
                </a:solidFill>
                <a:latin typeface="Play"/>
                <a:ea typeface="Play"/>
                <a:cs typeface="Play"/>
              </a:rPr>
              <a:t>• Иллюстрации в стиле шаблона: 1й квартал 2027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795" name="Google Shape;795;p60"/>
          <p:cNvSpPr txBox="1"/>
          <p:nvPr/>
        </p:nvSpPr>
        <p:spPr>
          <a:xfrm>
            <a:off x="18692059" y="4674436"/>
            <a:ext cx="4304330" cy="6781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6" name="title"/>
          <p:cNvSpPr txBox="1"/>
          <p:nvPr/>
        </p:nvSpPr>
        <p:spPr>
          <a:xfrm>
            <a:off x="677387" y="692177"/>
            <a:ext cx="10855878" cy="82296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40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000">
                <a:solidFill>
                  <a:srgbClr val="000000"/>
                </a:solidFill>
                <a:latin typeface="Arial"/>
                <a:ea typeface="Arial"/>
                <a:cs typeface="Arial"/>
              </a:rPr>
              <a:t>План пилота</a:t>
            </a:r>
          </a:p>
        </p:txBody>
      </p:sp>
      <p:graphicFrame>
        <p:nvGraphicFramePr>
          <p:cNvPr id="797" name="Table 796"/>
          <p:cNvGraphicFramePr>
            <a:graphicFrameLocks noGrp="1"/>
          </p:cNvGraphicFramePr>
          <p:nvPr/>
        </p:nvGraphicFramePr>
        <p:xfrm>
          <a:off x="677387" y="2200937"/>
          <a:ext cx="10855878" cy="41277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18626"/>
                <a:gridCol w="3618626"/>
                <a:gridCol w="3618626"/>
              </a:tblGrid>
              <a:tr h="825552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Play"/>
                          <a:ea typeface="Play"/>
                          <a:cs typeface="Play"/>
                        </a:defRPr>
                      </a:pPr>
                      <a:r>
                        <a:t>Метрика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Play"/>
                          <a:ea typeface="Play"/>
                          <a:cs typeface="Play"/>
                        </a:defRPr>
                      </a:pPr>
                      <a:r>
                        <a:t>До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Play"/>
                          <a:ea typeface="Play"/>
                          <a:cs typeface="Play"/>
                        </a:defRPr>
                      </a:pPr>
                      <a:r>
                        <a:t>После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825552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Play"/>
                          <a:ea typeface="Play"/>
                          <a:cs typeface="Play"/>
                        </a:defRPr>
                      </a:pPr>
                      <a:r>
                        <a:t>Время сборки (мин)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Play"/>
                          <a:ea typeface="Play"/>
                          <a:cs typeface="Play"/>
                        </a:defRPr>
                      </a:pPr>
                      <a:r>
                        <a:t>186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Play"/>
                          <a:ea typeface="Play"/>
                          <a:cs typeface="Play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5552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Play"/>
                          <a:ea typeface="Play"/>
                          <a:cs typeface="Play"/>
                        </a:defRPr>
                      </a:pPr>
                      <a:r>
                        <a:t>Время первой версии (дней)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Play"/>
                          <a:ea typeface="Play"/>
                          <a:cs typeface="Play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Play"/>
                          <a:ea typeface="Play"/>
                          <a:cs typeface="Play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5552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Play"/>
                          <a:ea typeface="Play"/>
                          <a:cs typeface="Play"/>
                        </a:defRPr>
                      </a:pPr>
                      <a:r>
                        <a:t>Нарушения стиля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Play"/>
                          <a:ea typeface="Play"/>
                          <a:cs typeface="Play"/>
                        </a:defRPr>
                      </a:pPr>
                      <a:r>
                        <a:t>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Play"/>
                          <a:ea typeface="Play"/>
                          <a:cs typeface="Play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5553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Play"/>
                          <a:ea typeface="Play"/>
                          <a:cs typeface="Play"/>
                        </a:defRPr>
                      </a:pPr>
                      <a:r>
                        <a:t>Запросы закрыты в неделю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Play"/>
                          <a:ea typeface="Play"/>
                          <a:cs typeface="Play"/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Play"/>
                          <a:ea typeface="Play"/>
                          <a:cs typeface="Play"/>
                        </a:defRPr>
                      </a:pPr>
                      <a:r>
                        <a:t>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764" name="Google Shape;764;p58"/>
          <p:cNvSpPr txBox="1"/>
          <p:nvPr/>
        </p:nvSpPr>
        <p:spPr>
          <a:xfrm>
            <a:off x="18692059" y="4674436"/>
            <a:ext cx="4304330" cy="6781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5" name="title"/>
          <p:cNvSpPr txBox="1"/>
          <p:nvPr/>
        </p:nvSpPr>
        <p:spPr>
          <a:xfrm>
            <a:off x="677387" y="692177"/>
            <a:ext cx="10855878" cy="82296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40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000">
                <a:solidFill>
                  <a:srgbClr val="000000"/>
                </a:solidFill>
                <a:latin typeface="Arial"/>
                <a:ea typeface="Arial"/>
                <a:cs typeface="Arial"/>
              </a:rPr>
              <a:t>Что мы просим решить</a:t>
            </a:r>
          </a:p>
        </p:txBody>
      </p:sp>
      <p:sp>
        <p:nvSpPr>
          <p:cNvPr id="766" name="lead"/>
          <p:cNvSpPr txBox="1"/>
          <p:nvPr/>
        </p:nvSpPr>
        <p:spPr>
          <a:xfrm>
            <a:off x="677387" y="2200937"/>
            <a:ext cx="10855878" cy="1940047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480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4800">
                <a:solidFill>
                  <a:srgbClr val="000000"/>
                </a:solidFill>
                <a:latin typeface="Play"/>
                <a:ea typeface="Play"/>
                <a:cs typeface="Play"/>
              </a:rPr>
              <a:t>Запуск сервиса на всю компанию в четвертом квартале 2026</a:t>
            </a:r>
          </a:p>
        </p:txBody>
      </p:sp>
      <p:sp>
        <p:nvSpPr>
          <p:cNvPr id="767" name="body"/>
          <p:cNvSpPr txBox="1"/>
          <p:nvPr/>
        </p:nvSpPr>
        <p:spPr>
          <a:xfrm>
            <a:off x="677387" y="4388651"/>
            <a:ext cx="10855878" cy="1940047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280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2800">
                <a:solidFill>
                  <a:srgbClr val="000000"/>
                </a:solidFill>
                <a:latin typeface="Play"/>
                <a:ea typeface="Play"/>
                <a:cs typeface="Play"/>
              </a:rPr>
              <a:t>• Интеграция с хранилищем документов в четвертом квартале 2026</a:t>
            </a:r>
          </a:p>
          <a:p>
            <a:pPr algn="l">
              <a:spcAft>
                <a:spcPts val="300"/>
              </a:spcAft>
              <a:defRPr sz="280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2800">
                <a:solidFill>
                  <a:srgbClr val="000000"/>
                </a:solidFill>
                <a:latin typeface="Play"/>
                <a:ea typeface="Play"/>
                <a:cs typeface="Play"/>
              </a:rPr>
              <a:t>• Подключение 4 команд в третьем квартале 2026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782" name="Google Shape;782;p59"/>
          <p:cNvSpPr txBox="1"/>
          <p:nvPr/>
        </p:nvSpPr>
        <p:spPr>
          <a:xfrm>
            <a:off x="18692059" y="4674436"/>
            <a:ext cx="4304330" cy="6781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3" name="title"/>
          <p:cNvSpPr txBox="1"/>
          <p:nvPr/>
        </p:nvSpPr>
        <p:spPr>
          <a:xfrm>
            <a:off x="677387" y="692177"/>
            <a:ext cx="10855878" cy="82296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40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000">
                <a:solidFill>
                  <a:srgbClr val="000000"/>
                </a:solidFill>
                <a:latin typeface="Arial"/>
                <a:ea typeface="Arial"/>
                <a:cs typeface="Arial"/>
              </a:rPr>
              <a:t>Риски</a:t>
            </a:r>
          </a:p>
        </p:txBody>
      </p:sp>
      <p:sp>
        <p:nvSpPr>
          <p:cNvPr id="784" name="lead"/>
          <p:cNvSpPr txBox="1"/>
          <p:nvPr/>
        </p:nvSpPr>
        <p:spPr>
          <a:xfrm>
            <a:off x="677387" y="2200937"/>
            <a:ext cx="10855878" cy="1871251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480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4800">
                <a:solidFill>
                  <a:srgbClr val="000000"/>
                </a:solidFill>
                <a:latin typeface="Play"/>
                <a:ea typeface="Play"/>
                <a:cs typeface="Play"/>
              </a:rPr>
              <a:t>Модель может выдумать цифры, аудит проверяет</a:t>
            </a:r>
          </a:p>
        </p:txBody>
      </p:sp>
      <p:sp>
        <p:nvSpPr>
          <p:cNvPr id="785" name="body"/>
          <p:cNvSpPr txBox="1"/>
          <p:nvPr/>
        </p:nvSpPr>
        <p:spPr>
          <a:xfrm>
            <a:off x="677387" y="4319855"/>
            <a:ext cx="10855878" cy="2008843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320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3200">
                <a:solidFill>
                  <a:srgbClr val="000000"/>
                </a:solidFill>
                <a:latin typeface="Play"/>
                <a:ea typeface="Play"/>
                <a:cs typeface="Play"/>
              </a:rPr>
              <a:t>• Неизвестный шаблон может быть плохо сделан</a:t>
            </a:r>
          </a:p>
          <a:p>
            <a:pPr algn="l">
              <a:spcAft>
                <a:spcPts val="300"/>
              </a:spcAft>
              <a:defRPr sz="320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3200">
                <a:solidFill>
                  <a:srgbClr val="000000"/>
                </a:solidFill>
                <a:latin typeface="Play"/>
                <a:ea typeface="Play"/>
                <a:cs typeface="Play"/>
              </a:rPr>
              <a:t>• Нагрузка выше 20 задач требует внешней очереди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77387" y="692177"/>
            <a:ext cx="10855878" cy="82296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40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000">
                <a:solidFill>
                  <a:srgbClr val="000000"/>
                </a:solidFill>
                <a:latin typeface="Arial"/>
                <a:ea typeface="Arial"/>
                <a:cs typeface="Arial"/>
              </a:rPr>
              <a:t>Преимущества</a:t>
            </a:r>
          </a:p>
        </p:txBody>
      </p:sp>
      <p:sp>
        <p:nvSpPr>
          <p:cNvPr id="3" name="lead"/>
          <p:cNvSpPr txBox="1"/>
          <p:nvPr/>
        </p:nvSpPr>
        <p:spPr>
          <a:xfrm>
            <a:off x="677387" y="1773204"/>
            <a:ext cx="10855878" cy="150918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400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4000">
                <a:solidFill>
                  <a:srgbClr val="000000"/>
                </a:solidFill>
                <a:latin typeface="Play"/>
                <a:ea typeface="Play"/>
                <a:cs typeface="Play"/>
              </a:rPr>
              <a:t>Сокращение времени сборки до 4 минут</a:t>
            </a:r>
          </a:p>
        </p:txBody>
      </p:sp>
      <p:sp>
        <p:nvSpPr>
          <p:cNvPr id="4" name="body"/>
          <p:cNvSpPr txBox="1"/>
          <p:nvPr/>
        </p:nvSpPr>
        <p:spPr>
          <a:xfrm>
            <a:off x="677387" y="3548044"/>
            <a:ext cx="10855878" cy="2652753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320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3200">
                <a:solidFill>
                  <a:srgbClr val="000000"/>
                </a:solidFill>
                <a:latin typeface="Play"/>
                <a:ea typeface="Play"/>
                <a:cs typeface="Play"/>
              </a:rPr>
              <a:t>• Уменьшение нарушений фирменного стиля до 2 из 68</a:t>
            </a:r>
          </a:p>
          <a:p>
            <a:pPr algn="l">
              <a:spcAft>
                <a:spcPts val="300"/>
              </a:spcAft>
              <a:defRPr sz="320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3200">
                <a:solidFill>
                  <a:srgbClr val="000000"/>
                </a:solidFill>
                <a:latin typeface="Play"/>
                <a:ea typeface="Play"/>
                <a:cs typeface="Play"/>
              </a:rPr>
              <a:t>• Экономия 1 400 рублей за 6 недель пилота</a:t>
            </a:r>
          </a:p>
          <a:p>
            <a:pPr algn="l">
              <a:spcAft>
                <a:spcPts val="300"/>
              </a:spcAft>
              <a:defRPr sz="320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3200">
                <a:solidFill>
                  <a:srgbClr val="000000"/>
                </a:solidFill>
                <a:latin typeface="Play"/>
                <a:ea typeface="Play"/>
                <a:cs typeface="Play"/>
              </a:rPr>
              <a:t>• Повышение производительности дизайнеров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58855" y="692177"/>
            <a:ext cx="5242438" cy="82296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40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00">
                <a:solidFill>
                  <a:srgbClr val="FFFFFF"/>
                </a:solidFill>
                <a:latin typeface="Arial"/>
                <a:ea typeface="Arial"/>
                <a:cs typeface="Arial"/>
              </a:rPr>
              <a:t>Следующие шаги</a:t>
            </a:r>
          </a:p>
        </p:txBody>
      </p:sp>
      <p:sp>
        <p:nvSpPr>
          <p:cNvPr id="3" name="lead"/>
          <p:cNvSpPr txBox="1"/>
          <p:nvPr/>
        </p:nvSpPr>
        <p:spPr>
          <a:xfrm>
            <a:off x="658855" y="1783080"/>
            <a:ext cx="5242438" cy="1722257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320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3200">
                <a:solidFill>
                  <a:srgbClr val="FFFFFF"/>
                </a:solidFill>
                <a:latin typeface="Play"/>
                <a:ea typeface="Play"/>
                <a:cs typeface="Play"/>
              </a:rPr>
              <a:t>Сервис готов к масштабированию на всю компанию</a:t>
            </a:r>
          </a:p>
        </p:txBody>
      </p:sp>
      <p:sp>
        <p:nvSpPr>
          <p:cNvPr id="4" name="body"/>
          <p:cNvSpPr txBox="1"/>
          <p:nvPr/>
        </p:nvSpPr>
        <p:spPr>
          <a:xfrm>
            <a:off x="658855" y="3736905"/>
            <a:ext cx="5242438" cy="190565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240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2400">
                <a:solidFill>
                  <a:srgbClr val="FFFFFF"/>
                </a:solidFill>
                <a:latin typeface="Play"/>
                <a:ea typeface="Play"/>
                <a:cs typeface="Play"/>
              </a:rPr>
              <a:t>• Ожидаем решение о запуске в четвертом квартале 2026</a:t>
            </a:r>
          </a:p>
          <a:p>
            <a:pPr algn="l">
              <a:spcAft>
                <a:spcPts val="300"/>
              </a:spcAft>
              <a:defRPr sz="240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2400">
                <a:solidFill>
                  <a:srgbClr val="FFFFFF"/>
                </a:solidFill>
                <a:latin typeface="Play"/>
                <a:ea typeface="Play"/>
                <a:cs typeface="Play"/>
              </a:rPr>
              <a:t>• Планируем интеграцию с хранилищем документов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VK New Color">
  <a:themeElements>
    <a:clrScheme name="VK Education">
      <a:dk1>
        <a:srgbClr val="000000"/>
      </a:dk1>
      <a:lt1>
        <a:srgbClr val="EBF3F9"/>
      </a:lt1>
      <a:dk2>
        <a:srgbClr val="0077FF"/>
      </a:dk2>
      <a:lt2>
        <a:srgbClr val="FFFFFF"/>
      </a:lt2>
      <a:accent1>
        <a:srgbClr val="0077FF"/>
      </a:accent1>
      <a:accent2>
        <a:srgbClr val="FF3885"/>
      </a:accent2>
      <a:accent3>
        <a:srgbClr val="7CEDF8"/>
      </a:accent3>
      <a:accent4>
        <a:srgbClr val="EBF3F9"/>
      </a:accent4>
      <a:accent5>
        <a:srgbClr val="D8FAFD"/>
      </a:accent5>
      <a:accent6>
        <a:srgbClr val="FFEBF3"/>
      </a:accent6>
      <a:hlink>
        <a:srgbClr val="0077FF"/>
      </a:hlink>
      <a:folHlink>
        <a:srgbClr val="005E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VK New Color">
  <a:themeElements>
    <a:clrScheme name="VK Education">
      <a:dk1>
        <a:srgbClr val="000000"/>
      </a:dk1>
      <a:lt1>
        <a:srgbClr val="EBF3F9"/>
      </a:lt1>
      <a:dk2>
        <a:srgbClr val="0077FF"/>
      </a:dk2>
      <a:lt2>
        <a:srgbClr val="FFFFFF"/>
      </a:lt2>
      <a:accent1>
        <a:srgbClr val="0077FF"/>
      </a:accent1>
      <a:accent2>
        <a:srgbClr val="FF3885"/>
      </a:accent2>
      <a:accent3>
        <a:srgbClr val="7CEDF8"/>
      </a:accent3>
      <a:accent4>
        <a:srgbClr val="EBF3F9"/>
      </a:accent4>
      <a:accent5>
        <a:srgbClr val="D8FAFD"/>
      </a:accent5>
      <a:accent6>
        <a:srgbClr val="FFEBF3"/>
      </a:accent6>
      <a:hlink>
        <a:srgbClr val="0077FF"/>
      </a:hlink>
      <a:folHlink>
        <a:srgbClr val="005E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
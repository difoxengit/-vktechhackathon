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(мин)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 (мин),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3" r:id="rId6"/>
    <p:sldLayoutId id="2147483657" r:id="rId10"/>
    <p:sldLayoutId id="2147483659" r:id="rId12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7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22279" y="2598016"/>
            <a:ext cx="7535387" cy="2479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вёрстка презентаций: ускоряем работу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Сборка презентаций вручную занимает 186 минут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89735"/>
            <a:ext cx="50800" cy="23388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3151336" cy="2448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42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42 колоды в Q1 2026, 12 слайдов каждая</a:t>
            </a:r>
          </a:p>
        </p:txBody>
      </p:sp>
      <p:sp>
        <p:nvSpPr>
          <p:cNvPr id="5" name="stat_1:bar"/>
          <p:cNvSpPr/>
          <p:nvPr/>
        </p:nvSpPr>
        <p:spPr>
          <a:xfrm>
            <a:off x="4440758" y="2489735"/>
            <a:ext cx="50800" cy="23388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4618558" y="2380007"/>
            <a:ext cx="3151336" cy="2448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74 мин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74 минуты правок после ревью</a:t>
            </a:r>
          </a:p>
        </p:txBody>
      </p:sp>
      <p:sp>
        <p:nvSpPr>
          <p:cNvPr id="7" name="stat_2:bar"/>
          <p:cNvSpPr/>
          <p:nvPr/>
        </p:nvSpPr>
        <p:spPr>
          <a:xfrm>
            <a:off x="8204130" y="2489735"/>
            <a:ext cx="50800" cy="23388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381930" y="2380007"/>
            <a:ext cx="3151336" cy="2448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19 из 42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19 из 42 колод нарушили фирменный стиль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4 человека закрывают 11 запросов из 27, средний срок ожидания 6 дней</a:t>
            </a:r>
          </a:p>
        </p:txBody>
      </p:sp>
      <p:grpSp>
        <p:nvGrpSpPr>
          <p:cNvPr id="3" name="icon:builtin-team"/>
          <p:cNvGrpSpPr/>
          <p:nvPr/>
        </p:nvGrpSpPr>
        <p:grpSpPr>
          <a:xfrm>
            <a:off x="750253" y="2489306"/>
            <a:ext cx="437197" cy="376476"/>
            <a:chOff x="750253" y="2489306"/>
            <a:chExt cx="437197" cy="376476"/>
          </a:xfrm>
        </p:grpSpPr>
        <p:sp>
          <p:nvSpPr>
            <p:cNvPr id="4" name="Oval 3"/>
            <p:cNvSpPr/>
            <p:nvPr/>
          </p:nvSpPr>
          <p:spPr>
            <a:xfrm>
              <a:off x="810975" y="2489306"/>
              <a:ext cx="170021" cy="170021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50253" y="2720049"/>
              <a:ext cx="291465" cy="145733"/>
            </a:xfrm>
            <a:custGeom>
              <a:avLst/>
              <a:gdLst/>
              <a:ahLst/>
              <a:cxnLst/>
              <a:rect l="l" t="t" r="r" b="b"/>
              <a:pathLst>
                <a:path w="291465" h="145733">
                  <a:moveTo>
                    <a:pt x="0" y="145733"/>
                  </a:moveTo>
                  <a:lnTo>
                    <a:pt x="0" y="121444"/>
                  </a:lnTo>
                  <a:lnTo>
                    <a:pt x="2331" y="97762"/>
                  </a:lnTo>
                  <a:lnTo>
                    <a:pt x="9254" y="74979"/>
                  </a:lnTo>
                  <a:lnTo>
                    <a:pt x="20475" y="53970"/>
                  </a:lnTo>
                  <a:lnTo>
                    <a:pt x="35558" y="35559"/>
                  </a:lnTo>
                  <a:lnTo>
                    <a:pt x="53969" y="20475"/>
                  </a:lnTo>
                  <a:lnTo>
                    <a:pt x="74979" y="9254"/>
                  </a:lnTo>
                  <a:lnTo>
                    <a:pt x="97762" y="2332"/>
                  </a:lnTo>
                  <a:lnTo>
                    <a:pt x="121444" y="0"/>
                  </a:lnTo>
                  <a:lnTo>
                    <a:pt x="170021" y="0"/>
                  </a:lnTo>
                  <a:lnTo>
                    <a:pt x="193703" y="2332"/>
                  </a:lnTo>
                  <a:lnTo>
                    <a:pt x="216485" y="9254"/>
                  </a:lnTo>
                  <a:lnTo>
                    <a:pt x="237495" y="20475"/>
                  </a:lnTo>
                  <a:lnTo>
                    <a:pt x="255906" y="35559"/>
                  </a:lnTo>
                  <a:lnTo>
                    <a:pt x="270989" y="53970"/>
                  </a:lnTo>
                  <a:lnTo>
                    <a:pt x="282211" y="74979"/>
                  </a:lnTo>
                  <a:lnTo>
                    <a:pt x="289133" y="97762"/>
                  </a:lnTo>
                  <a:lnTo>
                    <a:pt x="291465" y="121444"/>
                  </a:lnTo>
                  <a:lnTo>
                    <a:pt x="291465" y="145733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066007" y="2491735"/>
              <a:ext cx="64826" cy="165163"/>
            </a:xfrm>
            <a:custGeom>
              <a:avLst/>
              <a:gdLst/>
              <a:ahLst/>
              <a:cxnLst/>
              <a:rect l="l" t="t" r="r" b="b"/>
              <a:pathLst>
                <a:path w="64826" h="165163">
                  <a:moveTo>
                    <a:pt x="0" y="0"/>
                  </a:moveTo>
                  <a:lnTo>
                    <a:pt x="15253" y="5295"/>
                  </a:lnTo>
                  <a:lnTo>
                    <a:pt x="29219" y="13383"/>
                  </a:lnTo>
                  <a:lnTo>
                    <a:pt x="41412" y="23973"/>
                  </a:lnTo>
                  <a:lnTo>
                    <a:pt x="51370" y="36676"/>
                  </a:lnTo>
                  <a:lnTo>
                    <a:pt x="58754" y="51030"/>
                  </a:lnTo>
                  <a:lnTo>
                    <a:pt x="63296" y="66502"/>
                  </a:lnTo>
                  <a:lnTo>
                    <a:pt x="64826" y="82582"/>
                  </a:lnTo>
                  <a:lnTo>
                    <a:pt x="63296" y="98661"/>
                  </a:lnTo>
                  <a:lnTo>
                    <a:pt x="58754" y="114133"/>
                  </a:lnTo>
                  <a:lnTo>
                    <a:pt x="51370" y="128487"/>
                  </a:lnTo>
                  <a:lnTo>
                    <a:pt x="41412" y="141190"/>
                  </a:lnTo>
                  <a:lnTo>
                    <a:pt x="29219" y="151780"/>
                  </a:lnTo>
                  <a:lnTo>
                    <a:pt x="15253" y="159868"/>
                  </a:lnTo>
                  <a:lnTo>
                    <a:pt x="0" y="165163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102440" y="2724907"/>
              <a:ext cx="85010" cy="140875"/>
            </a:xfrm>
            <a:custGeom>
              <a:avLst/>
              <a:gdLst/>
              <a:ahLst/>
              <a:cxnLst/>
              <a:rect l="l" t="t" r="r" b="b"/>
              <a:pathLst>
                <a:path w="85010" h="140875">
                  <a:moveTo>
                    <a:pt x="85010" y="140875"/>
                  </a:moveTo>
                  <a:lnTo>
                    <a:pt x="85010" y="116586"/>
                  </a:lnTo>
                  <a:lnTo>
                    <a:pt x="83140" y="94629"/>
                  </a:lnTo>
                  <a:lnTo>
                    <a:pt x="77335" y="73352"/>
                  </a:lnTo>
                  <a:lnTo>
                    <a:pt x="67790" y="53508"/>
                  </a:lnTo>
                  <a:lnTo>
                    <a:pt x="54795" y="35680"/>
                  </a:lnTo>
                  <a:lnTo>
                    <a:pt x="38813" y="20524"/>
                  </a:lnTo>
                  <a:lnTo>
                    <a:pt x="20329" y="8501"/>
                  </a:lnTo>
                  <a:lnTo>
                    <a:pt x="0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item_0"/>
          <p:cNvSpPr txBox="1"/>
          <p:nvPr/>
        </p:nvSpPr>
        <p:spPr>
          <a:xfrm>
            <a:off x="1522636" y="2422552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4 человека в отделе</a:t>
            </a:r>
          </a:p>
        </p:txBody>
      </p:sp>
      <p:grpSp>
        <p:nvGrpSpPr>
          <p:cNvPr id="9" name="icon:builtin-dot"/>
          <p:cNvGrpSpPr/>
          <p:nvPr/>
        </p:nvGrpSpPr>
        <p:grpSpPr>
          <a:xfrm>
            <a:off x="750253" y="3408071"/>
            <a:ext cx="437197" cy="437197"/>
            <a:chOff x="750253" y="3408071"/>
            <a:chExt cx="437197" cy="437197"/>
          </a:xfrm>
        </p:grpSpPr>
        <p:sp>
          <p:nvSpPr>
            <p:cNvPr id="10" name="Oval 9"/>
            <p:cNvSpPr/>
            <p:nvPr/>
          </p:nvSpPr>
          <p:spPr>
            <a:xfrm>
              <a:off x="750253" y="3408071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891128" y="3548946"/>
              <a:ext cx="155447" cy="155447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item_1"/>
          <p:cNvSpPr txBox="1"/>
          <p:nvPr/>
        </p:nvSpPr>
        <p:spPr>
          <a:xfrm>
            <a:off x="1522636" y="3377750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27 запросов поступило</a:t>
            </a:r>
          </a:p>
        </p:txBody>
      </p:sp>
      <p:grpSp>
        <p:nvGrpSpPr>
          <p:cNvPr id="13" name="icon:builtin-lock"/>
          <p:cNvGrpSpPr/>
          <p:nvPr/>
        </p:nvGrpSpPr>
        <p:grpSpPr>
          <a:xfrm>
            <a:off x="798830" y="4363268"/>
            <a:ext cx="340042" cy="437197"/>
            <a:chOff x="798830" y="4363268"/>
            <a:chExt cx="340042" cy="437197"/>
          </a:xfrm>
        </p:grpSpPr>
        <p:sp>
          <p:nvSpPr>
            <p:cNvPr id="14" name="Rounded Rectangle 13"/>
            <p:cNvSpPr/>
            <p:nvPr/>
          </p:nvSpPr>
          <p:spPr>
            <a:xfrm>
              <a:off x="798830" y="4557578"/>
              <a:ext cx="340042" cy="242887"/>
            </a:xfrm>
            <a:prstGeom prst="roundRect">
              <a:avLst>
                <a:gd name="adj" fmla="val 20000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71697" y="4363268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0" y="194310"/>
                  </a:moveTo>
                  <a:lnTo>
                    <a:pt x="0" y="97155"/>
                  </a:lnTo>
                  <a:lnTo>
                    <a:pt x="1870" y="78210"/>
                  </a:lnTo>
                  <a:lnTo>
                    <a:pt x="7383" y="59969"/>
                  </a:lnTo>
                  <a:lnTo>
                    <a:pt x="16370" y="43185"/>
                  </a:lnTo>
                  <a:lnTo>
                    <a:pt x="28466" y="28466"/>
                  </a:lnTo>
                  <a:lnTo>
                    <a:pt x="43185" y="16370"/>
                  </a:lnTo>
                  <a:lnTo>
                    <a:pt x="59968" y="7384"/>
                  </a:lnTo>
                  <a:lnTo>
                    <a:pt x="78209" y="1870"/>
                  </a:lnTo>
                  <a:lnTo>
                    <a:pt x="97155" y="0"/>
                  </a:lnTo>
                  <a:lnTo>
                    <a:pt x="116100" y="1870"/>
                  </a:lnTo>
                  <a:lnTo>
                    <a:pt x="134341" y="7384"/>
                  </a:lnTo>
                  <a:lnTo>
                    <a:pt x="151124" y="16370"/>
                  </a:lnTo>
                  <a:lnTo>
                    <a:pt x="165843" y="28466"/>
                  </a:lnTo>
                  <a:lnTo>
                    <a:pt x="177939" y="43185"/>
                  </a:lnTo>
                  <a:lnTo>
                    <a:pt x="186926" y="59969"/>
                  </a:lnTo>
                  <a:lnTo>
                    <a:pt x="192439" y="78210"/>
                  </a:lnTo>
                  <a:lnTo>
                    <a:pt x="194310" y="97155"/>
                  </a:lnTo>
                  <a:lnTo>
                    <a:pt x="194310" y="19431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item_2"/>
          <p:cNvSpPr txBox="1"/>
          <p:nvPr/>
        </p:nvSpPr>
        <p:spPr>
          <a:xfrm>
            <a:off x="1522636" y="4332947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11 закрыто</a:t>
            </a:r>
          </a:p>
        </p:txBody>
      </p:sp>
      <p:grpSp>
        <p:nvGrpSpPr>
          <p:cNvPr id="17" name="icon:builtin-calendar"/>
          <p:cNvGrpSpPr/>
          <p:nvPr/>
        </p:nvGrpSpPr>
        <p:grpSpPr>
          <a:xfrm>
            <a:off x="750253" y="5318466"/>
            <a:ext cx="437197" cy="437197"/>
            <a:chOff x="750253" y="5318466"/>
            <a:chExt cx="437197" cy="437197"/>
          </a:xfrm>
        </p:grpSpPr>
        <p:sp>
          <p:nvSpPr>
            <p:cNvPr id="18" name="Rounded Rectangle 17"/>
            <p:cNvSpPr/>
            <p:nvPr/>
          </p:nvSpPr>
          <p:spPr>
            <a:xfrm>
              <a:off x="750253" y="5367043"/>
              <a:ext cx="437197" cy="388620"/>
            </a:xfrm>
            <a:prstGeom prst="roundRect">
              <a:avLst>
                <a:gd name="adj" fmla="val 12500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66007" y="5318466"/>
              <a:ext cx="0" cy="97155"/>
            </a:xfrm>
            <a:custGeom>
              <a:avLst/>
              <a:gdLst/>
              <a:ahLst/>
              <a:cxnLst/>
              <a:rect l="l" t="t" r="r" b="b"/>
              <a:pathLst>
                <a:path w="0" h="97155">
                  <a:moveTo>
                    <a:pt x="0" y="0"/>
                  </a:moveTo>
                  <a:lnTo>
                    <a:pt x="0" y="9715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871697" y="5318466"/>
              <a:ext cx="0" cy="97155"/>
            </a:xfrm>
            <a:custGeom>
              <a:avLst/>
              <a:gdLst/>
              <a:ahLst/>
              <a:cxnLst/>
              <a:rect l="l" t="t" r="r" b="b"/>
              <a:pathLst>
                <a:path w="0" h="97155">
                  <a:moveTo>
                    <a:pt x="0" y="0"/>
                  </a:moveTo>
                  <a:lnTo>
                    <a:pt x="0" y="9715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50253" y="5512776"/>
              <a:ext cx="437197" cy="0"/>
            </a:xfrm>
            <a:custGeom>
              <a:avLst/>
              <a:gdLst/>
              <a:ahLst/>
              <a:cxnLst/>
              <a:rect l="l" t="t" r="r" b="b"/>
              <a:pathLst>
                <a:path w="437197" h="0">
                  <a:moveTo>
                    <a:pt x="0" y="0"/>
                  </a:moveTo>
                  <a:lnTo>
                    <a:pt x="437197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844979" y="5595358"/>
              <a:ext cx="53435" cy="5343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942134" y="5595358"/>
              <a:ext cx="53435" cy="5343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item_3"/>
          <p:cNvSpPr txBox="1"/>
          <p:nvPr/>
        </p:nvSpPr>
        <p:spPr>
          <a:xfrm>
            <a:off x="1522636" y="5288145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6 рабочих дней ожидания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автоматически вёрстит презентации из шаблона и материалов</a:t>
            </a:r>
          </a:p>
        </p:txBody>
      </p:sp>
      <p:grpSp>
        <p:nvGrpSpPr>
          <p:cNvPr id="3" name="icon:builtin-layout"/>
          <p:cNvGrpSpPr/>
          <p:nvPr/>
        </p:nvGrpSpPr>
        <p:grpSpPr>
          <a:xfrm>
            <a:off x="750253" y="2452873"/>
            <a:ext cx="437197" cy="437197"/>
            <a:chOff x="750253" y="2452873"/>
            <a:chExt cx="437197" cy="437197"/>
          </a:xfrm>
        </p:grpSpPr>
        <p:sp>
          <p:nvSpPr>
            <p:cNvPr id="4" name="Rounded Rectangle 3"/>
            <p:cNvSpPr/>
            <p:nvPr/>
          </p:nvSpPr>
          <p:spPr>
            <a:xfrm>
              <a:off x="750253" y="2452873"/>
              <a:ext cx="437197" cy="437197"/>
            </a:xfrm>
            <a:prstGeom prst="roundRect">
              <a:avLst>
                <a:gd name="adj" fmla="val 11111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50253" y="2598605"/>
              <a:ext cx="437197" cy="0"/>
            </a:xfrm>
            <a:custGeom>
              <a:avLst/>
              <a:gdLst/>
              <a:ahLst/>
              <a:cxnLst/>
              <a:rect l="l" t="t" r="r" b="b"/>
              <a:pathLst>
                <a:path w="437197" h="0">
                  <a:moveTo>
                    <a:pt x="0" y="0"/>
                  </a:moveTo>
                  <a:lnTo>
                    <a:pt x="437197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95985" y="2598605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0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item_0"/>
          <p:cNvSpPr txBox="1"/>
          <p:nvPr/>
        </p:nvSpPr>
        <p:spPr>
          <a:xfrm>
            <a:off x="1522636" y="2422552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Принимает шаблон pptx и материалы</a:t>
            </a:r>
          </a:p>
        </p:txBody>
      </p:sp>
      <p:grpSp>
        <p:nvGrpSpPr>
          <p:cNvPr id="8" name="icon:builtin-palette"/>
          <p:cNvGrpSpPr/>
          <p:nvPr/>
        </p:nvGrpSpPr>
        <p:grpSpPr>
          <a:xfrm>
            <a:off x="750253" y="3383782"/>
            <a:ext cx="437197" cy="461486"/>
            <a:chOff x="750253" y="3383782"/>
            <a:chExt cx="437197" cy="461486"/>
          </a:xfrm>
        </p:grpSpPr>
        <p:sp>
          <p:nvSpPr>
            <p:cNvPr id="9" name="Freeform 8"/>
            <p:cNvSpPr/>
            <p:nvPr/>
          </p:nvSpPr>
          <p:spPr>
            <a:xfrm>
              <a:off x="750253" y="3383782"/>
              <a:ext cx="437197" cy="461486"/>
            </a:xfrm>
            <a:custGeom>
              <a:avLst/>
              <a:gdLst/>
              <a:ahLst/>
              <a:cxnLst/>
              <a:rect l="l" t="t" r="r" b="b"/>
              <a:pathLst>
                <a:path w="437197" h="461486">
                  <a:moveTo>
                    <a:pt x="218599" y="24289"/>
                  </a:moveTo>
                  <a:lnTo>
                    <a:pt x="175947" y="28491"/>
                  </a:lnTo>
                  <a:lnTo>
                    <a:pt x="134948" y="40927"/>
                  </a:lnTo>
                  <a:lnTo>
                    <a:pt x="97155" y="61135"/>
                  </a:lnTo>
                  <a:lnTo>
                    <a:pt x="64025" y="88314"/>
                  </a:lnTo>
                  <a:lnTo>
                    <a:pt x="36846" y="121444"/>
                  </a:lnTo>
                  <a:lnTo>
                    <a:pt x="16638" y="159237"/>
                  </a:lnTo>
                  <a:lnTo>
                    <a:pt x="4202" y="200236"/>
                  </a:lnTo>
                  <a:lnTo>
                    <a:pt x="0" y="242888"/>
                  </a:lnTo>
                  <a:lnTo>
                    <a:pt x="4202" y="285539"/>
                  </a:lnTo>
                  <a:lnTo>
                    <a:pt x="16638" y="326538"/>
                  </a:lnTo>
                  <a:lnTo>
                    <a:pt x="36846" y="364331"/>
                  </a:lnTo>
                  <a:lnTo>
                    <a:pt x="64025" y="397461"/>
                  </a:lnTo>
                  <a:lnTo>
                    <a:pt x="97155" y="424640"/>
                  </a:lnTo>
                  <a:lnTo>
                    <a:pt x="134948" y="444848"/>
                  </a:lnTo>
                  <a:lnTo>
                    <a:pt x="175947" y="457284"/>
                  </a:lnTo>
                  <a:lnTo>
                    <a:pt x="218599" y="461486"/>
                  </a:lnTo>
                  <a:lnTo>
                    <a:pt x="226322" y="460928"/>
                  </a:lnTo>
                  <a:lnTo>
                    <a:pt x="233415" y="459276"/>
                  </a:lnTo>
                  <a:lnTo>
                    <a:pt x="239827" y="456629"/>
                  </a:lnTo>
                  <a:lnTo>
                    <a:pt x="245535" y="453082"/>
                  </a:lnTo>
                  <a:lnTo>
                    <a:pt x="250465" y="448735"/>
                  </a:lnTo>
                  <a:lnTo>
                    <a:pt x="254619" y="443658"/>
                  </a:lnTo>
                  <a:lnTo>
                    <a:pt x="257922" y="437926"/>
                  </a:lnTo>
                  <a:lnTo>
                    <a:pt x="260327" y="431635"/>
                  </a:lnTo>
                  <a:lnTo>
                    <a:pt x="261808" y="424883"/>
                  </a:lnTo>
                  <a:lnTo>
                    <a:pt x="262318" y="417767"/>
                  </a:lnTo>
                  <a:lnTo>
                    <a:pt x="262173" y="414196"/>
                  </a:lnTo>
                  <a:lnTo>
                    <a:pt x="261760" y="410771"/>
                  </a:lnTo>
                  <a:lnTo>
                    <a:pt x="261080" y="407492"/>
                  </a:lnTo>
                  <a:lnTo>
                    <a:pt x="260132" y="404359"/>
                  </a:lnTo>
                  <a:lnTo>
                    <a:pt x="258966" y="401372"/>
                  </a:lnTo>
                  <a:lnTo>
                    <a:pt x="257606" y="398530"/>
                  </a:lnTo>
                  <a:lnTo>
                    <a:pt x="256003" y="395834"/>
                  </a:lnTo>
                  <a:lnTo>
                    <a:pt x="254230" y="393283"/>
                  </a:lnTo>
                  <a:lnTo>
                    <a:pt x="252287" y="390879"/>
                  </a:lnTo>
                  <a:lnTo>
                    <a:pt x="250174" y="388620"/>
                  </a:lnTo>
                  <a:lnTo>
                    <a:pt x="248061" y="386288"/>
                  </a:lnTo>
                  <a:lnTo>
                    <a:pt x="246118" y="383714"/>
                  </a:lnTo>
                  <a:lnTo>
                    <a:pt x="244345" y="380945"/>
                  </a:lnTo>
                  <a:lnTo>
                    <a:pt x="242742" y="378006"/>
                  </a:lnTo>
                  <a:lnTo>
                    <a:pt x="241381" y="374970"/>
                  </a:lnTo>
                  <a:lnTo>
                    <a:pt x="240215" y="371836"/>
                  </a:lnTo>
                  <a:lnTo>
                    <a:pt x="239268" y="368679"/>
                  </a:lnTo>
                  <a:lnTo>
                    <a:pt x="238588" y="365546"/>
                  </a:lnTo>
                  <a:lnTo>
                    <a:pt x="238175" y="362461"/>
                  </a:lnTo>
                  <a:lnTo>
                    <a:pt x="238030" y="359474"/>
                  </a:lnTo>
                  <a:lnTo>
                    <a:pt x="238588" y="352357"/>
                  </a:lnTo>
                  <a:lnTo>
                    <a:pt x="240240" y="345605"/>
                  </a:lnTo>
                  <a:lnTo>
                    <a:pt x="242887" y="339314"/>
                  </a:lnTo>
                  <a:lnTo>
                    <a:pt x="246433" y="333582"/>
                  </a:lnTo>
                  <a:lnTo>
                    <a:pt x="250781" y="328505"/>
                  </a:lnTo>
                  <a:lnTo>
                    <a:pt x="255857" y="324158"/>
                  </a:lnTo>
                  <a:lnTo>
                    <a:pt x="261590" y="320612"/>
                  </a:lnTo>
                  <a:lnTo>
                    <a:pt x="267880" y="317964"/>
                  </a:lnTo>
                  <a:lnTo>
                    <a:pt x="274633" y="316312"/>
                  </a:lnTo>
                  <a:lnTo>
                    <a:pt x="281749" y="315754"/>
                  </a:lnTo>
                  <a:lnTo>
                    <a:pt x="315754" y="315754"/>
                  </a:lnTo>
                  <a:lnTo>
                    <a:pt x="339435" y="313422"/>
                  </a:lnTo>
                  <a:lnTo>
                    <a:pt x="362218" y="306500"/>
                  </a:lnTo>
                  <a:lnTo>
                    <a:pt x="383228" y="295278"/>
                  </a:lnTo>
                  <a:lnTo>
                    <a:pt x="401639" y="280195"/>
                  </a:lnTo>
                  <a:lnTo>
                    <a:pt x="416722" y="261784"/>
                  </a:lnTo>
                  <a:lnTo>
                    <a:pt x="427943" y="240774"/>
                  </a:lnTo>
                  <a:lnTo>
                    <a:pt x="434866" y="217992"/>
                  </a:lnTo>
                  <a:lnTo>
                    <a:pt x="437197" y="194310"/>
                  </a:lnTo>
                  <a:lnTo>
                    <a:pt x="434355" y="162905"/>
                  </a:lnTo>
                  <a:lnTo>
                    <a:pt x="426122" y="133054"/>
                  </a:lnTo>
                  <a:lnTo>
                    <a:pt x="412933" y="105219"/>
                  </a:lnTo>
                  <a:lnTo>
                    <a:pt x="395226" y="79740"/>
                  </a:lnTo>
                  <a:lnTo>
                    <a:pt x="373439" y="57079"/>
                  </a:lnTo>
                  <a:lnTo>
                    <a:pt x="348009" y="37623"/>
                  </a:lnTo>
                  <a:lnTo>
                    <a:pt x="319373" y="21763"/>
                  </a:lnTo>
                  <a:lnTo>
                    <a:pt x="287967" y="9958"/>
                  </a:lnTo>
                  <a:lnTo>
                    <a:pt x="254230" y="2550"/>
                  </a:lnTo>
                  <a:lnTo>
                    <a:pt x="218599" y="0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30406" y="3585379"/>
              <a:ext cx="58292" cy="58292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891128" y="3488224"/>
              <a:ext cx="58292" cy="58292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000427" y="3488224"/>
              <a:ext cx="58292" cy="58292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item_1"/>
          <p:cNvSpPr txBox="1"/>
          <p:nvPr/>
        </p:nvSpPr>
        <p:spPr>
          <a:xfrm>
            <a:off x="1522636" y="3377750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Парсит в дизайн-систему</a:t>
            </a:r>
          </a:p>
        </p:txBody>
      </p:sp>
      <p:grpSp>
        <p:nvGrpSpPr>
          <p:cNvPr id="14" name="icon:builtin-next"/>
          <p:cNvGrpSpPr/>
          <p:nvPr/>
        </p:nvGrpSpPr>
        <p:grpSpPr>
          <a:xfrm>
            <a:off x="750253" y="4363268"/>
            <a:ext cx="437197" cy="437197"/>
            <a:chOff x="750253" y="4363268"/>
            <a:chExt cx="437197" cy="437197"/>
          </a:xfrm>
        </p:grpSpPr>
        <p:sp>
          <p:nvSpPr>
            <p:cNvPr id="15" name="Oval 14"/>
            <p:cNvSpPr/>
            <p:nvPr/>
          </p:nvSpPr>
          <p:spPr>
            <a:xfrm>
              <a:off x="750253" y="4363268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71697" y="4581867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 h="0">
                  <a:moveTo>
                    <a:pt x="0" y="0"/>
                  </a:moveTo>
                  <a:lnTo>
                    <a:pt x="194310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68852" y="4484712"/>
              <a:ext cx="97155" cy="194310"/>
            </a:xfrm>
            <a:custGeom>
              <a:avLst/>
              <a:gdLst/>
              <a:ahLst/>
              <a:cxnLst/>
              <a:rect l="l" t="t" r="r" b="b"/>
              <a:pathLst>
                <a:path w="97155" h="194310">
                  <a:moveTo>
                    <a:pt x="0" y="0"/>
                  </a:moveTo>
                  <a:lnTo>
                    <a:pt x="97155" y="97155"/>
                  </a:lnTo>
                  <a:lnTo>
                    <a:pt x="0" y="19431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item_2"/>
          <p:cNvSpPr txBox="1"/>
          <p:nvPr/>
        </p:nvSpPr>
        <p:spPr>
          <a:xfrm>
            <a:off x="1522636" y="4332947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Составляет план колоды</a:t>
            </a:r>
          </a:p>
        </p:txBody>
      </p:sp>
      <p:grpSp>
        <p:nvGrpSpPr>
          <p:cNvPr id="19" name="icon:builtin-search"/>
          <p:cNvGrpSpPr/>
          <p:nvPr/>
        </p:nvGrpSpPr>
        <p:grpSpPr>
          <a:xfrm>
            <a:off x="774542" y="5342755"/>
            <a:ext cx="412908" cy="412908"/>
            <a:chOff x="774542" y="5342755"/>
            <a:chExt cx="412908" cy="412908"/>
          </a:xfrm>
        </p:grpSpPr>
        <p:sp>
          <p:nvSpPr>
            <p:cNvPr id="20" name="Oval 19"/>
            <p:cNvSpPr/>
            <p:nvPr/>
          </p:nvSpPr>
          <p:spPr>
            <a:xfrm>
              <a:off x="774542" y="5342755"/>
              <a:ext cx="340042" cy="340042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70864" y="5639077"/>
              <a:ext cx="116586" cy="116586"/>
            </a:xfrm>
            <a:custGeom>
              <a:avLst/>
              <a:gdLst/>
              <a:ahLst/>
              <a:cxnLst/>
              <a:rect l="l" t="t" r="r" b="b"/>
              <a:pathLst>
                <a:path w="116586" h="116586">
                  <a:moveTo>
                    <a:pt x="0" y="0"/>
                  </a:moveTo>
                  <a:lnTo>
                    <a:pt x="116586" y="116586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item_3"/>
          <p:cNvSpPr txBox="1"/>
          <p:nvPr/>
        </p:nvSpPr>
        <p:spPr>
          <a:xfrm>
            <a:off x="1522636" y="5288145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Аудит качества до выдачи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Экспорт в pptx, pdf, html, слайды остаются редактируемыми</a:t>
            </a:r>
          </a:p>
        </p:txBody>
      </p:sp>
      <p:sp>
        <p:nvSpPr>
          <p:cNvPr id="797" name="card_0"/>
          <p:cNvSpPr txBox="1"/>
          <p:nvPr/>
        </p:nvSpPr>
        <p:spPr>
          <a:xfrm>
            <a:off x="806889" y="3427872"/>
            <a:ext cx="2583926" cy="27527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 с нативными объектами</a:t>
            </a:r>
          </a:p>
        </p:txBody>
      </p:sp>
      <p:sp>
        <p:nvSpPr>
          <p:cNvPr id="798" name="card_1"/>
          <p:cNvSpPr txBox="1"/>
          <p:nvPr/>
        </p:nvSpPr>
        <p:spPr>
          <a:xfrm>
            <a:off x="4533496" y="3421494"/>
            <a:ext cx="2583926" cy="275917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Pdf и html</a:t>
            </a:r>
          </a:p>
        </p:txBody>
      </p:sp>
      <p:sp>
        <p:nvSpPr>
          <p:cNvPr id="799" name="card_2"/>
          <p:cNvSpPr txBox="1"/>
          <p:nvPr/>
        </p:nvSpPr>
        <p:spPr>
          <a:xfrm>
            <a:off x="8264469" y="3425860"/>
            <a:ext cx="2575194" cy="275043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Слайды редактируемы, без слайд-картинок</a:t>
            </a:r>
          </a:p>
        </p:txBody>
      </p:sp>
      <p:grpSp>
        <p:nvGrpSpPr>
          <p:cNvPr id="2" name="icon:builtin-download"/>
          <p:cNvGrpSpPr/>
          <p:nvPr/>
        </p:nvGrpSpPr>
        <p:grpSpPr>
          <a:xfrm>
            <a:off x="763029" y="2657388"/>
            <a:ext cx="262993" cy="338133"/>
            <a:chOff x="763029" y="2657388"/>
            <a:chExt cx="262993" cy="338133"/>
          </a:xfrm>
        </p:grpSpPr>
        <p:sp>
          <p:nvSpPr>
            <p:cNvPr id="3" name="Freeform 2"/>
            <p:cNvSpPr/>
            <p:nvPr/>
          </p:nvSpPr>
          <p:spPr>
            <a:xfrm>
              <a:off x="894526" y="2657388"/>
              <a:ext cx="0" cy="225422"/>
            </a:xfrm>
            <a:custGeom>
              <a:avLst/>
              <a:gdLst/>
              <a:ahLst/>
              <a:cxnLst/>
              <a:rect l="l" t="t" r="r" b="b"/>
              <a:pathLst>
                <a:path w="0" h="225422">
                  <a:moveTo>
                    <a:pt x="0" y="0"/>
                  </a:moveTo>
                  <a:lnTo>
                    <a:pt x="0" y="225422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800600" y="2788884"/>
              <a:ext cx="187851" cy="93926"/>
            </a:xfrm>
            <a:custGeom>
              <a:avLst/>
              <a:gdLst/>
              <a:ahLst/>
              <a:cxnLst/>
              <a:rect l="l" t="t" r="r" b="b"/>
              <a:pathLst>
                <a:path w="187851" h="93926">
                  <a:moveTo>
                    <a:pt x="0" y="0"/>
                  </a:moveTo>
                  <a:lnTo>
                    <a:pt x="93926" y="93926"/>
                  </a:lnTo>
                  <a:lnTo>
                    <a:pt x="187851" y="0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63029" y="2995521"/>
              <a:ext cx="262993" cy="0"/>
            </a:xfrm>
            <a:custGeom>
              <a:avLst/>
              <a:gdLst/>
              <a:ahLst/>
              <a:cxnLst/>
              <a:rect l="l" t="t" r="r" b="b"/>
              <a:pathLst>
                <a:path w="262993" h="0">
                  <a:moveTo>
                    <a:pt x="0" y="0"/>
                  </a:moveTo>
                  <a:lnTo>
                    <a:pt x="262993" y="0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icon:builtin-document"/>
          <p:cNvGrpSpPr/>
          <p:nvPr/>
        </p:nvGrpSpPr>
        <p:grpSpPr>
          <a:xfrm>
            <a:off x="4476957" y="2657388"/>
            <a:ext cx="262993" cy="338133"/>
            <a:chOff x="4476957" y="2657388"/>
            <a:chExt cx="262993" cy="338133"/>
          </a:xfrm>
        </p:grpSpPr>
        <p:sp>
          <p:nvSpPr>
            <p:cNvPr id="7" name="Freeform 6"/>
            <p:cNvSpPr/>
            <p:nvPr/>
          </p:nvSpPr>
          <p:spPr>
            <a:xfrm>
              <a:off x="4476957" y="2657388"/>
              <a:ext cx="262993" cy="338133"/>
            </a:xfrm>
            <a:custGeom>
              <a:avLst/>
              <a:gdLst/>
              <a:ahLst/>
              <a:cxnLst/>
              <a:rect l="l" t="t" r="r" b="b"/>
              <a:pathLst>
                <a:path w="262993" h="338133">
                  <a:moveTo>
                    <a:pt x="169067" y="0"/>
                  </a:moveTo>
                  <a:lnTo>
                    <a:pt x="37571" y="0"/>
                  </a:lnTo>
                  <a:lnTo>
                    <a:pt x="30244" y="714"/>
                  </a:lnTo>
                  <a:lnTo>
                    <a:pt x="23200" y="2855"/>
                  </a:lnTo>
                  <a:lnTo>
                    <a:pt x="16700" y="6331"/>
                  </a:lnTo>
                  <a:lnTo>
                    <a:pt x="11008" y="11008"/>
                  </a:lnTo>
                  <a:lnTo>
                    <a:pt x="6331" y="16700"/>
                  </a:lnTo>
                  <a:lnTo>
                    <a:pt x="2856" y="23200"/>
                  </a:lnTo>
                  <a:lnTo>
                    <a:pt x="714" y="30244"/>
                  </a:lnTo>
                  <a:lnTo>
                    <a:pt x="0" y="37570"/>
                  </a:lnTo>
                  <a:lnTo>
                    <a:pt x="0" y="300563"/>
                  </a:lnTo>
                  <a:lnTo>
                    <a:pt x="714" y="307889"/>
                  </a:lnTo>
                  <a:lnTo>
                    <a:pt x="2856" y="314933"/>
                  </a:lnTo>
                  <a:lnTo>
                    <a:pt x="6331" y="321433"/>
                  </a:lnTo>
                  <a:lnTo>
                    <a:pt x="11008" y="327125"/>
                  </a:lnTo>
                  <a:lnTo>
                    <a:pt x="16700" y="331802"/>
                  </a:lnTo>
                  <a:lnTo>
                    <a:pt x="23200" y="335278"/>
                  </a:lnTo>
                  <a:lnTo>
                    <a:pt x="30244" y="337419"/>
                  </a:lnTo>
                  <a:lnTo>
                    <a:pt x="37571" y="338133"/>
                  </a:lnTo>
                  <a:lnTo>
                    <a:pt x="225422" y="338133"/>
                  </a:lnTo>
                  <a:lnTo>
                    <a:pt x="232749" y="337419"/>
                  </a:lnTo>
                  <a:lnTo>
                    <a:pt x="239793" y="335278"/>
                  </a:lnTo>
                  <a:lnTo>
                    <a:pt x="246293" y="331802"/>
                  </a:lnTo>
                  <a:lnTo>
                    <a:pt x="251985" y="327125"/>
                  </a:lnTo>
                  <a:lnTo>
                    <a:pt x="256662" y="321433"/>
                  </a:lnTo>
                  <a:lnTo>
                    <a:pt x="260137" y="314933"/>
                  </a:lnTo>
                  <a:lnTo>
                    <a:pt x="262279" y="307889"/>
                  </a:lnTo>
                  <a:lnTo>
                    <a:pt x="262993" y="300563"/>
                  </a:lnTo>
                  <a:lnTo>
                    <a:pt x="262993" y="93926"/>
                  </a:lnTo>
                  <a:close/>
                </a:path>
              </a:pathLst>
            </a:custGeom>
            <a:noFill/>
            <a:ln w="37570" cap="rnd">
              <a:solidFill>
                <a:srgbClr val="0076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4646024" y="2657388"/>
              <a:ext cx="93926" cy="93926"/>
            </a:xfrm>
            <a:custGeom>
              <a:avLst/>
              <a:gdLst/>
              <a:ahLst/>
              <a:cxnLst/>
              <a:rect l="l" t="t" r="r" b="b"/>
              <a:pathLst>
                <a:path w="93926" h="93926">
                  <a:moveTo>
                    <a:pt x="0" y="0"/>
                  </a:moveTo>
                  <a:lnTo>
                    <a:pt x="0" y="93926"/>
                  </a:lnTo>
                  <a:lnTo>
                    <a:pt x="93926" y="93926"/>
                  </a:lnTo>
                </a:path>
              </a:pathLst>
            </a:custGeom>
            <a:noFill/>
            <a:ln w="37570" cap="rnd">
              <a:solidFill>
                <a:srgbClr val="0076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4552098" y="2845240"/>
              <a:ext cx="112711" cy="0"/>
            </a:xfrm>
            <a:custGeom>
              <a:avLst/>
              <a:gdLst/>
              <a:ahLst/>
              <a:cxnLst/>
              <a:rect l="l" t="t" r="r" b="b"/>
              <a:pathLst>
                <a:path w="112711" h="0">
                  <a:moveTo>
                    <a:pt x="0" y="0"/>
                  </a:moveTo>
                  <a:lnTo>
                    <a:pt x="112711" y="0"/>
                  </a:lnTo>
                </a:path>
              </a:pathLst>
            </a:custGeom>
            <a:noFill/>
            <a:ln w="37570" cap="rnd">
              <a:solidFill>
                <a:srgbClr val="0076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4552098" y="2920380"/>
              <a:ext cx="75141" cy="0"/>
            </a:xfrm>
            <a:custGeom>
              <a:avLst/>
              <a:gdLst/>
              <a:ahLst/>
              <a:cxnLst/>
              <a:rect l="l" t="t" r="r" b="b"/>
              <a:pathLst>
                <a:path w="75141" h="0">
                  <a:moveTo>
                    <a:pt x="0" y="0"/>
                  </a:moveTo>
                  <a:lnTo>
                    <a:pt x="75141" y="0"/>
                  </a:lnTo>
                </a:path>
              </a:pathLst>
            </a:custGeom>
            <a:noFill/>
            <a:ln w="37570" cap="rnd">
              <a:solidFill>
                <a:srgbClr val="0076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icon:builtin-presentation"/>
          <p:cNvGrpSpPr/>
          <p:nvPr/>
        </p:nvGrpSpPr>
        <p:grpSpPr>
          <a:xfrm>
            <a:off x="8153314" y="2678368"/>
            <a:ext cx="338133" cy="300563"/>
            <a:chOff x="8153314" y="2678368"/>
            <a:chExt cx="338133" cy="300563"/>
          </a:xfrm>
        </p:grpSpPr>
        <p:sp>
          <p:nvSpPr>
            <p:cNvPr id="800" name="Rounded Rectangle 799"/>
            <p:cNvSpPr/>
            <p:nvPr/>
          </p:nvSpPr>
          <p:spPr>
            <a:xfrm>
              <a:off x="8153314" y="2678368"/>
              <a:ext cx="338133" cy="225422"/>
            </a:xfrm>
            <a:prstGeom prst="roundRect">
              <a:avLst>
                <a:gd name="adj" fmla="val 12500"/>
              </a:avLst>
            </a:pr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8322381" y="2903790"/>
              <a:ext cx="0" cy="75141"/>
            </a:xfrm>
            <a:custGeom>
              <a:avLst/>
              <a:gdLst/>
              <a:ahLst/>
              <a:cxnLst/>
              <a:rect l="l" t="t" r="r" b="b"/>
              <a:pathLst>
                <a:path w="0" h="75141">
                  <a:moveTo>
                    <a:pt x="0" y="0"/>
                  </a:moveTo>
                  <a:lnTo>
                    <a:pt x="0" y="75141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47240" y="2978931"/>
              <a:ext cx="150281" cy="0"/>
            </a:xfrm>
            <a:custGeom>
              <a:avLst/>
              <a:gdLst/>
              <a:ahLst/>
              <a:cxnLst/>
              <a:rect l="l" t="t" r="r" b="b"/>
              <a:pathLst>
                <a:path w="150281" h="0">
                  <a:moveTo>
                    <a:pt x="0" y="0"/>
                  </a:moveTo>
                  <a:lnTo>
                    <a:pt x="150281" y="0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28455" y="2734724"/>
              <a:ext cx="187851" cy="93926"/>
            </a:xfrm>
            <a:custGeom>
              <a:avLst/>
              <a:gdLst/>
              <a:ahLst/>
              <a:cxnLst/>
              <a:rect l="l" t="t" r="r" b="b"/>
              <a:pathLst>
                <a:path w="187851" h="93926">
                  <a:moveTo>
                    <a:pt x="0" y="93926"/>
                  </a:moveTo>
                  <a:lnTo>
                    <a:pt x="56355" y="37570"/>
                  </a:lnTo>
                  <a:lnTo>
                    <a:pt x="112711" y="75140"/>
                  </a:lnTo>
                  <a:lnTo>
                    <a:pt x="187851" y="0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Средняя сборка колоды за 4 минуты вместо 186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77387" y="2380007"/>
          <a:ext cx="10855878" cy="38207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 до первой версии сократилось с 6 дней до 1</a:t>
            </a:r>
          </a:p>
        </p:txBody>
      </p:sp>
      <p:grpSp>
        <p:nvGrpSpPr>
          <p:cNvPr id="3" name="icon:builtin-shield"/>
          <p:cNvGrpSpPr/>
          <p:nvPr/>
        </p:nvGrpSpPr>
        <p:grpSpPr>
          <a:xfrm>
            <a:off x="798830" y="2452873"/>
            <a:ext cx="340043" cy="437197"/>
            <a:chOff x="798830" y="2452873"/>
            <a:chExt cx="340043" cy="437197"/>
          </a:xfrm>
        </p:grpSpPr>
        <p:sp>
          <p:nvSpPr>
            <p:cNvPr id="4" name="Freeform 3"/>
            <p:cNvSpPr/>
            <p:nvPr/>
          </p:nvSpPr>
          <p:spPr>
            <a:xfrm>
              <a:off x="798830" y="2452873"/>
              <a:ext cx="340043" cy="437197"/>
            </a:xfrm>
            <a:custGeom>
              <a:avLst/>
              <a:gdLst/>
              <a:ahLst/>
              <a:cxnLst/>
              <a:rect l="l" t="t" r="r" b="b"/>
              <a:pathLst>
                <a:path w="340043" h="437197">
                  <a:moveTo>
                    <a:pt x="170022" y="0"/>
                  </a:moveTo>
                  <a:lnTo>
                    <a:pt x="340043" y="72866"/>
                  </a:lnTo>
                  <a:lnTo>
                    <a:pt x="340043" y="194310"/>
                  </a:lnTo>
                  <a:lnTo>
                    <a:pt x="337905" y="226687"/>
                  </a:lnTo>
                  <a:lnTo>
                    <a:pt x="331687" y="258043"/>
                  </a:lnTo>
                  <a:lnTo>
                    <a:pt x="321680" y="288089"/>
                  </a:lnTo>
                  <a:lnTo>
                    <a:pt x="308176" y="316531"/>
                  </a:lnTo>
                  <a:lnTo>
                    <a:pt x="291465" y="343078"/>
                  </a:lnTo>
                  <a:lnTo>
                    <a:pt x="271840" y="367440"/>
                  </a:lnTo>
                  <a:lnTo>
                    <a:pt x="249591" y="389324"/>
                  </a:lnTo>
                  <a:lnTo>
                    <a:pt x="225011" y="408439"/>
                  </a:lnTo>
                  <a:lnTo>
                    <a:pt x="198391" y="424494"/>
                  </a:lnTo>
                  <a:lnTo>
                    <a:pt x="170022" y="437197"/>
                  </a:lnTo>
                  <a:lnTo>
                    <a:pt x="141652" y="424494"/>
                  </a:lnTo>
                  <a:lnTo>
                    <a:pt x="115032" y="408439"/>
                  </a:lnTo>
                  <a:lnTo>
                    <a:pt x="90452" y="389324"/>
                  </a:lnTo>
                  <a:lnTo>
                    <a:pt x="68203" y="367440"/>
                  </a:lnTo>
                  <a:lnTo>
                    <a:pt x="48578" y="343078"/>
                  </a:lnTo>
                  <a:lnTo>
                    <a:pt x="31867" y="316531"/>
                  </a:lnTo>
                  <a:lnTo>
                    <a:pt x="18363" y="288089"/>
                  </a:lnTo>
                  <a:lnTo>
                    <a:pt x="8356" y="258043"/>
                  </a:lnTo>
                  <a:lnTo>
                    <a:pt x="2138" y="226687"/>
                  </a:lnTo>
                  <a:lnTo>
                    <a:pt x="0" y="194310"/>
                  </a:lnTo>
                  <a:lnTo>
                    <a:pt x="0" y="72866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895985" y="2622894"/>
              <a:ext cx="145733" cy="97155"/>
            </a:xfrm>
            <a:custGeom>
              <a:avLst/>
              <a:gdLst/>
              <a:ahLst/>
              <a:cxnLst/>
              <a:rect l="l" t="t" r="r" b="b"/>
              <a:pathLst>
                <a:path w="145733" h="97155">
                  <a:moveTo>
                    <a:pt x="0" y="48578"/>
                  </a:moveTo>
                  <a:lnTo>
                    <a:pt x="48578" y="97155"/>
                  </a:lnTo>
                  <a:lnTo>
                    <a:pt x="145733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item_0"/>
          <p:cNvSpPr txBox="1"/>
          <p:nvPr/>
        </p:nvSpPr>
        <p:spPr>
          <a:xfrm>
            <a:off x="1522636" y="2389532"/>
            <a:ext cx="10010630" cy="176370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2 нарушения фирменного стиля из 68 колод</a:t>
            </a:r>
          </a:p>
        </p:txBody>
      </p:sp>
      <p:grpSp>
        <p:nvGrpSpPr>
          <p:cNvPr id="7" name="icon:builtin-edit"/>
          <p:cNvGrpSpPr/>
          <p:nvPr/>
        </p:nvGrpSpPr>
        <p:grpSpPr>
          <a:xfrm>
            <a:off x="774542" y="4421051"/>
            <a:ext cx="379414" cy="355126"/>
            <a:chOff x="774542" y="4421051"/>
            <a:chExt cx="379414" cy="355126"/>
          </a:xfrm>
        </p:grpSpPr>
        <p:sp>
          <p:nvSpPr>
            <p:cNvPr id="8" name="Freeform 7"/>
            <p:cNvSpPr/>
            <p:nvPr/>
          </p:nvSpPr>
          <p:spPr>
            <a:xfrm>
              <a:off x="774542" y="4421051"/>
              <a:ext cx="379414" cy="355126"/>
            </a:xfrm>
            <a:custGeom>
              <a:avLst/>
              <a:gdLst/>
              <a:ahLst/>
              <a:cxnLst/>
              <a:rect l="l" t="t" r="r" b="b"/>
              <a:pathLst>
                <a:path w="379414" h="355126">
                  <a:moveTo>
                    <a:pt x="0" y="355126"/>
                  </a:moveTo>
                  <a:lnTo>
                    <a:pt x="97155" y="355126"/>
                  </a:lnTo>
                  <a:lnTo>
                    <a:pt x="364331" y="87949"/>
                  </a:lnTo>
                  <a:lnTo>
                    <a:pt x="370743" y="80153"/>
                  </a:lnTo>
                  <a:lnTo>
                    <a:pt x="375504" y="71239"/>
                  </a:lnTo>
                  <a:lnTo>
                    <a:pt x="378443" y="61572"/>
                  </a:lnTo>
                  <a:lnTo>
                    <a:pt x="379414" y="51516"/>
                  </a:lnTo>
                  <a:lnTo>
                    <a:pt x="378443" y="41461"/>
                  </a:lnTo>
                  <a:lnTo>
                    <a:pt x="375504" y="31794"/>
                  </a:lnTo>
                  <a:lnTo>
                    <a:pt x="370743" y="22880"/>
                  </a:lnTo>
                  <a:lnTo>
                    <a:pt x="364331" y="15083"/>
                  </a:lnTo>
                  <a:lnTo>
                    <a:pt x="356534" y="8671"/>
                  </a:lnTo>
                  <a:lnTo>
                    <a:pt x="347620" y="3910"/>
                  </a:lnTo>
                  <a:lnTo>
                    <a:pt x="337953" y="971"/>
                  </a:lnTo>
                  <a:lnTo>
                    <a:pt x="327898" y="0"/>
                  </a:lnTo>
                  <a:lnTo>
                    <a:pt x="317842" y="971"/>
                  </a:lnTo>
                  <a:lnTo>
                    <a:pt x="308175" y="3910"/>
                  </a:lnTo>
                  <a:lnTo>
                    <a:pt x="299261" y="8671"/>
                  </a:lnTo>
                  <a:lnTo>
                    <a:pt x="291465" y="15083"/>
                  </a:lnTo>
                  <a:lnTo>
                    <a:pt x="24288" y="282259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1017429" y="4484712"/>
              <a:ext cx="72866" cy="72866"/>
            </a:xfrm>
            <a:custGeom>
              <a:avLst/>
              <a:gdLst/>
              <a:ahLst/>
              <a:cxnLst/>
              <a:rect l="l" t="t" r="r" b="b"/>
              <a:pathLst>
                <a:path w="72866" h="72866">
                  <a:moveTo>
                    <a:pt x="0" y="0"/>
                  </a:moveTo>
                  <a:lnTo>
                    <a:pt x="72866" y="72866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item_1"/>
          <p:cNvSpPr txBox="1"/>
          <p:nvPr/>
        </p:nvSpPr>
        <p:spPr>
          <a:xfrm>
            <a:off x="1522636" y="4299927"/>
            <a:ext cx="10010630" cy="176370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Обе исправлены автоматическими правками аудита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875" y="692177"/>
            <a:ext cx="10855391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Дизайнеры закрыли 38 запросов за 6 недель, исходный показатель 11 запросов в неделю</a:t>
            </a:r>
          </a:p>
        </p:txBody>
      </p:sp>
      <p:sp>
        <p:nvSpPr>
          <p:cNvPr id="3" name="stat_0:bar"/>
          <p:cNvSpPr/>
          <p:nvPr/>
        </p:nvSpPr>
        <p:spPr>
          <a:xfrm>
            <a:off x="677875" y="2947145"/>
            <a:ext cx="50800" cy="18105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675" y="2837417"/>
            <a:ext cx="5032787" cy="1920239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38 запросов за 6 недель</a:t>
            </a:r>
          </a:p>
        </p:txBody>
      </p:sp>
      <p:sp>
        <p:nvSpPr>
          <p:cNvPr id="5" name="stat_1:bar"/>
          <p:cNvSpPr/>
          <p:nvPr/>
        </p:nvSpPr>
        <p:spPr>
          <a:xfrm>
            <a:off x="6322678" y="2947145"/>
            <a:ext cx="50800" cy="18105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500478" y="2837417"/>
            <a:ext cx="5032787" cy="1920239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11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11 запросов в неделю в исходном показателе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title"/>
          <p:cNvSpPr txBox="1"/>
          <p:nvPr/>
        </p:nvSpPr>
        <p:spPr>
          <a:xfrm>
            <a:off x="677387" y="692177"/>
            <a:ext cx="10855878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работает на 2 vCPU/2GB, модель gpt-oss-20b, инференс за 6 недель 1400 руб</a:t>
            </a:r>
          </a:p>
        </p:txBody>
      </p:sp>
      <p:sp>
        <p:nvSpPr>
          <p:cNvPr id="451" name="body"/>
          <p:cNvSpPr txBox="1"/>
          <p:nvPr/>
        </p:nvSpPr>
        <p:spPr>
          <a:xfrm>
            <a:off x="677387" y="2115847"/>
            <a:ext cx="10855878" cy="497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gpt-oss-20b</a:t>
            </a:r>
          </a:p>
        </p:txBody>
      </p:sp>
      <p:sp>
        <p:nvSpPr>
          <p:cNvPr id="452" name="stat_0:bar"/>
          <p:cNvSpPr/>
          <p:nvPr/>
        </p:nvSpPr>
        <p:spPr>
          <a:xfrm>
            <a:off x="677387" y="292915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stat_0"/>
          <p:cNvSpPr txBox="1"/>
          <p:nvPr/>
        </p:nvSpPr>
        <p:spPr>
          <a:xfrm>
            <a:off x="855187" y="281942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2 vCPU / 2 GB RAM</a:t>
            </a:r>
          </a:p>
        </p:txBody>
      </p:sp>
      <p:sp>
        <p:nvSpPr>
          <p:cNvPr id="454" name="stat_1:bar"/>
          <p:cNvSpPr/>
          <p:nvPr/>
        </p:nvSpPr>
        <p:spPr>
          <a:xfrm>
            <a:off x="6322444" y="2929155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stat_1"/>
          <p:cNvSpPr txBox="1"/>
          <p:nvPr/>
        </p:nvSpPr>
        <p:spPr>
          <a:xfrm>
            <a:off x="6500244" y="2819427"/>
            <a:ext cx="5033021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Инференс за 6 недель 1 400 руб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pic>
        <p:nvPicPr>
          <p:cNvPr id="762" name="Google Shape;76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5070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671513" y="256230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риск — нагрузка выше 20 задач требует внешней очереди</a:t>
            </a:r>
          </a:p>
        </p:txBody>
      </p:sp>
      <p:sp>
        <p:nvSpPr>
          <p:cNvPr id="773" name="card_0"/>
          <p:cNvSpPr txBox="1"/>
          <p:nvPr/>
        </p:nvSpPr>
        <p:spPr>
          <a:xfrm>
            <a:off x="806889" y="3928712"/>
            <a:ext cx="2583926" cy="225195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может выдумать цифры</a:t>
            </a:r>
          </a:p>
        </p:txBody>
      </p:sp>
      <p:sp>
        <p:nvSpPr>
          <p:cNvPr id="774" name="card_1"/>
          <p:cNvSpPr txBox="1"/>
          <p:nvPr/>
        </p:nvSpPr>
        <p:spPr>
          <a:xfrm>
            <a:off x="4533496" y="3922334"/>
            <a:ext cx="2583926" cy="225833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Неизвестный шаблон может быть плохо сделанным</a:t>
            </a:r>
          </a:p>
        </p:txBody>
      </p:sp>
      <p:sp>
        <p:nvSpPr>
          <p:cNvPr id="775" name="card_2"/>
          <p:cNvSpPr txBox="1"/>
          <p:nvPr/>
        </p:nvSpPr>
        <p:spPr>
          <a:xfrm>
            <a:off x="8264469" y="3926700"/>
            <a:ext cx="2575194" cy="224959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Нагрузка выше 20 задач требует внешней очереди</a:t>
            </a:r>
          </a:p>
        </p:txBody>
      </p:sp>
      <p:grpSp>
        <p:nvGrpSpPr>
          <p:cNvPr id="2" name="icon:builtin-sparkles"/>
          <p:cNvGrpSpPr/>
          <p:nvPr/>
        </p:nvGrpSpPr>
        <p:grpSpPr>
          <a:xfrm>
            <a:off x="973341" y="2826575"/>
            <a:ext cx="304320" cy="291170"/>
            <a:chOff x="973341" y="2826575"/>
            <a:chExt cx="304320" cy="291170"/>
          </a:xfrm>
        </p:grpSpPr>
        <p:sp>
          <p:nvSpPr>
            <p:cNvPr id="3" name="Freeform 2"/>
            <p:cNvSpPr/>
            <p:nvPr/>
          </p:nvSpPr>
          <p:spPr>
            <a:xfrm>
              <a:off x="973341" y="2826575"/>
              <a:ext cx="225422" cy="225422"/>
            </a:xfrm>
            <a:custGeom>
              <a:avLst/>
              <a:gdLst/>
              <a:ahLst/>
              <a:cxnLst/>
              <a:rect l="l" t="t" r="r" b="b"/>
              <a:pathLst>
                <a:path w="225422" h="225422">
                  <a:moveTo>
                    <a:pt x="112711" y="0"/>
                  </a:moveTo>
                  <a:lnTo>
                    <a:pt x="116130" y="21171"/>
                  </a:lnTo>
                  <a:lnTo>
                    <a:pt x="120827" y="39674"/>
                  </a:lnTo>
                  <a:lnTo>
                    <a:pt x="126988" y="55698"/>
                  </a:lnTo>
                  <a:lnTo>
                    <a:pt x="134803" y="69430"/>
                  </a:lnTo>
                  <a:lnTo>
                    <a:pt x="144421" y="81002"/>
                  </a:lnTo>
                  <a:lnTo>
                    <a:pt x="155992" y="90620"/>
                  </a:lnTo>
                  <a:lnTo>
                    <a:pt x="169706" y="98415"/>
                  </a:lnTo>
                  <a:lnTo>
                    <a:pt x="185748" y="104596"/>
                  </a:lnTo>
                  <a:lnTo>
                    <a:pt x="204251" y="109311"/>
                  </a:lnTo>
                  <a:lnTo>
                    <a:pt x="225422" y="112711"/>
                  </a:lnTo>
                  <a:lnTo>
                    <a:pt x="204251" y="116130"/>
                  </a:lnTo>
                  <a:lnTo>
                    <a:pt x="185748" y="120826"/>
                  </a:lnTo>
                  <a:lnTo>
                    <a:pt x="169706" y="126988"/>
                  </a:lnTo>
                  <a:lnTo>
                    <a:pt x="155992" y="134802"/>
                  </a:lnTo>
                  <a:lnTo>
                    <a:pt x="144421" y="144420"/>
                  </a:lnTo>
                  <a:lnTo>
                    <a:pt x="134803" y="155992"/>
                  </a:lnTo>
                  <a:lnTo>
                    <a:pt x="126988" y="169705"/>
                  </a:lnTo>
                  <a:lnTo>
                    <a:pt x="120827" y="185748"/>
                  </a:lnTo>
                  <a:lnTo>
                    <a:pt x="116130" y="204270"/>
                  </a:lnTo>
                  <a:lnTo>
                    <a:pt x="112711" y="225422"/>
                  </a:lnTo>
                  <a:lnTo>
                    <a:pt x="109311" y="204270"/>
                  </a:lnTo>
                  <a:lnTo>
                    <a:pt x="104596" y="185748"/>
                  </a:lnTo>
                  <a:lnTo>
                    <a:pt x="98416" y="169705"/>
                  </a:lnTo>
                  <a:lnTo>
                    <a:pt x="90620" y="155992"/>
                  </a:lnTo>
                  <a:lnTo>
                    <a:pt x="81002" y="144420"/>
                  </a:lnTo>
                  <a:lnTo>
                    <a:pt x="69430" y="134802"/>
                  </a:lnTo>
                  <a:lnTo>
                    <a:pt x="55698" y="127007"/>
                  </a:lnTo>
                  <a:lnTo>
                    <a:pt x="39675" y="120826"/>
                  </a:lnTo>
                  <a:lnTo>
                    <a:pt x="21171" y="116111"/>
                  </a:lnTo>
                  <a:lnTo>
                    <a:pt x="0" y="112711"/>
                  </a:lnTo>
                  <a:lnTo>
                    <a:pt x="21171" y="109311"/>
                  </a:lnTo>
                  <a:lnTo>
                    <a:pt x="39675" y="104596"/>
                  </a:lnTo>
                  <a:lnTo>
                    <a:pt x="55698" y="98415"/>
                  </a:lnTo>
                  <a:lnTo>
                    <a:pt x="69430" y="90620"/>
                  </a:lnTo>
                  <a:lnTo>
                    <a:pt x="81002" y="81002"/>
                  </a:lnTo>
                  <a:lnTo>
                    <a:pt x="90620" y="69430"/>
                  </a:lnTo>
                  <a:lnTo>
                    <a:pt x="98416" y="55717"/>
                  </a:lnTo>
                  <a:lnTo>
                    <a:pt x="104596" y="39674"/>
                  </a:lnTo>
                  <a:lnTo>
                    <a:pt x="109311" y="21171"/>
                  </a:lnTo>
                  <a:lnTo>
                    <a:pt x="112711" y="0"/>
                  </a:lnTo>
                  <a:close/>
                </a:path>
              </a:pathLst>
            </a:cu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95006" y="3033212"/>
              <a:ext cx="82655" cy="84533"/>
            </a:xfrm>
            <a:custGeom>
              <a:avLst/>
              <a:gdLst/>
              <a:ahLst/>
              <a:cxnLst/>
              <a:rect l="l" t="t" r="r" b="b"/>
              <a:pathLst>
                <a:path w="82655" h="84533">
                  <a:moveTo>
                    <a:pt x="41328" y="0"/>
                  </a:moveTo>
                  <a:lnTo>
                    <a:pt x="42680" y="7965"/>
                  </a:lnTo>
                  <a:lnTo>
                    <a:pt x="44540" y="14953"/>
                  </a:lnTo>
                  <a:lnTo>
                    <a:pt x="46944" y="21039"/>
                  </a:lnTo>
                  <a:lnTo>
                    <a:pt x="49931" y="26299"/>
                  </a:lnTo>
                  <a:lnTo>
                    <a:pt x="53538" y="30770"/>
                  </a:lnTo>
                  <a:lnTo>
                    <a:pt x="57821" y="34489"/>
                  </a:lnTo>
                  <a:lnTo>
                    <a:pt x="62837" y="37533"/>
                  </a:lnTo>
                  <a:lnTo>
                    <a:pt x="68623" y="39975"/>
                  </a:lnTo>
                  <a:lnTo>
                    <a:pt x="75216" y="41834"/>
                  </a:lnTo>
                  <a:lnTo>
                    <a:pt x="82655" y="43206"/>
                  </a:lnTo>
                  <a:lnTo>
                    <a:pt x="75216" y="44558"/>
                  </a:lnTo>
                  <a:lnTo>
                    <a:pt x="68623" y="46418"/>
                  </a:lnTo>
                  <a:lnTo>
                    <a:pt x="62837" y="48822"/>
                  </a:lnTo>
                  <a:lnTo>
                    <a:pt x="57821" y="51809"/>
                  </a:lnTo>
                  <a:lnTo>
                    <a:pt x="53538" y="55416"/>
                  </a:lnTo>
                  <a:lnTo>
                    <a:pt x="49931" y="59699"/>
                  </a:lnTo>
                  <a:lnTo>
                    <a:pt x="46944" y="64715"/>
                  </a:lnTo>
                  <a:lnTo>
                    <a:pt x="44540" y="70501"/>
                  </a:lnTo>
                  <a:lnTo>
                    <a:pt x="42680" y="77094"/>
                  </a:lnTo>
                  <a:lnTo>
                    <a:pt x="41328" y="84533"/>
                  </a:lnTo>
                  <a:lnTo>
                    <a:pt x="39975" y="77094"/>
                  </a:lnTo>
                  <a:lnTo>
                    <a:pt x="38115" y="70501"/>
                  </a:lnTo>
                  <a:lnTo>
                    <a:pt x="35711" y="64715"/>
                  </a:lnTo>
                  <a:lnTo>
                    <a:pt x="32724" y="59699"/>
                  </a:lnTo>
                  <a:lnTo>
                    <a:pt x="29117" y="55416"/>
                  </a:lnTo>
                  <a:lnTo>
                    <a:pt x="24834" y="51809"/>
                  </a:lnTo>
                  <a:lnTo>
                    <a:pt x="19819" y="48822"/>
                  </a:lnTo>
                  <a:lnTo>
                    <a:pt x="14033" y="46418"/>
                  </a:lnTo>
                  <a:lnTo>
                    <a:pt x="7439" y="44558"/>
                  </a:lnTo>
                  <a:lnTo>
                    <a:pt x="0" y="43206"/>
                  </a:lnTo>
                  <a:lnTo>
                    <a:pt x="7439" y="41853"/>
                  </a:lnTo>
                  <a:lnTo>
                    <a:pt x="14033" y="39975"/>
                  </a:lnTo>
                  <a:lnTo>
                    <a:pt x="19819" y="37533"/>
                  </a:lnTo>
                  <a:lnTo>
                    <a:pt x="24834" y="34489"/>
                  </a:lnTo>
                  <a:lnTo>
                    <a:pt x="29117" y="30770"/>
                  </a:lnTo>
                  <a:lnTo>
                    <a:pt x="32724" y="26299"/>
                  </a:lnTo>
                  <a:lnTo>
                    <a:pt x="35711" y="21039"/>
                  </a:lnTo>
                  <a:lnTo>
                    <a:pt x="38115" y="14953"/>
                  </a:lnTo>
                  <a:lnTo>
                    <a:pt x="39975" y="7965"/>
                  </a:lnTo>
                  <a:lnTo>
                    <a:pt x="41328" y="0"/>
                  </a:lnTo>
                  <a:close/>
                </a:path>
              </a:pathLst>
            </a:cu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icon:builtin-question"/>
          <p:cNvGrpSpPr/>
          <p:nvPr/>
        </p:nvGrpSpPr>
        <p:grpSpPr>
          <a:xfrm>
            <a:off x="4649698" y="2826575"/>
            <a:ext cx="338133" cy="338133"/>
            <a:chOff x="4649698" y="2826575"/>
            <a:chExt cx="338133" cy="338133"/>
          </a:xfrm>
        </p:grpSpPr>
        <p:sp>
          <p:nvSpPr>
            <p:cNvPr id="776" name="Oval 775"/>
            <p:cNvSpPr/>
            <p:nvPr/>
          </p:nvSpPr>
          <p:spPr>
            <a:xfrm>
              <a:off x="4649698" y="2826575"/>
              <a:ext cx="338133" cy="338133"/>
            </a:xfrm>
            <a:prstGeom prst="ellipse">
              <a:avLst/>
            </a:prstGeom>
            <a:noFill/>
            <a:ln w="37570" cap="rnd">
              <a:solidFill>
                <a:srgbClr val="FEFE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771802" y="2900908"/>
              <a:ext cx="93850" cy="122911"/>
            </a:xfrm>
            <a:custGeom>
              <a:avLst/>
              <a:gdLst/>
              <a:ahLst/>
              <a:cxnLst/>
              <a:rect l="l" t="t" r="r" b="b"/>
              <a:pathLst>
                <a:path w="93850" h="122911">
                  <a:moveTo>
                    <a:pt x="0" y="47771"/>
                  </a:moveTo>
                  <a:lnTo>
                    <a:pt x="713" y="38697"/>
                  </a:lnTo>
                  <a:lnTo>
                    <a:pt x="3174" y="29925"/>
                  </a:lnTo>
                  <a:lnTo>
                    <a:pt x="7288" y="21791"/>
                  </a:lnTo>
                  <a:lnTo>
                    <a:pt x="12886" y="14596"/>
                  </a:lnTo>
                  <a:lnTo>
                    <a:pt x="19780" y="8622"/>
                  </a:lnTo>
                  <a:lnTo>
                    <a:pt x="27689" y="4095"/>
                  </a:lnTo>
                  <a:lnTo>
                    <a:pt x="36311" y="1183"/>
                  </a:lnTo>
                  <a:lnTo>
                    <a:pt x="45347" y="0"/>
                  </a:lnTo>
                  <a:lnTo>
                    <a:pt x="54439" y="563"/>
                  </a:lnTo>
                  <a:lnTo>
                    <a:pt x="63249" y="2874"/>
                  </a:lnTo>
                  <a:lnTo>
                    <a:pt x="71440" y="6856"/>
                  </a:lnTo>
                  <a:lnTo>
                    <a:pt x="78728" y="12342"/>
                  </a:lnTo>
                  <a:lnTo>
                    <a:pt x="84796" y="19123"/>
                  </a:lnTo>
                  <a:lnTo>
                    <a:pt x="89455" y="26957"/>
                  </a:lnTo>
                  <a:lnTo>
                    <a:pt x="92517" y="35541"/>
                  </a:lnTo>
                  <a:lnTo>
                    <a:pt x="93850" y="44540"/>
                  </a:lnTo>
                  <a:lnTo>
                    <a:pt x="93437" y="53650"/>
                  </a:lnTo>
                  <a:lnTo>
                    <a:pt x="91258" y="62498"/>
                  </a:lnTo>
                  <a:lnTo>
                    <a:pt x="87426" y="70764"/>
                  </a:lnTo>
                  <a:lnTo>
                    <a:pt x="82053" y="78127"/>
                  </a:lnTo>
                  <a:lnTo>
                    <a:pt x="75384" y="84308"/>
                  </a:lnTo>
                  <a:lnTo>
                    <a:pt x="67626" y="89098"/>
                  </a:lnTo>
                  <a:lnTo>
                    <a:pt x="63850" y="91465"/>
                  </a:lnTo>
                  <a:lnTo>
                    <a:pt x="60431" y="94057"/>
                  </a:lnTo>
                  <a:lnTo>
                    <a:pt x="57369" y="96875"/>
                  </a:lnTo>
                  <a:lnTo>
                    <a:pt x="54664" y="99918"/>
                  </a:lnTo>
                  <a:lnTo>
                    <a:pt x="52373" y="103187"/>
                  </a:lnTo>
                  <a:lnTo>
                    <a:pt x="50457" y="106681"/>
                  </a:lnTo>
                  <a:lnTo>
                    <a:pt x="48935" y="110400"/>
                  </a:lnTo>
                  <a:lnTo>
                    <a:pt x="47845" y="114345"/>
                  </a:lnTo>
                  <a:lnTo>
                    <a:pt x="47188" y="118516"/>
                  </a:lnTo>
                  <a:lnTo>
                    <a:pt x="46963" y="122911"/>
                  </a:lnTo>
                </a:path>
              </a:pathLst>
            </a:custGeom>
            <a:noFill/>
            <a:ln w="37570" cap="rnd">
              <a:solidFill>
                <a:srgbClr val="FEFE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7" name="Oval 776"/>
            <p:cNvSpPr/>
            <p:nvPr/>
          </p:nvSpPr>
          <p:spPr>
            <a:xfrm>
              <a:off x="4798101" y="3068904"/>
              <a:ext cx="41327" cy="41327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icon:builtin-target"/>
          <p:cNvGrpSpPr/>
          <p:nvPr/>
        </p:nvGrpSpPr>
        <p:grpSpPr>
          <a:xfrm>
            <a:off x="8363747" y="2828770"/>
            <a:ext cx="338133" cy="338133"/>
            <a:chOff x="8363747" y="2828770"/>
            <a:chExt cx="338133" cy="338133"/>
          </a:xfrm>
        </p:grpSpPr>
        <p:sp>
          <p:nvSpPr>
            <p:cNvPr id="778" name="Oval 777"/>
            <p:cNvSpPr/>
            <p:nvPr/>
          </p:nvSpPr>
          <p:spPr>
            <a:xfrm>
              <a:off x="8363747" y="2828770"/>
              <a:ext cx="338133" cy="338133"/>
            </a:xfrm>
            <a:prstGeom prst="ellipse">
              <a:avLst/>
            </a:pr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9" name="Oval 778"/>
            <p:cNvSpPr/>
            <p:nvPr/>
          </p:nvSpPr>
          <p:spPr>
            <a:xfrm>
              <a:off x="8438888" y="2903911"/>
              <a:ext cx="187851" cy="187851"/>
            </a:xfrm>
            <a:prstGeom prst="ellipse">
              <a:avLst/>
            </a:pr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0" name="Oval 779"/>
            <p:cNvSpPr/>
            <p:nvPr/>
          </p:nvSpPr>
          <p:spPr>
            <a:xfrm>
              <a:off x="8506514" y="2971537"/>
              <a:ext cx="52598" cy="52598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План развития: Q3 2026 подключение 4 команд, Q4 2026 доступ компании, Q1 2027 генерация иллюстраций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77387" y="3923600"/>
            <a:ext cx="10855878" cy="12651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2826" y="3522982"/>
            <a:ext cx="927746" cy="92774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7387" y="1983767"/>
            <a:ext cx="542793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Q3 2026</a:t>
            </a:r>
          </a:p>
        </p:txBody>
      </p:sp>
      <p:sp>
        <p:nvSpPr>
          <p:cNvPr id="6" name="Oval 5"/>
          <p:cNvSpPr/>
          <p:nvPr/>
        </p:nvSpPr>
        <p:spPr>
          <a:xfrm>
            <a:off x="5641452" y="3522982"/>
            <a:ext cx="927746" cy="92774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1356" y="4851346"/>
            <a:ext cx="542793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Q4 2026</a:t>
            </a:r>
          </a:p>
        </p:txBody>
      </p:sp>
      <p:sp>
        <p:nvSpPr>
          <p:cNvPr id="8" name="Oval 7"/>
          <p:cNvSpPr/>
          <p:nvPr/>
        </p:nvSpPr>
        <p:spPr>
          <a:xfrm>
            <a:off x="9260078" y="3522982"/>
            <a:ext cx="927746" cy="92774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5326" y="1983767"/>
            <a:ext cx="542793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Q1 2027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855" y="2400300"/>
            <a:ext cx="5475305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Решить о внедрении сервиса автоматической вёрстки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8855" y="4362245"/>
            <a:ext cx="10874410" cy="497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FFFFFF"/>
                </a:solidFill>
                <a:latin typeface="Play"/>
                <a:ea typeface="Play"/>
                <a:cs typeface="Play"/>
              </a:rPr>
              <a:t>Подтвердить переход к сервису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
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 (мин)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cat>
            <c:strRef>
              <c:f>Sheet1!$A$2:$A$3</c:f>
              <c:strCache>
                <c:ptCount val="2"/>
                <c:pt idx="0">
                  <c:v>Сейчас</c:v>
                </c:pt>
                <c:pt idx="1">
                  <c:v>После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186.0</c:v>
                </c:pt>
                <c:pt idx="1">
                  <c:v>4.0</c:v>
                </c:pt>
              </c:numCache>
            </c:numRef>
          </c:val>
        </c:ser>
        <c:dLbls>
          <c:numFmt formatCode="0&quot; мин&quot;" sourceLinked="0"/>
          <c:txPr>
            <a:bodyPr wrap="none"/>
            <a:lstStyle/>
            <a:p>
              <a:pPr>
                <a:defRPr sz="11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1D1D1"/>
              </a:solidFill>
            </a:ln>
          </c:spPr>
        </c:majorGridlines>
        <c:title>
          <c:tx>
            <c:rich>
              <a:bodyPr rot="0" vert="horz"/>
              <a:lstStyle/>
              <a:p>
                <a:pPr>
                  <a:defRPr sz="11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r>
                  <a:t>Время (мин), мин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6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2.xml"/><Relationship Id="rId18" Type="http://schemas.openxmlformats.org/officeDocument/2006/relationships/slideLayout" Target="../slideLayouts/slideLayout1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3" r:id="rId6"/>
    <p:sldLayoutId id="2147483657" r:id="rId10"/>
    <p:sldLayoutId id="2147483659" r:id="rId12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3" Type="http://schemas.openxmlformats.org/officeDocument/2006/relationships/image" Target="../media/image237.png"/><Relationship Id="rId4" Type="http://schemas.openxmlformats.org/officeDocument/2006/relationships/image" Target="../media/image229.png"/><Relationship Id="rId5" Type="http://schemas.openxmlformats.org/officeDocument/2006/relationships/image" Target="../media/image238.png"/><Relationship Id="rId6" Type="http://schemas.openxmlformats.org/officeDocument/2006/relationships/chart" Target="../charts/chart1.xml"/><Relationship Id="rId7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57.png"/><Relationship Id="rId3" Type="http://schemas.openxmlformats.org/officeDocument/2006/relationships/notesSlide" Target="../notesSlides/notesSlide67.xml"/></Relationships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22279" y="2598016"/>
            <a:ext cx="7535387" cy="24790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Автоматическая вёрстка презентаций: ускоряем работу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77387" y="692177"/>
            <a:ext cx="10855878" cy="1447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Сборка презентаций вручную занимает 186 минут</a:t>
            </a:r>
          </a:p>
        </p:txBody>
      </p:sp>
      <p:sp>
        <p:nvSpPr>
          <p:cNvPr id="3" name="stat_0:bar"/>
          <p:cNvSpPr/>
          <p:nvPr/>
        </p:nvSpPr>
        <p:spPr>
          <a:xfrm>
            <a:off x="677387" y="2489735"/>
            <a:ext cx="50800" cy="1546352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_0"/>
          <p:cNvSpPr txBox="1"/>
          <p:nvPr/>
        </p:nvSpPr>
        <p:spPr>
          <a:xfrm>
            <a:off x="855187" y="2380007"/>
            <a:ext cx="5033021" cy="165608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8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8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42</a:t>
            </a:r>
          </a:p>
          <a:p>
            <a:pPr>
              <a:spcAft>
                <a:spcPts val="300"/>
              </a:spcAft>
              <a:defRPr sz="2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42 колоды в Q1 2026, 12 слайдов каждая</a:t>
            </a:r>
          </a:p>
        </p:txBody>
      </p:sp>
      <p:sp>
        <p:nvSpPr>
          <p:cNvPr id="5" name="stat_1:bar"/>
          <p:cNvSpPr/>
          <p:nvPr/>
        </p:nvSpPr>
        <p:spPr>
          <a:xfrm>
            <a:off x="6322444" y="2489735"/>
            <a:ext cx="50800" cy="1150112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_1"/>
          <p:cNvSpPr txBox="1"/>
          <p:nvPr/>
        </p:nvSpPr>
        <p:spPr>
          <a:xfrm>
            <a:off x="6500244" y="2380007"/>
            <a:ext cx="5033021" cy="125984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8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8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74 мин</a:t>
            </a:r>
          </a:p>
          <a:p>
            <a:pPr>
              <a:spcAft>
                <a:spcPts val="300"/>
              </a:spcAft>
              <a:defRPr sz="2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74 минуты правок после ревью</a:t>
            </a:r>
          </a:p>
        </p:txBody>
      </p:sp>
      <p:sp>
        <p:nvSpPr>
          <p:cNvPr id="7" name="stat_2:bar"/>
          <p:cNvSpPr/>
          <p:nvPr/>
        </p:nvSpPr>
        <p:spPr>
          <a:xfrm>
            <a:off x="677387" y="4537290"/>
            <a:ext cx="50800" cy="1546352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_2"/>
          <p:cNvSpPr txBox="1"/>
          <p:nvPr/>
        </p:nvSpPr>
        <p:spPr>
          <a:xfrm>
            <a:off x="855187" y="4427562"/>
            <a:ext cx="5033021" cy="165608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8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8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19 из 42</a:t>
            </a:r>
          </a:p>
          <a:p>
            <a:pPr>
              <a:spcAft>
                <a:spcPts val="300"/>
              </a:spcAft>
              <a:defRPr sz="2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19 из 42 колод нарушили фирменный стиль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77387" y="692177"/>
            <a:ext cx="10855878" cy="1447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4 человека закрывают 11 запросов из 27, средний срок ожидания 6 дней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77387" y="3447122"/>
            <a:ext cx="5874466" cy="16865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4 человека в отделе</a:t>
            </a:r>
          </a:p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27 запросов поступило</a:t>
            </a:r>
          </a:p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11 закрыто</a:t>
            </a:r>
          </a:p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6 рабочих дней ожидания</a:t>
            </a:r>
          </a:p>
        </p:txBody>
      </p:sp>
      <p:grpSp>
        <p:nvGrpSpPr>
          <p:cNvPr id="4" name="illustration:builtin-team"/>
          <p:cNvGrpSpPr/>
          <p:nvPr/>
        </p:nvGrpSpPr>
        <p:grpSpPr>
          <a:xfrm>
            <a:off x="7586883" y="2974941"/>
            <a:ext cx="3300191" cy="2861704"/>
            <a:chOff x="7586883" y="2974941"/>
            <a:chExt cx="3300191" cy="2861704"/>
          </a:xfrm>
        </p:grpSpPr>
        <p:sp>
          <p:nvSpPr>
            <p:cNvPr id="5" name="Oval 4"/>
            <p:cNvSpPr/>
            <p:nvPr/>
          </p:nvSpPr>
          <p:spPr>
            <a:xfrm>
              <a:off x="7794587" y="2974941"/>
              <a:ext cx="2861704" cy="2861704"/>
            </a:xfrm>
            <a:prstGeom prst="ellipse">
              <a:avLst/>
            </a:prstGeom>
            <a:solidFill>
              <a:srgbClr val="D6E9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8166147" y="3621132"/>
              <a:ext cx="456949" cy="456949"/>
            </a:xfrm>
            <a:prstGeom prst="ellipse">
              <a:avLst/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7999984" y="4181934"/>
              <a:ext cx="789276" cy="560802"/>
            </a:xfrm>
            <a:custGeom>
              <a:avLst/>
              <a:gdLst/>
              <a:ahLst/>
              <a:cxnLst/>
              <a:rect l="l" t="t" r="r" b="b"/>
              <a:pathLst>
                <a:path w="789276" h="560802">
                  <a:moveTo>
                    <a:pt x="0" y="560802"/>
                  </a:moveTo>
                  <a:lnTo>
                    <a:pt x="7581" y="451399"/>
                  </a:lnTo>
                  <a:lnTo>
                    <a:pt x="30036" y="346197"/>
                  </a:lnTo>
                  <a:lnTo>
                    <a:pt x="66511" y="249234"/>
                  </a:lnTo>
                  <a:lnTo>
                    <a:pt x="115587" y="164260"/>
                  </a:lnTo>
                  <a:lnTo>
                    <a:pt x="175383" y="94517"/>
                  </a:lnTo>
                  <a:lnTo>
                    <a:pt x="243614" y="42683"/>
                  </a:lnTo>
                  <a:lnTo>
                    <a:pt x="317649" y="10778"/>
                  </a:lnTo>
                  <a:lnTo>
                    <a:pt x="394638" y="0"/>
                  </a:lnTo>
                  <a:lnTo>
                    <a:pt x="471627" y="10778"/>
                  </a:lnTo>
                  <a:lnTo>
                    <a:pt x="545662" y="42683"/>
                  </a:lnTo>
                  <a:lnTo>
                    <a:pt x="613893" y="94517"/>
                  </a:lnTo>
                  <a:lnTo>
                    <a:pt x="673689" y="164260"/>
                  </a:lnTo>
                  <a:lnTo>
                    <a:pt x="722765" y="249234"/>
                  </a:lnTo>
                  <a:lnTo>
                    <a:pt x="759240" y="346197"/>
                  </a:lnTo>
                  <a:lnTo>
                    <a:pt x="781695" y="451399"/>
                  </a:lnTo>
                  <a:lnTo>
                    <a:pt x="789276" y="560802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9827782" y="3621132"/>
              <a:ext cx="456949" cy="456949"/>
            </a:xfrm>
            <a:prstGeom prst="ellipse">
              <a:avLst/>
            </a:prstGeom>
            <a:solidFill>
              <a:srgbClr val="FF38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9661619" y="4181934"/>
              <a:ext cx="789276" cy="560802"/>
            </a:xfrm>
            <a:custGeom>
              <a:avLst/>
              <a:gdLst/>
              <a:ahLst/>
              <a:cxnLst/>
              <a:rect l="l" t="t" r="r" b="b"/>
              <a:pathLst>
                <a:path w="789276" h="560802">
                  <a:moveTo>
                    <a:pt x="0" y="560802"/>
                  </a:moveTo>
                  <a:lnTo>
                    <a:pt x="7581" y="451399"/>
                  </a:lnTo>
                  <a:lnTo>
                    <a:pt x="30036" y="346197"/>
                  </a:lnTo>
                  <a:lnTo>
                    <a:pt x="66511" y="249234"/>
                  </a:lnTo>
                  <a:lnTo>
                    <a:pt x="115587" y="164260"/>
                  </a:lnTo>
                  <a:lnTo>
                    <a:pt x="175383" y="94517"/>
                  </a:lnTo>
                  <a:lnTo>
                    <a:pt x="243614" y="42683"/>
                  </a:lnTo>
                  <a:lnTo>
                    <a:pt x="317649" y="10778"/>
                  </a:lnTo>
                  <a:lnTo>
                    <a:pt x="394638" y="0"/>
                  </a:lnTo>
                  <a:lnTo>
                    <a:pt x="471627" y="10778"/>
                  </a:lnTo>
                  <a:lnTo>
                    <a:pt x="545662" y="42683"/>
                  </a:lnTo>
                  <a:lnTo>
                    <a:pt x="613893" y="94517"/>
                  </a:lnTo>
                  <a:lnTo>
                    <a:pt x="673689" y="164260"/>
                  </a:lnTo>
                  <a:lnTo>
                    <a:pt x="722765" y="249234"/>
                  </a:lnTo>
                  <a:lnTo>
                    <a:pt x="759240" y="346197"/>
                  </a:lnTo>
                  <a:lnTo>
                    <a:pt x="781695" y="451399"/>
                  </a:lnTo>
                  <a:lnTo>
                    <a:pt x="789276" y="560802"/>
                  </a:lnTo>
                  <a:close/>
                </a:path>
              </a:pathLst>
            </a:custGeom>
            <a:solidFill>
              <a:srgbClr val="FF38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8933500" y="3367272"/>
              <a:ext cx="583879" cy="583879"/>
            </a:xfrm>
            <a:prstGeom prst="ellipse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8721180" y="4083852"/>
              <a:ext cx="1008519" cy="716580"/>
            </a:xfrm>
            <a:custGeom>
              <a:avLst/>
              <a:gdLst/>
              <a:ahLst/>
              <a:cxnLst/>
              <a:rect l="l" t="t" r="r" b="b"/>
              <a:pathLst>
                <a:path w="1008519" h="716580">
                  <a:moveTo>
                    <a:pt x="0" y="716580"/>
                  </a:moveTo>
                  <a:lnTo>
                    <a:pt x="9692" y="576783"/>
                  </a:lnTo>
                  <a:lnTo>
                    <a:pt x="38379" y="442352"/>
                  </a:lnTo>
                  <a:lnTo>
                    <a:pt x="84985" y="318468"/>
                  </a:lnTo>
                  <a:lnTo>
                    <a:pt x="147689" y="209885"/>
                  </a:lnTo>
                  <a:lnTo>
                    <a:pt x="224113" y="120768"/>
                  </a:lnTo>
                  <a:lnTo>
                    <a:pt x="311291" y="54545"/>
                  </a:lnTo>
                  <a:lnTo>
                    <a:pt x="405888" y="13766"/>
                  </a:lnTo>
                  <a:lnTo>
                    <a:pt x="504260" y="0"/>
                  </a:lnTo>
                  <a:lnTo>
                    <a:pt x="602631" y="13766"/>
                  </a:lnTo>
                  <a:lnTo>
                    <a:pt x="697228" y="54545"/>
                  </a:lnTo>
                  <a:lnTo>
                    <a:pt x="784406" y="120768"/>
                  </a:lnTo>
                  <a:lnTo>
                    <a:pt x="860830" y="209885"/>
                  </a:lnTo>
                  <a:lnTo>
                    <a:pt x="923534" y="318468"/>
                  </a:lnTo>
                  <a:lnTo>
                    <a:pt x="970140" y="442352"/>
                  </a:lnTo>
                  <a:lnTo>
                    <a:pt x="998827" y="576783"/>
                  </a:lnTo>
                  <a:lnTo>
                    <a:pt x="1008519" y="71658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025370" y="5236611"/>
              <a:ext cx="2400139" cy="138469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10610135" y="3390350"/>
              <a:ext cx="276939" cy="276939"/>
            </a:xfrm>
            <a:prstGeom prst="ellipse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7586883" y="3736524"/>
              <a:ext cx="184626" cy="184626"/>
            </a:xfrm>
            <a:prstGeom prst="ellipse">
              <a:avLst/>
            </a:prstGeom>
            <a:solidFill>
              <a:srgbClr val="FF38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77387" y="692177"/>
            <a:ext cx="10855878" cy="1447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Сервис автоматически вёрстит презентации из шаблона и материалов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77387" y="3249002"/>
            <a:ext cx="5874466" cy="2082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Принимает шаблон pptx и материалы</a:t>
            </a:r>
          </a:p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Парсит в дизайн-систему</a:t>
            </a:r>
          </a:p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Составляет план колоды</a:t>
            </a:r>
          </a:p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Аудит качества до выдачи</a:t>
            </a:r>
          </a:p>
        </p:txBody>
      </p:sp>
      <p:grpSp>
        <p:nvGrpSpPr>
          <p:cNvPr id="4" name="illustration:builtin-presentation"/>
          <p:cNvGrpSpPr/>
          <p:nvPr/>
        </p:nvGrpSpPr>
        <p:grpSpPr>
          <a:xfrm>
            <a:off x="7771509" y="2836472"/>
            <a:ext cx="2907860" cy="2907860"/>
            <a:chOff x="7771509" y="2836472"/>
            <a:chExt cx="2907860" cy="2907860"/>
          </a:xfrm>
        </p:grpSpPr>
        <p:sp>
          <p:nvSpPr>
            <p:cNvPr id="5" name="Oval 4"/>
            <p:cNvSpPr/>
            <p:nvPr/>
          </p:nvSpPr>
          <p:spPr>
            <a:xfrm>
              <a:off x="7771509" y="2836472"/>
              <a:ext cx="2907860" cy="2907860"/>
            </a:xfrm>
            <a:prstGeom prst="ellipse">
              <a:avLst/>
            </a:prstGeom>
            <a:solidFill>
              <a:srgbClr val="D6E9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886900" y="3228802"/>
              <a:ext cx="2677078" cy="1730869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7886900" y="3228802"/>
              <a:ext cx="2677078" cy="346173"/>
            </a:xfrm>
            <a:prstGeom prst="roundRect">
              <a:avLst>
                <a:gd name="adj" fmla="val 46666"/>
              </a:avLst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7886900" y="3413428"/>
              <a:ext cx="2677078" cy="161547"/>
            </a:xfrm>
            <a:prstGeom prst="rect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163840" y="3805759"/>
              <a:ext cx="969286" cy="115391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163840" y="4036541"/>
              <a:ext cx="738504" cy="92313"/>
            </a:xfrm>
            <a:prstGeom prst="roundRect">
              <a:avLst>
                <a:gd name="adj" fmla="val 50000"/>
              </a:avLst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163840" y="4221167"/>
              <a:ext cx="853895" cy="92313"/>
            </a:xfrm>
            <a:prstGeom prst="roundRect">
              <a:avLst>
                <a:gd name="adj" fmla="val 50000"/>
              </a:avLst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163840" y="4405793"/>
              <a:ext cx="646191" cy="92313"/>
            </a:xfrm>
            <a:prstGeom prst="roundRect">
              <a:avLst>
                <a:gd name="adj" fmla="val 50000"/>
              </a:avLst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386987" y="4290402"/>
              <a:ext cx="207704" cy="438486"/>
            </a:xfrm>
            <a:prstGeom prst="roundRect">
              <a:avLst>
                <a:gd name="adj" fmla="val 22222"/>
              </a:avLst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9687005" y="4059619"/>
              <a:ext cx="207704" cy="669269"/>
            </a:xfrm>
            <a:prstGeom prst="roundRect">
              <a:avLst>
                <a:gd name="adj" fmla="val 22222"/>
              </a:avLst>
            </a:prstGeom>
            <a:solidFill>
              <a:srgbClr val="FF38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987022" y="3828837"/>
              <a:ext cx="207704" cy="900052"/>
            </a:xfrm>
            <a:prstGeom prst="roundRect">
              <a:avLst>
                <a:gd name="adj" fmla="val 22222"/>
              </a:avLst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9156205" y="4959672"/>
              <a:ext cx="138469" cy="4154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648483" y="5328924"/>
              <a:ext cx="1153913" cy="138469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77387" y="692177"/>
            <a:ext cx="10855878" cy="1447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Экспорт в pptx, pdf, html, слайды остаются редактируемыми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77387" y="2918802"/>
            <a:ext cx="5874466" cy="27432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Экспорт в pptx с нативными объектами</a:t>
            </a:r>
          </a:p>
          <a:p>
            <a:pPr algn="l">
              <a:spcAft>
                <a:spcPts val="300"/>
              </a:spcAft>
              <a:defRPr sz="3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000000"/>
                </a:solidFill>
                <a:latin typeface="Play"/>
                <a:ea typeface="Play"/>
                <a:cs typeface="Play"/>
              </a:rPr>
              <a:t>• Pdf и html</a:t>
            </a:r>
          </a:p>
          <a:p>
            <a:pPr algn="l">
              <a:spcAft>
                <a:spcPts val="300"/>
              </a:spcAft>
              <a:defRPr sz="3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Слайды редактируемы, без слайд-картинок</a:t>
            </a:r>
          </a:p>
        </p:txBody>
      </p:sp>
      <p:grpSp>
        <p:nvGrpSpPr>
          <p:cNvPr id="4" name="illustration:builtin-presentation"/>
          <p:cNvGrpSpPr/>
          <p:nvPr/>
        </p:nvGrpSpPr>
        <p:grpSpPr>
          <a:xfrm>
            <a:off x="7771509" y="2836472"/>
            <a:ext cx="2907860" cy="2907860"/>
            <a:chOff x="7771509" y="2836472"/>
            <a:chExt cx="2907860" cy="2907860"/>
          </a:xfrm>
        </p:grpSpPr>
        <p:sp>
          <p:nvSpPr>
            <p:cNvPr id="5" name="Oval 4"/>
            <p:cNvSpPr/>
            <p:nvPr/>
          </p:nvSpPr>
          <p:spPr>
            <a:xfrm>
              <a:off x="7771509" y="2836472"/>
              <a:ext cx="2907860" cy="2907860"/>
            </a:xfrm>
            <a:prstGeom prst="ellipse">
              <a:avLst/>
            </a:prstGeom>
            <a:solidFill>
              <a:srgbClr val="D6E9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886900" y="3228802"/>
              <a:ext cx="2677078" cy="1730869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7886900" y="3228802"/>
              <a:ext cx="2677078" cy="346173"/>
            </a:xfrm>
            <a:prstGeom prst="roundRect">
              <a:avLst>
                <a:gd name="adj" fmla="val 46666"/>
              </a:avLst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7886900" y="3413428"/>
              <a:ext cx="2677078" cy="161547"/>
            </a:xfrm>
            <a:prstGeom prst="rect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163840" y="3805759"/>
              <a:ext cx="969286" cy="115391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163840" y="4036541"/>
              <a:ext cx="738504" cy="92313"/>
            </a:xfrm>
            <a:prstGeom prst="roundRect">
              <a:avLst>
                <a:gd name="adj" fmla="val 50000"/>
              </a:avLst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163840" y="4221167"/>
              <a:ext cx="853895" cy="92313"/>
            </a:xfrm>
            <a:prstGeom prst="roundRect">
              <a:avLst>
                <a:gd name="adj" fmla="val 50000"/>
              </a:avLst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163840" y="4405793"/>
              <a:ext cx="646191" cy="92313"/>
            </a:xfrm>
            <a:prstGeom prst="roundRect">
              <a:avLst>
                <a:gd name="adj" fmla="val 50000"/>
              </a:avLst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386987" y="4290402"/>
              <a:ext cx="207704" cy="438486"/>
            </a:xfrm>
            <a:prstGeom prst="roundRect">
              <a:avLst>
                <a:gd name="adj" fmla="val 22222"/>
              </a:avLst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9687005" y="4059619"/>
              <a:ext cx="207704" cy="669269"/>
            </a:xfrm>
            <a:prstGeom prst="roundRect">
              <a:avLst>
                <a:gd name="adj" fmla="val 22222"/>
              </a:avLst>
            </a:prstGeom>
            <a:solidFill>
              <a:srgbClr val="FF38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987022" y="3828837"/>
              <a:ext cx="207704" cy="900052"/>
            </a:xfrm>
            <a:prstGeom prst="roundRect">
              <a:avLst>
                <a:gd name="adj" fmla="val 22222"/>
              </a:avLst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9156205" y="4959672"/>
              <a:ext cx="138469" cy="4154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648483" y="5328924"/>
              <a:ext cx="1153913" cy="138469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795" name="Google Shape;795;p6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title"/>
          <p:cNvSpPr txBox="1"/>
          <p:nvPr/>
        </p:nvSpPr>
        <p:spPr>
          <a:xfrm>
            <a:off x="677387" y="692177"/>
            <a:ext cx="10855878" cy="1447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Средняя сборка колоды за 4 минуты вместо 186</a:t>
            </a:r>
          </a:p>
        </p:txBody>
      </p:sp>
      <p:graphicFrame>
        <p:nvGraphicFramePr>
          <p:cNvPr id="797" name="Chart 796"/>
          <p:cNvGraphicFramePr>
            <a:graphicFrameLocks noGrp="1"/>
          </p:cNvGraphicFramePr>
          <p:nvPr/>
        </p:nvGraphicFramePr>
        <p:xfrm>
          <a:off x="6288206" y="2380007"/>
          <a:ext cx="5245059" cy="3820789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77387" y="692177"/>
            <a:ext cx="10855878" cy="1447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Время до первой версии сократилось с 6 дней до 1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77387" y="3447122"/>
            <a:ext cx="5874466" cy="16865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2 нарушения фирменного стиля из 68 колод</a:t>
            </a:r>
          </a:p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Обе исправлены автоматическими правками аудита</a:t>
            </a:r>
          </a:p>
        </p:txBody>
      </p:sp>
      <p:grpSp>
        <p:nvGrpSpPr>
          <p:cNvPr id="4" name="illustration:builtin-presentation"/>
          <p:cNvGrpSpPr/>
          <p:nvPr/>
        </p:nvGrpSpPr>
        <p:grpSpPr>
          <a:xfrm>
            <a:off x="7771509" y="2836472"/>
            <a:ext cx="2907860" cy="2907860"/>
            <a:chOff x="7771509" y="2836472"/>
            <a:chExt cx="2907860" cy="2907860"/>
          </a:xfrm>
        </p:grpSpPr>
        <p:sp>
          <p:nvSpPr>
            <p:cNvPr id="5" name="Oval 4"/>
            <p:cNvSpPr/>
            <p:nvPr/>
          </p:nvSpPr>
          <p:spPr>
            <a:xfrm>
              <a:off x="7771509" y="2836472"/>
              <a:ext cx="2907860" cy="2907860"/>
            </a:xfrm>
            <a:prstGeom prst="ellipse">
              <a:avLst/>
            </a:prstGeom>
            <a:solidFill>
              <a:srgbClr val="D6E9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886900" y="3228802"/>
              <a:ext cx="2677078" cy="1730869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7886900" y="3228802"/>
              <a:ext cx="2677078" cy="346173"/>
            </a:xfrm>
            <a:prstGeom prst="roundRect">
              <a:avLst>
                <a:gd name="adj" fmla="val 46666"/>
              </a:avLst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7886900" y="3413428"/>
              <a:ext cx="2677078" cy="161547"/>
            </a:xfrm>
            <a:prstGeom prst="rect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163840" y="3805759"/>
              <a:ext cx="969286" cy="115391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163840" y="4036541"/>
              <a:ext cx="738504" cy="92313"/>
            </a:xfrm>
            <a:prstGeom prst="roundRect">
              <a:avLst>
                <a:gd name="adj" fmla="val 50000"/>
              </a:avLst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163840" y="4221167"/>
              <a:ext cx="853895" cy="92313"/>
            </a:xfrm>
            <a:prstGeom prst="roundRect">
              <a:avLst>
                <a:gd name="adj" fmla="val 50000"/>
              </a:avLst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163840" y="4405793"/>
              <a:ext cx="646191" cy="92313"/>
            </a:xfrm>
            <a:prstGeom prst="roundRect">
              <a:avLst>
                <a:gd name="adj" fmla="val 50000"/>
              </a:avLst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386987" y="4290402"/>
              <a:ext cx="207704" cy="438486"/>
            </a:xfrm>
            <a:prstGeom prst="roundRect">
              <a:avLst>
                <a:gd name="adj" fmla="val 22222"/>
              </a:avLst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9687005" y="4059619"/>
              <a:ext cx="207704" cy="669269"/>
            </a:xfrm>
            <a:prstGeom prst="roundRect">
              <a:avLst>
                <a:gd name="adj" fmla="val 22222"/>
              </a:avLst>
            </a:prstGeom>
            <a:solidFill>
              <a:srgbClr val="FF38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987022" y="3828837"/>
              <a:ext cx="207704" cy="900052"/>
            </a:xfrm>
            <a:prstGeom prst="roundRect">
              <a:avLst>
                <a:gd name="adj" fmla="val 22222"/>
              </a:avLst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9156205" y="4959672"/>
              <a:ext cx="138469" cy="4154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648483" y="5328924"/>
              <a:ext cx="1153913" cy="138469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77875" y="692177"/>
            <a:ext cx="10855391" cy="1183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00">
                <a:solidFill>
                  <a:srgbClr val="000000"/>
                </a:solidFill>
                <a:latin typeface="Arial"/>
                <a:ea typeface="Arial"/>
                <a:cs typeface="Arial"/>
              </a:rPr>
              <a:t>Дизайнеры закрыли 38 запросов за 6 недель, исходный показатель 11 запросов в неделю</a:t>
            </a:r>
          </a:p>
        </p:txBody>
      </p:sp>
      <p:sp>
        <p:nvSpPr>
          <p:cNvPr id="3" name="stat_0:bar"/>
          <p:cNvSpPr/>
          <p:nvPr/>
        </p:nvSpPr>
        <p:spPr>
          <a:xfrm>
            <a:off x="677875" y="2947145"/>
            <a:ext cx="50800" cy="1810512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_0"/>
          <p:cNvSpPr txBox="1"/>
          <p:nvPr/>
        </p:nvSpPr>
        <p:spPr>
          <a:xfrm>
            <a:off x="855675" y="2837417"/>
            <a:ext cx="5032787" cy="1920239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8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8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6 нед.</a:t>
            </a:r>
          </a:p>
          <a:p>
            <a:pPr>
              <a:spcAft>
                <a:spcPts val="300"/>
              </a:spcAft>
              <a:defRPr sz="32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38 запросов за 6 недель</a:t>
            </a:r>
          </a:p>
        </p:txBody>
      </p:sp>
      <p:sp>
        <p:nvSpPr>
          <p:cNvPr id="5" name="stat_1:bar"/>
          <p:cNvSpPr/>
          <p:nvPr/>
        </p:nvSpPr>
        <p:spPr>
          <a:xfrm>
            <a:off x="6322678" y="2947145"/>
            <a:ext cx="50800" cy="1810512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_1"/>
          <p:cNvSpPr txBox="1"/>
          <p:nvPr/>
        </p:nvSpPr>
        <p:spPr>
          <a:xfrm>
            <a:off x="6500478" y="2837417"/>
            <a:ext cx="5032787" cy="1920239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8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8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11</a:t>
            </a:r>
          </a:p>
          <a:p>
            <a:pPr>
              <a:spcAft>
                <a:spcPts val="300"/>
              </a:spcAft>
              <a:defRPr sz="32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11 запросов в неделю в исходном показателе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3" name="Google Shape;443;p50"/>
          <p:cNvSpPr/>
          <p:nvPr/>
        </p:nvSpPr>
        <p:spPr>
          <a:xfrm>
            <a:off x="658813" y="1794065"/>
            <a:ext cx="6130294" cy="4406709"/>
          </a:xfrm>
          <a:prstGeom prst="roundRect">
            <a:avLst>
              <a:gd fmla="val 4444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5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title"/>
          <p:cNvSpPr txBox="1"/>
          <p:nvPr/>
        </p:nvSpPr>
        <p:spPr>
          <a:xfrm>
            <a:off x="677387" y="692177"/>
            <a:ext cx="10855878" cy="1183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00">
                <a:solidFill>
                  <a:srgbClr val="000000"/>
                </a:solidFill>
                <a:latin typeface="Arial"/>
                <a:ea typeface="Arial"/>
                <a:cs typeface="Arial"/>
              </a:rPr>
              <a:t>Сервис работает на 2 vCPU/2GB, модель gpt-oss-20b, инференс за 6 недель 1400 руб</a:t>
            </a:r>
          </a:p>
        </p:txBody>
      </p:sp>
      <p:sp>
        <p:nvSpPr>
          <p:cNvPr id="451" name="body"/>
          <p:cNvSpPr txBox="1"/>
          <p:nvPr/>
        </p:nvSpPr>
        <p:spPr>
          <a:xfrm>
            <a:off x="677387" y="2115847"/>
            <a:ext cx="10855878" cy="4978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Модель gpt-oss-20b</a:t>
            </a:r>
          </a:p>
        </p:txBody>
      </p:sp>
      <p:sp>
        <p:nvSpPr>
          <p:cNvPr id="452" name="stat_0:bar"/>
          <p:cNvSpPr/>
          <p:nvPr/>
        </p:nvSpPr>
        <p:spPr>
          <a:xfrm>
            <a:off x="677387" y="2929155"/>
            <a:ext cx="50800" cy="1150112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stat_0"/>
          <p:cNvSpPr txBox="1"/>
          <p:nvPr/>
        </p:nvSpPr>
        <p:spPr>
          <a:xfrm>
            <a:off x="855187" y="2819427"/>
            <a:ext cx="5033021" cy="125984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8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8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2 vCPU</a:t>
            </a:r>
          </a:p>
          <a:p>
            <a:pPr>
              <a:spcAft>
                <a:spcPts val="300"/>
              </a:spcAft>
              <a:defRPr sz="2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2 vCPU / 2 GB RAM</a:t>
            </a:r>
          </a:p>
        </p:txBody>
      </p:sp>
      <p:sp>
        <p:nvSpPr>
          <p:cNvPr id="454" name="stat_1:bar"/>
          <p:cNvSpPr/>
          <p:nvPr/>
        </p:nvSpPr>
        <p:spPr>
          <a:xfrm>
            <a:off x="6322444" y="2929155"/>
            <a:ext cx="50800" cy="1546352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stat_1"/>
          <p:cNvSpPr txBox="1"/>
          <p:nvPr/>
        </p:nvSpPr>
        <p:spPr>
          <a:xfrm>
            <a:off x="6500244" y="2819427"/>
            <a:ext cx="5033021" cy="165608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8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8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6 нед.</a:t>
            </a:r>
          </a:p>
          <a:p>
            <a:pPr>
              <a:spcAft>
                <a:spcPts val="300"/>
              </a:spcAft>
              <a:defRPr sz="2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Инференс за 6 недель 1 400 руб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77387" y="692177"/>
            <a:ext cx="10855878" cy="1447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Главный риск — нагрузка выше 20 задач требует внешней очереди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77387" y="3249002"/>
            <a:ext cx="5874466" cy="2082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Модель может выдумать цифры</a:t>
            </a:r>
          </a:p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Неизвестный шаблон может быть плохо сделанным</a:t>
            </a:r>
          </a:p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Нагрузка выше 20 задач требует внешней очереди</a:t>
            </a:r>
          </a:p>
        </p:txBody>
      </p:sp>
      <p:grpSp>
        <p:nvGrpSpPr>
          <p:cNvPr id="4" name="illustration:builtin-risk"/>
          <p:cNvGrpSpPr/>
          <p:nvPr/>
        </p:nvGrpSpPr>
        <p:grpSpPr>
          <a:xfrm>
            <a:off x="7771509" y="2836472"/>
            <a:ext cx="3023252" cy="2907860"/>
            <a:chOff x="7771509" y="2836472"/>
            <a:chExt cx="3023252" cy="2907860"/>
          </a:xfrm>
        </p:grpSpPr>
        <p:sp>
          <p:nvSpPr>
            <p:cNvPr id="5" name="Oval 4"/>
            <p:cNvSpPr/>
            <p:nvPr/>
          </p:nvSpPr>
          <p:spPr>
            <a:xfrm>
              <a:off x="7771509" y="2836472"/>
              <a:ext cx="2907860" cy="2907860"/>
            </a:xfrm>
            <a:prstGeom prst="ellipse">
              <a:avLst/>
            </a:prstGeom>
            <a:solidFill>
              <a:srgbClr val="D6E9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7958443" y="3162406"/>
              <a:ext cx="2533993" cy="2304987"/>
            </a:xfrm>
            <a:custGeom>
              <a:avLst/>
              <a:gdLst/>
              <a:ahLst/>
              <a:cxnLst/>
              <a:rect l="l" t="t" r="r" b="b"/>
              <a:pathLst>
                <a:path w="2533993" h="2304987">
                  <a:moveTo>
                    <a:pt x="1082370" y="112553"/>
                  </a:moveTo>
                  <a:lnTo>
                    <a:pt x="1102702" y="80624"/>
                  </a:lnTo>
                  <a:lnTo>
                    <a:pt x="1128492" y="52918"/>
                  </a:lnTo>
                  <a:lnTo>
                    <a:pt x="1158886" y="30359"/>
                  </a:lnTo>
                  <a:lnTo>
                    <a:pt x="1192858" y="13685"/>
                  </a:lnTo>
                  <a:lnTo>
                    <a:pt x="1229298" y="3450"/>
                  </a:lnTo>
                  <a:lnTo>
                    <a:pt x="1266997" y="0"/>
                  </a:lnTo>
                  <a:lnTo>
                    <a:pt x="1304695" y="3450"/>
                  </a:lnTo>
                  <a:lnTo>
                    <a:pt x="1341135" y="13685"/>
                  </a:lnTo>
                  <a:lnTo>
                    <a:pt x="1375107" y="30359"/>
                  </a:lnTo>
                  <a:lnTo>
                    <a:pt x="1405501" y="52918"/>
                  </a:lnTo>
                  <a:lnTo>
                    <a:pt x="1431291" y="80624"/>
                  </a:lnTo>
                  <a:lnTo>
                    <a:pt x="1451623" y="112553"/>
                  </a:lnTo>
                  <a:lnTo>
                    <a:pt x="2513223" y="2004970"/>
                  </a:lnTo>
                  <a:lnTo>
                    <a:pt x="2526977" y="2040580"/>
                  </a:lnTo>
                  <a:lnTo>
                    <a:pt x="2533981" y="2078105"/>
                  </a:lnTo>
                  <a:lnTo>
                    <a:pt x="2533993" y="2116276"/>
                  </a:lnTo>
                  <a:lnTo>
                    <a:pt x="2527023" y="2153813"/>
                  </a:lnTo>
                  <a:lnTo>
                    <a:pt x="2513315" y="2189434"/>
                  </a:lnTo>
                  <a:lnTo>
                    <a:pt x="2493306" y="2221940"/>
                  </a:lnTo>
                  <a:lnTo>
                    <a:pt x="2467689" y="2250234"/>
                  </a:lnTo>
                  <a:lnTo>
                    <a:pt x="2437318" y="2273370"/>
                  </a:lnTo>
                  <a:lnTo>
                    <a:pt x="2403232" y="2290563"/>
                  </a:lnTo>
                  <a:lnTo>
                    <a:pt x="2366583" y="2301214"/>
                  </a:lnTo>
                  <a:lnTo>
                    <a:pt x="2328596" y="2304987"/>
                  </a:lnTo>
                  <a:lnTo>
                    <a:pt x="205397" y="2304987"/>
                  </a:lnTo>
                  <a:lnTo>
                    <a:pt x="167410" y="2301214"/>
                  </a:lnTo>
                  <a:lnTo>
                    <a:pt x="130761" y="2290563"/>
                  </a:lnTo>
                  <a:lnTo>
                    <a:pt x="96675" y="2273370"/>
                  </a:lnTo>
                  <a:lnTo>
                    <a:pt x="66304" y="2250234"/>
                  </a:lnTo>
                  <a:lnTo>
                    <a:pt x="40687" y="2221940"/>
                  </a:lnTo>
                  <a:lnTo>
                    <a:pt x="20678" y="2189434"/>
                  </a:lnTo>
                  <a:lnTo>
                    <a:pt x="6970" y="2153813"/>
                  </a:lnTo>
                  <a:lnTo>
                    <a:pt x="0" y="2116276"/>
                  </a:lnTo>
                  <a:lnTo>
                    <a:pt x="12" y="2078105"/>
                  </a:lnTo>
                  <a:lnTo>
                    <a:pt x="7016" y="2040580"/>
                  </a:lnTo>
                  <a:lnTo>
                    <a:pt x="20770" y="200497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9110048" y="3851915"/>
              <a:ext cx="230782" cy="853895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9086970" y="4890437"/>
              <a:ext cx="276939" cy="27693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7771509" y="3551898"/>
              <a:ext cx="230782" cy="230782"/>
            </a:xfrm>
            <a:prstGeom prst="ellipse">
              <a:avLst/>
            </a:prstGeom>
            <a:solidFill>
              <a:srgbClr val="FF38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10471666" y="3367272"/>
              <a:ext cx="323095" cy="323095"/>
            </a:xfrm>
            <a:prstGeom prst="ellipse">
              <a:avLst/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77387" y="692177"/>
            <a:ext cx="10855878" cy="10515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00">
                <a:solidFill>
                  <a:srgbClr val="000000"/>
                </a:solidFill>
                <a:latin typeface="Arial"/>
                <a:ea typeface="Arial"/>
                <a:cs typeface="Arial"/>
              </a:rPr>
              <a:t>План развития: Q3 2026 подключение 4 команд, Q4 2026 доступ компании, Q1 2027 генерация иллюстраций</a:t>
            </a:r>
          </a:p>
        </p:txBody>
      </p:sp>
      <p:sp>
        <p:nvSpPr>
          <p:cNvPr id="3" name="Rectangle 2"/>
          <p:cNvSpPr/>
          <p:nvPr/>
        </p:nvSpPr>
        <p:spPr>
          <a:xfrm>
            <a:off x="6288206" y="3923600"/>
            <a:ext cx="5245059" cy="12651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900129" y="3724602"/>
            <a:ext cx="524505" cy="524505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88206" y="1983767"/>
            <a:ext cx="2622529" cy="160247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Q3 2026</a:t>
            </a:r>
          </a:p>
        </p:txBody>
      </p:sp>
      <p:sp>
        <p:nvSpPr>
          <p:cNvPr id="6" name="Oval 5"/>
          <p:cNvSpPr/>
          <p:nvPr/>
        </p:nvSpPr>
        <p:spPr>
          <a:xfrm>
            <a:off x="8648482" y="3724602"/>
            <a:ext cx="524505" cy="524505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99470" y="4448106"/>
            <a:ext cx="2622529" cy="160247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Q4 2026</a:t>
            </a:r>
          </a:p>
        </p:txBody>
      </p:sp>
      <p:sp>
        <p:nvSpPr>
          <p:cNvPr id="8" name="Oval 7"/>
          <p:cNvSpPr/>
          <p:nvPr/>
        </p:nvSpPr>
        <p:spPr>
          <a:xfrm>
            <a:off x="10396835" y="3724602"/>
            <a:ext cx="524505" cy="524505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10735" y="1983767"/>
            <a:ext cx="2622529" cy="160247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Q1 2027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855" y="2400300"/>
            <a:ext cx="5475305" cy="10515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0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Решить о внедрении сервиса автоматической вёрстки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58855" y="4362245"/>
            <a:ext cx="10874410" cy="4978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FFFFFF"/>
                </a:solidFill>
                <a:latin typeface="Play"/>
                <a:ea typeface="Play"/>
                <a:cs typeface="Play"/>
              </a:rPr>
              <a:t>Подтвердить переход к сервису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
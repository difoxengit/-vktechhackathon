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(мин)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Текущий процесс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 (мин),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 закрыты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Текущий процесс</c:v>
                </c:pt>
                <c:pt idx="1">
                  <c:v>Пилот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11.0</c:v>
                </c:pt>
                <c:pt idx="1">
                  <c:v>38.0</c:v>
                </c:pt>
              </c:numCache>
            </c:numRef>
          </c:val>
        </c:ser>
        <c:dLbls>
          <c:numFmt formatCode="0&quot; запросов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Запросы закрыты, запросов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6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2.xml"/><Relationship Id="rId18" Type="http://schemas.openxmlformats.org/officeDocument/2006/relationships/slideLayout" Target="../slideLayouts/slideLayout1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3" r:id="rId6"/>
    <p:sldLayoutId id="2147483657" r:id="rId10"/>
    <p:sldLayoutId id="2147483659" r:id="rId12"/>
    <p:sldLayoutId id="2147483665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257.png"/><Relationship Id="rId3" Type="http://schemas.openxmlformats.org/officeDocument/2006/relationships/notesSlide" Target="../notesSlides/notesSlide67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22279" y="2598016"/>
            <a:ext cx="7535387" cy="166196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Защита инициативы: сервис автоматической вёрстки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Контекст и возможность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1783080"/>
            <a:ext cx="5245059" cy="441771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одной презентации занимает 186 мин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 уходит на правки после ревью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288206" y="1783080"/>
          <a:ext cx="5245059" cy="441771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Предложение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2752418"/>
            <a:ext cx="5874466" cy="24790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принимает шаблон pptx и материалы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Генерирует колоду по дизайн-системе и аудиту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pdf, html с редактируемыми слайдами</a:t>
            </a:r>
          </a:p>
        </p:txBody>
      </p:sp>
      <p:grpSp>
        <p:nvGrpSpPr>
          <p:cNvPr id="4" name="illustration:builtin-presentation"/>
          <p:cNvGrpSpPr/>
          <p:nvPr/>
        </p:nvGrpSpPr>
        <p:grpSpPr>
          <a:xfrm>
            <a:off x="7771509" y="2538008"/>
            <a:ext cx="2907860" cy="2907860"/>
            <a:chOff x="7771509" y="2538008"/>
            <a:chExt cx="2907860" cy="2907860"/>
          </a:xfrm>
        </p:grpSpPr>
        <p:sp>
          <p:nvSpPr>
            <p:cNvPr id="5" name="Oval 4"/>
            <p:cNvSpPr/>
            <p:nvPr/>
          </p:nvSpPr>
          <p:spPr>
            <a:xfrm>
              <a:off x="7771509" y="2538008"/>
              <a:ext cx="2907860" cy="2907860"/>
            </a:xfrm>
            <a:prstGeom prst="ellipse">
              <a:avLst/>
            </a:prstGeom>
            <a:solidFill>
              <a:srgbClr val="D6E9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886900" y="2930338"/>
              <a:ext cx="2677078" cy="1730869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86900" y="2930338"/>
              <a:ext cx="2677078" cy="346173"/>
            </a:xfrm>
            <a:prstGeom prst="roundRect">
              <a:avLst>
                <a:gd name="adj" fmla="val 46666"/>
              </a:avLst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7886900" y="3114964"/>
              <a:ext cx="2677078" cy="161547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63840" y="3507295"/>
              <a:ext cx="969286" cy="115391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63840" y="3738077"/>
              <a:ext cx="738504" cy="92313"/>
            </a:xfrm>
            <a:prstGeom prst="roundRect">
              <a:avLst>
                <a:gd name="adj" fmla="val 50000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163840" y="3922703"/>
              <a:ext cx="853895" cy="92313"/>
            </a:xfrm>
            <a:prstGeom prst="roundRect">
              <a:avLst>
                <a:gd name="adj" fmla="val 50000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63840" y="4107329"/>
              <a:ext cx="646191" cy="92313"/>
            </a:xfrm>
            <a:prstGeom prst="roundRect">
              <a:avLst>
                <a:gd name="adj" fmla="val 50000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386987" y="3991938"/>
              <a:ext cx="207704" cy="438486"/>
            </a:xfrm>
            <a:prstGeom prst="roundRect">
              <a:avLst>
                <a:gd name="adj" fmla="val 22222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687005" y="3761155"/>
              <a:ext cx="207704" cy="669269"/>
            </a:xfrm>
            <a:prstGeom prst="roundRect">
              <a:avLst>
                <a:gd name="adj" fmla="val 22222"/>
              </a:avLst>
            </a:pr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87022" y="3530373"/>
              <a:ext cx="207704" cy="900052"/>
            </a:xfrm>
            <a:prstGeom prst="roundRect">
              <a:avLst>
                <a:gd name="adj" fmla="val 22222"/>
              </a:avLst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9156205" y="4661208"/>
              <a:ext cx="138469" cy="415408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648483" y="5030460"/>
              <a:ext cx="1153913" cy="138469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Ожидаемый эффект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1783080"/>
            <a:ext cx="5245059" cy="441771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колоды 4 мин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Нарушений стиля 2 из 68 колод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288206" y="1783080"/>
          <a:ext cx="5245059" cy="441771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потребуется: ресурсы и сроки</a:t>
            </a:r>
          </a:p>
        </p:txBody>
      </p:sp>
      <p:sp>
        <p:nvSpPr>
          <p:cNvPr id="3" name="stat_0:bar"/>
          <p:cNvSpPr/>
          <p:nvPr/>
        </p:nvSpPr>
        <p:spPr>
          <a:xfrm>
            <a:off x="677387" y="1892808"/>
            <a:ext cx="50800" cy="167843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tat_0"/>
          <p:cNvSpPr txBox="1"/>
          <p:nvPr/>
        </p:nvSpPr>
        <p:spPr>
          <a:xfrm>
            <a:off x="855187" y="1783080"/>
            <a:ext cx="5033021" cy="178816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 vCPU</a:t>
            </a:r>
          </a:p>
          <a:p>
            <a:pPr>
              <a:spcAft>
                <a:spcPts val="300"/>
              </a:spcAft>
              <a:defRPr sz="2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работает на 2 vCPU / 2 GB RAM</a:t>
            </a:r>
          </a:p>
        </p:txBody>
      </p:sp>
      <p:sp>
        <p:nvSpPr>
          <p:cNvPr id="5" name="stat_1:bar"/>
          <p:cNvSpPr/>
          <p:nvPr/>
        </p:nvSpPr>
        <p:spPr>
          <a:xfrm>
            <a:off x="6322444" y="1892808"/>
            <a:ext cx="50800" cy="167843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at_1"/>
          <p:cNvSpPr txBox="1"/>
          <p:nvPr/>
        </p:nvSpPr>
        <p:spPr>
          <a:xfrm>
            <a:off x="6500244" y="1783080"/>
            <a:ext cx="5033021" cy="178816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6 нед.</a:t>
            </a:r>
          </a:p>
          <a:p>
            <a:pPr>
              <a:spcAft>
                <a:spcPts val="300"/>
              </a:spcAft>
              <a:defRPr sz="2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Инференс за 6 недель пилота стоит 1 400 руб</a:t>
            </a:r>
          </a:p>
        </p:txBody>
      </p:sp>
      <p:sp>
        <p:nvSpPr>
          <p:cNvPr id="7" name="stat_2:bar"/>
          <p:cNvSpPr/>
          <p:nvPr/>
        </p:nvSpPr>
        <p:spPr>
          <a:xfrm>
            <a:off x="677387" y="4238826"/>
            <a:ext cx="50800" cy="167843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_2"/>
          <p:cNvSpPr txBox="1"/>
          <p:nvPr/>
        </p:nvSpPr>
        <p:spPr>
          <a:xfrm>
            <a:off x="855187" y="4129098"/>
            <a:ext cx="5033021" cy="178816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20</a:t>
            </a:r>
          </a:p>
          <a:p>
            <a:pPr>
              <a:spcAft>
                <a:spcPts val="300"/>
              </a:spcAft>
              <a:defRPr sz="2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План пилота</a:t>
            </a:r>
          </a:p>
        </p:txBody>
      </p:sp>
      <p:sp>
        <p:nvSpPr>
          <p:cNvPr id="797" name="body"/>
          <p:cNvSpPr txBox="1"/>
          <p:nvPr/>
        </p:nvSpPr>
        <p:spPr>
          <a:xfrm>
            <a:off x="677387" y="1783080"/>
            <a:ext cx="5245059" cy="441771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Пилот 6 недель на двух командах, 68 презентаций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4 мин, 1 день до первой версии, 2 нарушения стиля</a:t>
            </a:r>
          </a:p>
        </p:txBody>
      </p:sp>
      <p:graphicFrame>
        <p:nvGraphicFramePr>
          <p:cNvPr id="798" name="Table 797"/>
          <p:cNvGraphicFramePr>
            <a:graphicFrameLocks noGrp="1"/>
          </p:cNvGraphicFramePr>
          <p:nvPr/>
        </p:nvGraphicFramePr>
        <p:xfrm>
          <a:off x="6288206" y="1783080"/>
          <a:ext cx="5245059" cy="4417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8353"/>
                <a:gridCol w="1748353"/>
                <a:gridCol w="1748353"/>
              </a:tblGrid>
              <a:tr h="883543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Текущий процесс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Пилот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88354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сборки (мин)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354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до первой версии (дней)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354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стиля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19/42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2/68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3545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 закрыты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11/нед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38/нед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Риски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2752418"/>
            <a:ext cx="5874466" cy="24790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Слабая модель может выдумать неподтверждённые цифры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Некачественный шаблон приводит к ошибкам стиля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&gt;20 задач требует внешней очереди</a:t>
            </a:r>
          </a:p>
        </p:txBody>
      </p:sp>
      <p:grpSp>
        <p:nvGrpSpPr>
          <p:cNvPr id="4" name="illustration:builtin-risk"/>
          <p:cNvGrpSpPr/>
          <p:nvPr/>
        </p:nvGrpSpPr>
        <p:grpSpPr>
          <a:xfrm>
            <a:off x="7771509" y="2538008"/>
            <a:ext cx="3023252" cy="2907860"/>
            <a:chOff x="7771509" y="2538008"/>
            <a:chExt cx="3023252" cy="2907860"/>
          </a:xfrm>
        </p:grpSpPr>
        <p:sp>
          <p:nvSpPr>
            <p:cNvPr id="5" name="Oval 4"/>
            <p:cNvSpPr/>
            <p:nvPr/>
          </p:nvSpPr>
          <p:spPr>
            <a:xfrm>
              <a:off x="7771509" y="2538008"/>
              <a:ext cx="2907860" cy="2907860"/>
            </a:xfrm>
            <a:prstGeom prst="ellipse">
              <a:avLst/>
            </a:prstGeom>
            <a:solidFill>
              <a:srgbClr val="D6E9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7958443" y="2863942"/>
              <a:ext cx="2533993" cy="2304987"/>
            </a:xfrm>
            <a:custGeom>
              <a:avLst/>
              <a:gdLst/>
              <a:ahLst/>
              <a:cxnLst/>
              <a:rect l="l" t="t" r="r" b="b"/>
              <a:pathLst>
                <a:path w="2533993" h="2304987">
                  <a:moveTo>
                    <a:pt x="1082370" y="112553"/>
                  </a:moveTo>
                  <a:lnTo>
                    <a:pt x="1102702" y="80624"/>
                  </a:lnTo>
                  <a:lnTo>
                    <a:pt x="1128492" y="52918"/>
                  </a:lnTo>
                  <a:lnTo>
                    <a:pt x="1158886" y="30359"/>
                  </a:lnTo>
                  <a:lnTo>
                    <a:pt x="1192858" y="13685"/>
                  </a:lnTo>
                  <a:lnTo>
                    <a:pt x="1229298" y="3450"/>
                  </a:lnTo>
                  <a:lnTo>
                    <a:pt x="1266997" y="0"/>
                  </a:lnTo>
                  <a:lnTo>
                    <a:pt x="1304695" y="3450"/>
                  </a:lnTo>
                  <a:lnTo>
                    <a:pt x="1341135" y="13685"/>
                  </a:lnTo>
                  <a:lnTo>
                    <a:pt x="1375107" y="30359"/>
                  </a:lnTo>
                  <a:lnTo>
                    <a:pt x="1405501" y="52918"/>
                  </a:lnTo>
                  <a:lnTo>
                    <a:pt x="1431291" y="80624"/>
                  </a:lnTo>
                  <a:lnTo>
                    <a:pt x="1451623" y="112553"/>
                  </a:lnTo>
                  <a:lnTo>
                    <a:pt x="2513223" y="2004970"/>
                  </a:lnTo>
                  <a:lnTo>
                    <a:pt x="2526977" y="2040580"/>
                  </a:lnTo>
                  <a:lnTo>
                    <a:pt x="2533981" y="2078105"/>
                  </a:lnTo>
                  <a:lnTo>
                    <a:pt x="2533993" y="2116276"/>
                  </a:lnTo>
                  <a:lnTo>
                    <a:pt x="2527023" y="2153813"/>
                  </a:lnTo>
                  <a:lnTo>
                    <a:pt x="2513315" y="2189434"/>
                  </a:lnTo>
                  <a:lnTo>
                    <a:pt x="2493306" y="2221940"/>
                  </a:lnTo>
                  <a:lnTo>
                    <a:pt x="2467689" y="2250234"/>
                  </a:lnTo>
                  <a:lnTo>
                    <a:pt x="2437318" y="2273370"/>
                  </a:lnTo>
                  <a:lnTo>
                    <a:pt x="2403232" y="2290563"/>
                  </a:lnTo>
                  <a:lnTo>
                    <a:pt x="2366583" y="2301214"/>
                  </a:lnTo>
                  <a:lnTo>
                    <a:pt x="2328596" y="2304987"/>
                  </a:lnTo>
                  <a:lnTo>
                    <a:pt x="205397" y="2304987"/>
                  </a:lnTo>
                  <a:lnTo>
                    <a:pt x="167410" y="2301214"/>
                  </a:lnTo>
                  <a:lnTo>
                    <a:pt x="130761" y="2290563"/>
                  </a:lnTo>
                  <a:lnTo>
                    <a:pt x="96675" y="2273370"/>
                  </a:lnTo>
                  <a:lnTo>
                    <a:pt x="66304" y="2250234"/>
                  </a:lnTo>
                  <a:lnTo>
                    <a:pt x="40687" y="2221940"/>
                  </a:lnTo>
                  <a:lnTo>
                    <a:pt x="20678" y="2189434"/>
                  </a:lnTo>
                  <a:lnTo>
                    <a:pt x="6970" y="2153813"/>
                  </a:lnTo>
                  <a:lnTo>
                    <a:pt x="0" y="2116276"/>
                  </a:lnTo>
                  <a:lnTo>
                    <a:pt x="12" y="2078105"/>
                  </a:lnTo>
                  <a:lnTo>
                    <a:pt x="7016" y="2040580"/>
                  </a:lnTo>
                  <a:lnTo>
                    <a:pt x="20770" y="2004970"/>
                  </a:lnTo>
                  <a:close/>
                </a:path>
              </a:pathLst>
            </a:cu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110048" y="3553451"/>
              <a:ext cx="230782" cy="8538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9086970" y="4591973"/>
              <a:ext cx="276939" cy="27693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7771509" y="3253434"/>
              <a:ext cx="230782" cy="230782"/>
            </a:xfrm>
            <a:prstGeom prst="ellipse">
              <a:avLst/>
            </a:pr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10471666" y="3068808"/>
              <a:ext cx="323095" cy="323095"/>
            </a:xfrm>
            <a:prstGeom prst="ellipse">
              <a:avLst/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875" y="692177"/>
            <a:ext cx="10855391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Стоимость и ресурсы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875" y="1783080"/>
            <a:ext cx="10855391" cy="11582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Модель gpt-oss-20b подключается по OpenAI-совместимому протоколу</a:t>
            </a:r>
          </a:p>
        </p:txBody>
      </p:sp>
      <p:sp>
        <p:nvSpPr>
          <p:cNvPr id="4" name="stat_0:bar"/>
          <p:cNvSpPr/>
          <p:nvPr/>
        </p:nvSpPr>
        <p:spPr>
          <a:xfrm>
            <a:off x="677875" y="3256788"/>
            <a:ext cx="50800" cy="181051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tat_0"/>
          <p:cNvSpPr txBox="1"/>
          <p:nvPr/>
        </p:nvSpPr>
        <p:spPr>
          <a:xfrm>
            <a:off x="855675" y="3147060"/>
            <a:ext cx="5032787" cy="1920239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 vCPU</a:t>
            </a:r>
          </a:p>
          <a:p>
            <a:pPr>
              <a:spcAft>
                <a:spcPts val="300"/>
              </a:spcAft>
              <a:defRPr sz="3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использует 2 vCPU / 2 GB RAM</a:t>
            </a:r>
          </a:p>
        </p:txBody>
      </p:sp>
      <p:sp>
        <p:nvSpPr>
          <p:cNvPr id="6" name="stat_1:bar"/>
          <p:cNvSpPr/>
          <p:nvPr/>
        </p:nvSpPr>
        <p:spPr>
          <a:xfrm>
            <a:off x="6322678" y="3256788"/>
            <a:ext cx="50800" cy="181051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tat_1"/>
          <p:cNvSpPr txBox="1"/>
          <p:nvPr/>
        </p:nvSpPr>
        <p:spPr>
          <a:xfrm>
            <a:off x="6500478" y="3147060"/>
            <a:ext cx="5032787" cy="1920239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48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4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6 нед.</a:t>
            </a:r>
          </a:p>
          <a:p>
            <a:pPr>
              <a:spcAft>
                <a:spcPts val="300"/>
              </a:spcAft>
              <a:defRPr sz="3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Инференс за 6 недель пилота 1 400 руб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План развития</a:t>
            </a:r>
          </a:p>
        </p:txBody>
      </p:sp>
      <p:sp>
        <p:nvSpPr>
          <p:cNvPr id="451" name="Rectangle 450"/>
          <p:cNvSpPr/>
          <p:nvPr/>
        </p:nvSpPr>
        <p:spPr>
          <a:xfrm>
            <a:off x="6288206" y="3815229"/>
            <a:ext cx="5245059" cy="132531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6900129" y="3619242"/>
            <a:ext cx="524505" cy="52450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6288206" y="1783080"/>
            <a:ext cx="2622529" cy="167873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Третий квартал 2026</a:t>
            </a:r>
          </a:p>
        </p:txBody>
      </p:sp>
      <p:sp>
        <p:nvSpPr>
          <p:cNvPr id="454" name="Oval 453"/>
          <p:cNvSpPr/>
          <p:nvPr/>
        </p:nvSpPr>
        <p:spPr>
          <a:xfrm>
            <a:off x="8648482" y="3619242"/>
            <a:ext cx="524505" cy="52450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7599470" y="4339735"/>
            <a:ext cx="2622529" cy="167873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Четвёртый квартал 2026</a:t>
            </a:r>
          </a:p>
        </p:txBody>
      </p:sp>
      <p:sp>
        <p:nvSpPr>
          <p:cNvPr id="456" name="Oval 455"/>
          <p:cNvSpPr/>
          <p:nvPr/>
        </p:nvSpPr>
        <p:spPr>
          <a:xfrm>
            <a:off x="10396835" y="3619242"/>
            <a:ext cx="524505" cy="524505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TextBox 456"/>
          <p:cNvSpPr txBox="1"/>
          <p:nvPr/>
        </p:nvSpPr>
        <p:spPr>
          <a:xfrm>
            <a:off x="8910735" y="1783080"/>
            <a:ext cx="2622529" cy="167873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Первый квартал 2027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Преимущества для компании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2554298"/>
            <a:ext cx="5874466" cy="28752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Ускорение создания презентаций до 4 мин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Снижение ошибок стиля до 2 из 68 колод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Экономия времени дизайнеров</a:t>
            </a:r>
          </a:p>
          <a:p>
            <a:pPr algn="l">
              <a:spcAft>
                <a:spcPts val="300"/>
              </a:spcAft>
              <a:defRPr sz="2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Масштабируемость без дополнительных сотрудников</a:t>
            </a:r>
          </a:p>
        </p:txBody>
      </p:sp>
      <p:grpSp>
        <p:nvGrpSpPr>
          <p:cNvPr id="4" name="illustration:builtin-presentation"/>
          <p:cNvGrpSpPr/>
          <p:nvPr/>
        </p:nvGrpSpPr>
        <p:grpSpPr>
          <a:xfrm>
            <a:off x="7771509" y="2538008"/>
            <a:ext cx="2907860" cy="2907860"/>
            <a:chOff x="7771509" y="2538008"/>
            <a:chExt cx="2907860" cy="2907860"/>
          </a:xfrm>
        </p:grpSpPr>
        <p:sp>
          <p:nvSpPr>
            <p:cNvPr id="5" name="Oval 4"/>
            <p:cNvSpPr/>
            <p:nvPr/>
          </p:nvSpPr>
          <p:spPr>
            <a:xfrm>
              <a:off x="7771509" y="2538008"/>
              <a:ext cx="2907860" cy="2907860"/>
            </a:xfrm>
            <a:prstGeom prst="ellipse">
              <a:avLst/>
            </a:prstGeom>
            <a:solidFill>
              <a:srgbClr val="D6E9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886900" y="2930338"/>
              <a:ext cx="2677078" cy="1730869"/>
            </a:xfrm>
            <a:prstGeom prst="roundRect">
              <a:avLst>
                <a:gd name="adj" fmla="val 9333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886900" y="2930338"/>
              <a:ext cx="2677078" cy="346173"/>
            </a:xfrm>
            <a:prstGeom prst="roundRect">
              <a:avLst>
                <a:gd name="adj" fmla="val 46666"/>
              </a:avLst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7886900" y="3114964"/>
              <a:ext cx="2677078" cy="161547"/>
            </a:xfrm>
            <a:prstGeom prst="rect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163840" y="3507295"/>
              <a:ext cx="969286" cy="115391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63840" y="3738077"/>
              <a:ext cx="738504" cy="92313"/>
            </a:xfrm>
            <a:prstGeom prst="roundRect">
              <a:avLst>
                <a:gd name="adj" fmla="val 50000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163840" y="3922703"/>
              <a:ext cx="853895" cy="92313"/>
            </a:xfrm>
            <a:prstGeom prst="roundRect">
              <a:avLst>
                <a:gd name="adj" fmla="val 50000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63840" y="4107329"/>
              <a:ext cx="646191" cy="92313"/>
            </a:xfrm>
            <a:prstGeom prst="roundRect">
              <a:avLst>
                <a:gd name="adj" fmla="val 50000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386987" y="3991938"/>
              <a:ext cx="207704" cy="438486"/>
            </a:xfrm>
            <a:prstGeom prst="roundRect">
              <a:avLst>
                <a:gd name="adj" fmla="val 22222"/>
              </a:avLst>
            </a:pr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687005" y="3761155"/>
              <a:ext cx="207704" cy="669269"/>
            </a:xfrm>
            <a:prstGeom prst="roundRect">
              <a:avLst>
                <a:gd name="adj" fmla="val 22222"/>
              </a:avLst>
            </a:pr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987022" y="3530373"/>
              <a:ext cx="207704" cy="900052"/>
            </a:xfrm>
            <a:prstGeom prst="roundRect">
              <a:avLst>
                <a:gd name="adj" fmla="val 22222"/>
              </a:avLst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9156205" y="4661208"/>
              <a:ext cx="138469" cy="415408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648483" y="5030460"/>
              <a:ext cx="1153913" cy="138469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мы просим решить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2356178"/>
            <a:ext cx="5874466" cy="32715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Одобрить запуск сервиса на всю компанию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Выделить бюджет на инфраструктуру и интеграцию</a:t>
            </a:r>
          </a:p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Назначить ответственных за внедрение</a:t>
            </a:r>
          </a:p>
        </p:txBody>
      </p:sp>
      <p:grpSp>
        <p:nvGrpSpPr>
          <p:cNvPr id="4" name="illustration:builtin-launch"/>
          <p:cNvGrpSpPr/>
          <p:nvPr/>
        </p:nvGrpSpPr>
        <p:grpSpPr>
          <a:xfrm>
            <a:off x="7771509" y="2538008"/>
            <a:ext cx="3023252" cy="2907860"/>
            <a:chOff x="7771509" y="2538008"/>
            <a:chExt cx="3023252" cy="2907860"/>
          </a:xfrm>
        </p:grpSpPr>
        <p:sp>
          <p:nvSpPr>
            <p:cNvPr id="5" name="Oval 4"/>
            <p:cNvSpPr/>
            <p:nvPr/>
          </p:nvSpPr>
          <p:spPr>
            <a:xfrm>
              <a:off x="7771509" y="2538008"/>
              <a:ext cx="2907860" cy="2907860"/>
            </a:xfrm>
            <a:prstGeom prst="ellipse">
              <a:avLst/>
            </a:prstGeom>
            <a:solidFill>
              <a:srgbClr val="D6E9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8650145" y="2676477"/>
              <a:ext cx="1150589" cy="1592400"/>
            </a:xfrm>
            <a:custGeom>
              <a:avLst/>
              <a:gdLst/>
              <a:ahLst/>
              <a:cxnLst/>
              <a:rect l="l" t="t" r="r" b="b"/>
              <a:pathLst>
                <a:path w="1150589" h="1592400">
                  <a:moveTo>
                    <a:pt x="575295" y="0"/>
                  </a:moveTo>
                  <a:lnTo>
                    <a:pt x="711664" y="111260"/>
                  </a:lnTo>
                  <a:lnTo>
                    <a:pt x="829894" y="236506"/>
                  </a:lnTo>
                  <a:lnTo>
                    <a:pt x="929846" y="374491"/>
                  </a:lnTo>
                  <a:lnTo>
                    <a:pt x="1011381" y="523969"/>
                  </a:lnTo>
                  <a:lnTo>
                    <a:pt x="1074362" y="683694"/>
                  </a:lnTo>
                  <a:lnTo>
                    <a:pt x="1118649" y="852419"/>
                  </a:lnTo>
                  <a:lnTo>
                    <a:pt x="1144104" y="1028898"/>
                  </a:lnTo>
                  <a:lnTo>
                    <a:pt x="1150589" y="1211886"/>
                  </a:lnTo>
                  <a:lnTo>
                    <a:pt x="1137966" y="1400135"/>
                  </a:lnTo>
                  <a:lnTo>
                    <a:pt x="1106094" y="1592400"/>
                  </a:lnTo>
                  <a:lnTo>
                    <a:pt x="44495" y="1592400"/>
                  </a:lnTo>
                  <a:lnTo>
                    <a:pt x="12623" y="1400135"/>
                  </a:lnTo>
                  <a:lnTo>
                    <a:pt x="0" y="1211886"/>
                  </a:lnTo>
                  <a:lnTo>
                    <a:pt x="6485" y="1028898"/>
                  </a:lnTo>
                  <a:lnTo>
                    <a:pt x="31940" y="852419"/>
                  </a:lnTo>
                  <a:lnTo>
                    <a:pt x="76227" y="683694"/>
                  </a:lnTo>
                  <a:lnTo>
                    <a:pt x="139208" y="523969"/>
                  </a:lnTo>
                  <a:lnTo>
                    <a:pt x="220743" y="374491"/>
                  </a:lnTo>
                  <a:lnTo>
                    <a:pt x="320695" y="236506"/>
                  </a:lnTo>
                  <a:lnTo>
                    <a:pt x="438925" y="111260"/>
                  </a:lnTo>
                  <a:lnTo>
                    <a:pt x="575295" y="0"/>
                  </a:lnTo>
                  <a:close/>
                </a:path>
              </a:pathLst>
            </a:cu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8948500" y="3276512"/>
              <a:ext cx="553878" cy="55387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9063892" y="3391903"/>
              <a:ext cx="323095" cy="323095"/>
            </a:xfrm>
            <a:prstGeom prst="ellipse">
              <a:avLst/>
            </a:pr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Freeform 8"/>
            <p:cNvSpPr/>
            <p:nvPr/>
          </p:nvSpPr>
          <p:spPr>
            <a:xfrm>
              <a:off x="8302309" y="3991938"/>
              <a:ext cx="461565" cy="761583"/>
            </a:xfrm>
            <a:custGeom>
              <a:avLst/>
              <a:gdLst/>
              <a:ahLst/>
              <a:cxnLst/>
              <a:rect l="l" t="t" r="r" b="b"/>
              <a:pathLst>
                <a:path w="461565" h="761583">
                  <a:moveTo>
                    <a:pt x="392331" y="0"/>
                  </a:moveTo>
                  <a:lnTo>
                    <a:pt x="0" y="484643"/>
                  </a:lnTo>
                  <a:lnTo>
                    <a:pt x="0" y="761583"/>
                  </a:lnTo>
                  <a:lnTo>
                    <a:pt x="461565" y="553878"/>
                  </a:lnTo>
                  <a:close/>
                </a:path>
              </a:pathLst>
            </a:cu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Freeform 9"/>
            <p:cNvSpPr/>
            <p:nvPr/>
          </p:nvSpPr>
          <p:spPr>
            <a:xfrm>
              <a:off x="9687005" y="3991938"/>
              <a:ext cx="461565" cy="761583"/>
            </a:xfrm>
            <a:custGeom>
              <a:avLst/>
              <a:gdLst/>
              <a:ahLst/>
              <a:cxnLst/>
              <a:rect l="l" t="t" r="r" b="b"/>
              <a:pathLst>
                <a:path w="461565" h="761583">
                  <a:moveTo>
                    <a:pt x="69234" y="0"/>
                  </a:moveTo>
                  <a:lnTo>
                    <a:pt x="461565" y="484643"/>
                  </a:lnTo>
                  <a:lnTo>
                    <a:pt x="461565" y="761583"/>
                  </a:lnTo>
                  <a:lnTo>
                    <a:pt x="0" y="553878"/>
                  </a:lnTo>
                  <a:close/>
                </a:path>
              </a:pathLst>
            </a:cu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8948500" y="4315034"/>
              <a:ext cx="553879" cy="346174"/>
            </a:xfrm>
            <a:custGeom>
              <a:avLst/>
              <a:gdLst/>
              <a:ahLst/>
              <a:cxnLst/>
              <a:rect l="l" t="t" r="r" b="b"/>
              <a:pathLst>
                <a:path w="553879" h="346174">
                  <a:moveTo>
                    <a:pt x="0" y="0"/>
                  </a:moveTo>
                  <a:lnTo>
                    <a:pt x="553879" y="0"/>
                  </a:lnTo>
                  <a:lnTo>
                    <a:pt x="461566" y="346174"/>
                  </a:lnTo>
                  <a:lnTo>
                    <a:pt x="92313" y="346174"/>
                  </a:lnTo>
                  <a:close/>
                </a:path>
              </a:pathLst>
            </a:custGeom>
            <a:solidFill>
              <a:srgbClr val="B2B2B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9040813" y="4661208"/>
              <a:ext cx="369253" cy="646191"/>
            </a:xfrm>
            <a:custGeom>
              <a:avLst/>
              <a:gdLst/>
              <a:ahLst/>
              <a:cxnLst/>
              <a:rect l="l" t="t" r="r" b="b"/>
              <a:pathLst>
                <a:path w="369253" h="646191">
                  <a:moveTo>
                    <a:pt x="0" y="0"/>
                  </a:moveTo>
                  <a:lnTo>
                    <a:pt x="369253" y="0"/>
                  </a:lnTo>
                  <a:lnTo>
                    <a:pt x="366576" y="86635"/>
                  </a:lnTo>
                  <a:lnTo>
                    <a:pt x="358914" y="166902"/>
                  </a:lnTo>
                  <a:lnTo>
                    <a:pt x="346821" y="241352"/>
                  </a:lnTo>
                  <a:lnTo>
                    <a:pt x="330850" y="310541"/>
                  </a:lnTo>
                  <a:lnTo>
                    <a:pt x="311557" y="375021"/>
                  </a:lnTo>
                  <a:lnTo>
                    <a:pt x="289494" y="435348"/>
                  </a:lnTo>
                  <a:lnTo>
                    <a:pt x="265216" y="492074"/>
                  </a:lnTo>
                  <a:lnTo>
                    <a:pt x="239276" y="545754"/>
                  </a:lnTo>
                  <a:lnTo>
                    <a:pt x="212228" y="596942"/>
                  </a:lnTo>
                  <a:lnTo>
                    <a:pt x="184627" y="646191"/>
                  </a:lnTo>
                  <a:lnTo>
                    <a:pt x="157025" y="596942"/>
                  </a:lnTo>
                  <a:lnTo>
                    <a:pt x="129977" y="545754"/>
                  </a:lnTo>
                  <a:lnTo>
                    <a:pt x="104037" y="492074"/>
                  </a:lnTo>
                  <a:lnTo>
                    <a:pt x="79759" y="435348"/>
                  </a:lnTo>
                  <a:lnTo>
                    <a:pt x="57696" y="375021"/>
                  </a:lnTo>
                  <a:lnTo>
                    <a:pt x="38403" y="310541"/>
                  </a:lnTo>
                  <a:lnTo>
                    <a:pt x="22432" y="241352"/>
                  </a:lnTo>
                  <a:lnTo>
                    <a:pt x="10339" y="166902"/>
                  </a:lnTo>
                  <a:lnTo>
                    <a:pt x="2677" y="86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7898440" y="3172660"/>
              <a:ext cx="161547" cy="161547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10448587" y="2953416"/>
              <a:ext cx="230782" cy="230782"/>
            </a:xfrm>
            <a:prstGeom prst="ellipse">
              <a:avLst/>
            </a:prstGeom>
            <a:solidFill>
              <a:srgbClr val="FF388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10656292" y="4499660"/>
              <a:ext cx="138469" cy="138469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855" y="692177"/>
            <a:ext cx="5242438" cy="9194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8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>
                <a:solidFill>
                  <a:srgbClr val="FFFFFF"/>
                </a:solidFill>
                <a:latin typeface="Arial"/>
                <a:ea typeface="Arial"/>
                <a:cs typeface="Arial"/>
              </a:rPr>
              <a:t>Заключение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58855" y="2465070"/>
            <a:ext cx="5242438" cy="19507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Одобрить запуск сервиса на всю компанию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Назначить ответственных и выделить бюджет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
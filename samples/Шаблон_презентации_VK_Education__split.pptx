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6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2.xml"/><Relationship Id="rId18" Type="http://schemas.openxmlformats.org/officeDocument/2006/relationships/slideLayout" Target="../slideLayouts/slideLayout1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3" r:id="rId6"/>
    <p:sldLayoutId id="2147483657" r:id="rId10"/>
    <p:sldLayoutId id="2147483659" r:id="rId12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237.png"/><Relationship Id="rId4" Type="http://schemas.openxmlformats.org/officeDocument/2006/relationships/image" Target="../media/image229.png"/><Relationship Id="rId5" Type="http://schemas.openxmlformats.org/officeDocument/2006/relationships/image" Target="../media/image238.png"/><Relationship Id="rId6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Relationship Id="rId3" Type="http://schemas.openxmlformats.org/officeDocument/2006/relationships/notesSlide" Target="../notesSlides/notesSlide67.xm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22279" y="2598016"/>
            <a:ext cx="7535387" cy="16865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Автоматическая вёрстка презентаций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42 колоды за квартал 2026: 186 минут на сборку</a:t>
            </a:r>
          </a:p>
        </p:txBody>
      </p:sp>
      <p:sp>
        <p:nvSpPr>
          <p:cNvPr id="3" name="stat_0:bar"/>
          <p:cNvSpPr/>
          <p:nvPr/>
        </p:nvSpPr>
        <p:spPr>
          <a:xfrm>
            <a:off x="677387" y="2489735"/>
            <a:ext cx="50800" cy="115011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_0"/>
          <p:cNvSpPr txBox="1"/>
          <p:nvPr/>
        </p:nvSpPr>
        <p:spPr>
          <a:xfrm>
            <a:off x="855187" y="2380007"/>
            <a:ext cx="5033021" cy="125984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12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12 слайдов в каждой колоде</a:t>
            </a:r>
          </a:p>
        </p:txBody>
      </p:sp>
      <p:sp>
        <p:nvSpPr>
          <p:cNvPr id="5" name="stat_1:bar"/>
          <p:cNvSpPr/>
          <p:nvPr/>
        </p:nvSpPr>
        <p:spPr>
          <a:xfrm>
            <a:off x="6322444" y="2489735"/>
            <a:ext cx="50800" cy="115011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_1"/>
          <p:cNvSpPr txBox="1"/>
          <p:nvPr/>
        </p:nvSpPr>
        <p:spPr>
          <a:xfrm>
            <a:off x="6500244" y="2380007"/>
            <a:ext cx="5033021" cy="125984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74 мин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74 минуты на правки</a:t>
            </a:r>
          </a:p>
        </p:txBody>
      </p:sp>
      <p:sp>
        <p:nvSpPr>
          <p:cNvPr id="7" name="stat_2:bar"/>
          <p:cNvSpPr/>
          <p:nvPr/>
        </p:nvSpPr>
        <p:spPr>
          <a:xfrm>
            <a:off x="677387" y="4537290"/>
            <a:ext cx="50800" cy="115011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_2"/>
          <p:cNvSpPr txBox="1"/>
          <p:nvPr/>
        </p:nvSpPr>
        <p:spPr>
          <a:xfrm>
            <a:off x="855187" y="4427562"/>
            <a:ext cx="5033021" cy="125984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19 из 42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19 из 42 нарушили стиль</a:t>
            </a:r>
          </a:p>
        </p:txBody>
      </p:sp>
      <p:sp>
        <p:nvSpPr>
          <p:cNvPr id="9" name="stat_3:bar"/>
          <p:cNvSpPr/>
          <p:nvPr/>
        </p:nvSpPr>
        <p:spPr>
          <a:xfrm>
            <a:off x="6322444" y="4537290"/>
            <a:ext cx="50800" cy="115011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_3"/>
          <p:cNvSpPr txBox="1"/>
          <p:nvPr/>
        </p:nvSpPr>
        <p:spPr>
          <a:xfrm>
            <a:off x="6500244" y="4427562"/>
            <a:ext cx="5033021" cy="125984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186 мин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Сборка 186 минут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Дизайн-отдел из 4 человек обслуживает 11 запросов в неделю</a:t>
            </a:r>
          </a:p>
        </p:txBody>
      </p:sp>
      <p:sp>
        <p:nvSpPr>
          <p:cNvPr id="3" name="stat_0:bar"/>
          <p:cNvSpPr/>
          <p:nvPr/>
        </p:nvSpPr>
        <p:spPr>
          <a:xfrm>
            <a:off x="677387" y="2489735"/>
            <a:ext cx="50800" cy="154635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_0"/>
          <p:cNvSpPr txBox="1"/>
          <p:nvPr/>
        </p:nvSpPr>
        <p:spPr>
          <a:xfrm>
            <a:off x="855187" y="2380007"/>
            <a:ext cx="5033021" cy="165608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11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4 человека обслуживают 11 запросов в неделю</a:t>
            </a:r>
          </a:p>
        </p:txBody>
      </p:sp>
      <p:sp>
        <p:nvSpPr>
          <p:cNvPr id="5" name="stat_1:bar"/>
          <p:cNvSpPr/>
          <p:nvPr/>
        </p:nvSpPr>
        <p:spPr>
          <a:xfrm>
            <a:off x="6322444" y="2489735"/>
            <a:ext cx="50800" cy="115011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_1"/>
          <p:cNvSpPr txBox="1"/>
          <p:nvPr/>
        </p:nvSpPr>
        <p:spPr>
          <a:xfrm>
            <a:off x="6500244" y="2380007"/>
            <a:ext cx="5033021" cy="125984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27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27 поступающих запросов</a:t>
            </a:r>
          </a:p>
        </p:txBody>
      </p:sp>
      <p:sp>
        <p:nvSpPr>
          <p:cNvPr id="7" name="stat_2:bar"/>
          <p:cNvSpPr/>
          <p:nvPr/>
        </p:nvSpPr>
        <p:spPr>
          <a:xfrm>
            <a:off x="677387" y="4537290"/>
            <a:ext cx="50800" cy="115011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_2"/>
          <p:cNvSpPr txBox="1"/>
          <p:nvPr/>
        </p:nvSpPr>
        <p:spPr>
          <a:xfrm>
            <a:off x="855187" y="4427562"/>
            <a:ext cx="5033021" cy="125984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6 дней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Средний срок ожидания 6 дней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Сервис автоматической вёрстки: 4 минуты вместо 186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77387" y="3249002"/>
            <a:ext cx="5874466" cy="2082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Принимает шаблон pptx и материалы</a:t>
            </a:r>
          </a:p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Автоматически строит план колоды</a:t>
            </a:r>
          </a:p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Встроенный аудит качества</a:t>
            </a:r>
          </a:p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Экспорт в pptx, pdf, html</a:t>
            </a:r>
          </a:p>
        </p:txBody>
      </p:sp>
      <p:grpSp>
        <p:nvGrpSpPr>
          <p:cNvPr id="4" name="illustration:builtin-presentation"/>
          <p:cNvGrpSpPr/>
          <p:nvPr/>
        </p:nvGrpSpPr>
        <p:grpSpPr>
          <a:xfrm>
            <a:off x="7771509" y="2836472"/>
            <a:ext cx="2907860" cy="2907860"/>
            <a:chOff x="7771509" y="2836472"/>
            <a:chExt cx="2907860" cy="2907860"/>
          </a:xfrm>
        </p:grpSpPr>
        <p:sp>
          <p:nvSpPr>
            <p:cNvPr id="5" name="Oval 4"/>
            <p:cNvSpPr/>
            <p:nvPr/>
          </p:nvSpPr>
          <p:spPr>
            <a:xfrm>
              <a:off x="7771509" y="2836472"/>
              <a:ext cx="2907860" cy="2907860"/>
            </a:xfrm>
            <a:prstGeom prst="ellipse">
              <a:avLst/>
            </a:prstGeom>
            <a:solidFill>
              <a:srgbClr val="D6E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886900" y="3228802"/>
              <a:ext cx="2677078" cy="1730869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86900" y="3228802"/>
              <a:ext cx="2677078" cy="346173"/>
            </a:xfrm>
            <a:prstGeom prst="roundRect">
              <a:avLst>
                <a:gd name="adj" fmla="val 46666"/>
              </a:avLst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886900" y="3413428"/>
              <a:ext cx="2677078" cy="161547"/>
            </a:xfrm>
            <a:prstGeom prst="rect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63840" y="3805759"/>
              <a:ext cx="969286" cy="115391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63840" y="4036541"/>
              <a:ext cx="738504" cy="92313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163840" y="4221167"/>
              <a:ext cx="853895" cy="92313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63840" y="4405793"/>
              <a:ext cx="646191" cy="92313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386987" y="4290402"/>
              <a:ext cx="207704" cy="438486"/>
            </a:xfrm>
            <a:prstGeom prst="roundRect">
              <a:avLst>
                <a:gd name="adj" fmla="val 22222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687005" y="4059619"/>
              <a:ext cx="207704" cy="669269"/>
            </a:xfrm>
            <a:prstGeom prst="roundRect">
              <a:avLst>
                <a:gd name="adj" fmla="val 22222"/>
              </a:avLst>
            </a:pr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87022" y="3828837"/>
              <a:ext cx="207704" cy="900052"/>
            </a:xfrm>
            <a:prstGeom prst="roundRect">
              <a:avLst>
                <a:gd name="adj" fmla="val 22222"/>
              </a:avLst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156205" y="4959672"/>
              <a:ext cx="138469" cy="4154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648483" y="5328924"/>
              <a:ext cx="1153913" cy="138469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Слайды остаются редактируемыми без картинок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77387" y="3182962"/>
            <a:ext cx="5874466" cy="2214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Нативные объекты, таблицы, диаграммы, фигуры</a:t>
            </a:r>
          </a:p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Готовые страницы с ролями</a:t>
            </a:r>
          </a:p>
        </p:txBody>
      </p:sp>
      <p:grpSp>
        <p:nvGrpSpPr>
          <p:cNvPr id="4" name="illustration:builtin-presentation"/>
          <p:cNvGrpSpPr/>
          <p:nvPr/>
        </p:nvGrpSpPr>
        <p:grpSpPr>
          <a:xfrm>
            <a:off x="7771509" y="2836472"/>
            <a:ext cx="2907860" cy="2907860"/>
            <a:chOff x="7771509" y="2836472"/>
            <a:chExt cx="2907860" cy="2907860"/>
          </a:xfrm>
        </p:grpSpPr>
        <p:sp>
          <p:nvSpPr>
            <p:cNvPr id="5" name="Oval 4"/>
            <p:cNvSpPr/>
            <p:nvPr/>
          </p:nvSpPr>
          <p:spPr>
            <a:xfrm>
              <a:off x="7771509" y="2836472"/>
              <a:ext cx="2907860" cy="2907860"/>
            </a:xfrm>
            <a:prstGeom prst="ellipse">
              <a:avLst/>
            </a:prstGeom>
            <a:solidFill>
              <a:srgbClr val="D6E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886900" y="3228802"/>
              <a:ext cx="2677078" cy="1730869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86900" y="3228802"/>
              <a:ext cx="2677078" cy="346173"/>
            </a:xfrm>
            <a:prstGeom prst="roundRect">
              <a:avLst>
                <a:gd name="adj" fmla="val 46666"/>
              </a:avLst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886900" y="3413428"/>
              <a:ext cx="2677078" cy="161547"/>
            </a:xfrm>
            <a:prstGeom prst="rect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163840" y="3805759"/>
              <a:ext cx="969286" cy="115391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163840" y="4036541"/>
              <a:ext cx="738504" cy="92313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163840" y="4221167"/>
              <a:ext cx="853895" cy="92313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63840" y="4405793"/>
              <a:ext cx="646191" cy="92313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386987" y="4290402"/>
              <a:ext cx="207704" cy="438486"/>
            </a:xfrm>
            <a:prstGeom prst="roundRect">
              <a:avLst>
                <a:gd name="adj" fmla="val 22222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687005" y="4059619"/>
              <a:ext cx="207704" cy="669269"/>
            </a:xfrm>
            <a:prstGeom prst="roundRect">
              <a:avLst>
                <a:gd name="adj" fmla="val 22222"/>
              </a:avLst>
            </a:pr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987022" y="3828837"/>
              <a:ext cx="207704" cy="900052"/>
            </a:xfrm>
            <a:prstGeom prst="roundRect">
              <a:avLst>
                <a:gd name="adj" fmla="val 22222"/>
              </a:avLst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156205" y="4959672"/>
              <a:ext cx="138469" cy="4154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648483" y="5328924"/>
              <a:ext cx="1153913" cy="138469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95" name="Google Shape;795;p6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68 презентаций за 6 недель: 4 минуты на сборку</a:t>
            </a:r>
          </a:p>
        </p:txBody>
      </p:sp>
      <p:sp>
        <p:nvSpPr>
          <p:cNvPr id="797" name="stat_0:bar"/>
          <p:cNvSpPr/>
          <p:nvPr/>
        </p:nvSpPr>
        <p:spPr>
          <a:xfrm>
            <a:off x="677387" y="2489735"/>
            <a:ext cx="50800" cy="115011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stat_0"/>
          <p:cNvSpPr txBox="1"/>
          <p:nvPr/>
        </p:nvSpPr>
        <p:spPr>
          <a:xfrm>
            <a:off x="855187" y="2380007"/>
            <a:ext cx="5033021" cy="125984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4 мин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4 минуты на сборку</a:t>
            </a:r>
          </a:p>
        </p:txBody>
      </p:sp>
      <p:sp>
        <p:nvSpPr>
          <p:cNvPr id="799" name="stat_1:bar"/>
          <p:cNvSpPr/>
          <p:nvPr/>
        </p:nvSpPr>
        <p:spPr>
          <a:xfrm>
            <a:off x="6322444" y="2489735"/>
            <a:ext cx="50800" cy="115011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stat_1"/>
          <p:cNvSpPr txBox="1"/>
          <p:nvPr/>
        </p:nvSpPr>
        <p:spPr>
          <a:xfrm>
            <a:off x="6500244" y="2380007"/>
            <a:ext cx="5033021" cy="125984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1 день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Время до первой версии 1 день</a:t>
            </a:r>
          </a:p>
        </p:txBody>
      </p:sp>
      <p:sp>
        <p:nvSpPr>
          <p:cNvPr id="801" name="stat_2:bar"/>
          <p:cNvSpPr/>
          <p:nvPr/>
        </p:nvSpPr>
        <p:spPr>
          <a:xfrm>
            <a:off x="677387" y="4537290"/>
            <a:ext cx="50800" cy="115011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stat_2"/>
          <p:cNvSpPr txBox="1"/>
          <p:nvPr/>
        </p:nvSpPr>
        <p:spPr>
          <a:xfrm>
            <a:off x="855187" y="4427562"/>
            <a:ext cx="5033021" cy="125984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 из 68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Нарушений стиля 2 из 68</a:t>
            </a:r>
          </a:p>
        </p:txBody>
      </p:sp>
      <p:sp>
        <p:nvSpPr>
          <p:cNvPr id="803" name="stat_3:bar"/>
          <p:cNvSpPr/>
          <p:nvPr/>
        </p:nvSpPr>
        <p:spPr>
          <a:xfrm>
            <a:off x="6322444" y="4537290"/>
            <a:ext cx="50800" cy="115011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stat_3"/>
          <p:cNvSpPr txBox="1"/>
          <p:nvPr/>
        </p:nvSpPr>
        <p:spPr>
          <a:xfrm>
            <a:off x="6500244" y="4427562"/>
            <a:ext cx="5033021" cy="125984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38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Дизайнеры закрыли 38 запросов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9194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>
                <a:solidFill>
                  <a:srgbClr val="000000"/>
                </a:solidFill>
                <a:latin typeface="Arial"/>
                <a:ea typeface="Arial"/>
                <a:cs typeface="Arial"/>
              </a:rPr>
              <a:t>Рутина ушла в сервис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77387" y="3282022"/>
            <a:ext cx="5874466" cy="14884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Дизайнеры сосредоточились на сложных задачах</a:t>
            </a:r>
          </a:p>
          <a:p>
            <a:pPr algn="l">
              <a:spcAft>
                <a:spcPts val="300"/>
              </a:spcAft>
              <a:defRPr sz="2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Время на правки сократилось</a:t>
            </a:r>
          </a:p>
        </p:txBody>
      </p:sp>
      <p:grpSp>
        <p:nvGrpSpPr>
          <p:cNvPr id="4" name="illustration:builtin-team"/>
          <p:cNvGrpSpPr/>
          <p:nvPr/>
        </p:nvGrpSpPr>
        <p:grpSpPr>
          <a:xfrm>
            <a:off x="7586883" y="2710781"/>
            <a:ext cx="3300191" cy="2861704"/>
            <a:chOff x="7586883" y="2710781"/>
            <a:chExt cx="3300191" cy="2861704"/>
          </a:xfrm>
        </p:grpSpPr>
        <p:sp>
          <p:nvSpPr>
            <p:cNvPr id="5" name="Oval 4"/>
            <p:cNvSpPr/>
            <p:nvPr/>
          </p:nvSpPr>
          <p:spPr>
            <a:xfrm>
              <a:off x="7794587" y="2710781"/>
              <a:ext cx="2861704" cy="2861704"/>
            </a:xfrm>
            <a:prstGeom prst="ellipse">
              <a:avLst/>
            </a:prstGeom>
            <a:solidFill>
              <a:srgbClr val="D6E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8166147" y="3356972"/>
              <a:ext cx="456949" cy="456949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7999984" y="3917774"/>
              <a:ext cx="789276" cy="560802"/>
            </a:xfrm>
            <a:custGeom>
              <a:avLst/>
              <a:gdLst/>
              <a:ahLst/>
              <a:cxnLst/>
              <a:rect l="l" t="t" r="r" b="b"/>
              <a:pathLst>
                <a:path w="789276" h="560802">
                  <a:moveTo>
                    <a:pt x="0" y="560802"/>
                  </a:moveTo>
                  <a:lnTo>
                    <a:pt x="7581" y="451399"/>
                  </a:lnTo>
                  <a:lnTo>
                    <a:pt x="30036" y="346197"/>
                  </a:lnTo>
                  <a:lnTo>
                    <a:pt x="66511" y="249234"/>
                  </a:lnTo>
                  <a:lnTo>
                    <a:pt x="115587" y="164260"/>
                  </a:lnTo>
                  <a:lnTo>
                    <a:pt x="175383" y="94517"/>
                  </a:lnTo>
                  <a:lnTo>
                    <a:pt x="243614" y="42683"/>
                  </a:lnTo>
                  <a:lnTo>
                    <a:pt x="317649" y="10778"/>
                  </a:lnTo>
                  <a:lnTo>
                    <a:pt x="394638" y="0"/>
                  </a:lnTo>
                  <a:lnTo>
                    <a:pt x="471627" y="10778"/>
                  </a:lnTo>
                  <a:lnTo>
                    <a:pt x="545662" y="42683"/>
                  </a:lnTo>
                  <a:lnTo>
                    <a:pt x="613893" y="94517"/>
                  </a:lnTo>
                  <a:lnTo>
                    <a:pt x="673689" y="164260"/>
                  </a:lnTo>
                  <a:lnTo>
                    <a:pt x="722765" y="249234"/>
                  </a:lnTo>
                  <a:lnTo>
                    <a:pt x="759240" y="346197"/>
                  </a:lnTo>
                  <a:lnTo>
                    <a:pt x="781695" y="451399"/>
                  </a:lnTo>
                  <a:lnTo>
                    <a:pt x="789276" y="560802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9827782" y="3356972"/>
              <a:ext cx="456949" cy="456949"/>
            </a:xfrm>
            <a:prstGeom prst="ellipse">
              <a:avLst/>
            </a:pr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9661619" y="3917774"/>
              <a:ext cx="789276" cy="560802"/>
            </a:xfrm>
            <a:custGeom>
              <a:avLst/>
              <a:gdLst/>
              <a:ahLst/>
              <a:cxnLst/>
              <a:rect l="l" t="t" r="r" b="b"/>
              <a:pathLst>
                <a:path w="789276" h="560802">
                  <a:moveTo>
                    <a:pt x="0" y="560802"/>
                  </a:moveTo>
                  <a:lnTo>
                    <a:pt x="7581" y="451399"/>
                  </a:lnTo>
                  <a:lnTo>
                    <a:pt x="30036" y="346197"/>
                  </a:lnTo>
                  <a:lnTo>
                    <a:pt x="66511" y="249234"/>
                  </a:lnTo>
                  <a:lnTo>
                    <a:pt x="115587" y="164260"/>
                  </a:lnTo>
                  <a:lnTo>
                    <a:pt x="175383" y="94517"/>
                  </a:lnTo>
                  <a:lnTo>
                    <a:pt x="243614" y="42683"/>
                  </a:lnTo>
                  <a:lnTo>
                    <a:pt x="317649" y="10778"/>
                  </a:lnTo>
                  <a:lnTo>
                    <a:pt x="394638" y="0"/>
                  </a:lnTo>
                  <a:lnTo>
                    <a:pt x="471627" y="10778"/>
                  </a:lnTo>
                  <a:lnTo>
                    <a:pt x="545662" y="42683"/>
                  </a:lnTo>
                  <a:lnTo>
                    <a:pt x="613893" y="94517"/>
                  </a:lnTo>
                  <a:lnTo>
                    <a:pt x="673689" y="164260"/>
                  </a:lnTo>
                  <a:lnTo>
                    <a:pt x="722765" y="249234"/>
                  </a:lnTo>
                  <a:lnTo>
                    <a:pt x="759240" y="346197"/>
                  </a:lnTo>
                  <a:lnTo>
                    <a:pt x="781695" y="451399"/>
                  </a:lnTo>
                  <a:lnTo>
                    <a:pt x="789276" y="560802"/>
                  </a:lnTo>
                  <a:close/>
                </a:path>
              </a:pathLst>
            </a:cu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8933500" y="3103112"/>
              <a:ext cx="583879" cy="583879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8721180" y="3819692"/>
              <a:ext cx="1008519" cy="716580"/>
            </a:xfrm>
            <a:custGeom>
              <a:avLst/>
              <a:gdLst/>
              <a:ahLst/>
              <a:cxnLst/>
              <a:rect l="l" t="t" r="r" b="b"/>
              <a:pathLst>
                <a:path w="1008519" h="716580">
                  <a:moveTo>
                    <a:pt x="0" y="716580"/>
                  </a:moveTo>
                  <a:lnTo>
                    <a:pt x="9692" y="576783"/>
                  </a:lnTo>
                  <a:lnTo>
                    <a:pt x="38379" y="442352"/>
                  </a:lnTo>
                  <a:lnTo>
                    <a:pt x="84985" y="318468"/>
                  </a:lnTo>
                  <a:lnTo>
                    <a:pt x="147689" y="209885"/>
                  </a:lnTo>
                  <a:lnTo>
                    <a:pt x="224113" y="120768"/>
                  </a:lnTo>
                  <a:lnTo>
                    <a:pt x="311291" y="54545"/>
                  </a:lnTo>
                  <a:lnTo>
                    <a:pt x="405888" y="13766"/>
                  </a:lnTo>
                  <a:lnTo>
                    <a:pt x="504260" y="0"/>
                  </a:lnTo>
                  <a:lnTo>
                    <a:pt x="602631" y="13766"/>
                  </a:lnTo>
                  <a:lnTo>
                    <a:pt x="697228" y="54545"/>
                  </a:lnTo>
                  <a:lnTo>
                    <a:pt x="784406" y="120768"/>
                  </a:lnTo>
                  <a:lnTo>
                    <a:pt x="860830" y="209885"/>
                  </a:lnTo>
                  <a:lnTo>
                    <a:pt x="923534" y="318468"/>
                  </a:lnTo>
                  <a:lnTo>
                    <a:pt x="970140" y="442352"/>
                  </a:lnTo>
                  <a:lnTo>
                    <a:pt x="998827" y="576783"/>
                  </a:lnTo>
                  <a:lnTo>
                    <a:pt x="1008519" y="71658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025370" y="4972451"/>
              <a:ext cx="2400139" cy="138469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10610135" y="3126190"/>
              <a:ext cx="276939" cy="276939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7586883" y="3472364"/>
              <a:ext cx="184626" cy="184626"/>
            </a:xfrm>
            <a:prstGeom prst="ellipse">
              <a:avLst/>
            </a:pr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875" y="692177"/>
            <a:ext cx="10855391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Инференс за 6 недель стоит 1 400 рублей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77875" y="3447122"/>
            <a:ext cx="5874193" cy="16865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Сервис на 2 vCPU / 2 GB RAM</a:t>
            </a:r>
          </a:p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Модель gpt-oss-20b</a:t>
            </a:r>
          </a:p>
        </p:txBody>
      </p:sp>
      <p:grpSp>
        <p:nvGrpSpPr>
          <p:cNvPr id="4" name="illustration:builtin-money"/>
          <p:cNvGrpSpPr/>
          <p:nvPr/>
        </p:nvGrpSpPr>
        <p:grpSpPr>
          <a:xfrm>
            <a:off x="7771683" y="2836539"/>
            <a:ext cx="2907725" cy="2907725"/>
            <a:chOff x="7771683" y="2836539"/>
            <a:chExt cx="2907725" cy="2907725"/>
          </a:xfrm>
        </p:grpSpPr>
        <p:sp>
          <p:nvSpPr>
            <p:cNvPr id="5" name="Oval 4"/>
            <p:cNvSpPr/>
            <p:nvPr/>
          </p:nvSpPr>
          <p:spPr>
            <a:xfrm>
              <a:off x="7771683" y="2836539"/>
              <a:ext cx="2907725" cy="2907725"/>
            </a:xfrm>
            <a:prstGeom prst="ellipse">
              <a:avLst/>
            </a:prstGeom>
            <a:solidFill>
              <a:srgbClr val="D6E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979378" y="3667318"/>
              <a:ext cx="2030792" cy="1200013"/>
            </a:xfrm>
            <a:prstGeom prst="roundRect">
              <a:avLst>
                <a:gd name="adj" fmla="val 13461"/>
              </a:avLst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8648616" y="3921167"/>
              <a:ext cx="692315" cy="6923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8856311" y="4082707"/>
              <a:ext cx="276926" cy="392312"/>
            </a:xfrm>
            <a:custGeom>
              <a:avLst/>
              <a:gdLst/>
              <a:ahLst/>
              <a:cxnLst/>
              <a:rect l="l" t="t" r="r" b="b"/>
              <a:pathLst>
                <a:path w="276926" h="392312">
                  <a:moveTo>
                    <a:pt x="69232" y="392312"/>
                  </a:moveTo>
                  <a:lnTo>
                    <a:pt x="69232" y="0"/>
                  </a:lnTo>
                  <a:lnTo>
                    <a:pt x="184618" y="0"/>
                  </a:lnTo>
                  <a:lnTo>
                    <a:pt x="202629" y="1777"/>
                  </a:lnTo>
                  <a:lnTo>
                    <a:pt x="219937" y="7027"/>
                  </a:lnTo>
                  <a:lnTo>
                    <a:pt x="235907" y="15554"/>
                  </a:lnTo>
                  <a:lnTo>
                    <a:pt x="249891" y="27035"/>
                  </a:lnTo>
                  <a:lnTo>
                    <a:pt x="261372" y="41020"/>
                  </a:lnTo>
                  <a:lnTo>
                    <a:pt x="269899" y="56989"/>
                  </a:lnTo>
                  <a:lnTo>
                    <a:pt x="275149" y="74297"/>
                  </a:lnTo>
                  <a:lnTo>
                    <a:pt x="276926" y="92309"/>
                  </a:lnTo>
                  <a:lnTo>
                    <a:pt x="275149" y="110320"/>
                  </a:lnTo>
                  <a:lnTo>
                    <a:pt x="269899" y="127628"/>
                  </a:lnTo>
                  <a:lnTo>
                    <a:pt x="261372" y="143598"/>
                  </a:lnTo>
                  <a:lnTo>
                    <a:pt x="249891" y="157582"/>
                  </a:lnTo>
                  <a:lnTo>
                    <a:pt x="235907" y="169063"/>
                  </a:lnTo>
                  <a:lnTo>
                    <a:pt x="219937" y="177590"/>
                  </a:lnTo>
                  <a:lnTo>
                    <a:pt x="202629" y="182840"/>
                  </a:lnTo>
                  <a:lnTo>
                    <a:pt x="184618" y="184617"/>
                  </a:lnTo>
                  <a:lnTo>
                    <a:pt x="0" y="184617"/>
                  </a:lnTo>
                </a:path>
              </a:pathLst>
            </a:custGeom>
            <a:noFill/>
            <a:ln w="69231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8856311" y="4371172"/>
              <a:ext cx="207695" cy="0"/>
            </a:xfrm>
            <a:custGeom>
              <a:avLst/>
              <a:gdLst/>
              <a:ahLst/>
              <a:cxnLst/>
              <a:rect l="l" t="t" r="r" b="b"/>
              <a:pathLst>
                <a:path w="207695" h="0">
                  <a:moveTo>
                    <a:pt x="0" y="0"/>
                  </a:moveTo>
                  <a:lnTo>
                    <a:pt x="207695" y="0"/>
                  </a:lnTo>
                </a:path>
              </a:pathLst>
            </a:custGeom>
            <a:solidFill>
              <a:srgbClr val="000000"/>
            </a:solidFill>
            <a:ln w="69231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9687090" y="5075026"/>
              <a:ext cx="923087" cy="276926"/>
            </a:xfrm>
            <a:prstGeom prst="ellipse">
              <a:avLst/>
            </a:pr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9687090" y="4867331"/>
              <a:ext cx="923087" cy="276926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9687090" y="4659636"/>
              <a:ext cx="923087" cy="276926"/>
            </a:xfrm>
            <a:prstGeom prst="ellipse">
              <a:avLst/>
            </a:pr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9687090" y="4451942"/>
              <a:ext cx="923087" cy="276926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9687090" y="4244247"/>
              <a:ext cx="923087" cy="276926"/>
            </a:xfrm>
            <a:prstGeom prst="ellipse">
              <a:avLst/>
            </a:pr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7887069" y="5098103"/>
              <a:ext cx="276926" cy="276926"/>
            </a:xfrm>
            <a:prstGeom prst="ellipse">
              <a:avLst/>
            </a:pr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Главный риск — нагрузка выше 20 задач</a:t>
            </a:r>
          </a:p>
        </p:txBody>
      </p:sp>
      <p:sp>
        <p:nvSpPr>
          <p:cNvPr id="451" name="body"/>
          <p:cNvSpPr txBox="1"/>
          <p:nvPr/>
        </p:nvSpPr>
        <p:spPr>
          <a:xfrm>
            <a:off x="677387" y="2852762"/>
            <a:ext cx="5874466" cy="28752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Модель может выдумать цифры, аудит проверяет</a:t>
            </a:r>
          </a:p>
          <a:p>
            <a:pPr algn="l">
              <a:spcAft>
                <a:spcPts val="300"/>
              </a:spcAft>
              <a:defRPr sz="24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Неизвестный шаблон может быть плохо сделан, сервис использует рабочую область</a:t>
            </a:r>
          </a:p>
          <a:p>
            <a:pPr algn="l">
              <a:spcAft>
                <a:spcPts val="300"/>
              </a:spcAft>
              <a:defRPr sz="24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Нагрузка выше 20 задач требует внешней очереди</a:t>
            </a:r>
          </a:p>
        </p:txBody>
      </p:sp>
      <p:grpSp>
        <p:nvGrpSpPr>
          <p:cNvPr id="2" name="illustration:builtin-security"/>
          <p:cNvGrpSpPr/>
          <p:nvPr/>
        </p:nvGrpSpPr>
        <p:grpSpPr>
          <a:xfrm>
            <a:off x="7771509" y="2859550"/>
            <a:ext cx="3046330" cy="2861704"/>
            <a:chOff x="7771509" y="2859550"/>
            <a:chExt cx="3046330" cy="2861704"/>
          </a:xfrm>
        </p:grpSpPr>
        <p:sp>
          <p:nvSpPr>
            <p:cNvPr id="452" name="Oval 451"/>
            <p:cNvSpPr/>
            <p:nvPr/>
          </p:nvSpPr>
          <p:spPr>
            <a:xfrm>
              <a:off x="7794587" y="2859550"/>
              <a:ext cx="2861704" cy="2861704"/>
            </a:xfrm>
            <a:prstGeom prst="ellipse">
              <a:avLst/>
            </a:prstGeom>
            <a:solidFill>
              <a:srgbClr val="D6E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Freeform 2"/>
            <p:cNvSpPr/>
            <p:nvPr/>
          </p:nvSpPr>
          <p:spPr>
            <a:xfrm>
              <a:off x="8163840" y="3021098"/>
              <a:ext cx="2123199" cy="2561687"/>
            </a:xfrm>
            <a:custGeom>
              <a:avLst/>
              <a:gdLst/>
              <a:ahLst/>
              <a:cxnLst/>
              <a:rect l="l" t="t" r="r" b="b"/>
              <a:pathLst>
                <a:path w="2123199" h="2561687">
                  <a:moveTo>
                    <a:pt x="1061600" y="0"/>
                  </a:moveTo>
                  <a:lnTo>
                    <a:pt x="2123199" y="415408"/>
                  </a:lnTo>
                  <a:lnTo>
                    <a:pt x="2123199" y="1130834"/>
                  </a:lnTo>
                  <a:lnTo>
                    <a:pt x="2110299" y="1327300"/>
                  </a:lnTo>
                  <a:lnTo>
                    <a:pt x="2072612" y="1514487"/>
                  </a:lnTo>
                  <a:lnTo>
                    <a:pt x="2011662" y="1691428"/>
                  </a:lnTo>
                  <a:lnTo>
                    <a:pt x="1928973" y="1857153"/>
                  </a:lnTo>
                  <a:lnTo>
                    <a:pt x="1826067" y="2010693"/>
                  </a:lnTo>
                  <a:lnTo>
                    <a:pt x="1704468" y="2151078"/>
                  </a:lnTo>
                  <a:lnTo>
                    <a:pt x="1565698" y="2277339"/>
                  </a:lnTo>
                  <a:lnTo>
                    <a:pt x="1411281" y="2388507"/>
                  </a:lnTo>
                  <a:lnTo>
                    <a:pt x="1242741" y="2483613"/>
                  </a:lnTo>
                  <a:lnTo>
                    <a:pt x="1061600" y="2561687"/>
                  </a:lnTo>
                  <a:lnTo>
                    <a:pt x="880458" y="2483613"/>
                  </a:lnTo>
                  <a:lnTo>
                    <a:pt x="711918" y="2388507"/>
                  </a:lnTo>
                  <a:lnTo>
                    <a:pt x="557501" y="2277339"/>
                  </a:lnTo>
                  <a:lnTo>
                    <a:pt x="418731" y="2151078"/>
                  </a:lnTo>
                  <a:lnTo>
                    <a:pt x="297132" y="2010693"/>
                  </a:lnTo>
                  <a:lnTo>
                    <a:pt x="194226" y="1857153"/>
                  </a:lnTo>
                  <a:lnTo>
                    <a:pt x="111537" y="1691428"/>
                  </a:lnTo>
                  <a:lnTo>
                    <a:pt x="50587" y="1514487"/>
                  </a:lnTo>
                  <a:lnTo>
                    <a:pt x="12900" y="1327300"/>
                  </a:lnTo>
                  <a:lnTo>
                    <a:pt x="0" y="1130834"/>
                  </a:lnTo>
                  <a:lnTo>
                    <a:pt x="0" y="415408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9225440" y="3321115"/>
              <a:ext cx="761582" cy="1915496"/>
            </a:xfrm>
            <a:custGeom>
              <a:avLst/>
              <a:gdLst/>
              <a:ahLst/>
              <a:cxnLst/>
              <a:rect l="l" t="t" r="r" b="b"/>
              <a:pathLst>
                <a:path w="761582" h="1915496">
                  <a:moveTo>
                    <a:pt x="0" y="0"/>
                  </a:moveTo>
                  <a:lnTo>
                    <a:pt x="761582" y="300017"/>
                  </a:lnTo>
                  <a:lnTo>
                    <a:pt x="761582" y="853896"/>
                  </a:lnTo>
                  <a:lnTo>
                    <a:pt x="752097" y="996404"/>
                  </a:lnTo>
                  <a:lnTo>
                    <a:pt x="724472" y="1132681"/>
                  </a:lnTo>
                  <a:lnTo>
                    <a:pt x="679954" y="1262035"/>
                  </a:lnTo>
                  <a:lnTo>
                    <a:pt x="619789" y="1383773"/>
                  </a:lnTo>
                  <a:lnTo>
                    <a:pt x="545223" y="1497202"/>
                  </a:lnTo>
                  <a:lnTo>
                    <a:pt x="457503" y="1601631"/>
                  </a:lnTo>
                  <a:lnTo>
                    <a:pt x="357874" y="1696368"/>
                  </a:lnTo>
                  <a:lnTo>
                    <a:pt x="247583" y="1780719"/>
                  </a:lnTo>
                  <a:lnTo>
                    <a:pt x="127876" y="1853992"/>
                  </a:lnTo>
                  <a:lnTo>
                    <a:pt x="0" y="1915496"/>
                  </a:lnTo>
                  <a:close/>
                </a:path>
              </a:pathLst>
            </a:cu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8763874" y="3990385"/>
              <a:ext cx="969287" cy="669269"/>
            </a:xfrm>
            <a:custGeom>
              <a:avLst/>
              <a:gdLst/>
              <a:ahLst/>
              <a:cxnLst/>
              <a:rect l="l" t="t" r="r" b="b"/>
              <a:pathLst>
                <a:path w="969287" h="669269">
                  <a:moveTo>
                    <a:pt x="0" y="323095"/>
                  </a:moveTo>
                  <a:lnTo>
                    <a:pt x="346174" y="669269"/>
                  </a:lnTo>
                  <a:lnTo>
                    <a:pt x="969287" y="0"/>
                  </a:lnTo>
                </a:path>
              </a:pathLst>
            </a:custGeom>
            <a:noFill/>
            <a:ln w="184626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Oval 452"/>
            <p:cNvSpPr/>
            <p:nvPr/>
          </p:nvSpPr>
          <p:spPr>
            <a:xfrm>
              <a:off x="7771509" y="3367272"/>
              <a:ext cx="230782" cy="230782"/>
            </a:xfrm>
            <a:prstGeom prst="ellipse">
              <a:avLst/>
            </a:pr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Oval 453"/>
            <p:cNvSpPr/>
            <p:nvPr/>
          </p:nvSpPr>
          <p:spPr>
            <a:xfrm>
              <a:off x="10494744" y="5028906"/>
              <a:ext cx="323095" cy="323095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9194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>
                <a:solidFill>
                  <a:srgbClr val="000000"/>
                </a:solidFill>
                <a:latin typeface="Arial"/>
                <a:ea typeface="Arial"/>
                <a:cs typeface="Arial"/>
              </a:rPr>
              <a:t>3Q 2026 – 4Q 2026 – 1Q 2027</a:t>
            </a:r>
          </a:p>
        </p:txBody>
      </p:sp>
      <p:sp>
        <p:nvSpPr>
          <p:cNvPr id="3" name="stat_0:bar"/>
          <p:cNvSpPr/>
          <p:nvPr/>
        </p:nvSpPr>
        <p:spPr>
          <a:xfrm>
            <a:off x="677387" y="1961415"/>
            <a:ext cx="50800" cy="134823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_0"/>
          <p:cNvSpPr txBox="1"/>
          <p:nvPr/>
        </p:nvSpPr>
        <p:spPr>
          <a:xfrm>
            <a:off x="855187" y="1851687"/>
            <a:ext cx="5033021" cy="145796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2026</a:t>
            </a:r>
          </a:p>
          <a:p>
            <a:pPr>
              <a:spcAft>
                <a:spcPts val="300"/>
              </a:spcAft>
              <a:defRPr sz="18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Третий квартал 2026: подключение 4 команд, домен и HTTPS</a:t>
            </a:r>
          </a:p>
        </p:txBody>
      </p:sp>
      <p:sp>
        <p:nvSpPr>
          <p:cNvPr id="5" name="stat_1:bar"/>
          <p:cNvSpPr/>
          <p:nvPr/>
        </p:nvSpPr>
        <p:spPr>
          <a:xfrm>
            <a:off x="6322444" y="1961415"/>
            <a:ext cx="50800" cy="134823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_1"/>
          <p:cNvSpPr txBox="1"/>
          <p:nvPr/>
        </p:nvSpPr>
        <p:spPr>
          <a:xfrm>
            <a:off x="6500244" y="1851687"/>
            <a:ext cx="5033021" cy="145796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2026</a:t>
            </a:r>
          </a:p>
          <a:p>
            <a:pPr>
              <a:spcAft>
                <a:spcPts val="300"/>
              </a:spcAft>
              <a:defRPr sz="18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Четвёртый квартал 2026: доступ для всей компании, интеграция с хранилищем</a:t>
            </a:r>
          </a:p>
        </p:txBody>
      </p:sp>
      <p:sp>
        <p:nvSpPr>
          <p:cNvPr id="7" name="stat_2:bar"/>
          <p:cNvSpPr/>
          <p:nvPr/>
        </p:nvSpPr>
        <p:spPr>
          <a:xfrm>
            <a:off x="677387" y="4273130"/>
            <a:ext cx="50800" cy="134823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_2"/>
          <p:cNvSpPr txBox="1"/>
          <p:nvPr/>
        </p:nvSpPr>
        <p:spPr>
          <a:xfrm>
            <a:off x="855187" y="4163402"/>
            <a:ext cx="5033021" cy="145796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2027</a:t>
            </a:r>
          </a:p>
          <a:p>
            <a:pPr>
              <a:spcAft>
                <a:spcPts val="300"/>
              </a:spcAft>
              <a:defRPr sz="18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Первый квартал 2027: генерация иллюстраций под стиль шаблона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Запрос решения о запуске сервиса на всю компанию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77387" y="2390482"/>
            <a:ext cx="5874466" cy="37998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Решить о полном запуске сервиса</a:t>
            </a:r>
          </a:p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Подтвердить план по генерации иллюстраций в 1Q 2027</a:t>
            </a:r>
          </a:p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Обеспечить доступ для всех команд</a:t>
            </a:r>
          </a:p>
        </p:txBody>
      </p:sp>
      <p:grpSp>
        <p:nvGrpSpPr>
          <p:cNvPr id="4" name="illustration:builtin-launch"/>
          <p:cNvGrpSpPr/>
          <p:nvPr/>
        </p:nvGrpSpPr>
        <p:grpSpPr>
          <a:xfrm>
            <a:off x="7771509" y="2836472"/>
            <a:ext cx="3023252" cy="2907860"/>
            <a:chOff x="7771509" y="2836472"/>
            <a:chExt cx="3023252" cy="2907860"/>
          </a:xfrm>
        </p:grpSpPr>
        <p:sp>
          <p:nvSpPr>
            <p:cNvPr id="5" name="Oval 4"/>
            <p:cNvSpPr/>
            <p:nvPr/>
          </p:nvSpPr>
          <p:spPr>
            <a:xfrm>
              <a:off x="7771509" y="2836472"/>
              <a:ext cx="2907860" cy="2907860"/>
            </a:xfrm>
            <a:prstGeom prst="ellipse">
              <a:avLst/>
            </a:prstGeom>
            <a:solidFill>
              <a:srgbClr val="D6E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8650145" y="2974941"/>
              <a:ext cx="1150589" cy="1592400"/>
            </a:xfrm>
            <a:custGeom>
              <a:avLst/>
              <a:gdLst/>
              <a:ahLst/>
              <a:cxnLst/>
              <a:rect l="l" t="t" r="r" b="b"/>
              <a:pathLst>
                <a:path w="1150589" h="1592400">
                  <a:moveTo>
                    <a:pt x="575295" y="0"/>
                  </a:moveTo>
                  <a:lnTo>
                    <a:pt x="711664" y="111260"/>
                  </a:lnTo>
                  <a:lnTo>
                    <a:pt x="829894" y="236506"/>
                  </a:lnTo>
                  <a:lnTo>
                    <a:pt x="929846" y="374491"/>
                  </a:lnTo>
                  <a:lnTo>
                    <a:pt x="1011381" y="523969"/>
                  </a:lnTo>
                  <a:lnTo>
                    <a:pt x="1074362" y="683694"/>
                  </a:lnTo>
                  <a:lnTo>
                    <a:pt x="1118649" y="852419"/>
                  </a:lnTo>
                  <a:lnTo>
                    <a:pt x="1144104" y="1028898"/>
                  </a:lnTo>
                  <a:lnTo>
                    <a:pt x="1150589" y="1211886"/>
                  </a:lnTo>
                  <a:lnTo>
                    <a:pt x="1137966" y="1400135"/>
                  </a:lnTo>
                  <a:lnTo>
                    <a:pt x="1106094" y="1592400"/>
                  </a:lnTo>
                  <a:lnTo>
                    <a:pt x="44495" y="1592400"/>
                  </a:lnTo>
                  <a:lnTo>
                    <a:pt x="12623" y="1400135"/>
                  </a:lnTo>
                  <a:lnTo>
                    <a:pt x="0" y="1211886"/>
                  </a:lnTo>
                  <a:lnTo>
                    <a:pt x="6485" y="1028898"/>
                  </a:lnTo>
                  <a:lnTo>
                    <a:pt x="31940" y="852419"/>
                  </a:lnTo>
                  <a:lnTo>
                    <a:pt x="76227" y="683694"/>
                  </a:lnTo>
                  <a:lnTo>
                    <a:pt x="139208" y="523969"/>
                  </a:lnTo>
                  <a:lnTo>
                    <a:pt x="220743" y="374491"/>
                  </a:lnTo>
                  <a:lnTo>
                    <a:pt x="320695" y="236506"/>
                  </a:lnTo>
                  <a:lnTo>
                    <a:pt x="438925" y="111260"/>
                  </a:lnTo>
                  <a:lnTo>
                    <a:pt x="575295" y="0"/>
                  </a:lnTo>
                  <a:close/>
                </a:path>
              </a:pathLst>
            </a:cu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8948500" y="3574976"/>
              <a:ext cx="553878" cy="55387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9063892" y="3690367"/>
              <a:ext cx="323095" cy="323095"/>
            </a:xfrm>
            <a:prstGeom prst="ellipse">
              <a:avLst/>
            </a:pr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8302309" y="4290402"/>
              <a:ext cx="461565" cy="761583"/>
            </a:xfrm>
            <a:custGeom>
              <a:avLst/>
              <a:gdLst/>
              <a:ahLst/>
              <a:cxnLst/>
              <a:rect l="l" t="t" r="r" b="b"/>
              <a:pathLst>
                <a:path w="461565" h="761583">
                  <a:moveTo>
                    <a:pt x="392331" y="0"/>
                  </a:moveTo>
                  <a:lnTo>
                    <a:pt x="0" y="484643"/>
                  </a:lnTo>
                  <a:lnTo>
                    <a:pt x="0" y="761583"/>
                  </a:lnTo>
                  <a:lnTo>
                    <a:pt x="461565" y="553878"/>
                  </a:lnTo>
                  <a:close/>
                </a:path>
              </a:pathLst>
            </a:cu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9687005" y="4290402"/>
              <a:ext cx="461565" cy="761583"/>
            </a:xfrm>
            <a:custGeom>
              <a:avLst/>
              <a:gdLst/>
              <a:ahLst/>
              <a:cxnLst/>
              <a:rect l="l" t="t" r="r" b="b"/>
              <a:pathLst>
                <a:path w="461565" h="761583">
                  <a:moveTo>
                    <a:pt x="69234" y="0"/>
                  </a:moveTo>
                  <a:lnTo>
                    <a:pt x="461565" y="484643"/>
                  </a:lnTo>
                  <a:lnTo>
                    <a:pt x="461565" y="761583"/>
                  </a:lnTo>
                  <a:lnTo>
                    <a:pt x="0" y="553878"/>
                  </a:lnTo>
                  <a:close/>
                </a:path>
              </a:pathLst>
            </a:cu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8948500" y="4613498"/>
              <a:ext cx="553879" cy="346174"/>
            </a:xfrm>
            <a:custGeom>
              <a:avLst/>
              <a:gdLst/>
              <a:ahLst/>
              <a:cxnLst/>
              <a:rect l="l" t="t" r="r" b="b"/>
              <a:pathLst>
                <a:path w="553879" h="346174">
                  <a:moveTo>
                    <a:pt x="0" y="0"/>
                  </a:moveTo>
                  <a:lnTo>
                    <a:pt x="553879" y="0"/>
                  </a:lnTo>
                  <a:lnTo>
                    <a:pt x="461566" y="346174"/>
                  </a:lnTo>
                  <a:lnTo>
                    <a:pt x="92313" y="346174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9040813" y="4959672"/>
              <a:ext cx="369253" cy="646191"/>
            </a:xfrm>
            <a:custGeom>
              <a:avLst/>
              <a:gdLst/>
              <a:ahLst/>
              <a:cxnLst/>
              <a:rect l="l" t="t" r="r" b="b"/>
              <a:pathLst>
                <a:path w="369253" h="646191">
                  <a:moveTo>
                    <a:pt x="0" y="0"/>
                  </a:moveTo>
                  <a:lnTo>
                    <a:pt x="369253" y="0"/>
                  </a:lnTo>
                  <a:lnTo>
                    <a:pt x="366576" y="86635"/>
                  </a:lnTo>
                  <a:lnTo>
                    <a:pt x="358914" y="166902"/>
                  </a:lnTo>
                  <a:lnTo>
                    <a:pt x="346821" y="241352"/>
                  </a:lnTo>
                  <a:lnTo>
                    <a:pt x="330850" y="310541"/>
                  </a:lnTo>
                  <a:lnTo>
                    <a:pt x="311557" y="375021"/>
                  </a:lnTo>
                  <a:lnTo>
                    <a:pt x="289494" y="435348"/>
                  </a:lnTo>
                  <a:lnTo>
                    <a:pt x="265216" y="492074"/>
                  </a:lnTo>
                  <a:lnTo>
                    <a:pt x="239276" y="545754"/>
                  </a:lnTo>
                  <a:lnTo>
                    <a:pt x="212228" y="596942"/>
                  </a:lnTo>
                  <a:lnTo>
                    <a:pt x="184627" y="646191"/>
                  </a:lnTo>
                  <a:lnTo>
                    <a:pt x="157025" y="596942"/>
                  </a:lnTo>
                  <a:lnTo>
                    <a:pt x="129977" y="545754"/>
                  </a:lnTo>
                  <a:lnTo>
                    <a:pt x="104037" y="492074"/>
                  </a:lnTo>
                  <a:lnTo>
                    <a:pt x="79759" y="435348"/>
                  </a:lnTo>
                  <a:lnTo>
                    <a:pt x="57696" y="375021"/>
                  </a:lnTo>
                  <a:lnTo>
                    <a:pt x="38403" y="310541"/>
                  </a:lnTo>
                  <a:lnTo>
                    <a:pt x="22432" y="241352"/>
                  </a:lnTo>
                  <a:lnTo>
                    <a:pt x="10339" y="166902"/>
                  </a:lnTo>
                  <a:lnTo>
                    <a:pt x="2677" y="86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7898440" y="3471124"/>
              <a:ext cx="161547" cy="161547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10448587" y="3251880"/>
              <a:ext cx="230782" cy="230782"/>
            </a:xfrm>
            <a:prstGeom prst="ellipse">
              <a:avLst/>
            </a:pr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0656292" y="4798124"/>
              <a:ext cx="138469" cy="138469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855" y="692177"/>
            <a:ext cx="5242438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Сервис повышает эффективность компании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58855" y="2115847"/>
            <a:ext cx="5242438" cy="352670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Сервис повышает эффективность дизайнеров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Сокращение времени сборки ускоряет коммуникацию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Уменьшение ошибок стиля снижает риск недовольства заказчиков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
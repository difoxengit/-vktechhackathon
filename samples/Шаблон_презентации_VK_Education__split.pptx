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Sheet1!$A$2:$A$4</c:f>
              <c:strCache>
                <c:ptCount val="3"/>
                <c:pt idx="0">
                  <c:v>Сборка колоды</c:v>
                </c:pt>
                <c:pt idx="1">
                  <c:v>Время до первой версии</c:v>
                </c:pt>
                <c:pt idx="2">
                  <c:v>Запросы/неделя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186.0</c:v>
                </c:pt>
                <c:pt idx="1">
                  <c:v>6.0</c:v>
                </c:pt>
                <c:pt idx="2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</c:v>
                </c:pt>
              </c:strCache>
            </c:strRef>
          </c:tx>
          <c:spPr>
            <a:solidFill>
              <a:srgbClr val="FF3885"/>
            </a:solidFill>
            <a:ln>
              <a:solidFill>
                <a:srgbClr val="FF3885"/>
              </a:solidFill>
            </a:ln>
          </c:spPr>
          <c:cat>
            <c:strRef>
              <c:f>Sheet1!$A$2:$A$4</c:f>
              <c:strCache>
                <c:ptCount val="3"/>
                <c:pt idx="0">
                  <c:v>Сборка колоды</c:v>
                </c:pt>
                <c:pt idx="1">
                  <c:v>Время до первой версии</c:v>
                </c:pt>
                <c:pt idx="2">
                  <c:v>Запросы/неделя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4.0</c:v>
                </c:pt>
                <c:pt idx="1">
                  <c:v>1.0</c:v>
                </c:pt>
                <c:pt idx="2">
                  <c:v>38.0</c:v>
                </c:pt>
              </c:numCache>
            </c:numRef>
          </c:val>
        </c:ser>
        <c:dLbls>
          <c:numFmt formatCode="0&quot; единицы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единицы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988" name="body"/>
          <p:cNvSpPr txBox="1"/>
          <p:nvPr/>
        </p:nvSpPr>
        <p:spPr>
          <a:xfrm>
            <a:off x="677387" y="2200937"/>
            <a:ext cx="5245059" cy="13905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 собраны вручную 2026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колоды занимает 186 мин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Правки ревью добавляют 74 мин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19/42 колод нарушают стиль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Дизайн‑отдел 4 закрывает 11 запросов/нед.</a:t>
            </a:r>
          </a:p>
        </p:txBody>
      </p:sp>
      <p:graphicFrame>
        <p:nvGraphicFramePr>
          <p:cNvPr id="989" name="Table 988"/>
          <p:cNvGraphicFramePr>
            <a:graphicFrameLocks noGrp="1"/>
          </p:cNvGraphicFramePr>
          <p:nvPr/>
        </p:nvGraphicFramePr>
        <p:xfrm>
          <a:off x="6288206" y="2200937"/>
          <a:ext cx="5245059" cy="1390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2529"/>
                <a:gridCol w="2622530"/>
              </a:tblGrid>
              <a:tr h="19865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1986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6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 колоды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6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6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6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Запросы/неделя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866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ожидания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5245059" cy="44275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строит план колоды и вёрстку по дизайн‑системе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все цифры и стили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 и html без картинок</a:t>
            </a:r>
          </a:p>
        </p:txBody>
      </p:sp>
      <p:sp>
        <p:nvSpPr>
          <p:cNvPr id="4" name="Pentagon 3"/>
          <p:cNvSpPr/>
          <p:nvPr/>
        </p:nvSpPr>
        <p:spPr>
          <a:xfrm>
            <a:off x="6288206" y="1824859"/>
            <a:ext cx="5245059" cy="634621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Ввод шаблона</a:t>
            </a:r>
          </a:p>
        </p:txBody>
      </p:sp>
      <p:sp>
        <p:nvSpPr>
          <p:cNvPr id="5" name="Chevron 4"/>
          <p:cNvSpPr/>
          <p:nvPr/>
        </p:nvSpPr>
        <p:spPr>
          <a:xfrm>
            <a:off x="6288206" y="2562791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Анализ</a:t>
            </a:r>
          </a:p>
        </p:txBody>
      </p:sp>
      <p:sp>
        <p:nvSpPr>
          <p:cNvPr id="6" name="Chevron 5"/>
          <p:cNvSpPr/>
          <p:nvPr/>
        </p:nvSpPr>
        <p:spPr>
          <a:xfrm>
            <a:off x="6288206" y="3300723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7" name="Chevron 6"/>
          <p:cNvSpPr/>
          <p:nvPr/>
        </p:nvSpPr>
        <p:spPr>
          <a:xfrm>
            <a:off x="6288206" y="4038655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8" name="Chevron 7"/>
          <p:cNvSpPr/>
          <p:nvPr/>
        </p:nvSpPr>
        <p:spPr>
          <a:xfrm>
            <a:off x="6288206" y="4776587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9" name="Chevron 8"/>
          <p:cNvSpPr/>
          <p:nvPr/>
        </p:nvSpPr>
        <p:spPr>
          <a:xfrm>
            <a:off x="6288206" y="5514520"/>
            <a:ext cx="5245059" cy="63462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5245059" cy="442759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фирменного стиля снизились до 2 из 68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88206" y="1773204"/>
          <a:ext cx="5245059" cy="442759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19" name="Google Shape;919;p74"/>
          <p:cNvCxnSpPr/>
          <p:nvPr/>
        </p:nvCxnSpPr>
        <p:spPr>
          <a:xfrm flipH="1">
            <a:off x="1" y="4351265"/>
            <a:ext cx="8112124" cy="42098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lg" w="lg" type="stealth"/>
            <a:tailEnd len="sm" w="sm" type="none"/>
          </a:ln>
        </p:spPr>
      </p:cxnSp>
      <p:sp>
        <p:nvSpPr>
          <p:cNvPr id="92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</a:t>
            </a:r>
          </a:p>
        </p:txBody>
      </p:sp>
      <p:sp>
        <p:nvSpPr>
          <p:cNvPr id="921" name="body"/>
          <p:cNvSpPr txBox="1"/>
          <p:nvPr/>
        </p:nvSpPr>
        <p:spPr>
          <a:xfrm>
            <a:off x="677387" y="2200937"/>
            <a:ext cx="5245059" cy="21503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gpt-oss-20b подключен протоколу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6 недель 1 400 руб.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Квартал 2026: 4 команды, домен, HTTPS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Квартал 2026: доступ, интеграция хранилища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2027: генерация иллюстраций в стиле шаблона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6288206" y="3190086"/>
            <a:ext cx="5245059" cy="64509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6925846" y="2985805"/>
            <a:ext cx="473071" cy="473071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TextBox 923"/>
          <p:cNvSpPr txBox="1"/>
          <p:nvPr/>
        </p:nvSpPr>
        <p:spPr>
          <a:xfrm>
            <a:off x="6288206" y="2200937"/>
            <a:ext cx="2622529" cy="817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925" name="Oval 924"/>
          <p:cNvSpPr/>
          <p:nvPr/>
        </p:nvSpPr>
        <p:spPr>
          <a:xfrm>
            <a:off x="8674199" y="2985805"/>
            <a:ext cx="473071" cy="473071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TextBox 925"/>
          <p:cNvSpPr txBox="1"/>
          <p:nvPr/>
        </p:nvSpPr>
        <p:spPr>
          <a:xfrm>
            <a:off x="7599470" y="3663158"/>
            <a:ext cx="2622529" cy="817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927" name="Oval 926"/>
          <p:cNvSpPr/>
          <p:nvPr/>
        </p:nvSpPr>
        <p:spPr>
          <a:xfrm>
            <a:off x="10422552" y="2985805"/>
            <a:ext cx="473071" cy="473071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8910735" y="2200937"/>
            <a:ext cx="2622529" cy="817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sp>
        <p:nvSpPr>
          <p:cNvPr id="797" name="body"/>
          <p:cNvSpPr txBox="1"/>
          <p:nvPr/>
        </p:nvSpPr>
        <p:spPr>
          <a:xfrm>
            <a:off x="677387" y="3080711"/>
            <a:ext cx="10855878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шёл 6 недель на двух командах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Собрано 68 презентаций</a:t>
            </a:r>
          </a:p>
          <a:p>
            <a:pPr algn="l">
              <a:spcAft>
                <a:spcPts val="300"/>
              </a:spcAft>
              <a:defRPr sz="2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4 минуты вместо 186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875" y="692177"/>
            <a:ext cx="10855391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875" y="2804310"/>
            <a:ext cx="10855391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Принять решение о запуске сервиса на всю компанию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
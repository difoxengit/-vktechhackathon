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_left"/>
          <p:cNvSpPr txBox="1"/>
          <p:nvPr/>
        </p:nvSpPr>
        <p:spPr>
          <a:xfrm>
            <a:off x="677387" y="2200937"/>
            <a:ext cx="5245059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одной колоды 12 слайдов занимает 186 минут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уходит на правки после ревью дизайнера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  <p:sp>
        <p:nvSpPr>
          <p:cNvPr id="989" name="body_right"/>
          <p:cNvSpPr txBox="1"/>
          <p:nvPr/>
        </p:nvSpPr>
        <p:spPr>
          <a:xfrm>
            <a:off x="6288206" y="2200937"/>
            <a:ext cx="5245059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Дизайн-отдел из 4 человек закрывает 11 запросов в неделю из 27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в очереди —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6288206" y="1824859"/>
            <a:ext cx="5245059" cy="63462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Загрузка шаблона</a:t>
            </a:r>
          </a:p>
        </p:txBody>
      </p:sp>
      <p:sp>
        <p:nvSpPr>
          <p:cNvPr id="4" name="Chevron 3"/>
          <p:cNvSpPr/>
          <p:nvPr/>
        </p:nvSpPr>
        <p:spPr>
          <a:xfrm>
            <a:off x="6288206" y="2562791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Анализ дизайна</a:t>
            </a:r>
          </a:p>
        </p:txBody>
      </p:sp>
      <p:sp>
        <p:nvSpPr>
          <p:cNvPr id="5" name="Chevron 4"/>
          <p:cNvSpPr/>
          <p:nvPr/>
        </p:nvSpPr>
        <p:spPr>
          <a:xfrm>
            <a:off x="6288206" y="3300723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" name="Chevron 5"/>
          <p:cNvSpPr/>
          <p:nvPr/>
        </p:nvSpPr>
        <p:spPr>
          <a:xfrm>
            <a:off x="6288206" y="4038655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Авто-верстка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6288206" y="4776587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  <p:sp>
        <p:nvSpPr>
          <p:cNvPr id="8" name="Chevron 7"/>
          <p:cNvSpPr/>
          <p:nvPr/>
        </p:nvSpPr>
        <p:spPr>
          <a:xfrm>
            <a:off x="6288206" y="5514520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19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920" name="body_left"/>
          <p:cNvSpPr txBox="1"/>
          <p:nvPr/>
        </p:nvSpPr>
        <p:spPr>
          <a:xfrm>
            <a:off x="677387" y="2200937"/>
            <a:ext cx="5245059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12 слайдов — 4 минуты вместо 186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рабочих дней до 1</a:t>
            </a:r>
          </a:p>
        </p:txBody>
      </p:sp>
      <p:sp>
        <p:nvSpPr>
          <p:cNvPr id="921" name="body_right"/>
          <p:cNvSpPr txBox="1"/>
          <p:nvPr/>
        </p:nvSpPr>
        <p:spPr>
          <a:xfrm>
            <a:off x="6288206" y="2200937"/>
            <a:ext cx="5245059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в пилоте — 2 из 68 колод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за 6 недель вместо 11 в неделю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на 1 машине: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6 недель: 1 400 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команд: 3й квартал 2026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Доступ всей компании: 4й квартал 2026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Иллюстрации в стиле шаблона: 1й квартал 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6288206" y="3809896"/>
            <a:ext cx="5245059" cy="13282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00129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88206" y="1773204"/>
            <a:ext cx="2622529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2026: 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8648482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99470" y="4334402"/>
            <a:ext cx="2622529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2026: 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10396835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0735" y="1773204"/>
            <a:ext cx="2622529" cy="1682485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2027: генерация иллюстраций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graphicFrame>
        <p:nvGraphicFramePr>
          <p:cNvPr id="797" name="Table 796"/>
          <p:cNvGraphicFramePr>
            <a:graphicFrameLocks noGrp="1"/>
          </p:cNvGraphicFramePr>
          <p:nvPr/>
        </p:nvGraphicFramePr>
        <p:xfrm>
          <a:off x="6288206" y="2200937"/>
          <a:ext cx="5245059" cy="41277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8353"/>
                <a:gridCol w="1748353"/>
                <a:gridCol w="1748353"/>
              </a:tblGrid>
              <a:tr h="82555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закрыты в неделю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66" name="body"/>
          <p:cNvSpPr txBox="1"/>
          <p:nvPr/>
        </p:nvSpPr>
        <p:spPr>
          <a:xfrm>
            <a:off x="677387" y="2200937"/>
            <a:ext cx="10855878" cy="412776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сервиса на всю компанию в четвертом квартале 2026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Интеграция с хранилищем документов в четвертом квартале 2026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 в третьем квартале 2026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84" name="body"/>
          <p:cNvSpPr txBox="1"/>
          <p:nvPr/>
        </p:nvSpPr>
        <p:spPr>
          <a:xfrm>
            <a:off x="677387" y="3080711"/>
            <a:ext cx="10855878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может выдумать цифры, аудит проверяет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Неизвестный шаблон может быть плохо сделан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Преимущества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677387" y="2686882"/>
            <a:ext cx="5245059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сборки до 4 минут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Уменьшение нарушений фирменного стиля до 2 из 68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6288206" y="2686882"/>
            <a:ext cx="5245059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Экономия 1 400 рублей за 6 недель пилота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Повышение производительности дизайнеров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Следующие шаги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1783080"/>
            <a:ext cx="5242438" cy="38594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готов к масштабированию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Ожидаем решение о запуске в четвертом квартале 2026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Планируем интеграцию с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
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фактоида + текст">
  <p:cSld name="2 фактоида + текст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1"/>
          <p:cNvSpPr txBox="1"/>
          <p:nvPr>
            <p:ph idx="1" type="body"/>
          </p:nvPr>
        </p:nvSpPr>
        <p:spPr>
          <a:xfrm>
            <a:off x="671514" y="1773238"/>
            <a:ext cx="5135728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p1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11"/>
          <p:cNvSpPr txBox="1"/>
          <p:nvPr>
            <p:ph idx="2" type="body"/>
          </p:nvPr>
        </p:nvSpPr>
        <p:spPr>
          <a:xfrm>
            <a:off x="6097339" y="3864033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11"/>
          <p:cNvSpPr txBox="1"/>
          <p:nvPr>
            <p:ph idx="3" type="body"/>
          </p:nvPr>
        </p:nvSpPr>
        <p:spPr>
          <a:xfrm>
            <a:off x="6097338" y="5058095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11"/>
          <p:cNvSpPr txBox="1"/>
          <p:nvPr>
            <p:ph idx="4" type="body"/>
          </p:nvPr>
        </p:nvSpPr>
        <p:spPr>
          <a:xfrm>
            <a:off x="6096000" y="1773238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11"/>
          <p:cNvSpPr txBox="1"/>
          <p:nvPr>
            <p:ph idx="5" type="body"/>
          </p:nvPr>
        </p:nvSpPr>
        <p:spPr>
          <a:xfrm>
            <a:off x="6096000" y="2967300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6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2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3" r:id="rId6"/>
    <p:sldLayoutId id="2147483657" r:id="rId10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/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Relationship Id="rId6" Type="http://schemas.openxmlformats.org/officeDocument/2006/relationships/image" Target="../media/image231.png"/><Relationship Id="rId7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8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2.png"/><Relationship Id="rId3" Type="http://schemas.openxmlformats.org/officeDocument/2006/relationships/image" Target="../media/image233.png"/><Relationship Id="rId4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5" Type="http://schemas.openxmlformats.org/officeDocument/2006/relationships/image" Target="../media/image235.png"/><Relationship Id="rId6" Type="http://schemas.openxmlformats.org/officeDocument/2006/relationships/image" Target="../media/image234.png"/><Relationship Id="rId7" Type="http://schemas.openxmlformats.org/officeDocument/2006/relationships/image" Target="../media/image236.png"/><Relationship Id="rId8" Type="http://schemas.openxmlformats.org/officeDocument/2006/relationships/image" Target="../media/image231.png"/><Relationship Id="rId9" Type="http://schemas.openxmlformats.org/officeDocument/2006/relationships/notesSlide" Target="../notesSlides/notesSlide64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97" name="Google Shape;797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9096" y="2601017"/>
            <a:ext cx="450850" cy="4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8" name="Google Shape;798;p6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97007" y="2603210"/>
            <a:ext cx="450851" cy="450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9" name="Google Shape;799;p6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83052" y="2601017"/>
            <a:ext cx="450850" cy="450850"/>
          </a:xfrm>
          <a:prstGeom prst="rect">
            <a:avLst/>
          </a:prstGeom>
          <a:noFill/>
          <a:ln>
            <a:noFill/>
          </a:ln>
        </p:spPr>
      </p:pic>
      <p:sp>
        <p:nvSpPr>
          <p:cNvPr id="800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Текущее состояние: ручная сборка презентаций</a:t>
            </a:r>
          </a:p>
        </p:txBody>
      </p:sp>
      <p:sp>
        <p:nvSpPr>
          <p:cNvPr id="801" name="body"/>
          <p:cNvSpPr txBox="1"/>
          <p:nvPr/>
        </p:nvSpPr>
        <p:spPr>
          <a:xfrm>
            <a:off x="677387" y="3695391"/>
            <a:ext cx="10855878" cy="8940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Сборка одной колоды 12 слайдов занимает 186 минут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Правки после ревью дизайнера 74 минуты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19 из 42 колод нарушают фирменный стиль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Ограничения команды дизайна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77387" y="3236197"/>
            <a:ext cx="10855878" cy="8940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4 дизайнера закрывают 11 запросов в неделю из 27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Средний срок ожидания 6 рабочих дней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pic>
        <p:nvPicPr>
          <p:cNvPr id="762" name="Google Shape;762;p5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05070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764" name="Google Shape;764;p58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8" name="Google Shape;768;p58"/>
          <p:cNvSpPr/>
          <p:nvPr/>
        </p:nvSpPr>
        <p:spPr>
          <a:xfrm>
            <a:off x="671513" y="2562300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769" name="Google Shape;769;p5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38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0" name="Google Shape;770;p5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07349" y="2772418"/>
            <a:ext cx="450851" cy="450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71" name="Google Shape;771;p5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85469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2" name="Google Shape;772;p5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593394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sp>
        <p:nvSpPr>
          <p:cNvPr id="773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Предлагаемый сервис: автоматическая вёрстка</a:t>
            </a:r>
          </a:p>
        </p:txBody>
      </p:sp>
      <p:sp>
        <p:nvSpPr>
          <p:cNvPr id="774" name="body"/>
          <p:cNvSpPr txBox="1"/>
          <p:nvPr/>
        </p:nvSpPr>
        <p:spPr>
          <a:xfrm>
            <a:off x="677387" y="3695391"/>
            <a:ext cx="10855878" cy="8940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Принимает шаблон pptx и материалы: документы, таблицы, заметки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Генерирует колоду по дизайн-системе и аудит качества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Экспорт в pptx, pdf, html, слайды редактируемы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86" name="Google Shape;986;p76"/>
          <p:cNvCxnSpPr/>
          <p:nvPr/>
        </p:nvCxnSpPr>
        <p:spPr>
          <a:xfrm rot="10800000">
            <a:off x="-42658" y="3591512"/>
            <a:ext cx="12234658" cy="0"/>
          </a:xfrm>
          <a:prstGeom prst="straightConnector1">
            <a:avLst/>
          </a:prstGeom>
          <a:noFill/>
          <a:ln cap="flat" cmpd="sng" w="12700">
            <a:solidFill>
              <a:srgbClr val="E1E1E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87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Ключевые возможности сервиса</a:t>
            </a:r>
          </a:p>
        </p:txBody>
      </p:sp>
      <p:sp>
        <p:nvSpPr>
          <p:cNvPr id="988" name="Document 987"/>
          <p:cNvSpPr/>
          <p:nvPr/>
        </p:nvSpPr>
        <p:spPr>
          <a:xfrm>
            <a:off x="6556689" y="2251302"/>
            <a:ext cx="478476" cy="528842"/>
          </a:xfrm>
          <a:prstGeom prst="flowChartDocumen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TextBox 988"/>
          <p:cNvSpPr txBox="1"/>
          <p:nvPr/>
        </p:nvSpPr>
        <p:spPr>
          <a:xfrm>
            <a:off x="6288206" y="2913947"/>
            <a:ext cx="1015443" cy="677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Шаблон</a:t>
            </a:r>
          </a:p>
        </p:txBody>
      </p:sp>
      <p:sp>
        <p:nvSpPr>
          <p:cNvPr id="990" name="Document 989"/>
          <p:cNvSpPr/>
          <p:nvPr/>
        </p:nvSpPr>
        <p:spPr>
          <a:xfrm>
            <a:off x="7614093" y="2251302"/>
            <a:ext cx="478476" cy="528842"/>
          </a:xfrm>
          <a:prstGeom prst="flowChartDocumen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TextBox 990"/>
          <p:cNvSpPr txBox="1"/>
          <p:nvPr/>
        </p:nvSpPr>
        <p:spPr>
          <a:xfrm>
            <a:off x="7345609" y="2913947"/>
            <a:ext cx="1015443" cy="677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Материалы</a:t>
            </a:r>
          </a:p>
        </p:txBody>
      </p:sp>
      <p:sp>
        <p:nvSpPr>
          <p:cNvPr id="992" name="Gear 6 991"/>
          <p:cNvSpPr/>
          <p:nvPr/>
        </p:nvSpPr>
        <p:spPr>
          <a:xfrm>
            <a:off x="8621131" y="2226119"/>
            <a:ext cx="390336" cy="390336"/>
          </a:xfrm>
          <a:prstGeom prst="gear6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Gear 6 992"/>
          <p:cNvSpPr/>
          <p:nvPr/>
        </p:nvSpPr>
        <p:spPr>
          <a:xfrm>
            <a:off x="8885552" y="2465358"/>
            <a:ext cx="314787" cy="314787"/>
          </a:xfrm>
          <a:prstGeom prst="gear6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TextBox 993"/>
          <p:cNvSpPr txBox="1"/>
          <p:nvPr/>
        </p:nvSpPr>
        <p:spPr>
          <a:xfrm>
            <a:off x="8403013" y="2913947"/>
            <a:ext cx="1015443" cy="677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Генерация</a:t>
            </a:r>
          </a:p>
        </p:txBody>
      </p:sp>
      <p:sp>
        <p:nvSpPr>
          <p:cNvPr id="995" name="Document 994"/>
          <p:cNvSpPr/>
          <p:nvPr/>
        </p:nvSpPr>
        <p:spPr>
          <a:xfrm>
            <a:off x="9728900" y="2251302"/>
            <a:ext cx="478476" cy="528842"/>
          </a:xfrm>
          <a:prstGeom prst="flowChartDocumen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TextBox 995"/>
          <p:cNvSpPr txBox="1"/>
          <p:nvPr/>
        </p:nvSpPr>
        <p:spPr>
          <a:xfrm>
            <a:off x="9460417" y="2913947"/>
            <a:ext cx="1015443" cy="677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Экспорт</a:t>
            </a:r>
          </a:p>
        </p:txBody>
      </p:sp>
      <p:sp>
        <p:nvSpPr>
          <p:cNvPr id="997" name="Oval 996"/>
          <p:cNvSpPr/>
          <p:nvPr/>
        </p:nvSpPr>
        <p:spPr>
          <a:xfrm>
            <a:off x="10773713" y="2263894"/>
            <a:ext cx="503659" cy="503659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TextBox 997"/>
          <p:cNvSpPr txBox="1"/>
          <p:nvPr/>
        </p:nvSpPr>
        <p:spPr>
          <a:xfrm>
            <a:off x="10517821" y="2913947"/>
            <a:ext cx="1015443" cy="677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Редактируемость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3" name="Google Shape;443;p50"/>
          <p:cNvSpPr/>
          <p:nvPr/>
        </p:nvSpPr>
        <p:spPr>
          <a:xfrm>
            <a:off x="658813" y="1794065"/>
            <a:ext cx="6130294" cy="4406709"/>
          </a:xfrm>
          <a:prstGeom prst="roundRect">
            <a:avLst>
              <a:gd fmla="val 4444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5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Сокращение времени сборки</a:t>
            </a:r>
          </a:p>
        </p:txBody>
      </p:sp>
      <p:sp>
        <p:nvSpPr>
          <p:cNvPr id="451" name="body"/>
          <p:cNvSpPr txBox="1"/>
          <p:nvPr/>
        </p:nvSpPr>
        <p:spPr>
          <a:xfrm>
            <a:off x="677387" y="2937888"/>
            <a:ext cx="5874715" cy="19507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Средняя сборка колоды 12 слайдов 4 минуты вместо 186</a:t>
            </a:r>
          </a:p>
          <a:p>
            <a:pPr algn="l">
              <a:spcAft>
                <a:spcPts val="300"/>
              </a:spcAft>
              <a:defRPr sz="2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Время до первой версии сократилось с 6 дней до 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Улучшение качества и стиля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77387" y="3104117"/>
            <a:ext cx="10855878" cy="12903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Нарушений фирменного стиля в пилоте 2 из 68, исправлены автоматически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Дизайнеры закрыли 38 запросов вместо 11 за 6 недель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Ресурсы и сроки запуска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288206" y="3809896"/>
            <a:ext cx="5245059" cy="132827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900129" y="3614057"/>
            <a:ext cx="524505" cy="52450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88206" y="1773204"/>
            <a:ext cx="1748353" cy="1682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Подключение 4 команд</a:t>
            </a:r>
          </a:p>
        </p:txBody>
      </p:sp>
      <p:sp>
        <p:nvSpPr>
          <p:cNvPr id="6" name="Oval 5"/>
          <p:cNvSpPr/>
          <p:nvPr/>
        </p:nvSpPr>
        <p:spPr>
          <a:xfrm>
            <a:off x="8648482" y="3614057"/>
            <a:ext cx="524505" cy="52450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6559" y="4334402"/>
            <a:ext cx="1748353" cy="1682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Доступ всей компании</a:t>
            </a:r>
          </a:p>
        </p:txBody>
      </p:sp>
      <p:sp>
        <p:nvSpPr>
          <p:cNvPr id="8" name="Oval 7"/>
          <p:cNvSpPr/>
          <p:nvPr/>
        </p:nvSpPr>
        <p:spPr>
          <a:xfrm>
            <a:off x="10396835" y="3614057"/>
            <a:ext cx="524505" cy="52450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912" y="1773204"/>
            <a:ext cx="1748353" cy="1682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Генерация иллюстраций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Пилотные результаты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288206" y="1773204"/>
          <a:ext cx="5245059" cy="44275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8353"/>
                <a:gridCol w="1748353"/>
                <a:gridCol w="1748353"/>
              </a:tblGrid>
              <a:tr h="88551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Метрика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До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После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88551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Сборка (мин)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186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8551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Время до первой версии (дней)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8551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Нарушения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85521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Запросы дизайнеров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defRPr>
                      </a:pPr>
                      <a: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pic>
        <p:nvPicPr>
          <p:cNvPr id="778" name="Google Shape;778;p5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099424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9" name="Google Shape;77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85469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0" name="Google Shape;780;p5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1513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782" name="Google Shape;782;p59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83" name="Google Shape;783;p5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79438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4" name="Google Shape;784;p5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316973" y="2791669"/>
            <a:ext cx="450851" cy="450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85" name="Google Shape;785;p5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574144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sp>
        <p:nvSpPr>
          <p:cNvPr id="786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Запрос решения руководства</a:t>
            </a:r>
          </a:p>
        </p:txBody>
      </p:sp>
      <p:sp>
        <p:nvSpPr>
          <p:cNvPr id="787" name="body"/>
          <p:cNvSpPr txBox="1"/>
          <p:nvPr/>
        </p:nvSpPr>
        <p:spPr>
          <a:xfrm>
            <a:off x="677387" y="3146751"/>
            <a:ext cx="10855878" cy="12903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Одобрить запуск сервиса на всю компанию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Выделить ресурсы для интеграции с хранилищем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Поддержка модели и масштабирование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
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7" r:id="rId3"/>
    <p:sldMasterId id="2147483688" r:id="rId4"/>
  </p:sldMasterIdLst>
  <p:notesMasterIdLst>
    <p:notesMasterId r:id="rId5"/>
  </p:notesMasterIdLst>
  <p:sldIdLst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</p:sldIdLst>
  <p:sldSz cy="5143500" cx="9144000"/>
  <p:notesSz cx="6858000" cy="9144000"/>
  <p:embeddedFontLst>
    <p:embeddedFont>
      <p:font typeface="Play"/>
      <p:regular r:id="rId60"/>
      <p:bold r:id="rId6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0" Type="http://schemas.openxmlformats.org/officeDocument/2006/relationships/font" Target="fonts/Play-regular.fntdata"/><Relationship Id="rId61" Type="http://schemas.openxmlformats.org/officeDocument/2006/relationships/font" Target="fonts/Play-bold.fntdata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Сборка</c:v>
                </c:pt>
                <c:pt idx="1">
                  <c:v>Правки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74.0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Время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Текущее</c:v>
                </c:pt>
                <c:pt idx="1">
                  <c:v>Сервис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уты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Время, минуты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Сервис повышает эффективность и соблюдение стиля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cat>
            <c:strRef>
              <c:f>Sheet1!$A$2:$A$3</c:f>
              <c:strCache>
                <c:ptCount val="2"/>
                <c:pt idx="0">
                  <c:v>До</c:v>
                </c:pt>
                <c:pt idx="1">
                  <c:v>После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186.0</c:v>
                </c:pt>
                <c:pt idx="1">
                  <c:v>4.0</c:v>
                </c:pt>
              </c:numCache>
            </c:numRef>
          </c:val>
        </c:ser>
        <c:dLbls>
          <c:numFmt formatCode="0&quot; мин&quot;" sourceLinked="0"/>
          <c:txPr>
            <a:bodyPr wrap="none"/>
            <a:lstStyle/>
            <a:p>
              <a:pPr>
                <a:defRPr sz="1100" b="0">
                  <a:solidFill>
                    <a:srgbClr val="000000"/>
                  </a:solidFill>
                  <a:latin typeface="Play"/>
                  <a:ea typeface="Play"/>
                  <a:cs typeface="Play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9525">
              <a:solidFill>
                <a:srgbClr val="D1D1D1"/>
              </a:solidFill>
            </a:ln>
          </c:spPr>
        </c:majorGridlines>
        <c:title>
          <c:tx>
            <c:rich>
              <a:bodyPr rot="0" vert="horz"/>
              <a:lstStyle/>
              <a:p>
                <a:pPr>
                  <a:defRPr sz="1100" b="0">
                    <a:solidFill>
                      <a:srgbClr val="000000"/>
                    </a:solidFill>
                    <a:latin typeface="Play"/>
                    <a:ea typeface="Play"/>
                    <a:cs typeface="Play"/>
                  </a:defRPr>
                </a:pPr>
                <a:r>
                  <a:t>Сервис повышает эффективность и соблюдение стиля, мин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100" b="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000000"/>
          </a:solidFill>
          <a:latin typeface="Play"/>
          <a:ea typeface="Play"/>
          <a:cs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ый слайд">
  <p:cSld name="1_Титульный слайд">
    <p:bg>
      <p:bgPr>
        <a:solidFill>
          <a:schemeClr val="dk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2" name="Google Shape;12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43"/>
            <a:ext cx="9144000" cy="514285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" name="Google Shape;13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4" name="Google Shape;14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5" name="Google Shape;15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" name="Google Shape;16;p2"/>
          <p:cNvSpPr txBox="1"/>
          <p:nvPr>
            <p:ph type="title"/>
          </p:nvPr>
        </p:nvSpPr>
        <p:spPr>
          <a:xfrm>
            <a:off x="2473771" y="1370481"/>
            <a:ext cx="4288279" cy="80004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  <a:defRPr b="0" i="0" sz="48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2473770" y="2199720"/>
            <a:ext cx="4288279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lt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18" name="Google Shape;18;p2"/>
          <p:cNvGrpSpPr/>
          <p:nvPr/>
        </p:nvGrpSpPr>
        <p:grpSpPr>
          <a:xfrm>
            <a:off x="3946688" y="669925"/>
            <a:ext cx="1223477" cy="385613"/>
            <a:chOff x="10555019" y="1778000"/>
            <a:chExt cx="3223574" cy="1016000"/>
          </a:xfrm>
        </p:grpSpPr>
        <p:pic>
          <p:nvPicPr>
            <p:cNvPr descr=" " id="19" name="Google Shape;19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20" name="Google Shape;20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Слайд &quot;Спасибо!&quot;">
  <p:cSld name="4_Слайд &quot;Спасибо!&quot;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8" name="Google Shape;68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69" name="Google Shape;6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0" name="Google Shape;7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1" name="Google Shape;71;p7"/>
          <p:cNvSpPr txBox="1"/>
          <p:nvPr>
            <p:ph type="title"/>
          </p:nvPr>
        </p:nvSpPr>
        <p:spPr>
          <a:xfrm>
            <a:off x="572960" y="1682878"/>
            <a:ext cx="4373113" cy="108554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lay"/>
              <a:buNone/>
              <a:defRPr b="0" i="0" sz="3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2" name="Google Shape;72;p7"/>
          <p:cNvSpPr txBox="1"/>
          <p:nvPr>
            <p:ph idx="1" type="body"/>
          </p:nvPr>
        </p:nvSpPr>
        <p:spPr>
          <a:xfrm>
            <a:off x="572960" y="2919770"/>
            <a:ext cx="4107105" cy="502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7625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grpSp>
        <p:nvGrpSpPr>
          <p:cNvPr id="73" name="Google Shape;73;p7"/>
          <p:cNvGrpSpPr/>
          <p:nvPr/>
        </p:nvGrpSpPr>
        <p:grpSpPr>
          <a:xfrm>
            <a:off x="670220" y="679816"/>
            <a:ext cx="908903" cy="286466"/>
            <a:chOff x="10555019" y="1778000"/>
            <a:chExt cx="3223574" cy="1016000"/>
          </a:xfrm>
        </p:grpSpPr>
        <p:pic>
          <p:nvPicPr>
            <p:cNvPr descr=" " id="74" name="Google Shape;74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1910145" y="1908448"/>
              <a:ext cx="1868448" cy="6405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75" name="Google Shape;75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555019" y="1778000"/>
              <a:ext cx="1016127" cy="1016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вободный дизайн">
  <p:cSld name="1_Свободный дизайн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3" name="Google Shape;133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34" name="Google Shape;134;p13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35" name="Google Shape;135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" name="Google Shape;136;p13"/>
          <p:cNvSpPr txBox="1"/>
          <p:nvPr>
            <p:ph type="title"/>
          </p:nvPr>
        </p:nvSpPr>
        <p:spPr>
          <a:xfrm>
            <a:off x="177970" y="282949"/>
            <a:ext cx="6792985" cy="72420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b="0" i="0" sz="2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7" name="Google Shape;137;p13"/>
          <p:cNvSpPr/>
          <p:nvPr/>
        </p:nvSpPr>
        <p:spPr>
          <a:xfrm>
            <a:off x="4648781" y="3872384"/>
            <a:ext cx="15076786" cy="269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8" name="Google Shape;138;p13"/>
          <p:cNvGrpSpPr/>
          <p:nvPr/>
        </p:nvGrpSpPr>
        <p:grpSpPr>
          <a:xfrm>
            <a:off x="283721" y="4713930"/>
            <a:ext cx="474349" cy="146621"/>
            <a:chOff x="762095" y="12573000"/>
            <a:chExt cx="1232613" cy="381000"/>
          </a:xfrm>
        </p:grpSpPr>
        <p:sp>
          <p:nvSpPr>
            <p:cNvPr id="139" name="Google Shape;139;p13"/>
            <p:cNvSpPr/>
            <p:nvPr/>
          </p:nvSpPr>
          <p:spPr>
            <a:xfrm>
              <a:off x="762095" y="12573000"/>
              <a:ext cx="1232613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descr=" " id="140" name="Google Shape;140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270270" y="12621921"/>
              <a:ext cx="700659" cy="2401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 " id="141" name="Google Shape;141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2095" y="12573000"/>
              <a:ext cx="381048" cy="381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8" Type="http://schemas.openxmlformats.org/officeDocument/2006/relationships/slideLayout" Target="../slideLayouts/slideLayout11.xml"/><Relationship Id="rId3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2"/>
    <p:sldLayoutId id="2147483658" r:id="rId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chart" Target="../charts/chart1.xml"/><Relationship Id="rId5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61.png"/><Relationship Id="rId3" Type="http://schemas.openxmlformats.org/officeDocument/2006/relationships/image" Target="../media/image52.png"/><Relationship Id="rId4" Type="http://schemas.openxmlformats.org/officeDocument/2006/relationships/chart" Target="../charts/chart2.xml"/><Relationship Id="rId5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43.png"/><Relationship Id="rId3" Type="http://schemas.openxmlformats.org/officeDocument/2006/relationships/image" Target="../media/image160.png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23.png"/><Relationship Id="rId3" Type="http://schemas.openxmlformats.org/officeDocument/2006/relationships/image" Target="../media/image120.png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6.xml"/></Relationships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473726" y="1370485"/>
            <a:ext cx="4288261" cy="144138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ctr">
              <a:spcAft>
                <a:spcPts val="300"/>
              </a:spcAft>
              <a:defRPr sz="2705" b="0">
                <a:solidFill>
                  <a:srgbClr val="FFFFFF"/>
                </a:solidFill>
                <a:latin typeface="Play"/>
                <a:ea typeface="Play"/>
                <a:cs typeface="Play"/>
              </a:defRPr>
            </a:pPr>
            <a:r>
              <a:rPr sz="2705" b="0">
                <a:solidFill>
                  <a:srgbClr val="FFFFFF"/>
                </a:solidFill>
                <a:latin typeface="Play"/>
                <a:ea typeface="Play"/>
                <a:cs typeface="Play"/>
              </a:rPr>
              <a:t>Защита инициативы: сервис автоматической вёрстки презентаций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61722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Сборка вручную занимает 186 минут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1337310"/>
            <a:ext cx="8344814" cy="746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74 минуты на правки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19 из 42 колод нарушают фирменный стиль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2212657"/>
          <a:ext cx="8344814" cy="221075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Дизайн-отдел из 4 человек обслуживает 11 запросов в неделю</a:t>
            </a:r>
          </a:p>
        </p:txBody>
      </p:sp>
      <p:sp>
        <p:nvSpPr>
          <p:cNvPr id="556" name="body"/>
          <p:cNvSpPr txBox="1"/>
          <p:nvPr/>
        </p:nvSpPr>
        <p:spPr>
          <a:xfrm>
            <a:off x="274320" y="1394994"/>
            <a:ext cx="8344814" cy="12113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дизайнеры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11 запросов в неделю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27 запросов поступает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Средний срок ожидания 6 дней</a:t>
            </a:r>
          </a:p>
        </p:txBody>
      </p:sp>
      <p:graphicFrame>
        <p:nvGraphicFramePr>
          <p:cNvPr id="557" name="Table 556"/>
          <p:cNvGraphicFramePr>
            <a:graphicFrameLocks noGrp="1"/>
          </p:cNvGraphicFramePr>
          <p:nvPr/>
        </p:nvGraphicFramePr>
        <p:xfrm>
          <a:off x="274320" y="2734947"/>
          <a:ext cx="8344814" cy="168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3376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Дизайнеры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Запросы в неделю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Поступающие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Средний срок ожидания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дней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принимает шаблон и материалы, генерирует колоду</a:t>
            </a:r>
          </a:p>
        </p:txBody>
      </p:sp>
      <p:grpSp>
        <p:nvGrpSpPr>
          <p:cNvPr id="3" name="icon:builtin-presentation"/>
          <p:cNvGrpSpPr/>
          <p:nvPr/>
        </p:nvGrpSpPr>
        <p:grpSpPr>
          <a:xfrm>
            <a:off x="328969" y="1467860"/>
            <a:ext cx="327897" cy="291464"/>
            <a:chOff x="328969" y="1467860"/>
            <a:chExt cx="327897" cy="291464"/>
          </a:xfrm>
        </p:grpSpPr>
        <p:sp>
          <p:nvSpPr>
            <p:cNvPr id="4" name="Rounded Rectangle 3"/>
            <p:cNvSpPr/>
            <p:nvPr/>
          </p:nvSpPr>
          <p:spPr>
            <a:xfrm>
              <a:off x="328969" y="1467860"/>
              <a:ext cx="327897" cy="218598"/>
            </a:xfrm>
            <a:prstGeom prst="roundRect">
              <a:avLst>
                <a:gd name="adj" fmla="val 12500"/>
              </a:avLst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492918" y="1686458"/>
              <a:ext cx="0" cy="72866"/>
            </a:xfrm>
            <a:custGeom>
              <a:avLst/>
              <a:gdLst/>
              <a:ahLst/>
              <a:cxnLst/>
              <a:rect l="l" t="t" r="r" b="b"/>
              <a:pathLst>
                <a:path w="0" h="72866">
                  <a:moveTo>
                    <a:pt x="0" y="0"/>
                  </a:moveTo>
                  <a:lnTo>
                    <a:pt x="0" y="72866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20052" y="1759324"/>
              <a:ext cx="145732" cy="0"/>
            </a:xfrm>
            <a:custGeom>
              <a:avLst/>
              <a:gdLst/>
              <a:ahLst/>
              <a:cxnLst/>
              <a:rect l="l" t="t" r="r" b="b"/>
              <a:pathLst>
                <a:path w="145732" h="0">
                  <a:moveTo>
                    <a:pt x="0" y="0"/>
                  </a:moveTo>
                  <a:lnTo>
                    <a:pt x="145732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Freeform 6"/>
            <p:cNvSpPr/>
            <p:nvPr/>
          </p:nvSpPr>
          <p:spPr>
            <a:xfrm>
              <a:off x="401835" y="1522509"/>
              <a:ext cx="182166" cy="91083"/>
            </a:xfrm>
            <a:custGeom>
              <a:avLst/>
              <a:gdLst/>
              <a:ahLst/>
              <a:cxnLst/>
              <a:rect l="l" t="t" r="r" b="b"/>
              <a:pathLst>
                <a:path w="182166" h="91083">
                  <a:moveTo>
                    <a:pt x="0" y="91083"/>
                  </a:moveTo>
                  <a:lnTo>
                    <a:pt x="54650" y="36433"/>
                  </a:lnTo>
                  <a:lnTo>
                    <a:pt x="109300" y="72866"/>
                  </a:lnTo>
                  <a:lnTo>
                    <a:pt x="182166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8" name="item_0"/>
          <p:cNvSpPr txBox="1"/>
          <p:nvPr/>
        </p:nvSpPr>
        <p:spPr>
          <a:xfrm>
            <a:off x="908256" y="1414202"/>
            <a:ext cx="7710878" cy="4836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Принимает pptx шаблон</a:t>
            </a:r>
          </a:p>
        </p:txBody>
      </p:sp>
      <p:grpSp>
        <p:nvGrpSpPr>
          <p:cNvPr id="9" name="icon:builtin-palette"/>
          <p:cNvGrpSpPr/>
          <p:nvPr/>
        </p:nvGrpSpPr>
        <p:grpSpPr>
          <a:xfrm>
            <a:off x="328969" y="2037110"/>
            <a:ext cx="327898" cy="346114"/>
            <a:chOff x="328969" y="2037110"/>
            <a:chExt cx="327898" cy="346114"/>
          </a:xfrm>
        </p:grpSpPr>
        <p:sp>
          <p:nvSpPr>
            <p:cNvPr id="10" name="Freeform 9"/>
            <p:cNvSpPr/>
            <p:nvPr/>
          </p:nvSpPr>
          <p:spPr>
            <a:xfrm>
              <a:off x="328969" y="2037110"/>
              <a:ext cx="327898" cy="346114"/>
            </a:xfrm>
            <a:custGeom>
              <a:avLst/>
              <a:gdLst/>
              <a:ahLst/>
              <a:cxnLst/>
              <a:rect l="l" t="t" r="r" b="b"/>
              <a:pathLst>
                <a:path w="327898" h="346114">
                  <a:moveTo>
                    <a:pt x="163949" y="18216"/>
                  </a:moveTo>
                  <a:lnTo>
                    <a:pt x="131961" y="21368"/>
                  </a:lnTo>
                  <a:lnTo>
                    <a:pt x="101211" y="30694"/>
                  </a:lnTo>
                  <a:lnTo>
                    <a:pt x="72866" y="45851"/>
                  </a:lnTo>
                  <a:lnTo>
                    <a:pt x="48019" y="66235"/>
                  </a:lnTo>
                  <a:lnTo>
                    <a:pt x="27635" y="91082"/>
                  </a:lnTo>
                  <a:lnTo>
                    <a:pt x="12478" y="119427"/>
                  </a:lnTo>
                  <a:lnTo>
                    <a:pt x="3152" y="150177"/>
                  </a:lnTo>
                  <a:lnTo>
                    <a:pt x="0" y="182165"/>
                  </a:lnTo>
                  <a:lnTo>
                    <a:pt x="3152" y="214153"/>
                  </a:lnTo>
                  <a:lnTo>
                    <a:pt x="12478" y="244903"/>
                  </a:lnTo>
                  <a:lnTo>
                    <a:pt x="27635" y="273248"/>
                  </a:lnTo>
                  <a:lnTo>
                    <a:pt x="48019" y="298095"/>
                  </a:lnTo>
                  <a:lnTo>
                    <a:pt x="72866" y="318479"/>
                  </a:lnTo>
                  <a:lnTo>
                    <a:pt x="101211" y="333636"/>
                  </a:lnTo>
                  <a:lnTo>
                    <a:pt x="131961" y="342962"/>
                  </a:lnTo>
                  <a:lnTo>
                    <a:pt x="163949" y="346114"/>
                  </a:lnTo>
                  <a:lnTo>
                    <a:pt x="169742" y="345695"/>
                  </a:lnTo>
                  <a:lnTo>
                    <a:pt x="175061" y="344456"/>
                  </a:lnTo>
                  <a:lnTo>
                    <a:pt x="179870" y="342471"/>
                  </a:lnTo>
                  <a:lnTo>
                    <a:pt x="184151" y="339811"/>
                  </a:lnTo>
                  <a:lnTo>
                    <a:pt x="187849" y="336550"/>
                  </a:lnTo>
                  <a:lnTo>
                    <a:pt x="190964" y="332743"/>
                  </a:lnTo>
                  <a:lnTo>
                    <a:pt x="193442" y="328444"/>
                  </a:lnTo>
                  <a:lnTo>
                    <a:pt x="195245" y="323726"/>
                  </a:lnTo>
                  <a:lnTo>
                    <a:pt x="196356" y="318662"/>
                  </a:lnTo>
                  <a:lnTo>
                    <a:pt x="196739" y="313324"/>
                  </a:lnTo>
                  <a:lnTo>
                    <a:pt x="196629" y="310646"/>
                  </a:lnTo>
                  <a:lnTo>
                    <a:pt x="196320" y="308078"/>
                  </a:lnTo>
                  <a:lnTo>
                    <a:pt x="195810" y="305619"/>
                  </a:lnTo>
                  <a:lnTo>
                    <a:pt x="195099" y="303269"/>
                  </a:lnTo>
                  <a:lnTo>
                    <a:pt x="194225" y="301028"/>
                  </a:lnTo>
                  <a:lnTo>
                    <a:pt x="193205" y="298897"/>
                  </a:lnTo>
                  <a:lnTo>
                    <a:pt x="192002" y="296875"/>
                  </a:lnTo>
                  <a:lnTo>
                    <a:pt x="190673" y="294962"/>
                  </a:lnTo>
                  <a:lnTo>
                    <a:pt x="189215" y="293158"/>
                  </a:lnTo>
                  <a:lnTo>
                    <a:pt x="187631" y="291464"/>
                  </a:lnTo>
                  <a:lnTo>
                    <a:pt x="186046" y="289715"/>
                  </a:lnTo>
                  <a:lnTo>
                    <a:pt x="184588" y="287785"/>
                  </a:lnTo>
                  <a:lnTo>
                    <a:pt x="183259" y="285708"/>
                  </a:lnTo>
                  <a:lnTo>
                    <a:pt x="182056" y="283504"/>
                  </a:lnTo>
                  <a:lnTo>
                    <a:pt x="181036" y="281227"/>
                  </a:lnTo>
                  <a:lnTo>
                    <a:pt x="180162" y="278877"/>
                  </a:lnTo>
                  <a:lnTo>
                    <a:pt x="179451" y="276508"/>
                  </a:lnTo>
                  <a:lnTo>
                    <a:pt x="178941" y="274159"/>
                  </a:lnTo>
                  <a:lnTo>
                    <a:pt x="178632" y="271845"/>
                  </a:lnTo>
                  <a:lnTo>
                    <a:pt x="178522" y="269604"/>
                  </a:lnTo>
                  <a:lnTo>
                    <a:pt x="178941" y="264267"/>
                  </a:lnTo>
                  <a:lnTo>
                    <a:pt x="180180" y="259203"/>
                  </a:lnTo>
                  <a:lnTo>
                    <a:pt x="182166" y="254485"/>
                  </a:lnTo>
                  <a:lnTo>
                    <a:pt x="184825" y="250186"/>
                  </a:lnTo>
                  <a:lnTo>
                    <a:pt x="188086" y="246378"/>
                  </a:lnTo>
                  <a:lnTo>
                    <a:pt x="191893" y="243118"/>
                  </a:lnTo>
                  <a:lnTo>
                    <a:pt x="196192" y="240458"/>
                  </a:lnTo>
                  <a:lnTo>
                    <a:pt x="200910" y="238472"/>
                  </a:lnTo>
                  <a:lnTo>
                    <a:pt x="205975" y="237234"/>
                  </a:lnTo>
                  <a:lnTo>
                    <a:pt x="211312" y="236815"/>
                  </a:lnTo>
                  <a:lnTo>
                    <a:pt x="236815" y="236815"/>
                  </a:lnTo>
                  <a:lnTo>
                    <a:pt x="254576" y="235066"/>
                  </a:lnTo>
                  <a:lnTo>
                    <a:pt x="271663" y="229874"/>
                  </a:lnTo>
                  <a:lnTo>
                    <a:pt x="287421" y="221458"/>
                  </a:lnTo>
                  <a:lnTo>
                    <a:pt x="301229" y="210146"/>
                  </a:lnTo>
                  <a:lnTo>
                    <a:pt x="312541" y="196337"/>
                  </a:lnTo>
                  <a:lnTo>
                    <a:pt x="320957" y="180580"/>
                  </a:lnTo>
                  <a:lnTo>
                    <a:pt x="326149" y="163493"/>
                  </a:lnTo>
                  <a:lnTo>
                    <a:pt x="327898" y="145732"/>
                  </a:lnTo>
                  <a:lnTo>
                    <a:pt x="325767" y="122178"/>
                  </a:lnTo>
                  <a:lnTo>
                    <a:pt x="319591" y="99790"/>
                  </a:lnTo>
                  <a:lnTo>
                    <a:pt x="309700" y="78914"/>
                  </a:lnTo>
                  <a:lnTo>
                    <a:pt x="296420" y="59804"/>
                  </a:lnTo>
                  <a:lnTo>
                    <a:pt x="280079" y="42808"/>
                  </a:lnTo>
                  <a:lnTo>
                    <a:pt x="261007" y="28217"/>
                  </a:lnTo>
                  <a:lnTo>
                    <a:pt x="239529" y="16322"/>
                  </a:lnTo>
                  <a:lnTo>
                    <a:pt x="215975" y="7468"/>
                  </a:lnTo>
                  <a:lnTo>
                    <a:pt x="190673" y="1912"/>
                  </a:lnTo>
                  <a:lnTo>
                    <a:pt x="163949" y="0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Oval 10"/>
            <p:cNvSpPr/>
            <p:nvPr/>
          </p:nvSpPr>
          <p:spPr>
            <a:xfrm>
              <a:off x="389084" y="2188307"/>
              <a:ext cx="43719" cy="4371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Oval 11"/>
            <p:cNvSpPr/>
            <p:nvPr/>
          </p:nvSpPr>
          <p:spPr>
            <a:xfrm>
              <a:off x="434625" y="2115441"/>
              <a:ext cx="43719" cy="4371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Oval 12"/>
            <p:cNvSpPr/>
            <p:nvPr/>
          </p:nvSpPr>
          <p:spPr>
            <a:xfrm>
              <a:off x="516600" y="2115441"/>
              <a:ext cx="43719" cy="43719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item_1"/>
          <p:cNvSpPr txBox="1"/>
          <p:nvPr/>
        </p:nvSpPr>
        <p:spPr>
          <a:xfrm>
            <a:off x="908256" y="2019885"/>
            <a:ext cx="7710878" cy="4836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Разбирает дизайн-систему</a:t>
            </a:r>
          </a:p>
        </p:txBody>
      </p:sp>
      <p:grpSp>
        <p:nvGrpSpPr>
          <p:cNvPr id="15" name="icon:builtin-next"/>
          <p:cNvGrpSpPr/>
          <p:nvPr/>
        </p:nvGrpSpPr>
        <p:grpSpPr>
          <a:xfrm>
            <a:off x="328969" y="2661009"/>
            <a:ext cx="327897" cy="327897"/>
            <a:chOff x="328969" y="2661009"/>
            <a:chExt cx="327897" cy="327897"/>
          </a:xfrm>
        </p:grpSpPr>
        <p:sp>
          <p:nvSpPr>
            <p:cNvPr id="16" name="Oval 15"/>
            <p:cNvSpPr/>
            <p:nvPr/>
          </p:nvSpPr>
          <p:spPr>
            <a:xfrm>
              <a:off x="328969" y="2661009"/>
              <a:ext cx="327897" cy="327897"/>
            </a:xfrm>
            <a:prstGeom prst="ellipse">
              <a:avLst/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420052" y="2824958"/>
              <a:ext cx="145732" cy="0"/>
            </a:xfrm>
            <a:custGeom>
              <a:avLst/>
              <a:gdLst/>
              <a:ahLst/>
              <a:cxnLst/>
              <a:rect l="l" t="t" r="r" b="b"/>
              <a:pathLst>
                <a:path w="145732" h="0">
                  <a:moveTo>
                    <a:pt x="0" y="0"/>
                  </a:moveTo>
                  <a:lnTo>
                    <a:pt x="145732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492918" y="2752092"/>
              <a:ext cx="72866" cy="145732"/>
            </a:xfrm>
            <a:custGeom>
              <a:avLst/>
              <a:gdLst/>
              <a:ahLst/>
              <a:cxnLst/>
              <a:rect l="l" t="t" r="r" b="b"/>
              <a:pathLst>
                <a:path w="72866" h="145732">
                  <a:moveTo>
                    <a:pt x="0" y="0"/>
                  </a:moveTo>
                  <a:lnTo>
                    <a:pt x="72866" y="72866"/>
                  </a:lnTo>
                  <a:lnTo>
                    <a:pt x="0" y="145732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9" name="item_2"/>
          <p:cNvSpPr txBox="1"/>
          <p:nvPr/>
        </p:nvSpPr>
        <p:spPr>
          <a:xfrm>
            <a:off x="908256" y="2625569"/>
            <a:ext cx="7710878" cy="4836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Собирает план колоды</a:t>
            </a:r>
          </a:p>
        </p:txBody>
      </p:sp>
      <p:grpSp>
        <p:nvGrpSpPr>
          <p:cNvPr id="20" name="icon:builtin-layout"/>
          <p:cNvGrpSpPr/>
          <p:nvPr/>
        </p:nvGrpSpPr>
        <p:grpSpPr>
          <a:xfrm>
            <a:off x="328969" y="3266692"/>
            <a:ext cx="327898" cy="327898"/>
            <a:chOff x="328969" y="3266692"/>
            <a:chExt cx="327898" cy="327898"/>
          </a:xfrm>
        </p:grpSpPr>
        <p:sp>
          <p:nvSpPr>
            <p:cNvPr id="21" name="Rounded Rectangle 20"/>
            <p:cNvSpPr/>
            <p:nvPr/>
          </p:nvSpPr>
          <p:spPr>
            <a:xfrm>
              <a:off x="328969" y="3266692"/>
              <a:ext cx="327897" cy="327897"/>
            </a:xfrm>
            <a:prstGeom prst="roundRect">
              <a:avLst>
                <a:gd name="adj" fmla="val 11111"/>
              </a:avLst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328969" y="3375991"/>
              <a:ext cx="327898" cy="0"/>
            </a:xfrm>
            <a:custGeom>
              <a:avLst/>
              <a:gdLst/>
              <a:ahLst/>
              <a:cxnLst/>
              <a:rect l="l" t="t" r="r" b="b"/>
              <a:pathLst>
                <a:path w="327898" h="0">
                  <a:moveTo>
                    <a:pt x="0" y="0"/>
                  </a:moveTo>
                  <a:lnTo>
                    <a:pt x="327898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438268" y="3375991"/>
              <a:ext cx="0" cy="218599"/>
            </a:xfrm>
            <a:custGeom>
              <a:avLst/>
              <a:gdLst/>
              <a:ahLst/>
              <a:cxnLst/>
              <a:rect l="l" t="t" r="r" b="b"/>
              <a:pathLst>
                <a:path w="0" h="218599">
                  <a:moveTo>
                    <a:pt x="0" y="0"/>
                  </a:moveTo>
                  <a:lnTo>
                    <a:pt x="0" y="218599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4" name="item_3"/>
          <p:cNvSpPr txBox="1"/>
          <p:nvPr/>
        </p:nvSpPr>
        <p:spPr>
          <a:xfrm>
            <a:off x="908256" y="3231252"/>
            <a:ext cx="7710878" cy="4836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Вёрстка по системе</a:t>
            </a:r>
          </a:p>
        </p:txBody>
      </p:sp>
      <p:grpSp>
        <p:nvGrpSpPr>
          <p:cNvPr id="25" name="icon:builtin-search"/>
          <p:cNvGrpSpPr/>
          <p:nvPr/>
        </p:nvGrpSpPr>
        <p:grpSpPr>
          <a:xfrm>
            <a:off x="347186" y="3890592"/>
            <a:ext cx="309681" cy="309681"/>
            <a:chOff x="347186" y="3890592"/>
            <a:chExt cx="309681" cy="309681"/>
          </a:xfrm>
        </p:grpSpPr>
        <p:sp>
          <p:nvSpPr>
            <p:cNvPr id="26" name="Oval 25"/>
            <p:cNvSpPr/>
            <p:nvPr/>
          </p:nvSpPr>
          <p:spPr>
            <a:xfrm>
              <a:off x="347186" y="3890592"/>
              <a:ext cx="255031" cy="255031"/>
            </a:xfrm>
            <a:prstGeom prst="ellipse">
              <a:avLst/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Freeform 26"/>
            <p:cNvSpPr/>
            <p:nvPr/>
          </p:nvSpPr>
          <p:spPr>
            <a:xfrm>
              <a:off x="569427" y="4112833"/>
              <a:ext cx="87440" cy="87440"/>
            </a:xfrm>
            <a:custGeom>
              <a:avLst/>
              <a:gdLst/>
              <a:ahLst/>
              <a:cxnLst/>
              <a:rect l="l" t="t" r="r" b="b"/>
              <a:pathLst>
                <a:path w="87440" h="87440">
                  <a:moveTo>
                    <a:pt x="0" y="0"/>
                  </a:moveTo>
                  <a:lnTo>
                    <a:pt x="87440" y="8744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28" name="item_4"/>
          <p:cNvSpPr txBox="1"/>
          <p:nvPr/>
        </p:nvSpPr>
        <p:spPr>
          <a:xfrm>
            <a:off x="908256" y="3836935"/>
            <a:ext cx="7710878" cy="483604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Аудит качества до публикации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pptx, pdf, html; слайды остаются редактируемыми</a:t>
            </a:r>
          </a:p>
        </p:txBody>
      </p:sp>
      <p:grpSp>
        <p:nvGrpSpPr>
          <p:cNvPr id="3" name="icon:builtin-download"/>
          <p:cNvGrpSpPr/>
          <p:nvPr/>
        </p:nvGrpSpPr>
        <p:grpSpPr>
          <a:xfrm>
            <a:off x="365402" y="1449643"/>
            <a:ext cx="255032" cy="327898"/>
            <a:chOff x="365402" y="1449643"/>
            <a:chExt cx="255032" cy="327898"/>
          </a:xfrm>
        </p:grpSpPr>
        <p:sp>
          <p:nvSpPr>
            <p:cNvPr id="4" name="Freeform 3"/>
            <p:cNvSpPr/>
            <p:nvPr/>
          </p:nvSpPr>
          <p:spPr>
            <a:xfrm>
              <a:off x="492918" y="1449643"/>
              <a:ext cx="0" cy="218599"/>
            </a:xfrm>
            <a:custGeom>
              <a:avLst/>
              <a:gdLst/>
              <a:ahLst/>
              <a:cxnLst/>
              <a:rect l="l" t="t" r="r" b="b"/>
              <a:pathLst>
                <a:path w="0" h="218599">
                  <a:moveTo>
                    <a:pt x="0" y="0"/>
                  </a:moveTo>
                  <a:lnTo>
                    <a:pt x="0" y="218599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401835" y="1577159"/>
              <a:ext cx="182166" cy="91083"/>
            </a:xfrm>
            <a:custGeom>
              <a:avLst/>
              <a:gdLst/>
              <a:ahLst/>
              <a:cxnLst/>
              <a:rect l="l" t="t" r="r" b="b"/>
              <a:pathLst>
                <a:path w="182166" h="91083">
                  <a:moveTo>
                    <a:pt x="0" y="0"/>
                  </a:moveTo>
                  <a:lnTo>
                    <a:pt x="91083" y="91083"/>
                  </a:lnTo>
                  <a:lnTo>
                    <a:pt x="182166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365402" y="1777541"/>
              <a:ext cx="255032" cy="0"/>
            </a:xfrm>
            <a:custGeom>
              <a:avLst/>
              <a:gdLst/>
              <a:ahLst/>
              <a:cxnLst/>
              <a:rect l="l" t="t" r="r" b="b"/>
              <a:pathLst>
                <a:path w="255032" h="0">
                  <a:moveTo>
                    <a:pt x="0" y="0"/>
                  </a:moveTo>
                  <a:lnTo>
                    <a:pt x="255032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7" name="item_0"/>
          <p:cNvSpPr txBox="1"/>
          <p:nvPr/>
        </p:nvSpPr>
        <p:spPr>
          <a:xfrm>
            <a:off x="908256" y="1414202"/>
            <a:ext cx="7710878" cy="88739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pptx с нативными объектами</a:t>
            </a:r>
          </a:p>
        </p:txBody>
      </p:sp>
      <p:grpSp>
        <p:nvGrpSpPr>
          <p:cNvPr id="8" name="icon:builtin-document"/>
          <p:cNvGrpSpPr/>
          <p:nvPr/>
        </p:nvGrpSpPr>
        <p:grpSpPr>
          <a:xfrm>
            <a:off x="365402" y="2459115"/>
            <a:ext cx="255032" cy="327898"/>
            <a:chOff x="365402" y="2459115"/>
            <a:chExt cx="255032" cy="327898"/>
          </a:xfrm>
        </p:grpSpPr>
        <p:sp>
          <p:nvSpPr>
            <p:cNvPr id="9" name="Freeform 8"/>
            <p:cNvSpPr/>
            <p:nvPr/>
          </p:nvSpPr>
          <p:spPr>
            <a:xfrm>
              <a:off x="365402" y="2459115"/>
              <a:ext cx="255032" cy="327898"/>
            </a:xfrm>
            <a:custGeom>
              <a:avLst/>
              <a:gdLst/>
              <a:ahLst/>
              <a:cxnLst/>
              <a:rect l="l" t="t" r="r" b="b"/>
              <a:pathLst>
                <a:path w="255032" h="327898">
                  <a:moveTo>
                    <a:pt x="163949" y="0"/>
                  </a:moveTo>
                  <a:lnTo>
                    <a:pt x="36433" y="0"/>
                  </a:lnTo>
                  <a:lnTo>
                    <a:pt x="29329" y="692"/>
                  </a:lnTo>
                  <a:lnTo>
                    <a:pt x="22498" y="2769"/>
                  </a:lnTo>
                  <a:lnTo>
                    <a:pt x="16195" y="6139"/>
                  </a:lnTo>
                  <a:lnTo>
                    <a:pt x="10675" y="10675"/>
                  </a:lnTo>
                  <a:lnTo>
                    <a:pt x="6139" y="16195"/>
                  </a:lnTo>
                  <a:lnTo>
                    <a:pt x="2769" y="22498"/>
                  </a:lnTo>
                  <a:lnTo>
                    <a:pt x="692" y="29329"/>
                  </a:lnTo>
                  <a:lnTo>
                    <a:pt x="0" y="36433"/>
                  </a:lnTo>
                  <a:lnTo>
                    <a:pt x="0" y="291465"/>
                  </a:lnTo>
                  <a:lnTo>
                    <a:pt x="692" y="298569"/>
                  </a:lnTo>
                  <a:lnTo>
                    <a:pt x="2769" y="305400"/>
                  </a:lnTo>
                  <a:lnTo>
                    <a:pt x="6139" y="311703"/>
                  </a:lnTo>
                  <a:lnTo>
                    <a:pt x="10675" y="317223"/>
                  </a:lnTo>
                  <a:lnTo>
                    <a:pt x="16195" y="321759"/>
                  </a:lnTo>
                  <a:lnTo>
                    <a:pt x="22498" y="325129"/>
                  </a:lnTo>
                  <a:lnTo>
                    <a:pt x="29329" y="327206"/>
                  </a:lnTo>
                  <a:lnTo>
                    <a:pt x="36433" y="327898"/>
                  </a:lnTo>
                  <a:lnTo>
                    <a:pt x="218599" y="327898"/>
                  </a:lnTo>
                  <a:lnTo>
                    <a:pt x="225703" y="327206"/>
                  </a:lnTo>
                  <a:lnTo>
                    <a:pt x="232534" y="325129"/>
                  </a:lnTo>
                  <a:lnTo>
                    <a:pt x="238837" y="321759"/>
                  </a:lnTo>
                  <a:lnTo>
                    <a:pt x="244357" y="317223"/>
                  </a:lnTo>
                  <a:lnTo>
                    <a:pt x="248893" y="311703"/>
                  </a:lnTo>
                  <a:lnTo>
                    <a:pt x="252263" y="305400"/>
                  </a:lnTo>
                  <a:lnTo>
                    <a:pt x="254340" y="298569"/>
                  </a:lnTo>
                  <a:lnTo>
                    <a:pt x="255032" y="291465"/>
                  </a:lnTo>
                  <a:lnTo>
                    <a:pt x="255032" y="91083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Freeform 9"/>
            <p:cNvSpPr/>
            <p:nvPr/>
          </p:nvSpPr>
          <p:spPr>
            <a:xfrm>
              <a:off x="529351" y="2459115"/>
              <a:ext cx="91083" cy="91083"/>
            </a:xfrm>
            <a:custGeom>
              <a:avLst/>
              <a:gdLst/>
              <a:ahLst/>
              <a:cxnLst/>
              <a:rect l="l" t="t" r="r" b="b"/>
              <a:pathLst>
                <a:path w="91083" h="91083">
                  <a:moveTo>
                    <a:pt x="0" y="0"/>
                  </a:moveTo>
                  <a:lnTo>
                    <a:pt x="0" y="91083"/>
                  </a:lnTo>
                  <a:lnTo>
                    <a:pt x="91083" y="91083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438268" y="2641281"/>
              <a:ext cx="109300" cy="0"/>
            </a:xfrm>
            <a:custGeom>
              <a:avLst/>
              <a:gdLst/>
              <a:ahLst/>
              <a:cxnLst/>
              <a:rect l="l" t="t" r="r" b="b"/>
              <a:pathLst>
                <a:path w="109300" h="0">
                  <a:moveTo>
                    <a:pt x="0" y="0"/>
                  </a:moveTo>
                  <a:lnTo>
                    <a:pt x="109300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438268" y="2714147"/>
              <a:ext cx="72867" cy="0"/>
            </a:xfrm>
            <a:custGeom>
              <a:avLst/>
              <a:gdLst/>
              <a:ahLst/>
              <a:cxnLst/>
              <a:rect l="l" t="t" r="r" b="b"/>
              <a:pathLst>
                <a:path w="72867" h="0">
                  <a:moveTo>
                    <a:pt x="0" y="0"/>
                  </a:moveTo>
                  <a:lnTo>
                    <a:pt x="72867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" name="item_1"/>
          <p:cNvSpPr txBox="1"/>
          <p:nvPr/>
        </p:nvSpPr>
        <p:spPr>
          <a:xfrm>
            <a:off x="908256" y="2423674"/>
            <a:ext cx="7710878" cy="88739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Экспорт в pdf и html</a:t>
            </a:r>
          </a:p>
        </p:txBody>
      </p:sp>
      <p:grpSp>
        <p:nvGrpSpPr>
          <p:cNvPr id="14" name="icon:builtin-edit"/>
          <p:cNvGrpSpPr/>
          <p:nvPr/>
        </p:nvGrpSpPr>
        <p:grpSpPr>
          <a:xfrm>
            <a:off x="347186" y="3511924"/>
            <a:ext cx="284560" cy="266344"/>
            <a:chOff x="347186" y="3511924"/>
            <a:chExt cx="284560" cy="266344"/>
          </a:xfrm>
        </p:grpSpPr>
        <p:sp>
          <p:nvSpPr>
            <p:cNvPr id="15" name="Freeform 14"/>
            <p:cNvSpPr/>
            <p:nvPr/>
          </p:nvSpPr>
          <p:spPr>
            <a:xfrm>
              <a:off x="347186" y="3511924"/>
              <a:ext cx="284560" cy="266344"/>
            </a:xfrm>
            <a:custGeom>
              <a:avLst/>
              <a:gdLst/>
              <a:ahLst/>
              <a:cxnLst/>
              <a:rect l="l" t="t" r="r" b="b"/>
              <a:pathLst>
                <a:path w="284560" h="266344">
                  <a:moveTo>
                    <a:pt x="0" y="266344"/>
                  </a:moveTo>
                  <a:lnTo>
                    <a:pt x="72866" y="266344"/>
                  </a:lnTo>
                  <a:lnTo>
                    <a:pt x="273248" y="65962"/>
                  </a:lnTo>
                  <a:lnTo>
                    <a:pt x="278057" y="60115"/>
                  </a:lnTo>
                  <a:lnTo>
                    <a:pt x="281627" y="53429"/>
                  </a:lnTo>
                  <a:lnTo>
                    <a:pt x="283832" y="46179"/>
                  </a:lnTo>
                  <a:lnTo>
                    <a:pt x="284560" y="38638"/>
                  </a:lnTo>
                  <a:lnTo>
                    <a:pt x="283832" y="31096"/>
                  </a:lnTo>
                  <a:lnTo>
                    <a:pt x="281627" y="23846"/>
                  </a:lnTo>
                  <a:lnTo>
                    <a:pt x="278057" y="17160"/>
                  </a:lnTo>
                  <a:lnTo>
                    <a:pt x="273248" y="11313"/>
                  </a:lnTo>
                  <a:lnTo>
                    <a:pt x="267400" y="6504"/>
                  </a:lnTo>
                  <a:lnTo>
                    <a:pt x="260715" y="2933"/>
                  </a:lnTo>
                  <a:lnTo>
                    <a:pt x="253465" y="729"/>
                  </a:lnTo>
                  <a:lnTo>
                    <a:pt x="245923" y="0"/>
                  </a:lnTo>
                  <a:lnTo>
                    <a:pt x="238381" y="729"/>
                  </a:lnTo>
                  <a:lnTo>
                    <a:pt x="231131" y="2933"/>
                  </a:lnTo>
                  <a:lnTo>
                    <a:pt x="224446" y="6504"/>
                  </a:lnTo>
                  <a:lnTo>
                    <a:pt x="218598" y="11313"/>
                  </a:lnTo>
                  <a:lnTo>
                    <a:pt x="18216" y="211695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529351" y="3559670"/>
              <a:ext cx="54650" cy="54649"/>
            </a:xfrm>
            <a:custGeom>
              <a:avLst/>
              <a:gdLst/>
              <a:ahLst/>
              <a:cxnLst/>
              <a:rect l="l" t="t" r="r" b="b"/>
              <a:pathLst>
                <a:path w="54650" h="54649">
                  <a:moveTo>
                    <a:pt x="0" y="0"/>
                  </a:moveTo>
                  <a:lnTo>
                    <a:pt x="54650" y="54649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7" name="item_2"/>
          <p:cNvSpPr txBox="1"/>
          <p:nvPr/>
        </p:nvSpPr>
        <p:spPr>
          <a:xfrm>
            <a:off x="908256" y="3433146"/>
            <a:ext cx="7710878" cy="887393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Слайды редактируемы без преобразования в картинки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32" name="Google Shape;1032;p6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4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Время сборки колоды сократилось с 186 до 4 минут</a:t>
            </a:r>
          </a:p>
        </p:txBody>
      </p:sp>
      <p:sp>
        <p:nvSpPr>
          <p:cNvPr id="1035" name="body"/>
          <p:cNvSpPr txBox="1"/>
          <p:nvPr/>
        </p:nvSpPr>
        <p:spPr>
          <a:xfrm>
            <a:off x="274320" y="1394994"/>
            <a:ext cx="8344814" cy="74676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4 минуты вместо 186</a:t>
            </a:r>
          </a:p>
          <a:p>
            <a:pPr algn="l">
              <a:spcAft>
                <a:spcPts val="300"/>
              </a:spcAft>
              <a:defRPr sz="1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2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Время до первой версии с 6 дней до 1 дня</a:t>
            </a:r>
          </a:p>
        </p:txBody>
      </p:sp>
      <p:graphicFrame>
        <p:nvGraphicFramePr>
          <p:cNvPr id="1036" name="Chart 1035"/>
          <p:cNvGraphicFramePr>
            <a:graphicFrameLocks noGrp="1"/>
          </p:cNvGraphicFramePr>
          <p:nvPr/>
        </p:nvGraphicFramePr>
        <p:xfrm>
          <a:off x="274320" y="2270341"/>
          <a:ext cx="8344814" cy="2153068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Нарушений фирменного стиля в пилоте — 2 из 68</a:t>
            </a:r>
          </a:p>
        </p:txBody>
      </p:sp>
      <p:grpSp>
        <p:nvGrpSpPr>
          <p:cNvPr id="3" name="icon:builtin-shield"/>
          <p:cNvGrpSpPr/>
          <p:nvPr/>
        </p:nvGrpSpPr>
        <p:grpSpPr>
          <a:xfrm>
            <a:off x="365402" y="1449643"/>
            <a:ext cx="255032" cy="327898"/>
            <a:chOff x="365402" y="1449643"/>
            <a:chExt cx="255032" cy="327898"/>
          </a:xfrm>
        </p:grpSpPr>
        <p:sp>
          <p:nvSpPr>
            <p:cNvPr id="4" name="Freeform 3"/>
            <p:cNvSpPr/>
            <p:nvPr/>
          </p:nvSpPr>
          <p:spPr>
            <a:xfrm>
              <a:off x="365402" y="1449643"/>
              <a:ext cx="255032" cy="327898"/>
            </a:xfrm>
            <a:custGeom>
              <a:avLst/>
              <a:gdLst/>
              <a:ahLst/>
              <a:cxnLst/>
              <a:rect l="l" t="t" r="r" b="b"/>
              <a:pathLst>
                <a:path w="255032" h="327898">
                  <a:moveTo>
                    <a:pt x="127516" y="0"/>
                  </a:moveTo>
                  <a:lnTo>
                    <a:pt x="255032" y="54650"/>
                  </a:lnTo>
                  <a:lnTo>
                    <a:pt x="255032" y="145732"/>
                  </a:lnTo>
                  <a:lnTo>
                    <a:pt x="253429" y="170015"/>
                  </a:lnTo>
                  <a:lnTo>
                    <a:pt x="248765" y="193533"/>
                  </a:lnTo>
                  <a:lnTo>
                    <a:pt x="241260" y="216067"/>
                  </a:lnTo>
                  <a:lnTo>
                    <a:pt x="231132" y="237398"/>
                  </a:lnTo>
                  <a:lnTo>
                    <a:pt x="218599" y="257309"/>
                  </a:lnTo>
                  <a:lnTo>
                    <a:pt x="203880" y="275580"/>
                  </a:lnTo>
                  <a:lnTo>
                    <a:pt x="187193" y="291993"/>
                  </a:lnTo>
                  <a:lnTo>
                    <a:pt x="168758" y="306329"/>
                  </a:lnTo>
                  <a:lnTo>
                    <a:pt x="148793" y="318371"/>
                  </a:lnTo>
                  <a:lnTo>
                    <a:pt x="127516" y="327898"/>
                  </a:lnTo>
                  <a:lnTo>
                    <a:pt x="106239" y="318371"/>
                  </a:lnTo>
                  <a:lnTo>
                    <a:pt x="86274" y="306329"/>
                  </a:lnTo>
                  <a:lnTo>
                    <a:pt x="67839" y="291993"/>
                  </a:lnTo>
                  <a:lnTo>
                    <a:pt x="51152" y="275580"/>
                  </a:lnTo>
                  <a:lnTo>
                    <a:pt x="36433" y="257309"/>
                  </a:lnTo>
                  <a:lnTo>
                    <a:pt x="23900" y="237398"/>
                  </a:lnTo>
                  <a:lnTo>
                    <a:pt x="13772" y="216067"/>
                  </a:lnTo>
                  <a:lnTo>
                    <a:pt x="6267" y="193533"/>
                  </a:lnTo>
                  <a:lnTo>
                    <a:pt x="1603" y="170015"/>
                  </a:lnTo>
                  <a:lnTo>
                    <a:pt x="0" y="145732"/>
                  </a:lnTo>
                  <a:lnTo>
                    <a:pt x="0" y="54650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Freeform 4"/>
            <p:cNvSpPr/>
            <p:nvPr/>
          </p:nvSpPr>
          <p:spPr>
            <a:xfrm>
              <a:off x="438268" y="1577159"/>
              <a:ext cx="109300" cy="72866"/>
            </a:xfrm>
            <a:custGeom>
              <a:avLst/>
              <a:gdLst/>
              <a:ahLst/>
              <a:cxnLst/>
              <a:rect l="l" t="t" r="r" b="b"/>
              <a:pathLst>
                <a:path w="109300" h="72866">
                  <a:moveTo>
                    <a:pt x="0" y="36433"/>
                  </a:moveTo>
                  <a:lnTo>
                    <a:pt x="36433" y="72866"/>
                  </a:lnTo>
                  <a:lnTo>
                    <a:pt x="109300" y="0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6" name="item_0"/>
          <p:cNvSpPr txBox="1"/>
          <p:nvPr/>
        </p:nvSpPr>
        <p:spPr>
          <a:xfrm>
            <a:off x="908256" y="1414202"/>
            <a:ext cx="7710878" cy="139212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2 из 68 колод нарушили стиль</a:t>
            </a:r>
          </a:p>
        </p:txBody>
      </p:sp>
      <p:grpSp>
        <p:nvGrpSpPr>
          <p:cNvPr id="7" name="icon:builtin-edit"/>
          <p:cNvGrpSpPr/>
          <p:nvPr/>
        </p:nvGrpSpPr>
        <p:grpSpPr>
          <a:xfrm>
            <a:off x="347186" y="3007188"/>
            <a:ext cx="284560" cy="266344"/>
            <a:chOff x="347186" y="3007188"/>
            <a:chExt cx="284560" cy="266344"/>
          </a:xfrm>
        </p:grpSpPr>
        <p:sp>
          <p:nvSpPr>
            <p:cNvPr id="8" name="Freeform 7"/>
            <p:cNvSpPr/>
            <p:nvPr/>
          </p:nvSpPr>
          <p:spPr>
            <a:xfrm>
              <a:off x="347186" y="3007188"/>
              <a:ext cx="284560" cy="266344"/>
            </a:xfrm>
            <a:custGeom>
              <a:avLst/>
              <a:gdLst/>
              <a:ahLst/>
              <a:cxnLst/>
              <a:rect l="l" t="t" r="r" b="b"/>
              <a:pathLst>
                <a:path w="284560" h="266344">
                  <a:moveTo>
                    <a:pt x="0" y="266344"/>
                  </a:moveTo>
                  <a:lnTo>
                    <a:pt x="72866" y="266344"/>
                  </a:lnTo>
                  <a:lnTo>
                    <a:pt x="273248" y="65962"/>
                  </a:lnTo>
                  <a:lnTo>
                    <a:pt x="278057" y="60115"/>
                  </a:lnTo>
                  <a:lnTo>
                    <a:pt x="281627" y="53429"/>
                  </a:lnTo>
                  <a:lnTo>
                    <a:pt x="283832" y="46179"/>
                  </a:lnTo>
                  <a:lnTo>
                    <a:pt x="284560" y="38638"/>
                  </a:lnTo>
                  <a:lnTo>
                    <a:pt x="283832" y="31096"/>
                  </a:lnTo>
                  <a:lnTo>
                    <a:pt x="281627" y="23846"/>
                  </a:lnTo>
                  <a:lnTo>
                    <a:pt x="278057" y="17160"/>
                  </a:lnTo>
                  <a:lnTo>
                    <a:pt x="273248" y="11313"/>
                  </a:lnTo>
                  <a:lnTo>
                    <a:pt x="267400" y="6504"/>
                  </a:lnTo>
                  <a:lnTo>
                    <a:pt x="260715" y="2933"/>
                  </a:lnTo>
                  <a:lnTo>
                    <a:pt x="253465" y="729"/>
                  </a:lnTo>
                  <a:lnTo>
                    <a:pt x="245923" y="0"/>
                  </a:lnTo>
                  <a:lnTo>
                    <a:pt x="238381" y="729"/>
                  </a:lnTo>
                  <a:lnTo>
                    <a:pt x="231131" y="2933"/>
                  </a:lnTo>
                  <a:lnTo>
                    <a:pt x="224446" y="6504"/>
                  </a:lnTo>
                  <a:lnTo>
                    <a:pt x="218598" y="11313"/>
                  </a:lnTo>
                  <a:lnTo>
                    <a:pt x="18216" y="211695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Freeform 8"/>
            <p:cNvSpPr/>
            <p:nvPr/>
          </p:nvSpPr>
          <p:spPr>
            <a:xfrm>
              <a:off x="529351" y="3054934"/>
              <a:ext cx="54650" cy="54649"/>
            </a:xfrm>
            <a:custGeom>
              <a:avLst/>
              <a:gdLst/>
              <a:ahLst/>
              <a:cxnLst/>
              <a:rect l="l" t="t" r="r" b="b"/>
              <a:pathLst>
                <a:path w="54650" h="54649">
                  <a:moveTo>
                    <a:pt x="0" y="0"/>
                  </a:moveTo>
                  <a:lnTo>
                    <a:pt x="54650" y="54649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" name="item_1"/>
          <p:cNvSpPr txBox="1"/>
          <p:nvPr/>
        </p:nvSpPr>
        <p:spPr>
          <a:xfrm>
            <a:off x="908256" y="2928410"/>
            <a:ext cx="7710878" cy="1392129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Все нарушения исправлены автоматическими правками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32" name="Google Shape;532;p53"/>
          <p:cNvSpPr/>
          <p:nvPr/>
        </p:nvSpPr>
        <p:spPr>
          <a:xfrm>
            <a:off x="303214" y="1022533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3"/>
          <p:cNvSpPr/>
          <p:nvPr/>
        </p:nvSpPr>
        <p:spPr>
          <a:xfrm>
            <a:off x="276488" y="29555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3"/>
          <p:cNvSpPr/>
          <p:nvPr/>
        </p:nvSpPr>
        <p:spPr>
          <a:xfrm>
            <a:off x="303214" y="2797849"/>
            <a:ext cx="8451939" cy="1433588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работает на одной машине 2 vCPU / 2 GB RAM</a:t>
            </a:r>
          </a:p>
        </p:txBody>
      </p:sp>
      <p:sp>
        <p:nvSpPr>
          <p:cNvPr id="556" name="body"/>
          <p:cNvSpPr txBox="1"/>
          <p:nvPr/>
        </p:nvSpPr>
        <p:spPr>
          <a:xfrm>
            <a:off x="274320" y="1394994"/>
            <a:ext cx="8344814" cy="10439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vCPU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2 GB RAM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Модель gpt-oss-20b</a:t>
            </a:r>
          </a:p>
        </p:txBody>
      </p:sp>
      <p:graphicFrame>
        <p:nvGraphicFramePr>
          <p:cNvPr id="557" name="Table 556"/>
          <p:cNvGraphicFramePr>
            <a:graphicFrameLocks noGrp="1"/>
          </p:cNvGraphicFramePr>
          <p:nvPr/>
        </p:nvGraphicFramePr>
        <p:xfrm>
          <a:off x="274320" y="2567521"/>
          <a:ext cx="8344814" cy="1855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46397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vCPU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 GB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6397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Модель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gpt-oss-20b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62" name="Google Shape;662;p55"/>
          <p:cNvSpPr/>
          <p:nvPr/>
        </p:nvSpPr>
        <p:spPr>
          <a:xfrm>
            <a:off x="8667705" y="4666977"/>
            <a:ext cx="190499" cy="1904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5"/>
          <p:cNvSpPr/>
          <p:nvPr/>
        </p:nvSpPr>
        <p:spPr>
          <a:xfrm>
            <a:off x="285748" y="286047"/>
            <a:ext cx="8572456" cy="3938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5"/>
          <p:cNvSpPr/>
          <p:nvPr/>
        </p:nvSpPr>
        <p:spPr>
          <a:xfrm>
            <a:off x="285748" y="1209852"/>
            <a:ext cx="8572456" cy="3014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5"/>
          <p:cNvSpPr/>
          <p:nvPr/>
        </p:nvSpPr>
        <p:spPr>
          <a:xfrm>
            <a:off x="285749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5"/>
          <p:cNvSpPr/>
          <p:nvPr/>
        </p:nvSpPr>
        <p:spPr>
          <a:xfrm>
            <a:off x="2452675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5"/>
          <p:cNvSpPr/>
          <p:nvPr/>
        </p:nvSpPr>
        <p:spPr>
          <a:xfrm>
            <a:off x="4619601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55"/>
          <p:cNvSpPr/>
          <p:nvPr/>
        </p:nvSpPr>
        <p:spPr>
          <a:xfrm>
            <a:off x="6786527" y="1209852"/>
            <a:ext cx="2071677" cy="3014270"/>
          </a:xfrm>
          <a:prstGeom prst="roundRect">
            <a:avLst>
              <a:gd fmla="val 4634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Стоимость инференса за 6 недель пилота — 1 400 рублей</a:t>
            </a:r>
          </a:p>
        </p:txBody>
      </p:sp>
      <p:sp>
        <p:nvSpPr>
          <p:cNvPr id="682" name="body"/>
          <p:cNvSpPr txBox="1"/>
          <p:nvPr/>
        </p:nvSpPr>
        <p:spPr>
          <a:xfrm>
            <a:off x="274320" y="2709812"/>
            <a:ext cx="4519476" cy="39878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1 400 руб за 6 недель</a:t>
            </a:r>
          </a:p>
        </p:txBody>
      </p:sp>
      <p:grpSp>
        <p:nvGrpSpPr>
          <p:cNvPr id="2" name="illustration:builtin-money"/>
          <p:cNvGrpSpPr/>
          <p:nvPr/>
        </p:nvGrpSpPr>
        <p:grpSpPr>
          <a:xfrm>
            <a:off x="5725054" y="1790631"/>
            <a:ext cx="2237140" cy="2237140"/>
            <a:chOff x="5725054" y="1790631"/>
            <a:chExt cx="2237140" cy="2237140"/>
          </a:xfrm>
        </p:grpSpPr>
        <p:sp>
          <p:nvSpPr>
            <p:cNvPr id="683" name="Oval 682"/>
            <p:cNvSpPr/>
            <p:nvPr/>
          </p:nvSpPr>
          <p:spPr>
            <a:xfrm>
              <a:off x="5725054" y="1790631"/>
              <a:ext cx="2237140" cy="2237140"/>
            </a:xfrm>
            <a:prstGeom prst="ellipse">
              <a:avLst/>
            </a:prstGeom>
            <a:solidFill>
              <a:srgbClr val="D6E9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4" name="Rounded Rectangle 683"/>
            <p:cNvSpPr/>
            <p:nvPr/>
          </p:nvSpPr>
          <p:spPr>
            <a:xfrm>
              <a:off x="5884849" y="2429814"/>
              <a:ext cx="1562447" cy="923264"/>
            </a:xfrm>
            <a:prstGeom prst="roundRect">
              <a:avLst>
                <a:gd name="adj" fmla="val 13461"/>
              </a:avLst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5" name="Oval 684"/>
            <p:cNvSpPr/>
            <p:nvPr/>
          </p:nvSpPr>
          <p:spPr>
            <a:xfrm>
              <a:off x="6399747" y="2625120"/>
              <a:ext cx="532652" cy="53265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" name="Freeform 2"/>
            <p:cNvSpPr/>
            <p:nvPr/>
          </p:nvSpPr>
          <p:spPr>
            <a:xfrm>
              <a:off x="6559543" y="2749405"/>
              <a:ext cx="213061" cy="301837"/>
            </a:xfrm>
            <a:custGeom>
              <a:avLst/>
              <a:gdLst/>
              <a:ahLst/>
              <a:cxnLst/>
              <a:rect l="l" t="t" r="r" b="b"/>
              <a:pathLst>
                <a:path w="213061" h="301837">
                  <a:moveTo>
                    <a:pt x="53265" y="301837"/>
                  </a:moveTo>
                  <a:lnTo>
                    <a:pt x="53265" y="0"/>
                  </a:lnTo>
                  <a:lnTo>
                    <a:pt x="142040" y="0"/>
                  </a:lnTo>
                  <a:lnTo>
                    <a:pt x="155898" y="1367"/>
                  </a:lnTo>
                  <a:lnTo>
                    <a:pt x="169214" y="5407"/>
                  </a:lnTo>
                  <a:lnTo>
                    <a:pt x="181501" y="11967"/>
                  </a:lnTo>
                  <a:lnTo>
                    <a:pt x="192261" y="20800"/>
                  </a:lnTo>
                  <a:lnTo>
                    <a:pt x="201094" y="31560"/>
                  </a:lnTo>
                  <a:lnTo>
                    <a:pt x="207654" y="43846"/>
                  </a:lnTo>
                  <a:lnTo>
                    <a:pt x="211694" y="57163"/>
                  </a:lnTo>
                  <a:lnTo>
                    <a:pt x="213061" y="71021"/>
                  </a:lnTo>
                  <a:lnTo>
                    <a:pt x="211694" y="84878"/>
                  </a:lnTo>
                  <a:lnTo>
                    <a:pt x="207654" y="98195"/>
                  </a:lnTo>
                  <a:lnTo>
                    <a:pt x="201094" y="110481"/>
                  </a:lnTo>
                  <a:lnTo>
                    <a:pt x="192261" y="121241"/>
                  </a:lnTo>
                  <a:lnTo>
                    <a:pt x="181501" y="130074"/>
                  </a:lnTo>
                  <a:lnTo>
                    <a:pt x="169214" y="136634"/>
                  </a:lnTo>
                  <a:lnTo>
                    <a:pt x="155898" y="140674"/>
                  </a:lnTo>
                  <a:lnTo>
                    <a:pt x="142040" y="142041"/>
                  </a:lnTo>
                  <a:lnTo>
                    <a:pt x="0" y="142041"/>
                  </a:lnTo>
                </a:path>
              </a:pathLst>
            </a:custGeom>
            <a:noFill/>
            <a:ln w="53265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6559543" y="2971344"/>
              <a:ext cx="159795" cy="0"/>
            </a:xfrm>
            <a:custGeom>
              <a:avLst/>
              <a:gdLst/>
              <a:ahLst/>
              <a:cxnLst/>
              <a:rect l="l" t="t" r="r" b="b"/>
              <a:pathLst>
                <a:path w="159795" h="0">
                  <a:moveTo>
                    <a:pt x="0" y="0"/>
                  </a:moveTo>
                  <a:lnTo>
                    <a:pt x="159795" y="0"/>
                  </a:lnTo>
                </a:path>
              </a:pathLst>
            </a:custGeom>
            <a:solidFill>
              <a:srgbClr val="000000"/>
            </a:solidFill>
            <a:ln w="53265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6" name="Oval 685"/>
            <p:cNvSpPr/>
            <p:nvPr/>
          </p:nvSpPr>
          <p:spPr>
            <a:xfrm>
              <a:off x="7198726" y="3512874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7" name="Oval 686"/>
            <p:cNvSpPr/>
            <p:nvPr/>
          </p:nvSpPr>
          <p:spPr>
            <a:xfrm>
              <a:off x="7198726" y="3353078"/>
              <a:ext cx="710203" cy="21306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8" name="Oval 687"/>
            <p:cNvSpPr/>
            <p:nvPr/>
          </p:nvSpPr>
          <p:spPr>
            <a:xfrm>
              <a:off x="7198726" y="3193282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89" name="Oval 688"/>
            <p:cNvSpPr/>
            <p:nvPr/>
          </p:nvSpPr>
          <p:spPr>
            <a:xfrm>
              <a:off x="7198726" y="3033487"/>
              <a:ext cx="710203" cy="213061"/>
            </a:xfrm>
            <a:prstGeom prst="ellipse">
              <a:avLst/>
            </a:prstGeom>
            <a:solidFill>
              <a:srgbClr val="B2B2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0" name="Oval 689"/>
            <p:cNvSpPr/>
            <p:nvPr/>
          </p:nvSpPr>
          <p:spPr>
            <a:xfrm>
              <a:off x="7198726" y="2873691"/>
              <a:ext cx="710203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91" name="Oval 690"/>
            <p:cNvSpPr/>
            <p:nvPr/>
          </p:nvSpPr>
          <p:spPr>
            <a:xfrm>
              <a:off x="5813829" y="3530629"/>
              <a:ext cx="213061" cy="213061"/>
            </a:xfrm>
            <a:prstGeom prst="ellipse">
              <a:avLst/>
            </a:prstGeom>
            <a:solidFill>
              <a:srgbClr val="FF6C6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274320" y="282943"/>
            <a:ext cx="6792986" cy="932027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2438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2438">
                <a:solidFill>
                  <a:srgbClr val="000000"/>
                </a:solidFill>
                <a:latin typeface="Play"/>
                <a:ea typeface="Play"/>
                <a:cs typeface="Play"/>
              </a:rPr>
              <a:t>Пилот шёл 6 недель на двух командах, собрано 68 презентаций</a:t>
            </a:r>
          </a:p>
        </p:txBody>
      </p:sp>
      <p:sp>
        <p:nvSpPr>
          <p:cNvPr id="3" name="body"/>
          <p:cNvSpPr txBox="1"/>
          <p:nvPr/>
        </p:nvSpPr>
        <p:spPr>
          <a:xfrm>
            <a:off x="274320" y="1394994"/>
            <a:ext cx="8344814" cy="121136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 недель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2 команды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68 презентаций</a:t>
            </a:r>
          </a:p>
          <a:p>
            <a:pPr algn="l">
              <a:spcAft>
                <a:spcPts val="300"/>
              </a:spcAft>
              <a:defRPr sz="1600" b="1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 b="1">
                <a:solidFill>
                  <a:srgbClr val="000000"/>
                </a:solidFill>
                <a:latin typeface="Play"/>
                <a:ea typeface="Play"/>
                <a:cs typeface="Play"/>
              </a:rPr>
              <a:t>• 38 запросов закрыто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734947"/>
          <a:ext cx="8344814" cy="1688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2407"/>
                <a:gridCol w="4172407"/>
              </a:tblGrid>
              <a:tr h="337692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Показатель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Значение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Длительность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 недель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Команды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2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Презентаций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7694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Запросов закрыто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000000"/>
                          </a:solidFill>
                          <a:latin typeface="Play"/>
                          <a:ea typeface="Play"/>
                          <a:cs typeface="Play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056" name="Google Shape;1056;p66"/>
          <p:cNvSpPr/>
          <p:nvPr/>
        </p:nvSpPr>
        <p:spPr>
          <a:xfrm>
            <a:off x="285748" y="276524"/>
            <a:ext cx="8572456" cy="68571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7" name="Google Shape;1057;p66"/>
          <p:cNvSpPr/>
          <p:nvPr/>
        </p:nvSpPr>
        <p:spPr>
          <a:xfrm>
            <a:off x="3838239" y="276524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66"/>
          <p:cNvSpPr/>
          <p:nvPr/>
        </p:nvSpPr>
        <p:spPr>
          <a:xfrm>
            <a:off x="4048160" y="486417"/>
            <a:ext cx="4529021" cy="12857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6"/>
          <p:cNvSpPr/>
          <p:nvPr/>
        </p:nvSpPr>
        <p:spPr>
          <a:xfrm>
            <a:off x="3838239" y="1462423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66"/>
          <p:cNvSpPr/>
          <p:nvPr/>
        </p:nvSpPr>
        <p:spPr>
          <a:xfrm>
            <a:off x="3838239" y="2648322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66"/>
          <p:cNvSpPr/>
          <p:nvPr/>
        </p:nvSpPr>
        <p:spPr>
          <a:xfrm>
            <a:off x="3838239" y="3834221"/>
            <a:ext cx="4948861" cy="1025866"/>
          </a:xfrm>
          <a:prstGeom prst="roundRect">
            <a:avLst>
              <a:gd fmla="val 1036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title"/>
          <p:cNvSpPr txBox="1"/>
          <p:nvPr/>
        </p:nvSpPr>
        <p:spPr>
          <a:xfrm>
            <a:off x="274320" y="282943"/>
            <a:ext cx="3412266" cy="10185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8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800">
                <a:solidFill>
                  <a:srgbClr val="000000"/>
                </a:solidFill>
                <a:latin typeface="Play"/>
                <a:ea typeface="Play"/>
                <a:cs typeface="Play"/>
              </a:rPr>
              <a:t>Риски: слабая модель, непроверенные шаблоны, нагрузка &gt;20 задач</a:t>
            </a:r>
          </a:p>
        </p:txBody>
      </p:sp>
      <p:grpSp>
        <p:nvGrpSpPr>
          <p:cNvPr id="2" name="icon:builtin-alert"/>
          <p:cNvGrpSpPr/>
          <p:nvPr/>
        </p:nvGrpSpPr>
        <p:grpSpPr>
          <a:xfrm>
            <a:off x="316837" y="1542750"/>
            <a:ext cx="352162" cy="321303"/>
            <a:chOff x="316837" y="1542750"/>
            <a:chExt cx="352162" cy="321303"/>
          </a:xfrm>
        </p:grpSpPr>
        <p:sp>
          <p:nvSpPr>
            <p:cNvPr id="3" name="Freeform 2"/>
            <p:cNvSpPr/>
            <p:nvPr/>
          </p:nvSpPr>
          <p:spPr>
            <a:xfrm>
              <a:off x="316837" y="1542750"/>
              <a:ext cx="352162" cy="321303"/>
            </a:xfrm>
            <a:custGeom>
              <a:avLst/>
              <a:gdLst/>
              <a:ahLst/>
              <a:cxnLst/>
              <a:rect l="l" t="t" r="r" b="b"/>
              <a:pathLst>
                <a:path w="352162" h="321303">
                  <a:moveTo>
                    <a:pt x="145113" y="17087"/>
                  </a:moveTo>
                  <a:lnTo>
                    <a:pt x="4846" y="266653"/>
                  </a:lnTo>
                  <a:lnTo>
                    <a:pt x="1986" y="272902"/>
                  </a:lnTo>
                  <a:lnTo>
                    <a:pt x="346" y="279587"/>
                  </a:lnTo>
                  <a:lnTo>
                    <a:pt x="0" y="286455"/>
                  </a:lnTo>
                  <a:lnTo>
                    <a:pt x="947" y="293249"/>
                  </a:lnTo>
                  <a:lnTo>
                    <a:pt x="3151" y="299771"/>
                  </a:lnTo>
                  <a:lnTo>
                    <a:pt x="6540" y="305746"/>
                  </a:lnTo>
                  <a:lnTo>
                    <a:pt x="10984" y="310992"/>
                  </a:lnTo>
                  <a:lnTo>
                    <a:pt x="16340" y="315291"/>
                  </a:lnTo>
                  <a:lnTo>
                    <a:pt x="22406" y="318516"/>
                  </a:lnTo>
                  <a:lnTo>
                    <a:pt x="28982" y="320538"/>
                  </a:lnTo>
                  <a:lnTo>
                    <a:pt x="35814" y="321303"/>
                  </a:lnTo>
                  <a:lnTo>
                    <a:pt x="316348" y="321303"/>
                  </a:lnTo>
                  <a:lnTo>
                    <a:pt x="323180" y="320538"/>
                  </a:lnTo>
                  <a:lnTo>
                    <a:pt x="329756" y="318516"/>
                  </a:lnTo>
                  <a:lnTo>
                    <a:pt x="335822" y="315291"/>
                  </a:lnTo>
                  <a:lnTo>
                    <a:pt x="341178" y="310992"/>
                  </a:lnTo>
                  <a:lnTo>
                    <a:pt x="345622" y="305746"/>
                  </a:lnTo>
                  <a:lnTo>
                    <a:pt x="349011" y="299771"/>
                  </a:lnTo>
                  <a:lnTo>
                    <a:pt x="351215" y="293249"/>
                  </a:lnTo>
                  <a:lnTo>
                    <a:pt x="352162" y="286455"/>
                  </a:lnTo>
                  <a:lnTo>
                    <a:pt x="351816" y="279587"/>
                  </a:lnTo>
                  <a:lnTo>
                    <a:pt x="350176" y="272902"/>
                  </a:lnTo>
                  <a:lnTo>
                    <a:pt x="347316" y="266653"/>
                  </a:lnTo>
                  <a:lnTo>
                    <a:pt x="207049" y="17087"/>
                  </a:lnTo>
                  <a:lnTo>
                    <a:pt x="203005" y="11731"/>
                  </a:lnTo>
                  <a:lnTo>
                    <a:pt x="198032" y="7195"/>
                  </a:lnTo>
                  <a:lnTo>
                    <a:pt x="192312" y="3661"/>
                  </a:lnTo>
                  <a:lnTo>
                    <a:pt x="186045" y="1238"/>
                  </a:lnTo>
                  <a:lnTo>
                    <a:pt x="179433" y="0"/>
                  </a:lnTo>
                  <a:lnTo>
                    <a:pt x="172729" y="0"/>
                  </a:lnTo>
                  <a:lnTo>
                    <a:pt x="166117" y="1238"/>
                  </a:lnTo>
                  <a:lnTo>
                    <a:pt x="159850" y="3661"/>
                  </a:lnTo>
                  <a:lnTo>
                    <a:pt x="154130" y="7195"/>
                  </a:lnTo>
                  <a:lnTo>
                    <a:pt x="149157" y="11731"/>
                  </a:lnTo>
                  <a:lnTo>
                    <a:pt x="145113" y="17087"/>
                  </a:lnTo>
                  <a:close/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Freeform 3"/>
            <p:cNvSpPr/>
            <p:nvPr/>
          </p:nvSpPr>
          <p:spPr>
            <a:xfrm>
              <a:off x="492918" y="1654563"/>
              <a:ext cx="0" cy="72866"/>
            </a:xfrm>
            <a:custGeom>
              <a:avLst/>
              <a:gdLst/>
              <a:ahLst/>
              <a:cxnLst/>
              <a:rect l="l" t="t" r="r" b="b"/>
              <a:pathLst>
                <a:path w="0" h="72866">
                  <a:moveTo>
                    <a:pt x="0" y="0"/>
                  </a:moveTo>
                  <a:lnTo>
                    <a:pt x="0" y="72866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1" name="Oval 1070"/>
            <p:cNvSpPr/>
            <p:nvPr/>
          </p:nvSpPr>
          <p:spPr>
            <a:xfrm>
              <a:off x="472880" y="1771149"/>
              <a:ext cx="40076" cy="40076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2" name="item_0"/>
          <p:cNvSpPr txBox="1"/>
          <p:nvPr/>
        </p:nvSpPr>
        <p:spPr>
          <a:xfrm>
            <a:off x="908256" y="1500715"/>
            <a:ext cx="7710878" cy="85855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Слабая модель может выдумать цифры</a:t>
            </a:r>
          </a:p>
        </p:txBody>
      </p:sp>
      <p:grpSp>
        <p:nvGrpSpPr>
          <p:cNvPr id="5" name="icon:builtin-question"/>
          <p:cNvGrpSpPr/>
          <p:nvPr/>
        </p:nvGrpSpPr>
        <p:grpSpPr>
          <a:xfrm>
            <a:off x="328969" y="2516789"/>
            <a:ext cx="327897" cy="327897"/>
            <a:chOff x="328969" y="2516789"/>
            <a:chExt cx="327897" cy="327897"/>
          </a:xfrm>
        </p:grpSpPr>
        <p:sp>
          <p:nvSpPr>
            <p:cNvPr id="1073" name="Oval 1072"/>
            <p:cNvSpPr/>
            <p:nvPr/>
          </p:nvSpPr>
          <p:spPr>
            <a:xfrm>
              <a:off x="328969" y="2516789"/>
              <a:ext cx="327897" cy="327897"/>
            </a:xfrm>
            <a:prstGeom prst="ellipse">
              <a:avLst/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Freeform 5"/>
            <p:cNvSpPr/>
            <p:nvPr/>
          </p:nvSpPr>
          <p:spPr>
            <a:xfrm>
              <a:off x="447377" y="2588872"/>
              <a:ext cx="91009" cy="119191"/>
            </a:xfrm>
            <a:custGeom>
              <a:avLst/>
              <a:gdLst/>
              <a:ahLst/>
              <a:cxnLst/>
              <a:rect l="l" t="t" r="r" b="b"/>
              <a:pathLst>
                <a:path w="91009" h="119191">
                  <a:moveTo>
                    <a:pt x="0" y="46325"/>
                  </a:moveTo>
                  <a:lnTo>
                    <a:pt x="692" y="37526"/>
                  </a:lnTo>
                  <a:lnTo>
                    <a:pt x="3078" y="29019"/>
                  </a:lnTo>
                  <a:lnTo>
                    <a:pt x="7068" y="21131"/>
                  </a:lnTo>
                  <a:lnTo>
                    <a:pt x="12496" y="14154"/>
                  </a:lnTo>
                  <a:lnTo>
                    <a:pt x="19182" y="8361"/>
                  </a:lnTo>
                  <a:lnTo>
                    <a:pt x="26851" y="3971"/>
                  </a:lnTo>
                  <a:lnTo>
                    <a:pt x="35212" y="1148"/>
                  </a:lnTo>
                  <a:lnTo>
                    <a:pt x="43974" y="0"/>
                  </a:lnTo>
                  <a:lnTo>
                    <a:pt x="52791" y="546"/>
                  </a:lnTo>
                  <a:lnTo>
                    <a:pt x="61335" y="2787"/>
                  </a:lnTo>
                  <a:lnTo>
                    <a:pt x="69277" y="6649"/>
                  </a:lnTo>
                  <a:lnTo>
                    <a:pt x="76345" y="11968"/>
                  </a:lnTo>
                  <a:lnTo>
                    <a:pt x="82229" y="18544"/>
                  </a:lnTo>
                  <a:lnTo>
                    <a:pt x="86747" y="26141"/>
                  </a:lnTo>
                  <a:lnTo>
                    <a:pt x="89716" y="34466"/>
                  </a:lnTo>
                  <a:lnTo>
                    <a:pt x="91009" y="43191"/>
                  </a:lnTo>
                  <a:lnTo>
                    <a:pt x="90609" y="52026"/>
                  </a:lnTo>
                  <a:lnTo>
                    <a:pt x="88496" y="60606"/>
                  </a:lnTo>
                  <a:lnTo>
                    <a:pt x="84779" y="68622"/>
                  </a:lnTo>
                  <a:lnTo>
                    <a:pt x="79569" y="75763"/>
                  </a:lnTo>
                  <a:lnTo>
                    <a:pt x="73103" y="81756"/>
                  </a:lnTo>
                  <a:lnTo>
                    <a:pt x="65579" y="86401"/>
                  </a:lnTo>
                  <a:lnTo>
                    <a:pt x="61918" y="88696"/>
                  </a:lnTo>
                  <a:lnTo>
                    <a:pt x="58602" y="91210"/>
                  </a:lnTo>
                  <a:lnTo>
                    <a:pt x="55633" y="93943"/>
                  </a:lnTo>
                  <a:lnTo>
                    <a:pt x="53010" y="96894"/>
                  </a:lnTo>
                  <a:lnTo>
                    <a:pt x="50787" y="100063"/>
                  </a:lnTo>
                  <a:lnTo>
                    <a:pt x="48929" y="103452"/>
                  </a:lnTo>
                  <a:lnTo>
                    <a:pt x="47454" y="107059"/>
                  </a:lnTo>
                  <a:lnTo>
                    <a:pt x="46397" y="110884"/>
                  </a:lnTo>
                  <a:lnTo>
                    <a:pt x="45760" y="114928"/>
                  </a:lnTo>
                  <a:lnTo>
                    <a:pt x="45541" y="119191"/>
                  </a:lnTo>
                </a:path>
              </a:pathLst>
            </a:cu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4" name="Oval 1073"/>
            <p:cNvSpPr/>
            <p:nvPr/>
          </p:nvSpPr>
          <p:spPr>
            <a:xfrm>
              <a:off x="472880" y="2751783"/>
              <a:ext cx="40076" cy="40076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5" name="item_1"/>
          <p:cNvSpPr txBox="1"/>
          <p:nvPr/>
        </p:nvSpPr>
        <p:spPr>
          <a:xfrm>
            <a:off x="908256" y="2481349"/>
            <a:ext cx="7710878" cy="85855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Неизвестный шаблон может быть плохо сделан</a:t>
            </a:r>
          </a:p>
        </p:txBody>
      </p:sp>
      <p:grpSp>
        <p:nvGrpSpPr>
          <p:cNvPr id="7" name="icon:builtin-target"/>
          <p:cNvGrpSpPr/>
          <p:nvPr/>
        </p:nvGrpSpPr>
        <p:grpSpPr>
          <a:xfrm>
            <a:off x="328969" y="3497424"/>
            <a:ext cx="327897" cy="327897"/>
            <a:chOff x="328969" y="3497424"/>
            <a:chExt cx="327897" cy="327897"/>
          </a:xfrm>
        </p:grpSpPr>
        <p:sp>
          <p:nvSpPr>
            <p:cNvPr id="1076" name="Oval 1075"/>
            <p:cNvSpPr/>
            <p:nvPr/>
          </p:nvSpPr>
          <p:spPr>
            <a:xfrm>
              <a:off x="328969" y="3497424"/>
              <a:ext cx="327897" cy="327897"/>
            </a:xfrm>
            <a:prstGeom prst="ellipse">
              <a:avLst/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7" name="Oval 1076"/>
            <p:cNvSpPr/>
            <p:nvPr/>
          </p:nvSpPr>
          <p:spPr>
            <a:xfrm>
              <a:off x="401835" y="3570290"/>
              <a:ext cx="182165" cy="182165"/>
            </a:xfrm>
            <a:prstGeom prst="ellipse">
              <a:avLst/>
            </a:prstGeom>
            <a:noFill/>
            <a:ln w="36433" cap="rnd">
              <a:solidFill>
                <a:srgbClr val="0077FF"/>
              </a:solidFill>
              <a:round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78" name="Oval 1077"/>
            <p:cNvSpPr/>
            <p:nvPr/>
          </p:nvSpPr>
          <p:spPr>
            <a:xfrm>
              <a:off x="467415" y="3635870"/>
              <a:ext cx="51006" cy="51006"/>
            </a:xfrm>
            <a:prstGeom prst="ellipse">
              <a:avLst/>
            </a:prstGeom>
            <a:solidFill>
              <a:srgbClr val="0077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79" name="item_2"/>
          <p:cNvSpPr txBox="1"/>
          <p:nvPr/>
        </p:nvSpPr>
        <p:spPr>
          <a:xfrm>
            <a:off x="908256" y="3461984"/>
            <a:ext cx="7710878" cy="858555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6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600">
                <a:solidFill>
                  <a:srgbClr val="000000"/>
                </a:solidFill>
                <a:latin typeface="Play"/>
                <a:ea typeface="Play"/>
                <a:cs typeface="Play"/>
              </a:rPr>
              <a:t>Нагрузка выше 20 задач требует внешней очереди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543608" y="159030"/>
            <a:ext cx="7202525" cy="4391379"/>
          </a:xfrm>
          <a:prstGeom prst="round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"/>
          <p:cNvSpPr txBox="1"/>
          <p:nvPr/>
        </p:nvSpPr>
        <p:spPr>
          <a:xfrm>
            <a:off x="1670608" y="286030"/>
            <a:ext cx="6948525" cy="1183640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32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3200">
                <a:solidFill>
                  <a:srgbClr val="000000"/>
                </a:solidFill>
                <a:latin typeface="Play"/>
                <a:ea typeface="Play"/>
                <a:cs typeface="Play"/>
              </a:rPr>
              <a:t>Сервис повышает эффективность и соблюдение стиля</a:t>
            </a:r>
          </a:p>
        </p:txBody>
      </p:sp>
      <p:sp>
        <p:nvSpPr>
          <p:cNvPr id="4" name="body"/>
          <p:cNvSpPr txBox="1"/>
          <p:nvPr/>
        </p:nvSpPr>
        <p:spPr>
          <a:xfrm>
            <a:off x="1670608" y="1649692"/>
            <a:ext cx="6948525" cy="1109486"/>
          </a:xfrm>
          <a:prstGeom prst="rect">
            <a:avLst/>
          </a:prstGeom>
          <a:noFill/>
        </p:spPr>
        <p:txBody>
          <a:bodyPr wrap="square" lIns="76200" rIns="76200" tIns="50800" bIns="50800">
            <a:spAutoFit/>
          </a:bodyPr>
          <a:lstStyle/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сборки с 186 до 4 мин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Сокращение времени до первой версии с 6 до 1 дня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Снижение нарушений стиля до 2 из 68</a:t>
            </a:r>
          </a:p>
          <a:p>
            <a:pPr algn="l">
              <a:spcAft>
                <a:spcPts val="300"/>
              </a:spcAft>
              <a:defRPr sz="1400">
                <a:solidFill>
                  <a:srgbClr val="000000"/>
                </a:solidFill>
                <a:latin typeface="Play"/>
                <a:ea typeface="Play"/>
                <a:cs typeface="Play"/>
              </a:defRPr>
            </a:pPr>
            <a:r>
              <a:rPr sz="1400">
                <a:solidFill>
                  <a:srgbClr val="000000"/>
                </a:solidFill>
                <a:latin typeface="Play"/>
                <a:ea typeface="Play"/>
                <a:cs typeface="Play"/>
              </a:rPr>
              <a:t>• Экономия ресурсов на инференсе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670608" y="2887767"/>
          <a:ext cx="6948525" cy="153564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VK Tech">
  <a:themeElements>
    <a:clrScheme name="Пользовательские 5">
      <a:dk1>
        <a:srgbClr val="000000"/>
      </a:dk1>
      <a:lt1>
        <a:srgbClr val="FAFCFF"/>
      </a:lt1>
      <a:dk2>
        <a:srgbClr val="001515"/>
      </a:dk2>
      <a:lt2>
        <a:srgbClr val="FEFFFF"/>
      </a:lt2>
      <a:accent1>
        <a:srgbClr val="0077FF"/>
      </a:accent1>
      <a:accent2>
        <a:srgbClr val="FFFFFF"/>
      </a:accent2>
      <a:accent3>
        <a:srgbClr val="FF3885"/>
      </a:accent3>
      <a:accent4>
        <a:srgbClr val="202020"/>
      </a:accent4>
      <a:accent5>
        <a:srgbClr val="F7FAFE"/>
      </a:accent5>
      <a:accent6>
        <a:srgbClr val="D6ECFF"/>
      </a:accent6>
      <a:hlink>
        <a:srgbClr val="0563C1"/>
      </a:hlink>
      <a:folHlink>
        <a:srgbClr val="FE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
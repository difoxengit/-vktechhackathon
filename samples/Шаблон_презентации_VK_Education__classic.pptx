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6"/>
    <p:sldLayoutId id="2147483657" r:id="rId10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4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7" name="Google Shape;797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9096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8" name="Google Shape;798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7007" y="2603210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9" name="Google Shape;799;p6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3052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Текущее состояние: ручная сборка презентаций</a:t>
            </a:r>
          </a:p>
        </p:txBody>
      </p:sp>
      <p:sp>
        <p:nvSpPr>
          <p:cNvPr id="801" name="card_0"/>
          <p:cNvSpPr txBox="1"/>
          <p:nvPr/>
        </p:nvSpPr>
        <p:spPr>
          <a:xfrm>
            <a:off x="806889" y="342787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Сборка одной колоды 12 слайдов занимает 186 минут</a:t>
            </a:r>
          </a:p>
        </p:txBody>
      </p:sp>
      <p:sp>
        <p:nvSpPr>
          <p:cNvPr id="802" name="card_1"/>
          <p:cNvSpPr txBox="1"/>
          <p:nvPr/>
        </p:nvSpPr>
        <p:spPr>
          <a:xfrm>
            <a:off x="4533496" y="342149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Правки после ревью дизайнера 74 минуты</a:t>
            </a:r>
          </a:p>
        </p:txBody>
      </p:sp>
      <p:sp>
        <p:nvSpPr>
          <p:cNvPr id="803" name="card_2"/>
          <p:cNvSpPr txBox="1"/>
          <p:nvPr/>
        </p:nvSpPr>
        <p:spPr>
          <a:xfrm>
            <a:off x="8264469" y="342586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19 из 42 колод нарушают фирменный стиль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Ограничения команды дизайна</a:t>
            </a:r>
          </a:p>
        </p:txBody>
      </p:sp>
      <p:sp>
        <p:nvSpPr>
          <p:cNvPr id="3" name="card_0"/>
          <p:cNvSpPr txBox="1"/>
          <p:nvPr/>
        </p:nvSpPr>
        <p:spPr>
          <a:xfrm>
            <a:off x="829787" y="2755902"/>
            <a:ext cx="4999573" cy="329249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дизайнера закрывают 11 запросов в неделю из 27</a:t>
            </a:r>
          </a:p>
        </p:txBody>
      </p:sp>
      <p:sp>
        <p:nvSpPr>
          <p:cNvPr id="4" name="card_1"/>
          <p:cNvSpPr txBox="1"/>
          <p:nvPr/>
        </p:nvSpPr>
        <p:spPr>
          <a:xfrm>
            <a:off x="6381170" y="2755902"/>
            <a:ext cx="4999573" cy="329249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Средний срок ожидания 6 рабочих дней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62" name="Google Shape;76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05070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58"/>
          <p:cNvSpPr/>
          <p:nvPr/>
        </p:nvSpPr>
        <p:spPr>
          <a:xfrm>
            <a:off x="671513" y="256230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69" name="Google Shape;769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0" name="Google Shape;770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07349" y="2772418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1" name="Google Shape;771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2" name="Google Shape;772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9339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Предлагаемый сервис: автоматическая вёрстка</a:t>
            </a:r>
          </a:p>
        </p:txBody>
      </p:sp>
      <p:sp>
        <p:nvSpPr>
          <p:cNvPr id="774" name="card_0"/>
          <p:cNvSpPr txBox="1"/>
          <p:nvPr/>
        </p:nvSpPr>
        <p:spPr>
          <a:xfrm>
            <a:off x="806889" y="392871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Принимает шаблон pptx и материалы: документы, таблицы, заметки</a:t>
            </a:r>
          </a:p>
        </p:txBody>
      </p:sp>
      <p:sp>
        <p:nvSpPr>
          <p:cNvPr id="775" name="card_1"/>
          <p:cNvSpPr txBox="1"/>
          <p:nvPr/>
        </p:nvSpPr>
        <p:spPr>
          <a:xfrm>
            <a:off x="4533496" y="392233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Генерирует колоду по дизайн-системе и аудит качества</a:t>
            </a:r>
          </a:p>
        </p:txBody>
      </p:sp>
      <p:sp>
        <p:nvSpPr>
          <p:cNvPr id="776" name="card_2"/>
          <p:cNvSpPr txBox="1"/>
          <p:nvPr/>
        </p:nvSpPr>
        <p:spPr>
          <a:xfrm>
            <a:off x="8264469" y="392670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Экспорт в pptx, pdf, html, слайды редактируемы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Ключевые возможности сервиса</a:t>
            </a:r>
          </a:p>
        </p:txBody>
      </p:sp>
      <p:sp>
        <p:nvSpPr>
          <p:cNvPr id="988" name="Document 987"/>
          <p:cNvSpPr/>
          <p:nvPr/>
        </p:nvSpPr>
        <p:spPr>
          <a:xfrm>
            <a:off x="1437601" y="2262123"/>
            <a:ext cx="581269" cy="642455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TextBox 988"/>
          <p:cNvSpPr txBox="1"/>
          <p:nvPr/>
        </p:nvSpPr>
        <p:spPr>
          <a:xfrm>
            <a:off x="677387" y="3049200"/>
            <a:ext cx="2101697" cy="542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Шаблон</a:t>
            </a:r>
          </a:p>
        </p:txBody>
      </p:sp>
      <p:sp>
        <p:nvSpPr>
          <p:cNvPr id="990" name="Document 989"/>
          <p:cNvSpPr/>
          <p:nvPr/>
        </p:nvSpPr>
        <p:spPr>
          <a:xfrm>
            <a:off x="3626146" y="2262123"/>
            <a:ext cx="581269" cy="642455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TextBox 990"/>
          <p:cNvSpPr txBox="1"/>
          <p:nvPr/>
        </p:nvSpPr>
        <p:spPr>
          <a:xfrm>
            <a:off x="2865932" y="3049200"/>
            <a:ext cx="2101697" cy="542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Материалы</a:t>
            </a:r>
          </a:p>
        </p:txBody>
      </p:sp>
      <p:sp>
        <p:nvSpPr>
          <p:cNvPr id="992" name="Gear 6 991"/>
          <p:cNvSpPr/>
          <p:nvPr/>
        </p:nvSpPr>
        <p:spPr>
          <a:xfrm>
            <a:off x="5753505" y="2231530"/>
            <a:ext cx="474193" cy="474193"/>
          </a:xfrm>
          <a:prstGeom prst="gear6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ear 6 992"/>
          <p:cNvSpPr/>
          <p:nvPr/>
        </p:nvSpPr>
        <p:spPr>
          <a:xfrm>
            <a:off x="6074732" y="2522164"/>
            <a:ext cx="382413" cy="382413"/>
          </a:xfrm>
          <a:prstGeom prst="gear6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TextBox 993"/>
          <p:cNvSpPr txBox="1"/>
          <p:nvPr/>
        </p:nvSpPr>
        <p:spPr>
          <a:xfrm>
            <a:off x="5054477" y="3049200"/>
            <a:ext cx="2101697" cy="542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Генерация</a:t>
            </a:r>
          </a:p>
        </p:txBody>
      </p:sp>
      <p:sp>
        <p:nvSpPr>
          <p:cNvPr id="995" name="Document 994"/>
          <p:cNvSpPr/>
          <p:nvPr/>
        </p:nvSpPr>
        <p:spPr>
          <a:xfrm>
            <a:off x="8003236" y="2262123"/>
            <a:ext cx="581269" cy="642455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7243022" y="3049200"/>
            <a:ext cx="2101697" cy="542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Экспорт</a:t>
            </a:r>
          </a:p>
        </p:txBody>
      </p:sp>
      <p:sp>
        <p:nvSpPr>
          <p:cNvPr id="997" name="Oval 996"/>
          <p:cNvSpPr/>
          <p:nvPr/>
        </p:nvSpPr>
        <p:spPr>
          <a:xfrm>
            <a:off x="10176484" y="2277419"/>
            <a:ext cx="611862" cy="61186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TextBox 997"/>
          <p:cNvSpPr txBox="1"/>
          <p:nvPr/>
        </p:nvSpPr>
        <p:spPr>
          <a:xfrm>
            <a:off x="9431567" y="3049200"/>
            <a:ext cx="2101697" cy="542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Редактируемость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Сокращение времени сборки</a:t>
            </a:r>
          </a:p>
        </p:txBody>
      </p:sp>
      <p:sp>
        <p:nvSpPr>
          <p:cNvPr id="451" name="card_0"/>
          <p:cNvSpPr txBox="1"/>
          <p:nvPr/>
        </p:nvSpPr>
        <p:spPr>
          <a:xfrm>
            <a:off x="1174699" y="2893336"/>
            <a:ext cx="5112471" cy="213280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Средняя сборка колоды 12 слайдов 4 минуты вместо 186</a:t>
            </a:r>
          </a:p>
        </p:txBody>
      </p:sp>
      <p:sp>
        <p:nvSpPr>
          <p:cNvPr id="452" name="card_1"/>
          <p:cNvSpPr txBox="1"/>
          <p:nvPr/>
        </p:nvSpPr>
        <p:spPr>
          <a:xfrm>
            <a:off x="1272751" y="5351097"/>
            <a:ext cx="5141431" cy="87349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Время до первой версии сократилось с 6 дней до 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Улучшение качества и стиля</a:t>
            </a:r>
          </a:p>
        </p:txBody>
      </p:sp>
      <p:sp>
        <p:nvSpPr>
          <p:cNvPr id="3" name="card_0"/>
          <p:cNvSpPr txBox="1"/>
          <p:nvPr/>
        </p:nvSpPr>
        <p:spPr>
          <a:xfrm>
            <a:off x="829787" y="2755902"/>
            <a:ext cx="4999573" cy="329249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Нарушений фирменного стиля в пилоте 2 из 68, исправлены автоматически</a:t>
            </a:r>
          </a:p>
        </p:txBody>
      </p:sp>
      <p:sp>
        <p:nvSpPr>
          <p:cNvPr id="4" name="card_1"/>
          <p:cNvSpPr txBox="1"/>
          <p:nvPr/>
        </p:nvSpPr>
        <p:spPr>
          <a:xfrm>
            <a:off x="6381170" y="2755902"/>
            <a:ext cx="4999573" cy="329249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Дизайнеры закрыли 38 запросов вместо 11 за 6 недель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Ресурсы и сроки запуска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77387" y="3809896"/>
            <a:ext cx="10855878" cy="132827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99664" y="3389275"/>
            <a:ext cx="974070" cy="97407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7387" y="1773204"/>
            <a:ext cx="3618626" cy="1682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Подключение 4 команд</a:t>
            </a:r>
          </a:p>
        </p:txBody>
      </p:sp>
      <p:sp>
        <p:nvSpPr>
          <p:cNvPr id="6" name="Oval 5"/>
          <p:cNvSpPr/>
          <p:nvPr/>
        </p:nvSpPr>
        <p:spPr>
          <a:xfrm>
            <a:off x="5618290" y="3389275"/>
            <a:ext cx="974070" cy="97407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6013" y="4783967"/>
            <a:ext cx="3618626" cy="1682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Доступ всей компании</a:t>
            </a:r>
          </a:p>
        </p:txBody>
      </p:sp>
      <p:sp>
        <p:nvSpPr>
          <p:cNvPr id="8" name="Oval 7"/>
          <p:cNvSpPr/>
          <p:nvPr/>
        </p:nvSpPr>
        <p:spPr>
          <a:xfrm>
            <a:off x="9236916" y="3389275"/>
            <a:ext cx="974070" cy="97407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14639" y="1773204"/>
            <a:ext cx="3618626" cy="1682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Генерация иллюстраций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Пилотные результаты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77387" y="1773204"/>
          <a:ext cx="10855878" cy="44275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8626"/>
                <a:gridCol w="3618626"/>
                <a:gridCol w="3618626"/>
              </a:tblGrid>
              <a:tr h="88551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88551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Сборка (мин)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551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Время до первой версии (дней)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551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Нарушения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552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Запросы дизайнеров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78" name="Google Shape;778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99424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9" name="Google Shape;77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0" name="Google Shape;780;p5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1513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3" name="Google Shape;783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4" name="Google Shape;784;p5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16973" y="2791669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85" name="Google Shape;785;p5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7414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8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Запрос решения руководства</a:t>
            </a:r>
          </a:p>
        </p:txBody>
      </p:sp>
      <p:sp>
        <p:nvSpPr>
          <p:cNvPr id="787" name="card_0"/>
          <p:cNvSpPr txBox="1"/>
          <p:nvPr/>
        </p:nvSpPr>
        <p:spPr>
          <a:xfrm>
            <a:off x="806889" y="392871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Одобрить запуск сервиса на всю компанию</a:t>
            </a:r>
          </a:p>
        </p:txBody>
      </p:sp>
      <p:sp>
        <p:nvSpPr>
          <p:cNvPr id="788" name="card_1"/>
          <p:cNvSpPr txBox="1"/>
          <p:nvPr/>
        </p:nvSpPr>
        <p:spPr>
          <a:xfrm>
            <a:off x="4533496" y="392233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Выделить ресурсы для интеграции с хранилищем</a:t>
            </a:r>
          </a:p>
        </p:txBody>
      </p:sp>
      <p:sp>
        <p:nvSpPr>
          <p:cNvPr id="789" name="card_2"/>
          <p:cNvSpPr txBox="1"/>
          <p:nvPr/>
        </p:nvSpPr>
        <p:spPr>
          <a:xfrm>
            <a:off x="8264469" y="392670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Поддержка модели и масштабирование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
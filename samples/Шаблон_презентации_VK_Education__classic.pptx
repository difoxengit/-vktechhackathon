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">
  <p:cSld name="3_Титульный слайд">
    <p:bg>
      <p:bgPr>
        <a:solidFill>
          <a:schemeClr val="accen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3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3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3845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 QR + подпись">
  <p:cSld name="Финальный с QR + подпись">
    <p:bg>
      <p:bgPr>
        <a:solidFill>
          <a:schemeClr val="accen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23251" y="692149"/>
            <a:ext cx="6168749" cy="616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9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9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36" name="Google Shape;136;p19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37" name="Google Shape;13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3" r:id="rId6"/>
    <p:sldLayoutId id="2147483665" r:id="rId1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Relationship Id="rId4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5" Type="http://schemas.openxmlformats.org/officeDocument/2006/relationships/image" Target="../media/image235.png"/><Relationship Id="rId6" Type="http://schemas.openxmlformats.org/officeDocument/2006/relationships/image" Target="../media/image234.png"/><Relationship Id="rId7" Type="http://schemas.openxmlformats.org/officeDocument/2006/relationships/image" Target="../media/image236.png"/><Relationship Id="rId8" Type="http://schemas.openxmlformats.org/officeDocument/2006/relationships/image" Target="../media/image231.png"/><Relationship Id="rId9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257.png"/><Relationship Id="rId3" Type="http://schemas.openxmlformats.org/officeDocument/2006/relationships/notesSlide" Target="../notesSlides/notesSlide65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22279" y="2598016"/>
            <a:ext cx="7535387" cy="166196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Защита инициативы: сервис автоматической вёрстки презентаций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86" name="Google Shape;986;p76"/>
          <p:cNvCxnSpPr/>
          <p:nvPr/>
        </p:nvCxnSpPr>
        <p:spPr>
          <a:xfrm rot="10800000">
            <a:off x="-42658" y="3591512"/>
            <a:ext cx="12234658" cy="0"/>
          </a:xfrm>
          <a:prstGeom prst="straightConnector1">
            <a:avLst/>
          </a:prstGeom>
          <a:noFill/>
          <a:ln cap="flat" cmpd="sng" w="12700">
            <a:solidFill>
              <a:srgbClr val="E1E1E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87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Контекст и возможность</a:t>
            </a:r>
          </a:p>
        </p:txBody>
      </p:sp>
      <p:sp>
        <p:nvSpPr>
          <p:cNvPr id="988" name="body"/>
          <p:cNvSpPr txBox="1"/>
          <p:nvPr/>
        </p:nvSpPr>
        <p:spPr>
          <a:xfrm>
            <a:off x="677387" y="2200937"/>
            <a:ext cx="10855878" cy="264554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Отделы собирают презентации вручную, затрачивая 186 минут на 12-слайдовую колоду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После ревью дизайнеров добавляется 74 минуты правок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из 42 колод нарушают фирменный стиль: чужие гарнитуры и цвета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закрывают 11 запросов в неделю из 27 поступающих, ожидание 6 дней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Время до первой версии колоды составляет 6 рабочих дней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Предложение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387" y="1773204"/>
            <a:ext cx="10855878" cy="17373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Сервис принимает pptx-шаблон, документы, таблицы, заметки.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Шабл превращается:гарнитуры, шкала кеглей, палитра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Бриф генерирует колоду, автоматическая вёрстка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в pptx, pdf, html; слайды редактируемы.</a:t>
            </a:r>
          </a:p>
        </p:txBody>
      </p:sp>
      <p:sp>
        <p:nvSpPr>
          <p:cNvPr id="4" name="Pentagon 3"/>
          <p:cNvSpPr/>
          <p:nvPr/>
        </p:nvSpPr>
        <p:spPr>
          <a:xfrm>
            <a:off x="677387" y="4300648"/>
            <a:ext cx="2066959" cy="1281514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096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096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Шаблон</a:t>
            </a:r>
          </a:p>
        </p:txBody>
      </p:sp>
      <p:sp>
        <p:nvSpPr>
          <p:cNvPr id="5" name="Chevron 4"/>
          <p:cNvSpPr/>
          <p:nvPr/>
        </p:nvSpPr>
        <p:spPr>
          <a:xfrm>
            <a:off x="2874616" y="4300648"/>
            <a:ext cx="2066959" cy="1281514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096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096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</a:t>
            </a:r>
          </a:p>
        </p:txBody>
      </p:sp>
      <p:sp>
        <p:nvSpPr>
          <p:cNvPr id="6" name="Chevron 5"/>
          <p:cNvSpPr/>
          <p:nvPr/>
        </p:nvSpPr>
        <p:spPr>
          <a:xfrm>
            <a:off x="5071846" y="4300648"/>
            <a:ext cx="2066959" cy="1281514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096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096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Вёрстка</a:t>
            </a:r>
          </a:p>
        </p:txBody>
      </p:sp>
      <p:sp>
        <p:nvSpPr>
          <p:cNvPr id="7" name="Chevron 6"/>
          <p:cNvSpPr/>
          <p:nvPr/>
        </p:nvSpPr>
        <p:spPr>
          <a:xfrm>
            <a:off x="7269076" y="4300648"/>
            <a:ext cx="2066959" cy="1281514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096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096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Аудит</a:t>
            </a:r>
          </a:p>
        </p:txBody>
      </p:sp>
      <p:sp>
        <p:nvSpPr>
          <p:cNvPr id="8" name="Chevron 7"/>
          <p:cNvSpPr/>
          <p:nvPr/>
        </p:nvSpPr>
        <p:spPr>
          <a:xfrm>
            <a:off x="9466305" y="4300648"/>
            <a:ext cx="2066959" cy="1281514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096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096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18" name="Google Shape;918;p74"/>
          <p:cNvCxnSpPr/>
          <p:nvPr/>
        </p:nvCxnSpPr>
        <p:spPr>
          <a:xfrm rot="10800000">
            <a:off x="658813" y="2199500"/>
            <a:ext cx="11533187" cy="0"/>
          </a:xfrm>
          <a:prstGeom prst="straightConnector1">
            <a:avLst/>
          </a:prstGeom>
          <a:noFill/>
          <a:ln cap="flat" cmpd="sng" w="19050">
            <a:solidFill>
              <a:schemeClr val="accent4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19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Ожидаемый эффект</a:t>
            </a:r>
          </a:p>
        </p:txBody>
      </p:sp>
      <p:sp>
        <p:nvSpPr>
          <p:cNvPr id="920" name="body"/>
          <p:cNvSpPr txBox="1"/>
          <p:nvPr/>
        </p:nvSpPr>
        <p:spPr>
          <a:xfrm>
            <a:off x="677387" y="2200937"/>
            <a:ext cx="10855878" cy="374865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Время сборки колоды сократилось с 186 до 4 минут</a:t>
            </a:r>
          </a:p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Первая версия готова за 1 день вместо 6 рабочих дней</a:t>
            </a:r>
          </a:p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Нарушений фирменного стиля в пилоте 2 из 68 колод, исправлены автоматически</a:t>
            </a:r>
          </a:p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закрыли 38 запросов вместо 11 в неделю, рутина ушла в сервис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Что потребуется: ресурсы и сроки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387" y="1773204"/>
            <a:ext cx="10855878" cy="17373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Сервис на машине 2 vCPU / 2 ГБ RAM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Модель gpt-oss-20b подключена через OpenAI-протокол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Стоимость инференса за 6 недель 1 400 руб.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Нагрузка выше 20 задач требует внешней очереди.</a:t>
            </a:r>
          </a:p>
        </p:txBody>
      </p:sp>
      <p:sp>
        <p:nvSpPr>
          <p:cNvPr id="4" name="Rectangle 3"/>
          <p:cNvSpPr/>
          <p:nvPr/>
        </p:nvSpPr>
        <p:spPr>
          <a:xfrm>
            <a:off x="677387" y="4840654"/>
            <a:ext cx="10855878" cy="75563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57305" y="4601369"/>
            <a:ext cx="554132" cy="55413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7387" y="3682014"/>
            <a:ext cx="4070954" cy="95713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Подключение 4 команд</a:t>
            </a:r>
          </a:p>
        </p:txBody>
      </p:sp>
      <p:sp>
        <p:nvSpPr>
          <p:cNvPr id="7" name="Oval 6"/>
          <p:cNvSpPr/>
          <p:nvPr/>
        </p:nvSpPr>
        <p:spPr>
          <a:xfrm>
            <a:off x="4471275" y="4601369"/>
            <a:ext cx="554132" cy="55413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12864" y="5394786"/>
            <a:ext cx="4070954" cy="95713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Домен и HTTPS</a:t>
            </a:r>
          </a:p>
        </p:txBody>
      </p:sp>
      <p:sp>
        <p:nvSpPr>
          <p:cNvPr id="9" name="Oval 8"/>
          <p:cNvSpPr/>
          <p:nvPr/>
        </p:nvSpPr>
        <p:spPr>
          <a:xfrm>
            <a:off x="7185244" y="4601369"/>
            <a:ext cx="554132" cy="55413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26833" y="3682014"/>
            <a:ext cx="4070954" cy="95713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Доступ для всей компании</a:t>
            </a:r>
          </a:p>
        </p:txBody>
      </p:sp>
      <p:sp>
        <p:nvSpPr>
          <p:cNvPr id="11" name="Oval 10"/>
          <p:cNvSpPr/>
          <p:nvPr/>
        </p:nvSpPr>
        <p:spPr>
          <a:xfrm>
            <a:off x="9899214" y="4601369"/>
            <a:ext cx="554132" cy="55413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2310" y="5394786"/>
            <a:ext cx="4070954" cy="95713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Генерация иллюстраций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План пилота</a:t>
            </a:r>
          </a:p>
        </p:txBody>
      </p:sp>
      <p:sp>
        <p:nvSpPr>
          <p:cNvPr id="3" name="card_0"/>
          <p:cNvSpPr txBox="1"/>
          <p:nvPr/>
        </p:nvSpPr>
        <p:spPr>
          <a:xfrm>
            <a:off x="823935" y="1925604"/>
            <a:ext cx="5060899" cy="185169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Пилот длился 6 недель, включал 2 команды и 68 презентаций</a:t>
            </a:r>
          </a:p>
        </p:txBody>
      </p:sp>
      <p:sp>
        <p:nvSpPr>
          <p:cNvPr id="4" name="card_1"/>
          <p:cNvSpPr txBox="1"/>
          <p:nvPr/>
        </p:nvSpPr>
        <p:spPr>
          <a:xfrm>
            <a:off x="6307165" y="1927936"/>
            <a:ext cx="5086380" cy="185169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Средняя сборка колоды 4 минуты вместо 186, первая версия 1 день вместо 6</a:t>
            </a:r>
          </a:p>
        </p:txBody>
      </p:sp>
      <p:sp>
        <p:nvSpPr>
          <p:cNvPr id="5" name="card_2"/>
          <p:cNvSpPr txBox="1"/>
          <p:nvPr/>
        </p:nvSpPr>
        <p:spPr>
          <a:xfrm>
            <a:off x="823935" y="4196699"/>
            <a:ext cx="5060899" cy="185169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Нарушений стиля 2 из 68 колод, обе исправлены автоматическими правками</a:t>
            </a:r>
          </a:p>
        </p:txBody>
      </p:sp>
      <p:sp>
        <p:nvSpPr>
          <p:cNvPr id="6" name="card_3"/>
          <p:cNvSpPr txBox="1"/>
          <p:nvPr/>
        </p:nvSpPr>
        <p:spPr>
          <a:xfrm>
            <a:off x="6307165" y="4196699"/>
            <a:ext cx="5086380" cy="185169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Дизайнеры закрыли 38 запросов вместо 11 в неделю, рутина ушла в сервис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97" name="Google Shape;797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9096" y="2601017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8" name="Google Shape;798;p6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7007" y="2603210"/>
            <a:ext cx="450851" cy="450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9" name="Google Shape;799;p6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3052" y="2601017"/>
            <a:ext cx="450850" cy="450850"/>
          </a:xfrm>
          <a:prstGeom prst="rect">
            <a:avLst/>
          </a:prstGeom>
          <a:noFill/>
          <a:ln>
            <a:noFill/>
          </a:ln>
        </p:spPr>
      </p:pic>
      <p:sp>
        <p:nvSpPr>
          <p:cNvPr id="800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Что мы просим решить</a:t>
            </a:r>
          </a:p>
        </p:txBody>
      </p:sp>
      <p:sp>
        <p:nvSpPr>
          <p:cNvPr id="801" name="card_0"/>
          <p:cNvSpPr txBox="1"/>
          <p:nvPr/>
        </p:nvSpPr>
        <p:spPr>
          <a:xfrm>
            <a:off x="806889" y="3427872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Одобрить запуск сервиса на всю компанию</a:t>
            </a:r>
          </a:p>
        </p:txBody>
      </p:sp>
      <p:sp>
        <p:nvSpPr>
          <p:cNvPr id="802" name="card_1"/>
          <p:cNvSpPr txBox="1"/>
          <p:nvPr/>
        </p:nvSpPr>
        <p:spPr>
          <a:xfrm>
            <a:off x="4533496" y="3421494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Интеграция с корпоративным хранилищем документов</a:t>
            </a:r>
          </a:p>
        </p:txBody>
      </p:sp>
      <p:sp>
        <p:nvSpPr>
          <p:cNvPr id="803" name="card_2"/>
          <p:cNvSpPr txBox="1"/>
          <p:nvPr/>
        </p:nvSpPr>
        <p:spPr>
          <a:xfrm>
            <a:off x="8264469" y="3425860"/>
            <a:ext cx="2575194" cy="116013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Обеспечить поддержку очереди для нагрузки более 20 задач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pic>
        <p:nvPicPr>
          <p:cNvPr id="762" name="Google Shape;762;p5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05070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58"/>
          <p:cNvSpPr/>
          <p:nvPr/>
        </p:nvSpPr>
        <p:spPr>
          <a:xfrm>
            <a:off x="671513" y="2562300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769" name="Google Shape;769;p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38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0" name="Google Shape;770;p5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07349" y="2772418"/>
            <a:ext cx="450851" cy="450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71" name="Google Shape;771;p5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5469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2" name="Google Shape;772;p5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93394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sp>
        <p:nvSpPr>
          <p:cNvPr id="773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Риски</a:t>
            </a:r>
          </a:p>
        </p:txBody>
      </p:sp>
      <p:sp>
        <p:nvSpPr>
          <p:cNvPr id="774" name="card_0"/>
          <p:cNvSpPr txBox="1"/>
          <p:nvPr/>
        </p:nvSpPr>
        <p:spPr>
          <a:xfrm>
            <a:off x="806889" y="3928712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Модель может выдумать цифры, которые отсутствуют в материалах</a:t>
            </a:r>
          </a:p>
        </p:txBody>
      </p:sp>
      <p:sp>
        <p:nvSpPr>
          <p:cNvPr id="775" name="card_1"/>
          <p:cNvSpPr txBox="1"/>
          <p:nvPr/>
        </p:nvSpPr>
        <p:spPr>
          <a:xfrm>
            <a:off x="4533496" y="3922334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Неполный шаблон приводит к ошибкам, сервис использует рабочую область</a:t>
            </a:r>
          </a:p>
        </p:txBody>
      </p:sp>
      <p:sp>
        <p:nvSpPr>
          <p:cNvPr id="776" name="card_2"/>
          <p:cNvSpPr txBox="1"/>
          <p:nvPr/>
        </p:nvSpPr>
        <p:spPr>
          <a:xfrm>
            <a:off x="8264469" y="3926700"/>
            <a:ext cx="2575194" cy="116013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Нагрузка выше 20 задач требует внешней очереди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pic>
        <p:nvPicPr>
          <p:cNvPr id="778" name="Google Shape;778;p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99424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9" name="Google Shape;77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85469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0" name="Google Shape;780;p5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1513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82" name="Google Shape;782;p59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83" name="Google Shape;783;p5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9438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4" name="Google Shape;784;p5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316973" y="2791669"/>
            <a:ext cx="450851" cy="450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85" name="Google Shape;785;p5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574144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sp>
        <p:nvSpPr>
          <p:cNvPr id="786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Вопросы к руководству</a:t>
            </a:r>
          </a:p>
        </p:txBody>
      </p:sp>
      <p:sp>
        <p:nvSpPr>
          <p:cNvPr id="787" name="card_0"/>
          <p:cNvSpPr txBox="1"/>
          <p:nvPr/>
        </p:nvSpPr>
        <p:spPr>
          <a:xfrm>
            <a:off x="806889" y="3928712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Какие ресурсы нужны для масштабирования сервиса</a:t>
            </a:r>
          </a:p>
        </p:txBody>
      </p:sp>
      <p:sp>
        <p:nvSpPr>
          <p:cNvPr id="788" name="card_1"/>
          <p:cNvSpPr txBox="1"/>
          <p:nvPr/>
        </p:nvSpPr>
        <p:spPr>
          <a:xfrm>
            <a:off x="4533496" y="3922334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Как обеспечить качество и проверку данных</a:t>
            </a:r>
          </a:p>
        </p:txBody>
      </p:sp>
      <p:sp>
        <p:nvSpPr>
          <p:cNvPr id="789" name="card_2"/>
          <p:cNvSpPr txBox="1"/>
          <p:nvPr/>
        </p:nvSpPr>
        <p:spPr>
          <a:xfrm>
            <a:off x="8264469" y="3926700"/>
            <a:ext cx="2575194" cy="116013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Как быстро интегрировать сервис в существующие процессы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855" y="692177"/>
            <a:ext cx="524243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FFFFFF"/>
                </a:solidFill>
                <a:latin typeface="Arial"/>
                <a:ea typeface="Arial"/>
                <a:cs typeface="Arial"/>
              </a:rPr>
              <a:t>Следующие шаги после одобрения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58855" y="2380007"/>
            <a:ext cx="5242438" cy="3262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После одобрения подключить 4 команды в Q3 2026</a:t>
            </a:r>
          </a:p>
          <a:p>
            <a:pPr algn="l">
              <a:spcAft>
                <a:spcPts val="300"/>
              </a:spcAft>
              <a:defRPr sz="2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 Q4 2026 обеспечить домен, HTTPS и доступ для всей компании</a:t>
            </a:r>
          </a:p>
          <a:p>
            <a:pPr algn="l">
              <a:spcAft>
                <a:spcPts val="300"/>
              </a:spcAft>
              <a:defRPr sz="2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 Q1 2027 добавить генерацию иллюстраций под стиль шаблона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
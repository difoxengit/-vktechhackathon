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До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Sheet1!$A$2:$A$4</c:f>
              <c:strCache>
                <c:ptCount val="3"/>
                <c:pt idx="0">
                  <c:v>Сборка колоды</c:v>
                </c:pt>
                <c:pt idx="1">
                  <c:v>Время до первой версии</c:v>
                </c:pt>
                <c:pt idx="2">
                  <c:v>Запросы/неделя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186.0</c:v>
                </c:pt>
                <c:pt idx="1">
                  <c:v>6.0</c:v>
                </c:pt>
                <c:pt idx="2">
                  <c:v>11.0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После</c:v>
                </c:pt>
              </c:strCache>
            </c:strRef>
          </c:tx>
          <c:spPr>
            <a:solidFill>
              <a:srgbClr val="FF3885"/>
            </a:solidFill>
            <a:ln>
              <a:solidFill>
                <a:srgbClr val="FF3885"/>
              </a:solidFill>
            </a:ln>
          </c:spPr>
          <c:cat>
            <c:strRef>
              <c:f>Sheet1!$A$2:$A$4</c:f>
              <c:strCache>
                <c:ptCount val="3"/>
                <c:pt idx="0">
                  <c:v>Сборка колоды</c:v>
                </c:pt>
                <c:pt idx="1">
                  <c:v>Время до первой версии</c:v>
                </c:pt>
                <c:pt idx="2">
                  <c:v>Запросы/неделя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4.0</c:v>
                </c:pt>
                <c:pt idx="1">
                  <c:v>1.0</c:v>
                </c:pt>
                <c:pt idx="2">
                  <c:v>38.0</c:v>
                </c:pt>
              </c:numCache>
            </c:numRef>
          </c:val>
        </c:ser>
        <c:dLbls>
          <c:numFmt formatCode="0&quot; единицы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единицы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6" Type="http://schemas.openxmlformats.org/officeDocument/2006/relationships/slideLayout" Target="../slideLayouts/slideLayout6.xml"/><Relationship Id="rId12" Type="http://schemas.openxmlformats.org/officeDocument/2006/relationships/slideLayout" Target="../slideLayouts/slideLayout12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3" r:id="rId6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/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3" Type="http://schemas.openxmlformats.org/officeDocument/2006/relationships/image" Target="../media/image237.png"/><Relationship Id="rId4" Type="http://schemas.openxmlformats.org/officeDocument/2006/relationships/image" Target="../media/image229.png"/><Relationship Id="rId5" Type="http://schemas.openxmlformats.org/officeDocument/2006/relationships/image" Target="../media/image238.png"/><Relationship Id="rId6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2.xml"/></Relationships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14478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Защита инициативы: сервис автоматической вёрстки презентаций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86" name="Google Shape;986;p76"/>
          <p:cNvCxnSpPr/>
          <p:nvPr/>
        </p:nvCxnSpPr>
        <p:spPr>
          <a:xfrm rot="10800000">
            <a:off x="-42658" y="3591512"/>
            <a:ext cx="12234658" cy="0"/>
          </a:xfrm>
          <a:prstGeom prst="straightConnector1">
            <a:avLst/>
          </a:prstGeom>
          <a:noFill/>
          <a:ln cap="flat" cmpd="sng" w="12700">
            <a:solidFill>
              <a:srgbClr val="E1E1E2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87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Контекст и возможность</a:t>
            </a:r>
          </a:p>
        </p:txBody>
      </p:sp>
      <p:sp>
        <p:nvSpPr>
          <p:cNvPr id="988" name="body"/>
          <p:cNvSpPr txBox="1"/>
          <p:nvPr/>
        </p:nvSpPr>
        <p:spPr>
          <a:xfrm>
            <a:off x="677387" y="2200937"/>
            <a:ext cx="10855878" cy="109855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42 колоды собраны вручную 2026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Сборка колоды занимает 186 мин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Правки ревью добавляют 74 мин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19/42 колод нарушают стиль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Дизайн‑отдел 4 закрывает 11 запросов/нед.</a:t>
            </a:r>
          </a:p>
        </p:txBody>
      </p:sp>
      <p:graphicFrame>
        <p:nvGraphicFramePr>
          <p:cNvPr id="989" name="Table 988"/>
          <p:cNvGraphicFramePr>
            <a:graphicFrameLocks noGrp="1"/>
          </p:cNvGraphicFramePr>
          <p:nvPr/>
        </p:nvGraphicFramePr>
        <p:xfrm>
          <a:off x="677387" y="2928626"/>
          <a:ext cx="10855878" cy="6629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27939"/>
                <a:gridCol w="5427939"/>
              </a:tblGrid>
              <a:tr h="94701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Показатель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Значение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94701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Колоды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4701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Сборка колоды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186 мин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4701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Правки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74 мин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4701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Нарушения стиля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19/42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4701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Запросы/неделя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11/27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4701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Время ожидания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 дней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Предложение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77387" y="1773204"/>
            <a:ext cx="10855878" cy="17373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Сервис принимает шаблон pptx и материалы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Автоматически строит план колоды и вёрстку по дизайн‑системе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Аудит качества проверяет все цифры и стили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Экспорт в pptx, pdf и html без картинок</a:t>
            </a:r>
          </a:p>
        </p:txBody>
      </p:sp>
      <p:sp>
        <p:nvSpPr>
          <p:cNvPr id="4" name="Pentagon 3"/>
          <p:cNvSpPr/>
          <p:nvPr/>
        </p:nvSpPr>
        <p:spPr>
          <a:xfrm>
            <a:off x="677387" y="3711399"/>
            <a:ext cx="10855878" cy="361025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Ввод шаблона</a:t>
            </a:r>
          </a:p>
        </p:txBody>
      </p:sp>
      <p:sp>
        <p:nvSpPr>
          <p:cNvPr id="5" name="Chevron 4"/>
          <p:cNvSpPr/>
          <p:nvPr/>
        </p:nvSpPr>
        <p:spPr>
          <a:xfrm>
            <a:off x="677387" y="4131196"/>
            <a:ext cx="10855878" cy="361025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Анализ</a:t>
            </a:r>
          </a:p>
        </p:txBody>
      </p:sp>
      <p:sp>
        <p:nvSpPr>
          <p:cNvPr id="6" name="Chevron 5"/>
          <p:cNvSpPr/>
          <p:nvPr/>
        </p:nvSpPr>
        <p:spPr>
          <a:xfrm>
            <a:off x="677387" y="4550994"/>
            <a:ext cx="10855878" cy="361025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 колоды</a:t>
            </a:r>
          </a:p>
        </p:txBody>
      </p:sp>
      <p:sp>
        <p:nvSpPr>
          <p:cNvPr id="7" name="Chevron 6"/>
          <p:cNvSpPr/>
          <p:nvPr/>
        </p:nvSpPr>
        <p:spPr>
          <a:xfrm>
            <a:off x="677387" y="4970791"/>
            <a:ext cx="10855878" cy="361025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Вёрстка</a:t>
            </a:r>
          </a:p>
        </p:txBody>
      </p:sp>
      <p:sp>
        <p:nvSpPr>
          <p:cNvPr id="8" name="Chevron 7"/>
          <p:cNvSpPr/>
          <p:nvPr/>
        </p:nvSpPr>
        <p:spPr>
          <a:xfrm>
            <a:off x="677387" y="5390588"/>
            <a:ext cx="10855878" cy="361025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Аудит</a:t>
            </a:r>
          </a:p>
        </p:txBody>
      </p:sp>
      <p:sp>
        <p:nvSpPr>
          <p:cNvPr id="9" name="Chevron 8"/>
          <p:cNvSpPr/>
          <p:nvPr/>
        </p:nvSpPr>
        <p:spPr>
          <a:xfrm>
            <a:off x="677387" y="5810385"/>
            <a:ext cx="10855878" cy="361025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Экспорт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Ожидаемый эффект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77387" y="1773204"/>
            <a:ext cx="10855878" cy="17373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Средняя сборка колоды 4 минуты вместо 186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Время до первой версии сократилось с 6 дней до 1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Нарушения фирменного стиля снизились до 2 из 68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Дизайнеры закрыли 38 запросов вместо 11 в неделю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77387" y="3682014"/>
          <a:ext cx="10855878" cy="251878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918" name="Google Shape;918;p74"/>
          <p:cNvCxnSpPr/>
          <p:nvPr/>
        </p:nvCxnSpPr>
        <p:spPr>
          <a:xfrm rot="10800000">
            <a:off x="658813" y="2199500"/>
            <a:ext cx="11533187" cy="0"/>
          </a:xfrm>
          <a:prstGeom prst="straightConnector1">
            <a:avLst/>
          </a:prstGeom>
          <a:noFill/>
          <a:ln cap="flat" cmpd="sng" w="19050">
            <a:solidFill>
              <a:schemeClr val="accent4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919" name="Google Shape;919;p74"/>
          <p:cNvCxnSpPr/>
          <p:nvPr/>
        </p:nvCxnSpPr>
        <p:spPr>
          <a:xfrm flipH="1">
            <a:off x="1" y="4351265"/>
            <a:ext cx="8112124" cy="42098"/>
          </a:xfrm>
          <a:prstGeom prst="straightConnector1">
            <a:avLst/>
          </a:prstGeom>
          <a:noFill/>
          <a:ln cap="flat" cmpd="sng" w="19050">
            <a:solidFill>
              <a:schemeClr val="accent4"/>
            </a:solidFill>
            <a:prstDash val="solid"/>
            <a:miter lim="8000"/>
            <a:headEnd len="lg" w="lg" type="stealth"/>
            <a:tailEnd len="sm" w="sm" type="none"/>
          </a:ln>
        </p:spPr>
      </p:cxnSp>
      <p:sp>
        <p:nvSpPr>
          <p:cNvPr id="920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Ресурсы и сроки</a:t>
            </a:r>
          </a:p>
        </p:txBody>
      </p:sp>
      <p:sp>
        <p:nvSpPr>
          <p:cNvPr id="921" name="body"/>
          <p:cNvSpPr txBox="1"/>
          <p:nvPr/>
        </p:nvSpPr>
        <p:spPr>
          <a:xfrm>
            <a:off x="677387" y="2200937"/>
            <a:ext cx="10855878" cy="129667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2 vCPU / 2 ГБ RAM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gpt-oss-20b подключен протоколу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Инференс 6 недель 1 400 руб.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Квартал 2026: 4 команды, домен, HTTPS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Квартал 2026: доступ, интеграция хранилища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2027: генерация иллюстраций в стиле шаблона</a:t>
            </a:r>
          </a:p>
        </p:txBody>
      </p:sp>
      <p:sp>
        <p:nvSpPr>
          <p:cNvPr id="922" name="Rectangle 921"/>
          <p:cNvSpPr/>
          <p:nvPr/>
        </p:nvSpPr>
        <p:spPr>
          <a:xfrm>
            <a:off x="677387" y="3747140"/>
            <a:ext cx="10855878" cy="33562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Oval 922"/>
          <p:cNvSpPr/>
          <p:nvPr/>
        </p:nvSpPr>
        <p:spPr>
          <a:xfrm>
            <a:off x="2363638" y="3640859"/>
            <a:ext cx="246123" cy="246123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TextBox 923"/>
          <p:cNvSpPr txBox="1"/>
          <p:nvPr/>
        </p:nvSpPr>
        <p:spPr>
          <a:xfrm>
            <a:off x="677387" y="3232518"/>
            <a:ext cx="5427939" cy="425123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Третий квартал 2026</a:t>
            </a:r>
          </a:p>
        </p:txBody>
      </p:sp>
      <p:sp>
        <p:nvSpPr>
          <p:cNvPr id="925" name="Oval 924"/>
          <p:cNvSpPr/>
          <p:nvPr/>
        </p:nvSpPr>
        <p:spPr>
          <a:xfrm>
            <a:off x="5982264" y="3640859"/>
            <a:ext cx="246123" cy="246123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TextBox 925"/>
          <p:cNvSpPr txBox="1"/>
          <p:nvPr/>
        </p:nvSpPr>
        <p:spPr>
          <a:xfrm>
            <a:off x="3391356" y="3993264"/>
            <a:ext cx="5427939" cy="425123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Четвёртый квартал 2026</a:t>
            </a:r>
          </a:p>
        </p:txBody>
      </p:sp>
      <p:sp>
        <p:nvSpPr>
          <p:cNvPr id="927" name="Oval 926"/>
          <p:cNvSpPr/>
          <p:nvPr/>
        </p:nvSpPr>
        <p:spPr>
          <a:xfrm>
            <a:off x="9600890" y="3640859"/>
            <a:ext cx="246123" cy="246123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TextBox 927"/>
          <p:cNvSpPr txBox="1"/>
          <p:nvPr/>
        </p:nvSpPr>
        <p:spPr>
          <a:xfrm>
            <a:off x="6105326" y="3232518"/>
            <a:ext cx="5427939" cy="425123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Первый квартал 2027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95" name="Google Shape;795;p6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97" name="Google Shape;797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9096" y="2601017"/>
            <a:ext cx="450850" cy="45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8" name="Google Shape;798;p6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97007" y="2603210"/>
            <a:ext cx="450851" cy="450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9" name="Google Shape;799;p6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83052" y="2601017"/>
            <a:ext cx="450850" cy="450850"/>
          </a:xfrm>
          <a:prstGeom prst="rect">
            <a:avLst/>
          </a:prstGeom>
          <a:noFill/>
          <a:ln>
            <a:noFill/>
          </a:ln>
        </p:spPr>
      </p:pic>
      <p:sp>
        <p:nvSpPr>
          <p:cNvPr id="800" name="title"/>
          <p:cNvSpPr txBox="1"/>
          <p:nvPr/>
        </p:nvSpPr>
        <p:spPr>
          <a:xfrm>
            <a:off x="677387" y="692177"/>
            <a:ext cx="10855878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План пилота</a:t>
            </a:r>
          </a:p>
        </p:txBody>
      </p:sp>
      <p:sp>
        <p:nvSpPr>
          <p:cNvPr id="801" name="card_0"/>
          <p:cNvSpPr txBox="1"/>
          <p:nvPr/>
        </p:nvSpPr>
        <p:spPr>
          <a:xfrm>
            <a:off x="806889" y="3427872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Пилот шёл 6 недель на двух командах</a:t>
            </a:r>
          </a:p>
        </p:txBody>
      </p:sp>
      <p:sp>
        <p:nvSpPr>
          <p:cNvPr id="802" name="card_1"/>
          <p:cNvSpPr txBox="1"/>
          <p:nvPr/>
        </p:nvSpPr>
        <p:spPr>
          <a:xfrm>
            <a:off x="4533496" y="3421494"/>
            <a:ext cx="2583926" cy="93754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Собрано 68 презентаций</a:t>
            </a:r>
          </a:p>
        </p:txBody>
      </p:sp>
      <p:sp>
        <p:nvSpPr>
          <p:cNvPr id="803" name="card_2"/>
          <p:cNvSpPr txBox="1"/>
          <p:nvPr/>
        </p:nvSpPr>
        <p:spPr>
          <a:xfrm>
            <a:off x="8264469" y="3425860"/>
            <a:ext cx="2575194" cy="116013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Средняя сборка колоды 4 минуты вместо 186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77875" y="692177"/>
            <a:ext cx="10855391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40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>
                <a:solidFill>
                  <a:srgbClr val="000000"/>
                </a:solidFill>
                <a:latin typeface="Arial"/>
                <a:ea typeface="Arial"/>
                <a:cs typeface="Arial"/>
              </a:rPr>
              <a:t>Что мы просим решить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677875" y="2804310"/>
            <a:ext cx="10855391" cy="1422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40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4000">
                <a:solidFill>
                  <a:srgbClr val="000000"/>
                </a:solidFill>
                <a:latin typeface="Play"/>
                <a:ea typeface="Play"/>
                <a:cs typeface="Play"/>
              </a:rPr>
              <a:t>Принять решение о запуске сервиса на всю компанию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
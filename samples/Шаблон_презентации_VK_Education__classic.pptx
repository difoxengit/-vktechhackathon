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57" r:id="rId10"/>
    <p:sldLayoutId id="2147483659" r:id="rId12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1686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42 колоды за квартал 2026: 186 минут на сборку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53159"/>
            <a:ext cx="50800" cy="212140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2210493" cy="2194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12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12 слайдов в каждой колоде</a:t>
            </a:r>
          </a:p>
        </p:txBody>
      </p:sp>
      <p:sp>
        <p:nvSpPr>
          <p:cNvPr id="5" name="stat_1:bar"/>
          <p:cNvSpPr/>
          <p:nvPr/>
        </p:nvSpPr>
        <p:spPr>
          <a:xfrm>
            <a:off x="3499915" y="2453159"/>
            <a:ext cx="50800" cy="212140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3677715" y="2380007"/>
            <a:ext cx="2210493" cy="2194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74 мин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74 минуты на правки</a:t>
            </a:r>
          </a:p>
        </p:txBody>
      </p:sp>
      <p:sp>
        <p:nvSpPr>
          <p:cNvPr id="7" name="stat_2:bar"/>
          <p:cNvSpPr/>
          <p:nvPr/>
        </p:nvSpPr>
        <p:spPr>
          <a:xfrm>
            <a:off x="6322444" y="2453159"/>
            <a:ext cx="50800" cy="2121408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6500244" y="2380007"/>
            <a:ext cx="2210493" cy="2194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19 из 42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19 из 42 нарушили стиль</a:t>
            </a:r>
          </a:p>
        </p:txBody>
      </p:sp>
      <p:sp>
        <p:nvSpPr>
          <p:cNvPr id="9" name="stat_3:bar"/>
          <p:cNvSpPr/>
          <p:nvPr/>
        </p:nvSpPr>
        <p:spPr>
          <a:xfrm>
            <a:off x="9144972" y="2453159"/>
            <a:ext cx="50800" cy="1593087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3"/>
          <p:cNvSpPr txBox="1"/>
          <p:nvPr/>
        </p:nvSpPr>
        <p:spPr>
          <a:xfrm>
            <a:off x="9322772" y="2380007"/>
            <a:ext cx="2210493" cy="1666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32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186 мин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186 минут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Дизайн-отдел из 4 человек обслуживает 11 запросов в неделю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3079225"/>
            <a:ext cx="50800" cy="194259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969497"/>
            <a:ext cx="3151336" cy="205232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11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 человека обслуживают 11 запросов в неделю</a:t>
            </a:r>
          </a:p>
        </p:txBody>
      </p:sp>
      <p:sp>
        <p:nvSpPr>
          <p:cNvPr id="5" name="stat_1:bar"/>
          <p:cNvSpPr/>
          <p:nvPr/>
        </p:nvSpPr>
        <p:spPr>
          <a:xfrm>
            <a:off x="4440758" y="307922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4618558" y="2969497"/>
            <a:ext cx="3151336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27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27 поступающих запросов</a:t>
            </a:r>
          </a:p>
        </p:txBody>
      </p:sp>
      <p:sp>
        <p:nvSpPr>
          <p:cNvPr id="7" name="stat_2:bar"/>
          <p:cNvSpPr/>
          <p:nvPr/>
        </p:nvSpPr>
        <p:spPr>
          <a:xfrm>
            <a:off x="8204130" y="307922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381930" y="2969497"/>
            <a:ext cx="3151336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дней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Средний срок ожидания 6 дней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автоматической вёрстки: 4 минуты вместо 186</a:t>
            </a:r>
          </a:p>
        </p:txBody>
      </p:sp>
      <p:grpSp>
        <p:nvGrpSpPr>
          <p:cNvPr id="3" name="icon:builtin-layout"/>
          <p:cNvGrpSpPr/>
          <p:nvPr/>
        </p:nvGrpSpPr>
        <p:grpSpPr>
          <a:xfrm>
            <a:off x="750253" y="2452873"/>
            <a:ext cx="437197" cy="437197"/>
            <a:chOff x="750253" y="2452873"/>
            <a:chExt cx="437197" cy="437197"/>
          </a:xfrm>
        </p:grpSpPr>
        <p:sp>
          <p:nvSpPr>
            <p:cNvPr id="4" name="Rounded Rectangle 3"/>
            <p:cNvSpPr/>
            <p:nvPr/>
          </p:nvSpPr>
          <p:spPr>
            <a:xfrm>
              <a:off x="750253" y="2452873"/>
              <a:ext cx="437197" cy="437197"/>
            </a:xfrm>
            <a:prstGeom prst="roundRect">
              <a:avLst>
                <a:gd name="adj" fmla="val 11111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50253" y="2598605"/>
              <a:ext cx="437197" cy="0"/>
            </a:xfrm>
            <a:custGeom>
              <a:avLst/>
              <a:gdLst/>
              <a:ahLst/>
              <a:cxnLst/>
              <a:rect l="l" t="t" r="r" b="b"/>
              <a:pathLst>
                <a:path w="437197" h="0">
                  <a:moveTo>
                    <a:pt x="0" y="0"/>
                  </a:moveTo>
                  <a:lnTo>
                    <a:pt x="43719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95985" y="2598605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0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item_0"/>
          <p:cNvSpPr txBox="1"/>
          <p:nvPr/>
        </p:nvSpPr>
        <p:spPr>
          <a:xfrm>
            <a:off x="1522636" y="2422552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grpSp>
        <p:nvGrpSpPr>
          <p:cNvPr id="8" name="icon:builtin-gears"/>
          <p:cNvGrpSpPr/>
          <p:nvPr/>
        </p:nvGrpSpPr>
        <p:grpSpPr>
          <a:xfrm>
            <a:off x="761183" y="3430416"/>
            <a:ext cx="444484" cy="433312"/>
            <a:chOff x="761183" y="3430416"/>
            <a:chExt cx="444484" cy="433312"/>
          </a:xfrm>
        </p:grpSpPr>
        <p:sp>
          <p:nvSpPr>
            <p:cNvPr id="9" name="Freeform 8"/>
            <p:cNvSpPr/>
            <p:nvPr/>
          </p:nvSpPr>
          <p:spPr>
            <a:xfrm>
              <a:off x="761183" y="3430416"/>
              <a:ext cx="318182" cy="295352"/>
            </a:xfrm>
            <a:custGeom>
              <a:avLst/>
              <a:gdLst/>
              <a:ahLst/>
              <a:cxnLst/>
              <a:rect l="l" t="t" r="r" b="b"/>
              <a:pathLst>
                <a:path w="318182" h="295352">
                  <a:moveTo>
                    <a:pt x="267905" y="122173"/>
                  </a:moveTo>
                  <a:lnTo>
                    <a:pt x="318182" y="127516"/>
                  </a:lnTo>
                  <a:lnTo>
                    <a:pt x="318182" y="167836"/>
                  </a:lnTo>
                  <a:lnTo>
                    <a:pt x="267905" y="173179"/>
                  </a:lnTo>
                  <a:lnTo>
                    <a:pt x="235601" y="229043"/>
                  </a:lnTo>
                  <a:lnTo>
                    <a:pt x="256003" y="275435"/>
                  </a:lnTo>
                  <a:lnTo>
                    <a:pt x="221270" y="295352"/>
                  </a:lnTo>
                  <a:lnTo>
                    <a:pt x="191395" y="254547"/>
                  </a:lnTo>
                  <a:lnTo>
                    <a:pt x="126787" y="254547"/>
                  </a:lnTo>
                  <a:lnTo>
                    <a:pt x="96912" y="295352"/>
                  </a:lnTo>
                  <a:lnTo>
                    <a:pt x="62179" y="275435"/>
                  </a:lnTo>
                  <a:lnTo>
                    <a:pt x="82581" y="229043"/>
                  </a:lnTo>
                  <a:lnTo>
                    <a:pt x="50277" y="173179"/>
                  </a:lnTo>
                  <a:lnTo>
                    <a:pt x="0" y="167836"/>
                  </a:lnTo>
                  <a:lnTo>
                    <a:pt x="0" y="127516"/>
                  </a:lnTo>
                  <a:lnTo>
                    <a:pt x="50277" y="122173"/>
                  </a:lnTo>
                  <a:lnTo>
                    <a:pt x="82581" y="66309"/>
                  </a:lnTo>
                  <a:lnTo>
                    <a:pt x="62179" y="19917"/>
                  </a:lnTo>
                  <a:lnTo>
                    <a:pt x="96912" y="0"/>
                  </a:lnTo>
                  <a:lnTo>
                    <a:pt x="126787" y="40806"/>
                  </a:lnTo>
                  <a:lnTo>
                    <a:pt x="191395" y="40806"/>
                  </a:lnTo>
                  <a:lnTo>
                    <a:pt x="221270" y="0"/>
                  </a:lnTo>
                  <a:lnTo>
                    <a:pt x="256003" y="19917"/>
                  </a:lnTo>
                  <a:lnTo>
                    <a:pt x="235601" y="66309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71697" y="3529515"/>
              <a:ext cx="97155" cy="97155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99698" y="3666746"/>
              <a:ext cx="205969" cy="196982"/>
            </a:xfrm>
            <a:custGeom>
              <a:avLst/>
              <a:gdLst/>
              <a:ahLst/>
              <a:cxnLst/>
              <a:rect l="l" t="t" r="r" b="b"/>
              <a:pathLst>
                <a:path w="205969" h="196982">
                  <a:moveTo>
                    <a:pt x="173179" y="95212"/>
                  </a:moveTo>
                  <a:lnTo>
                    <a:pt x="205969" y="109056"/>
                  </a:lnTo>
                  <a:lnTo>
                    <a:pt x="196739" y="138932"/>
                  </a:lnTo>
                  <a:lnTo>
                    <a:pt x="161763" y="131888"/>
                  </a:lnTo>
                  <a:lnTo>
                    <a:pt x="122901" y="161034"/>
                  </a:lnTo>
                  <a:lnTo>
                    <a:pt x="119987" y="196496"/>
                  </a:lnTo>
                  <a:lnTo>
                    <a:pt x="88411" y="196982"/>
                  </a:lnTo>
                  <a:lnTo>
                    <a:pt x="84525" y="161520"/>
                  </a:lnTo>
                  <a:lnTo>
                    <a:pt x="44692" y="133588"/>
                  </a:lnTo>
                  <a:lnTo>
                    <a:pt x="9959" y="141603"/>
                  </a:lnTo>
                  <a:lnTo>
                    <a:pt x="0" y="111971"/>
                  </a:lnTo>
                  <a:lnTo>
                    <a:pt x="32304" y="97155"/>
                  </a:lnTo>
                  <a:lnTo>
                    <a:pt x="46635" y="50763"/>
                  </a:lnTo>
                  <a:lnTo>
                    <a:pt x="28418" y="20160"/>
                  </a:lnTo>
                  <a:lnTo>
                    <a:pt x="53435" y="1457"/>
                  </a:lnTo>
                  <a:lnTo>
                    <a:pt x="77481" y="27689"/>
                  </a:lnTo>
                  <a:lnTo>
                    <a:pt x="126059" y="26960"/>
                  </a:lnTo>
                  <a:lnTo>
                    <a:pt x="149376" y="0"/>
                  </a:lnTo>
                  <a:lnTo>
                    <a:pt x="175122" y="18217"/>
                  </a:lnTo>
                  <a:lnTo>
                    <a:pt x="157391" y="49306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item_1"/>
          <p:cNvSpPr txBox="1"/>
          <p:nvPr/>
        </p:nvSpPr>
        <p:spPr>
          <a:xfrm>
            <a:off x="1522636" y="3377750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Автоматически строит план колоды</a:t>
            </a:r>
          </a:p>
        </p:txBody>
      </p:sp>
      <p:grpSp>
        <p:nvGrpSpPr>
          <p:cNvPr id="13" name="icon:builtin-search"/>
          <p:cNvGrpSpPr/>
          <p:nvPr/>
        </p:nvGrpSpPr>
        <p:grpSpPr>
          <a:xfrm>
            <a:off x="774542" y="4387557"/>
            <a:ext cx="412908" cy="412908"/>
            <a:chOff x="774542" y="4387557"/>
            <a:chExt cx="412908" cy="412908"/>
          </a:xfrm>
        </p:grpSpPr>
        <p:sp>
          <p:nvSpPr>
            <p:cNvPr id="14" name="Oval 13"/>
            <p:cNvSpPr/>
            <p:nvPr/>
          </p:nvSpPr>
          <p:spPr>
            <a:xfrm>
              <a:off x="774542" y="4387557"/>
              <a:ext cx="340042" cy="340042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70864" y="4683879"/>
              <a:ext cx="116586" cy="116586"/>
            </a:xfrm>
            <a:custGeom>
              <a:avLst/>
              <a:gdLst/>
              <a:ahLst/>
              <a:cxnLst/>
              <a:rect l="l" t="t" r="r" b="b"/>
              <a:pathLst>
                <a:path w="116586" h="116586">
                  <a:moveTo>
                    <a:pt x="0" y="0"/>
                  </a:moveTo>
                  <a:lnTo>
                    <a:pt x="116586" y="116586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item_2"/>
          <p:cNvSpPr txBox="1"/>
          <p:nvPr/>
        </p:nvSpPr>
        <p:spPr>
          <a:xfrm>
            <a:off x="1522636" y="4332947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Встроенный аудит качества</a:t>
            </a:r>
          </a:p>
        </p:txBody>
      </p:sp>
      <p:grpSp>
        <p:nvGrpSpPr>
          <p:cNvPr id="17" name="icon:builtin-download"/>
          <p:cNvGrpSpPr/>
          <p:nvPr/>
        </p:nvGrpSpPr>
        <p:grpSpPr>
          <a:xfrm>
            <a:off x="798830" y="5318466"/>
            <a:ext cx="340043" cy="437197"/>
            <a:chOff x="798830" y="5318466"/>
            <a:chExt cx="340043" cy="437197"/>
          </a:xfrm>
        </p:grpSpPr>
        <p:sp>
          <p:nvSpPr>
            <p:cNvPr id="18" name="Freeform 17"/>
            <p:cNvSpPr/>
            <p:nvPr/>
          </p:nvSpPr>
          <p:spPr>
            <a:xfrm>
              <a:off x="968852" y="5318466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0" h="291465">
                  <a:moveTo>
                    <a:pt x="0" y="0"/>
                  </a:moveTo>
                  <a:lnTo>
                    <a:pt x="0" y="29146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7408" y="5488487"/>
              <a:ext cx="242887" cy="121444"/>
            </a:xfrm>
            <a:custGeom>
              <a:avLst/>
              <a:gdLst/>
              <a:ahLst/>
              <a:cxnLst/>
              <a:rect l="l" t="t" r="r" b="b"/>
              <a:pathLst>
                <a:path w="242887" h="121444">
                  <a:moveTo>
                    <a:pt x="0" y="0"/>
                  </a:moveTo>
                  <a:lnTo>
                    <a:pt x="121444" y="121444"/>
                  </a:lnTo>
                  <a:lnTo>
                    <a:pt x="24288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98830" y="5755663"/>
              <a:ext cx="340043" cy="0"/>
            </a:xfrm>
            <a:custGeom>
              <a:avLst/>
              <a:gdLst/>
              <a:ahLst/>
              <a:cxnLst/>
              <a:rect l="l" t="t" r="r" b="b"/>
              <a:pathLst>
                <a:path w="340043" h="0">
                  <a:moveTo>
                    <a:pt x="0" y="0"/>
                  </a:moveTo>
                  <a:lnTo>
                    <a:pt x="340043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item_3"/>
          <p:cNvSpPr txBox="1"/>
          <p:nvPr/>
        </p:nvSpPr>
        <p:spPr>
          <a:xfrm>
            <a:off x="1522636" y="5288145"/>
            <a:ext cx="10010630" cy="7754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pptx, pdf, html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Слайды остаются редактируемыми без картинок</a:t>
            </a:r>
          </a:p>
        </p:txBody>
      </p:sp>
      <p:grpSp>
        <p:nvGrpSpPr>
          <p:cNvPr id="2" name="icon:builtin-dot"/>
          <p:cNvGrpSpPr/>
          <p:nvPr/>
        </p:nvGrpSpPr>
        <p:grpSpPr>
          <a:xfrm>
            <a:off x="750253" y="2452873"/>
            <a:ext cx="437197" cy="437197"/>
            <a:chOff x="750253" y="2452873"/>
            <a:chExt cx="437197" cy="437197"/>
          </a:xfrm>
        </p:grpSpPr>
        <p:sp>
          <p:nvSpPr>
            <p:cNvPr id="797" name="Oval 796"/>
            <p:cNvSpPr/>
            <p:nvPr/>
          </p:nvSpPr>
          <p:spPr>
            <a:xfrm>
              <a:off x="750253" y="2452873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Oval 797"/>
            <p:cNvSpPr/>
            <p:nvPr/>
          </p:nvSpPr>
          <p:spPr>
            <a:xfrm>
              <a:off x="891128" y="2593748"/>
              <a:ext cx="155447" cy="155447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99" name="item_0"/>
          <p:cNvSpPr txBox="1"/>
          <p:nvPr/>
        </p:nvSpPr>
        <p:spPr>
          <a:xfrm>
            <a:off x="1522636" y="2389532"/>
            <a:ext cx="10010630" cy="17637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Нативные объекты, таблицы, диаграммы, фигуры</a:t>
            </a:r>
          </a:p>
        </p:txBody>
      </p:sp>
      <p:grpSp>
        <p:nvGrpSpPr>
          <p:cNvPr id="3" name="icon:builtin-check"/>
          <p:cNvGrpSpPr/>
          <p:nvPr/>
        </p:nvGrpSpPr>
        <p:grpSpPr>
          <a:xfrm>
            <a:off x="750253" y="4363268"/>
            <a:ext cx="437197" cy="437197"/>
            <a:chOff x="750253" y="4363268"/>
            <a:chExt cx="437197" cy="437197"/>
          </a:xfrm>
        </p:grpSpPr>
        <p:sp>
          <p:nvSpPr>
            <p:cNvPr id="800" name="Oval 799"/>
            <p:cNvSpPr/>
            <p:nvPr/>
          </p:nvSpPr>
          <p:spPr>
            <a:xfrm>
              <a:off x="750253" y="4363268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71697" y="4509000"/>
              <a:ext cx="194310" cy="145733"/>
            </a:xfrm>
            <a:custGeom>
              <a:avLst/>
              <a:gdLst/>
              <a:ahLst/>
              <a:cxnLst/>
              <a:rect l="l" t="t" r="r" b="b"/>
              <a:pathLst>
                <a:path w="194310" h="145733">
                  <a:moveTo>
                    <a:pt x="0" y="72867"/>
                  </a:moveTo>
                  <a:lnTo>
                    <a:pt x="72866" y="145733"/>
                  </a:lnTo>
                  <a:lnTo>
                    <a:pt x="194310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01" name="item_1"/>
          <p:cNvSpPr txBox="1"/>
          <p:nvPr/>
        </p:nvSpPr>
        <p:spPr>
          <a:xfrm>
            <a:off x="1522636" y="4299927"/>
            <a:ext cx="10010630" cy="176370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Готовые страницы с ролями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68 презентаций за 6 недель: 4 минуты на сборку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71447"/>
            <a:ext cx="50800" cy="17018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2210493" cy="1793239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 мин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 минуты на сборку</a:t>
            </a:r>
          </a:p>
        </p:txBody>
      </p:sp>
      <p:sp>
        <p:nvSpPr>
          <p:cNvPr id="5" name="stat_1:bar"/>
          <p:cNvSpPr/>
          <p:nvPr/>
        </p:nvSpPr>
        <p:spPr>
          <a:xfrm>
            <a:off x="3499915" y="2471447"/>
            <a:ext cx="50800" cy="275844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3677715" y="2380007"/>
            <a:ext cx="2210493" cy="28498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 день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до первой версии 1 день</a:t>
            </a:r>
          </a:p>
        </p:txBody>
      </p:sp>
      <p:sp>
        <p:nvSpPr>
          <p:cNvPr id="7" name="stat_2:bar"/>
          <p:cNvSpPr/>
          <p:nvPr/>
        </p:nvSpPr>
        <p:spPr>
          <a:xfrm>
            <a:off x="6322444" y="2471447"/>
            <a:ext cx="50800" cy="223012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6500244" y="2380007"/>
            <a:ext cx="2210493" cy="2321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из 68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Нарушений стиля 2 из 68</a:t>
            </a:r>
          </a:p>
        </p:txBody>
      </p:sp>
      <p:sp>
        <p:nvSpPr>
          <p:cNvPr id="9" name="stat_3:bar"/>
          <p:cNvSpPr/>
          <p:nvPr/>
        </p:nvSpPr>
        <p:spPr>
          <a:xfrm>
            <a:off x="9144972" y="2471447"/>
            <a:ext cx="50800" cy="275844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3"/>
          <p:cNvSpPr txBox="1"/>
          <p:nvPr/>
        </p:nvSpPr>
        <p:spPr>
          <a:xfrm>
            <a:off x="9322772" y="2380007"/>
            <a:ext cx="2210493" cy="28498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38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Дизайнеры закрыли 38 запросов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919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Рутина ушла в сервис</a:t>
            </a:r>
          </a:p>
        </p:txBody>
      </p:sp>
      <p:pic>
        <p:nvPicPr>
          <p:cNvPr id="3" name="icon:3c3121bc83b8f3be382505a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" y="1851687"/>
            <a:ext cx="582930" cy="582930"/>
          </a:xfrm>
          <a:prstGeom prst="rect">
            <a:avLst/>
          </a:prstGeom>
        </p:spPr>
      </p:pic>
      <p:sp>
        <p:nvSpPr>
          <p:cNvPr id="4" name="item_0"/>
          <p:cNvSpPr txBox="1"/>
          <p:nvPr/>
        </p:nvSpPr>
        <p:spPr>
          <a:xfrm>
            <a:off x="1522636" y="1861212"/>
            <a:ext cx="10010630" cy="202786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Дизайнеры сосредоточились на сложных задачах</a:t>
            </a:r>
          </a:p>
        </p:txBody>
      </p:sp>
      <p:pic>
        <p:nvPicPr>
          <p:cNvPr id="5" name="icon:a0e28e5aaf62a386d312b67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87" y="4026242"/>
            <a:ext cx="582930" cy="582930"/>
          </a:xfrm>
          <a:prstGeom prst="rect">
            <a:avLst/>
          </a:prstGeom>
        </p:spPr>
      </p:pic>
      <p:sp>
        <p:nvSpPr>
          <p:cNvPr id="6" name="item_1"/>
          <p:cNvSpPr txBox="1"/>
          <p:nvPr/>
        </p:nvSpPr>
        <p:spPr>
          <a:xfrm>
            <a:off x="1522636" y="4035767"/>
            <a:ext cx="10010630" cy="202786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на правки сократилось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875" y="692177"/>
            <a:ext cx="10855391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Инференс за 6 недель стоит 1 400 рублей</a:t>
            </a:r>
          </a:p>
        </p:txBody>
      </p:sp>
      <p:grpSp>
        <p:nvGrpSpPr>
          <p:cNvPr id="3" name="icon:builtin-server"/>
          <p:cNvGrpSpPr/>
          <p:nvPr/>
        </p:nvGrpSpPr>
        <p:grpSpPr>
          <a:xfrm>
            <a:off x="750741" y="2500657"/>
            <a:ext cx="437197" cy="388619"/>
            <a:chOff x="750741" y="2500657"/>
            <a:chExt cx="437197" cy="388619"/>
          </a:xfrm>
        </p:grpSpPr>
        <p:sp>
          <p:nvSpPr>
            <p:cNvPr id="4" name="Rounded Rectangle 3"/>
            <p:cNvSpPr/>
            <p:nvPr/>
          </p:nvSpPr>
          <p:spPr>
            <a:xfrm>
              <a:off x="750741" y="2500657"/>
              <a:ext cx="437197" cy="170021"/>
            </a:xfrm>
            <a:prstGeom prst="roundRect">
              <a:avLst>
                <a:gd name="adj" fmla="val 28571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50741" y="2719255"/>
              <a:ext cx="437197" cy="170021"/>
            </a:xfrm>
            <a:prstGeom prst="roundRect">
              <a:avLst>
                <a:gd name="adj" fmla="val 28571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821178" y="2558950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21178" y="2777548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item_0"/>
          <p:cNvSpPr txBox="1"/>
          <p:nvPr/>
        </p:nvSpPr>
        <p:spPr>
          <a:xfrm>
            <a:off x="1523123" y="2380007"/>
            <a:ext cx="10010142" cy="17732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на 2 vCPU / 2 GB RAM</a:t>
            </a:r>
          </a:p>
        </p:txBody>
      </p:sp>
      <p:grpSp>
        <p:nvGrpSpPr>
          <p:cNvPr id="9" name="icon:builtin-sparkles"/>
          <p:cNvGrpSpPr/>
          <p:nvPr/>
        </p:nvGrpSpPr>
        <p:grpSpPr>
          <a:xfrm>
            <a:off x="799318" y="4386763"/>
            <a:ext cx="393478" cy="376475"/>
            <a:chOff x="799318" y="4386763"/>
            <a:chExt cx="393478" cy="376475"/>
          </a:xfrm>
        </p:grpSpPr>
        <p:sp>
          <p:nvSpPr>
            <p:cNvPr id="10" name="Freeform 9"/>
            <p:cNvSpPr/>
            <p:nvPr/>
          </p:nvSpPr>
          <p:spPr>
            <a:xfrm>
              <a:off x="799318" y="4386763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5" h="291465">
                  <a:moveTo>
                    <a:pt x="145733" y="0"/>
                  </a:moveTo>
                  <a:lnTo>
                    <a:pt x="150153" y="27373"/>
                  </a:lnTo>
                  <a:lnTo>
                    <a:pt x="156225" y="51298"/>
                  </a:lnTo>
                  <a:lnTo>
                    <a:pt x="164192" y="72016"/>
                  </a:lnTo>
                  <a:lnTo>
                    <a:pt x="174296" y="89771"/>
                  </a:lnTo>
                  <a:lnTo>
                    <a:pt x="186732" y="104733"/>
                  </a:lnTo>
                  <a:lnTo>
                    <a:pt x="201694" y="117169"/>
                  </a:lnTo>
                  <a:lnTo>
                    <a:pt x="219425" y="127249"/>
                  </a:lnTo>
                  <a:lnTo>
                    <a:pt x="240167" y="135240"/>
                  </a:lnTo>
                  <a:lnTo>
                    <a:pt x="264092" y="141336"/>
                  </a:lnTo>
                  <a:lnTo>
                    <a:pt x="291465" y="145732"/>
                  </a:lnTo>
                  <a:lnTo>
                    <a:pt x="264092" y="150153"/>
                  </a:lnTo>
                  <a:lnTo>
                    <a:pt x="240167" y="156225"/>
                  </a:lnTo>
                  <a:lnTo>
                    <a:pt x="219425" y="164192"/>
                  </a:lnTo>
                  <a:lnTo>
                    <a:pt x="201694" y="174296"/>
                  </a:lnTo>
                  <a:lnTo>
                    <a:pt x="186732" y="186732"/>
                  </a:lnTo>
                  <a:lnTo>
                    <a:pt x="174296" y="201694"/>
                  </a:lnTo>
                  <a:lnTo>
                    <a:pt x="164192" y="219424"/>
                  </a:lnTo>
                  <a:lnTo>
                    <a:pt x="156225" y="240167"/>
                  </a:lnTo>
                  <a:lnTo>
                    <a:pt x="150153" y="264116"/>
                  </a:lnTo>
                  <a:lnTo>
                    <a:pt x="145733" y="291465"/>
                  </a:lnTo>
                  <a:lnTo>
                    <a:pt x="141336" y="264116"/>
                  </a:lnTo>
                  <a:lnTo>
                    <a:pt x="135240" y="240167"/>
                  </a:lnTo>
                  <a:lnTo>
                    <a:pt x="127249" y="219424"/>
                  </a:lnTo>
                  <a:lnTo>
                    <a:pt x="117169" y="201694"/>
                  </a:lnTo>
                  <a:lnTo>
                    <a:pt x="104733" y="186732"/>
                  </a:lnTo>
                  <a:lnTo>
                    <a:pt x="89771" y="174296"/>
                  </a:lnTo>
                  <a:lnTo>
                    <a:pt x="72016" y="164216"/>
                  </a:lnTo>
                  <a:lnTo>
                    <a:pt x="51298" y="156225"/>
                  </a:lnTo>
                  <a:lnTo>
                    <a:pt x="27374" y="150129"/>
                  </a:lnTo>
                  <a:lnTo>
                    <a:pt x="0" y="145732"/>
                  </a:lnTo>
                  <a:lnTo>
                    <a:pt x="27374" y="141336"/>
                  </a:lnTo>
                  <a:lnTo>
                    <a:pt x="51298" y="135240"/>
                  </a:lnTo>
                  <a:lnTo>
                    <a:pt x="72016" y="127249"/>
                  </a:lnTo>
                  <a:lnTo>
                    <a:pt x="89771" y="117169"/>
                  </a:lnTo>
                  <a:lnTo>
                    <a:pt x="104733" y="104733"/>
                  </a:lnTo>
                  <a:lnTo>
                    <a:pt x="117169" y="89771"/>
                  </a:lnTo>
                  <a:lnTo>
                    <a:pt x="127249" y="72040"/>
                  </a:lnTo>
                  <a:lnTo>
                    <a:pt x="135240" y="51298"/>
                  </a:lnTo>
                  <a:lnTo>
                    <a:pt x="141336" y="27373"/>
                  </a:lnTo>
                  <a:lnTo>
                    <a:pt x="145733" y="0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085926" y="4653939"/>
              <a:ext cx="106870" cy="109299"/>
            </a:xfrm>
            <a:custGeom>
              <a:avLst/>
              <a:gdLst/>
              <a:ahLst/>
              <a:cxnLst/>
              <a:rect l="l" t="t" r="r" b="b"/>
              <a:pathLst>
                <a:path w="106870" h="109299">
                  <a:moveTo>
                    <a:pt x="53435" y="0"/>
                  </a:moveTo>
                  <a:lnTo>
                    <a:pt x="55184" y="10298"/>
                  </a:lnTo>
                  <a:lnTo>
                    <a:pt x="57588" y="19334"/>
                  </a:lnTo>
                  <a:lnTo>
                    <a:pt x="60697" y="27203"/>
                  </a:lnTo>
                  <a:lnTo>
                    <a:pt x="64559" y="34004"/>
                  </a:lnTo>
                  <a:lnTo>
                    <a:pt x="69222" y="39785"/>
                  </a:lnTo>
                  <a:lnTo>
                    <a:pt x="74760" y="44594"/>
                  </a:lnTo>
                  <a:lnTo>
                    <a:pt x="81245" y="48529"/>
                  </a:lnTo>
                  <a:lnTo>
                    <a:pt x="88726" y="51686"/>
                  </a:lnTo>
                  <a:lnTo>
                    <a:pt x="97252" y="54091"/>
                  </a:lnTo>
                  <a:lnTo>
                    <a:pt x="106870" y="55864"/>
                  </a:lnTo>
                  <a:lnTo>
                    <a:pt x="97252" y="57613"/>
                  </a:lnTo>
                  <a:lnTo>
                    <a:pt x="88726" y="60018"/>
                  </a:lnTo>
                  <a:lnTo>
                    <a:pt x="81245" y="63126"/>
                  </a:lnTo>
                  <a:lnTo>
                    <a:pt x="74760" y="66988"/>
                  </a:lnTo>
                  <a:lnTo>
                    <a:pt x="69222" y="71652"/>
                  </a:lnTo>
                  <a:lnTo>
                    <a:pt x="64559" y="77190"/>
                  </a:lnTo>
                  <a:lnTo>
                    <a:pt x="60697" y="83675"/>
                  </a:lnTo>
                  <a:lnTo>
                    <a:pt x="57588" y="91156"/>
                  </a:lnTo>
                  <a:lnTo>
                    <a:pt x="55184" y="99681"/>
                  </a:lnTo>
                  <a:lnTo>
                    <a:pt x="53435" y="109299"/>
                  </a:lnTo>
                  <a:lnTo>
                    <a:pt x="51686" y="99681"/>
                  </a:lnTo>
                  <a:lnTo>
                    <a:pt x="49281" y="91156"/>
                  </a:lnTo>
                  <a:lnTo>
                    <a:pt x="46172" y="83675"/>
                  </a:lnTo>
                  <a:lnTo>
                    <a:pt x="42311" y="77190"/>
                  </a:lnTo>
                  <a:lnTo>
                    <a:pt x="37647" y="71652"/>
                  </a:lnTo>
                  <a:lnTo>
                    <a:pt x="32109" y="66988"/>
                  </a:lnTo>
                  <a:lnTo>
                    <a:pt x="25624" y="63126"/>
                  </a:lnTo>
                  <a:lnTo>
                    <a:pt x="18143" y="60018"/>
                  </a:lnTo>
                  <a:lnTo>
                    <a:pt x="9618" y="57613"/>
                  </a:lnTo>
                  <a:lnTo>
                    <a:pt x="0" y="55864"/>
                  </a:lnTo>
                  <a:lnTo>
                    <a:pt x="9618" y="54115"/>
                  </a:lnTo>
                  <a:lnTo>
                    <a:pt x="18143" y="51686"/>
                  </a:lnTo>
                  <a:lnTo>
                    <a:pt x="25624" y="48529"/>
                  </a:lnTo>
                  <a:lnTo>
                    <a:pt x="32109" y="44594"/>
                  </a:lnTo>
                  <a:lnTo>
                    <a:pt x="37647" y="39785"/>
                  </a:lnTo>
                  <a:lnTo>
                    <a:pt x="42311" y="34004"/>
                  </a:lnTo>
                  <a:lnTo>
                    <a:pt x="46172" y="27203"/>
                  </a:lnTo>
                  <a:lnTo>
                    <a:pt x="49281" y="19334"/>
                  </a:lnTo>
                  <a:lnTo>
                    <a:pt x="51686" y="10298"/>
                  </a:lnTo>
                  <a:lnTo>
                    <a:pt x="53435" y="0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item_1"/>
          <p:cNvSpPr txBox="1"/>
          <p:nvPr/>
        </p:nvSpPr>
        <p:spPr>
          <a:xfrm>
            <a:off x="1523123" y="4290402"/>
            <a:ext cx="10010142" cy="17732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gpt-oss-20b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риск — нагрузка выше 20 задач</a:t>
            </a:r>
          </a:p>
        </p:txBody>
      </p:sp>
      <p:grpSp>
        <p:nvGrpSpPr>
          <p:cNvPr id="2" name="icon:builtin-search"/>
          <p:cNvGrpSpPr/>
          <p:nvPr/>
        </p:nvGrpSpPr>
        <p:grpSpPr>
          <a:xfrm>
            <a:off x="774542" y="2477162"/>
            <a:ext cx="412908" cy="412908"/>
            <a:chOff x="774542" y="2477162"/>
            <a:chExt cx="412908" cy="412908"/>
          </a:xfrm>
        </p:grpSpPr>
        <p:sp>
          <p:nvSpPr>
            <p:cNvPr id="451" name="Oval 450"/>
            <p:cNvSpPr/>
            <p:nvPr/>
          </p:nvSpPr>
          <p:spPr>
            <a:xfrm>
              <a:off x="774542" y="2477162"/>
              <a:ext cx="340042" cy="340042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1070864" y="2773484"/>
              <a:ext cx="116586" cy="116586"/>
            </a:xfrm>
            <a:custGeom>
              <a:avLst/>
              <a:gdLst/>
              <a:ahLst/>
              <a:cxnLst/>
              <a:rect l="l" t="t" r="r" b="b"/>
              <a:pathLst>
                <a:path w="116586" h="116586">
                  <a:moveTo>
                    <a:pt x="0" y="0"/>
                  </a:moveTo>
                  <a:lnTo>
                    <a:pt x="116586" y="116586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2" name="item_0"/>
          <p:cNvSpPr txBox="1"/>
          <p:nvPr/>
        </p:nvSpPr>
        <p:spPr>
          <a:xfrm>
            <a:off x="1522636" y="2389532"/>
            <a:ext cx="10010630" cy="112691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может выдумать цифры, аудит проверяет</a:t>
            </a:r>
          </a:p>
        </p:txBody>
      </p:sp>
      <p:grpSp>
        <p:nvGrpSpPr>
          <p:cNvPr id="4" name="icon:builtin-question"/>
          <p:cNvGrpSpPr/>
          <p:nvPr/>
        </p:nvGrpSpPr>
        <p:grpSpPr>
          <a:xfrm>
            <a:off x="750253" y="3948085"/>
            <a:ext cx="437197" cy="437197"/>
            <a:chOff x="750253" y="3948085"/>
            <a:chExt cx="437197" cy="437197"/>
          </a:xfrm>
        </p:grpSpPr>
        <p:sp>
          <p:nvSpPr>
            <p:cNvPr id="453" name="Oval 452"/>
            <p:cNvSpPr/>
            <p:nvPr/>
          </p:nvSpPr>
          <p:spPr>
            <a:xfrm>
              <a:off x="750253" y="3948085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908130" y="4044195"/>
              <a:ext cx="121346" cy="158922"/>
            </a:xfrm>
            <a:custGeom>
              <a:avLst/>
              <a:gdLst/>
              <a:ahLst/>
              <a:cxnLst/>
              <a:rect l="l" t="t" r="r" b="b"/>
              <a:pathLst>
                <a:path w="121346" h="158922">
                  <a:moveTo>
                    <a:pt x="0" y="61767"/>
                  </a:moveTo>
                  <a:lnTo>
                    <a:pt x="923" y="50035"/>
                  </a:lnTo>
                  <a:lnTo>
                    <a:pt x="4104" y="38692"/>
                  </a:lnTo>
                  <a:lnTo>
                    <a:pt x="9424" y="28175"/>
                  </a:lnTo>
                  <a:lnTo>
                    <a:pt x="16662" y="18873"/>
                  </a:lnTo>
                  <a:lnTo>
                    <a:pt x="25576" y="11149"/>
                  </a:lnTo>
                  <a:lnTo>
                    <a:pt x="35801" y="5295"/>
                  </a:lnTo>
                  <a:lnTo>
                    <a:pt x="46950" y="1531"/>
                  </a:lnTo>
                  <a:lnTo>
                    <a:pt x="58633" y="0"/>
                  </a:lnTo>
                  <a:lnTo>
                    <a:pt x="70388" y="729"/>
                  </a:lnTo>
                  <a:lnTo>
                    <a:pt x="81780" y="3717"/>
                  </a:lnTo>
                  <a:lnTo>
                    <a:pt x="92370" y="8866"/>
                  </a:lnTo>
                  <a:lnTo>
                    <a:pt x="101794" y="15958"/>
                  </a:lnTo>
                  <a:lnTo>
                    <a:pt x="109639" y="24726"/>
                  </a:lnTo>
                  <a:lnTo>
                    <a:pt x="115663" y="34855"/>
                  </a:lnTo>
                  <a:lnTo>
                    <a:pt x="119622" y="45955"/>
                  </a:lnTo>
                  <a:lnTo>
                    <a:pt x="121346" y="57589"/>
                  </a:lnTo>
                  <a:lnTo>
                    <a:pt x="120812" y="69369"/>
                  </a:lnTo>
                  <a:lnTo>
                    <a:pt x="117994" y="80809"/>
                  </a:lnTo>
                  <a:lnTo>
                    <a:pt x="113039" y="91496"/>
                  </a:lnTo>
                  <a:lnTo>
                    <a:pt x="106093" y="101017"/>
                  </a:lnTo>
                  <a:lnTo>
                    <a:pt x="97470" y="109008"/>
                  </a:lnTo>
                  <a:lnTo>
                    <a:pt x="87439" y="115202"/>
                  </a:lnTo>
                  <a:lnTo>
                    <a:pt x="82557" y="118262"/>
                  </a:lnTo>
                  <a:lnTo>
                    <a:pt x="78137" y="121614"/>
                  </a:lnTo>
                  <a:lnTo>
                    <a:pt x="74177" y="125257"/>
                  </a:lnTo>
                  <a:lnTo>
                    <a:pt x="70680" y="129192"/>
                  </a:lnTo>
                  <a:lnTo>
                    <a:pt x="67717" y="133418"/>
                  </a:lnTo>
                  <a:lnTo>
                    <a:pt x="65239" y="137936"/>
                  </a:lnTo>
                  <a:lnTo>
                    <a:pt x="63272" y="142745"/>
                  </a:lnTo>
                  <a:lnTo>
                    <a:pt x="61863" y="147846"/>
                  </a:lnTo>
                  <a:lnTo>
                    <a:pt x="61013" y="153238"/>
                  </a:lnTo>
                  <a:lnTo>
                    <a:pt x="60722" y="158922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Oval 453"/>
            <p:cNvSpPr/>
            <p:nvPr/>
          </p:nvSpPr>
          <p:spPr>
            <a:xfrm>
              <a:off x="942134" y="4261410"/>
              <a:ext cx="53435" cy="53435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5" name="item_1"/>
          <p:cNvSpPr txBox="1"/>
          <p:nvPr/>
        </p:nvSpPr>
        <p:spPr>
          <a:xfrm>
            <a:off x="1522636" y="3653604"/>
            <a:ext cx="10010630" cy="113643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Неизвестный шаблон может быть плохо сделан, сервис использует рабочую область</a:t>
            </a:r>
          </a:p>
        </p:txBody>
      </p:sp>
      <p:grpSp>
        <p:nvGrpSpPr>
          <p:cNvPr id="6" name="icon:builtin-target"/>
          <p:cNvGrpSpPr/>
          <p:nvPr/>
        </p:nvGrpSpPr>
        <p:grpSpPr>
          <a:xfrm>
            <a:off x="750253" y="5000067"/>
            <a:ext cx="437197" cy="437197"/>
            <a:chOff x="750253" y="5000067"/>
            <a:chExt cx="437197" cy="437197"/>
          </a:xfrm>
        </p:grpSpPr>
        <p:sp>
          <p:nvSpPr>
            <p:cNvPr id="456" name="Oval 455"/>
            <p:cNvSpPr/>
            <p:nvPr/>
          </p:nvSpPr>
          <p:spPr>
            <a:xfrm>
              <a:off x="750253" y="5000067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Oval 456"/>
            <p:cNvSpPr/>
            <p:nvPr/>
          </p:nvSpPr>
          <p:spPr>
            <a:xfrm>
              <a:off x="847408" y="5097222"/>
              <a:ext cx="242887" cy="24288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Oval 457"/>
            <p:cNvSpPr/>
            <p:nvPr/>
          </p:nvSpPr>
          <p:spPr>
            <a:xfrm>
              <a:off x="934847" y="5184661"/>
              <a:ext cx="68008" cy="68008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9" name="item_2"/>
          <p:cNvSpPr txBox="1"/>
          <p:nvPr/>
        </p:nvSpPr>
        <p:spPr>
          <a:xfrm>
            <a:off x="1522636" y="4936726"/>
            <a:ext cx="10010630" cy="112691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919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000000"/>
                </a:solidFill>
                <a:latin typeface="Arial"/>
                <a:ea typeface="Arial"/>
                <a:cs typeface="Arial"/>
              </a:rPr>
              <a:t>3Q 2026 – 4Q 2026 – 1Q 2027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1961415"/>
            <a:ext cx="50800" cy="23388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1851687"/>
            <a:ext cx="3151336" cy="2448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Третий квартал 2026: подключение 4 команд, домен и HTTPS</a:t>
            </a:r>
          </a:p>
        </p:txBody>
      </p:sp>
      <p:sp>
        <p:nvSpPr>
          <p:cNvPr id="5" name="stat_1:bar"/>
          <p:cNvSpPr/>
          <p:nvPr/>
        </p:nvSpPr>
        <p:spPr>
          <a:xfrm>
            <a:off x="4440758" y="1961415"/>
            <a:ext cx="50800" cy="273507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4618558" y="1851687"/>
            <a:ext cx="3151336" cy="284480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Четвёртый квартал 2026: доступ для всей компании, интеграция с хранилищем</a:t>
            </a:r>
          </a:p>
        </p:txBody>
      </p:sp>
      <p:sp>
        <p:nvSpPr>
          <p:cNvPr id="7" name="stat_2:bar"/>
          <p:cNvSpPr/>
          <p:nvPr/>
        </p:nvSpPr>
        <p:spPr>
          <a:xfrm>
            <a:off x="8204130" y="1961415"/>
            <a:ext cx="50800" cy="23388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381930" y="1851687"/>
            <a:ext cx="3151336" cy="2448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2027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Первый квартал 2027: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pic>
        <p:nvPicPr>
          <p:cNvPr id="762" name="Google Shape;76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05070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671513" y="256230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Запрос решения о запуске сервиса на всю компанию</a:t>
            </a:r>
          </a:p>
        </p:txBody>
      </p:sp>
      <p:sp>
        <p:nvSpPr>
          <p:cNvPr id="773" name="card_0"/>
          <p:cNvSpPr txBox="1"/>
          <p:nvPr/>
        </p:nvSpPr>
        <p:spPr>
          <a:xfrm>
            <a:off x="806889" y="3928712"/>
            <a:ext cx="2583926" cy="225195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Решить о полном запуске сервиса</a:t>
            </a:r>
          </a:p>
        </p:txBody>
      </p:sp>
      <p:sp>
        <p:nvSpPr>
          <p:cNvPr id="774" name="card_1"/>
          <p:cNvSpPr txBox="1"/>
          <p:nvPr/>
        </p:nvSpPr>
        <p:spPr>
          <a:xfrm>
            <a:off x="4533496" y="3922334"/>
            <a:ext cx="2583926" cy="225833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Подтвердить план по генерации иллюстраций в 1Q 2027</a:t>
            </a:r>
          </a:p>
        </p:txBody>
      </p:sp>
      <p:sp>
        <p:nvSpPr>
          <p:cNvPr id="775" name="card_2"/>
          <p:cNvSpPr txBox="1"/>
          <p:nvPr/>
        </p:nvSpPr>
        <p:spPr>
          <a:xfrm>
            <a:off x="8264469" y="3926700"/>
            <a:ext cx="2575194" cy="224959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Обеспечить доступ для всех команд</a:t>
            </a:r>
          </a:p>
        </p:txBody>
      </p:sp>
      <p:grpSp>
        <p:nvGrpSpPr>
          <p:cNvPr id="2" name="icon:builtin-rocket"/>
          <p:cNvGrpSpPr/>
          <p:nvPr/>
        </p:nvGrpSpPr>
        <p:grpSpPr>
          <a:xfrm>
            <a:off x="954556" y="2823720"/>
            <a:ext cx="303418" cy="322203"/>
            <a:chOff x="954556" y="2823720"/>
            <a:chExt cx="303418" cy="322203"/>
          </a:xfrm>
        </p:grpSpPr>
        <p:sp>
          <p:nvSpPr>
            <p:cNvPr id="3" name="Freeform 2"/>
            <p:cNvSpPr/>
            <p:nvPr/>
          </p:nvSpPr>
          <p:spPr>
            <a:xfrm>
              <a:off x="1029697" y="2823720"/>
              <a:ext cx="228277" cy="247062"/>
            </a:xfrm>
            <a:custGeom>
              <a:avLst/>
              <a:gdLst/>
              <a:ahLst/>
              <a:cxnLst/>
              <a:rect l="l" t="t" r="r" b="b"/>
              <a:pathLst>
                <a:path w="228277" h="247062">
                  <a:moveTo>
                    <a:pt x="112711" y="21640"/>
                  </a:moveTo>
                  <a:lnTo>
                    <a:pt x="129261" y="13769"/>
                  </a:lnTo>
                  <a:lnTo>
                    <a:pt x="144984" y="7965"/>
                  </a:lnTo>
                  <a:lnTo>
                    <a:pt x="159786" y="3963"/>
                  </a:lnTo>
                  <a:lnTo>
                    <a:pt x="173481" y="1502"/>
                  </a:lnTo>
                  <a:lnTo>
                    <a:pt x="185973" y="263"/>
                  </a:lnTo>
                  <a:lnTo>
                    <a:pt x="197113" y="0"/>
                  </a:lnTo>
                  <a:lnTo>
                    <a:pt x="206749" y="394"/>
                  </a:lnTo>
                  <a:lnTo>
                    <a:pt x="214789" y="1202"/>
                  </a:lnTo>
                  <a:lnTo>
                    <a:pt x="221045" y="2122"/>
                  </a:lnTo>
                  <a:lnTo>
                    <a:pt x="225422" y="2855"/>
                  </a:lnTo>
                  <a:lnTo>
                    <a:pt x="226173" y="7232"/>
                  </a:lnTo>
                  <a:lnTo>
                    <a:pt x="227075" y="13487"/>
                  </a:lnTo>
                  <a:lnTo>
                    <a:pt x="227864" y="21527"/>
                  </a:lnTo>
                  <a:lnTo>
                    <a:pt x="228277" y="31164"/>
                  </a:lnTo>
                  <a:lnTo>
                    <a:pt x="228014" y="42304"/>
                  </a:lnTo>
                  <a:lnTo>
                    <a:pt x="226774" y="54796"/>
                  </a:lnTo>
                  <a:lnTo>
                    <a:pt x="224314" y="68490"/>
                  </a:lnTo>
                  <a:lnTo>
                    <a:pt x="220312" y="83293"/>
                  </a:lnTo>
                  <a:lnTo>
                    <a:pt x="214526" y="99016"/>
                  </a:lnTo>
                  <a:lnTo>
                    <a:pt x="206637" y="115566"/>
                  </a:lnTo>
                  <a:lnTo>
                    <a:pt x="75141" y="247062"/>
                  </a:lnTo>
                  <a:lnTo>
                    <a:pt x="0" y="171922"/>
                  </a:lnTo>
                  <a:close/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973341" y="2920501"/>
              <a:ext cx="131497" cy="75141"/>
            </a:xfrm>
            <a:custGeom>
              <a:avLst/>
              <a:gdLst/>
              <a:ahLst/>
              <a:cxnLst/>
              <a:rect l="l" t="t" r="r" b="b"/>
              <a:pathLst>
                <a:path w="131497" h="75141">
                  <a:moveTo>
                    <a:pt x="56356" y="75141"/>
                  </a:moveTo>
                  <a:lnTo>
                    <a:pt x="0" y="75141"/>
                  </a:lnTo>
                  <a:lnTo>
                    <a:pt x="56356" y="0"/>
                  </a:lnTo>
                  <a:lnTo>
                    <a:pt x="131497" y="0"/>
                  </a:lnTo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104838" y="2995642"/>
              <a:ext cx="75140" cy="131496"/>
            </a:xfrm>
            <a:custGeom>
              <a:avLst/>
              <a:gdLst/>
              <a:ahLst/>
              <a:cxnLst/>
              <a:rect l="l" t="t" r="r" b="b"/>
              <a:pathLst>
                <a:path w="75140" h="131496">
                  <a:moveTo>
                    <a:pt x="0" y="75140"/>
                  </a:moveTo>
                  <a:lnTo>
                    <a:pt x="0" y="131496"/>
                  </a:lnTo>
                  <a:lnTo>
                    <a:pt x="75140" y="75140"/>
                  </a:lnTo>
                  <a:lnTo>
                    <a:pt x="75140" y="0"/>
                  </a:lnTo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Oval 775"/>
            <p:cNvSpPr/>
            <p:nvPr/>
          </p:nvSpPr>
          <p:spPr>
            <a:xfrm>
              <a:off x="1144286" y="2903594"/>
              <a:ext cx="52598" cy="52598"/>
            </a:xfrm>
            <a:prstGeom prst="ellipse">
              <a:avLst/>
            </a:pr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54556" y="3080175"/>
              <a:ext cx="65748" cy="65748"/>
            </a:xfrm>
            <a:custGeom>
              <a:avLst/>
              <a:gdLst/>
              <a:ahLst/>
              <a:cxnLst/>
              <a:rect l="l" t="t" r="r" b="b"/>
              <a:pathLst>
                <a:path w="65748" h="65748">
                  <a:moveTo>
                    <a:pt x="46963" y="0"/>
                  </a:moveTo>
                  <a:lnTo>
                    <a:pt x="38792" y="3362"/>
                  </a:lnTo>
                  <a:lnTo>
                    <a:pt x="31259" y="7739"/>
                  </a:lnTo>
                  <a:lnTo>
                    <a:pt x="24383" y="13018"/>
                  </a:lnTo>
                  <a:lnTo>
                    <a:pt x="18259" y="19085"/>
                  </a:lnTo>
                  <a:lnTo>
                    <a:pt x="12924" y="25829"/>
                  </a:lnTo>
                  <a:lnTo>
                    <a:pt x="8416" y="33137"/>
                  </a:lnTo>
                  <a:lnTo>
                    <a:pt x="4809" y="40895"/>
                  </a:lnTo>
                  <a:lnTo>
                    <a:pt x="2179" y="48991"/>
                  </a:lnTo>
                  <a:lnTo>
                    <a:pt x="564" y="57313"/>
                  </a:lnTo>
                  <a:lnTo>
                    <a:pt x="0" y="65748"/>
                  </a:lnTo>
                  <a:lnTo>
                    <a:pt x="8435" y="65203"/>
                  </a:lnTo>
                  <a:lnTo>
                    <a:pt x="16757" y="63569"/>
                  </a:lnTo>
                  <a:lnTo>
                    <a:pt x="24853" y="60920"/>
                  </a:lnTo>
                  <a:lnTo>
                    <a:pt x="32611" y="57332"/>
                  </a:lnTo>
                  <a:lnTo>
                    <a:pt x="39919" y="52824"/>
                  </a:lnTo>
                  <a:lnTo>
                    <a:pt x="46663" y="47489"/>
                  </a:lnTo>
                  <a:lnTo>
                    <a:pt x="52730" y="41346"/>
                  </a:lnTo>
                  <a:lnTo>
                    <a:pt x="58009" y="34489"/>
                  </a:lnTo>
                  <a:lnTo>
                    <a:pt x="62386" y="26938"/>
                  </a:lnTo>
                  <a:lnTo>
                    <a:pt x="65748" y="18785"/>
                  </a:lnTo>
                </a:path>
              </a:pathLst>
            </a:custGeom>
            <a:noFill/>
            <a:ln w="3757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icon:builtin-next"/>
          <p:cNvGrpSpPr/>
          <p:nvPr/>
        </p:nvGrpSpPr>
        <p:grpSpPr>
          <a:xfrm>
            <a:off x="4649698" y="2826575"/>
            <a:ext cx="338133" cy="338133"/>
            <a:chOff x="4649698" y="2826575"/>
            <a:chExt cx="338133" cy="338133"/>
          </a:xfrm>
        </p:grpSpPr>
        <p:sp>
          <p:nvSpPr>
            <p:cNvPr id="777" name="Oval 776"/>
            <p:cNvSpPr/>
            <p:nvPr/>
          </p:nvSpPr>
          <p:spPr>
            <a:xfrm>
              <a:off x="4649698" y="2826575"/>
              <a:ext cx="338133" cy="338133"/>
            </a:xfrm>
            <a:prstGeom prst="ellipse">
              <a:avLst/>
            </a:prstGeom>
            <a:noFill/>
            <a:ln w="37570" cap="rnd">
              <a:solidFill>
                <a:srgbClr val="FEFE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4743624" y="2995642"/>
              <a:ext cx="150281" cy="0"/>
            </a:xfrm>
            <a:custGeom>
              <a:avLst/>
              <a:gdLst/>
              <a:ahLst/>
              <a:cxnLst/>
              <a:rect l="l" t="t" r="r" b="b"/>
              <a:pathLst>
                <a:path w="150281" h="0">
                  <a:moveTo>
                    <a:pt x="0" y="0"/>
                  </a:moveTo>
                  <a:lnTo>
                    <a:pt x="150281" y="0"/>
                  </a:lnTo>
                </a:path>
              </a:pathLst>
            </a:custGeom>
            <a:noFill/>
            <a:ln w="37570" cap="rnd">
              <a:solidFill>
                <a:srgbClr val="FEFE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4818765" y="2920501"/>
              <a:ext cx="75140" cy="150281"/>
            </a:xfrm>
            <a:custGeom>
              <a:avLst/>
              <a:gdLst/>
              <a:ahLst/>
              <a:cxnLst/>
              <a:rect l="l" t="t" r="r" b="b"/>
              <a:pathLst>
                <a:path w="75140" h="150281">
                  <a:moveTo>
                    <a:pt x="0" y="0"/>
                  </a:moveTo>
                  <a:lnTo>
                    <a:pt x="75140" y="75141"/>
                  </a:lnTo>
                  <a:lnTo>
                    <a:pt x="0" y="150281"/>
                  </a:lnTo>
                </a:path>
              </a:pathLst>
            </a:custGeom>
            <a:noFill/>
            <a:ln w="37570" cap="rnd">
              <a:solidFill>
                <a:srgbClr val="FEFEF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icon:builtin-lock"/>
          <p:cNvGrpSpPr/>
          <p:nvPr/>
        </p:nvGrpSpPr>
        <p:grpSpPr>
          <a:xfrm>
            <a:off x="8401317" y="2828770"/>
            <a:ext cx="262992" cy="338132"/>
            <a:chOff x="8401317" y="2828770"/>
            <a:chExt cx="262992" cy="338132"/>
          </a:xfrm>
        </p:grpSpPr>
        <p:sp>
          <p:nvSpPr>
            <p:cNvPr id="778" name="Rounded Rectangle 777"/>
            <p:cNvSpPr/>
            <p:nvPr/>
          </p:nvSpPr>
          <p:spPr>
            <a:xfrm>
              <a:off x="8401317" y="2979051"/>
              <a:ext cx="262992" cy="187851"/>
            </a:xfrm>
            <a:prstGeom prst="roundRect">
              <a:avLst>
                <a:gd name="adj" fmla="val 20000"/>
              </a:avLst>
            </a:pr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457673" y="2828770"/>
              <a:ext cx="150281" cy="150281"/>
            </a:xfrm>
            <a:custGeom>
              <a:avLst/>
              <a:gdLst/>
              <a:ahLst/>
              <a:cxnLst/>
              <a:rect l="l" t="t" r="r" b="b"/>
              <a:pathLst>
                <a:path w="150281" h="150281">
                  <a:moveTo>
                    <a:pt x="0" y="150281"/>
                  </a:moveTo>
                  <a:lnTo>
                    <a:pt x="0" y="75141"/>
                  </a:lnTo>
                  <a:lnTo>
                    <a:pt x="1446" y="60488"/>
                  </a:lnTo>
                  <a:lnTo>
                    <a:pt x="5711" y="46381"/>
                  </a:lnTo>
                  <a:lnTo>
                    <a:pt x="12661" y="33400"/>
                  </a:lnTo>
                  <a:lnTo>
                    <a:pt x="22016" y="22016"/>
                  </a:lnTo>
                  <a:lnTo>
                    <a:pt x="33400" y="12661"/>
                  </a:lnTo>
                  <a:lnTo>
                    <a:pt x="46380" y="5711"/>
                  </a:lnTo>
                  <a:lnTo>
                    <a:pt x="60488" y="1446"/>
                  </a:lnTo>
                  <a:lnTo>
                    <a:pt x="75141" y="0"/>
                  </a:lnTo>
                  <a:lnTo>
                    <a:pt x="89793" y="1446"/>
                  </a:lnTo>
                  <a:lnTo>
                    <a:pt x="103901" y="5711"/>
                  </a:lnTo>
                  <a:lnTo>
                    <a:pt x="116881" y="12661"/>
                  </a:lnTo>
                  <a:lnTo>
                    <a:pt x="128265" y="22016"/>
                  </a:lnTo>
                  <a:lnTo>
                    <a:pt x="137620" y="33400"/>
                  </a:lnTo>
                  <a:lnTo>
                    <a:pt x="144570" y="46381"/>
                  </a:lnTo>
                  <a:lnTo>
                    <a:pt x="148835" y="60488"/>
                  </a:lnTo>
                  <a:lnTo>
                    <a:pt x="150281" y="75141"/>
                  </a:lnTo>
                  <a:lnTo>
                    <a:pt x="150281" y="150281"/>
                  </a:lnTo>
                </a:path>
              </a:pathLst>
            </a:custGeom>
            <a:noFill/>
            <a:ln w="37570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692177"/>
            <a:ext cx="5242438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 повышает эффективность компании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8855" y="2115847"/>
            <a:ext cx="5242438" cy="352670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повышает эффективность дизайнеров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Сокращение времени сборки ускоряет коммуникацию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Уменьшение ошибок стиля снижает риск недовольства заказчиков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
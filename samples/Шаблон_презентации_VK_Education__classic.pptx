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Текущий процесс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 (мин),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 закрыты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Текущий процесс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38.0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Запросы закрыты,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6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2.xml"/><Relationship Id="rId18" Type="http://schemas.openxmlformats.org/officeDocument/2006/relationships/slideLayout" Target="../slideLayouts/slideLayout1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3" r:id="rId6"/>
    <p:sldLayoutId id="2147483657" r:id="rId10"/>
    <p:sldLayoutId id="2147483659" r:id="rId12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7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22279" y="2598016"/>
            <a:ext cx="7535387" cy="166196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Защита инициативы: сервис автоматической вёрстки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Контекст и возможность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83080"/>
            <a:ext cx="10855878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одной презентации занимает 186 мин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 уходит на правки после ревью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77387" y="3295650"/>
          <a:ext cx="10855878" cy="290514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grpSp>
        <p:nvGrpSpPr>
          <p:cNvPr id="3" name="icon:builtin-layout"/>
          <p:cNvGrpSpPr/>
          <p:nvPr/>
        </p:nvGrpSpPr>
        <p:grpSpPr>
          <a:xfrm>
            <a:off x="750253" y="1855946"/>
            <a:ext cx="437197" cy="437197"/>
            <a:chOff x="750253" y="1855946"/>
            <a:chExt cx="437197" cy="437197"/>
          </a:xfrm>
        </p:grpSpPr>
        <p:sp>
          <p:nvSpPr>
            <p:cNvPr id="4" name="Rounded Rectangle 3"/>
            <p:cNvSpPr/>
            <p:nvPr/>
          </p:nvSpPr>
          <p:spPr>
            <a:xfrm>
              <a:off x="750253" y="1855946"/>
              <a:ext cx="437197" cy="437197"/>
            </a:xfrm>
            <a:prstGeom prst="roundRect">
              <a:avLst>
                <a:gd name="adj" fmla="val 11111"/>
              </a:avLst>
            </a:pr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Freeform 4"/>
            <p:cNvSpPr/>
            <p:nvPr/>
          </p:nvSpPr>
          <p:spPr>
            <a:xfrm>
              <a:off x="750253" y="2001678"/>
              <a:ext cx="437197" cy="0"/>
            </a:xfrm>
            <a:custGeom>
              <a:avLst/>
              <a:gdLst/>
              <a:ahLst/>
              <a:cxnLst/>
              <a:rect l="l" t="t" r="r" b="b"/>
              <a:pathLst>
                <a:path w="437197" h="0">
                  <a:moveTo>
                    <a:pt x="0" y="0"/>
                  </a:moveTo>
                  <a:lnTo>
                    <a:pt x="437197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895985" y="2001678"/>
              <a:ext cx="0" cy="291465"/>
            </a:xfrm>
            <a:custGeom>
              <a:avLst/>
              <a:gdLst/>
              <a:ahLst/>
              <a:cxnLst/>
              <a:rect l="l" t="t" r="r" b="b"/>
              <a:pathLst>
                <a:path w="0" h="291465">
                  <a:moveTo>
                    <a:pt x="0" y="0"/>
                  </a:moveTo>
                  <a:lnTo>
                    <a:pt x="0" y="291465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" name="item_0"/>
          <p:cNvSpPr txBox="1"/>
          <p:nvPr/>
        </p:nvSpPr>
        <p:spPr>
          <a:xfrm>
            <a:off x="1522636" y="1792605"/>
            <a:ext cx="10010630" cy="132588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принимает шаблон pptx и материалы</a:t>
            </a:r>
          </a:p>
        </p:txBody>
      </p:sp>
      <p:grpSp>
        <p:nvGrpSpPr>
          <p:cNvPr id="8" name="icon:builtin-presentation"/>
          <p:cNvGrpSpPr/>
          <p:nvPr/>
        </p:nvGrpSpPr>
        <p:grpSpPr>
          <a:xfrm>
            <a:off x="750253" y="3352807"/>
            <a:ext cx="437197" cy="388620"/>
            <a:chOff x="750253" y="3352807"/>
            <a:chExt cx="437197" cy="388620"/>
          </a:xfrm>
        </p:grpSpPr>
        <p:sp>
          <p:nvSpPr>
            <p:cNvPr id="9" name="Rounded Rectangle 8"/>
            <p:cNvSpPr/>
            <p:nvPr/>
          </p:nvSpPr>
          <p:spPr>
            <a:xfrm>
              <a:off x="750253" y="3352807"/>
              <a:ext cx="437197" cy="291465"/>
            </a:xfrm>
            <a:prstGeom prst="roundRect">
              <a:avLst>
                <a:gd name="adj" fmla="val 12500"/>
              </a:avLst>
            </a:pr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968852" y="3644272"/>
              <a:ext cx="0" cy="97155"/>
            </a:xfrm>
            <a:custGeom>
              <a:avLst/>
              <a:gdLst/>
              <a:ahLst/>
              <a:cxnLst/>
              <a:rect l="l" t="t" r="r" b="b"/>
              <a:pathLst>
                <a:path w="0" h="97155">
                  <a:moveTo>
                    <a:pt x="0" y="0"/>
                  </a:moveTo>
                  <a:lnTo>
                    <a:pt x="0" y="97155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71697" y="3741427"/>
              <a:ext cx="194310" cy="0"/>
            </a:xfrm>
            <a:custGeom>
              <a:avLst/>
              <a:gdLst/>
              <a:ahLst/>
              <a:cxnLst/>
              <a:rect l="l" t="t" r="r" b="b"/>
              <a:pathLst>
                <a:path w="194310" h="0">
                  <a:moveTo>
                    <a:pt x="0" y="0"/>
                  </a:moveTo>
                  <a:lnTo>
                    <a:pt x="194310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847408" y="3425673"/>
              <a:ext cx="242887" cy="121444"/>
            </a:xfrm>
            <a:custGeom>
              <a:avLst/>
              <a:gdLst/>
              <a:ahLst/>
              <a:cxnLst/>
              <a:rect l="l" t="t" r="r" b="b"/>
              <a:pathLst>
                <a:path w="242887" h="121444">
                  <a:moveTo>
                    <a:pt x="0" y="121444"/>
                  </a:moveTo>
                  <a:lnTo>
                    <a:pt x="72866" y="48577"/>
                  </a:lnTo>
                  <a:lnTo>
                    <a:pt x="145732" y="97155"/>
                  </a:lnTo>
                  <a:lnTo>
                    <a:pt x="242887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item_1"/>
          <p:cNvSpPr txBox="1"/>
          <p:nvPr/>
        </p:nvSpPr>
        <p:spPr>
          <a:xfrm>
            <a:off x="1522636" y="3265177"/>
            <a:ext cx="10010630" cy="132588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Генерирует колоду по дизайн-системе и аудиту</a:t>
            </a:r>
          </a:p>
        </p:txBody>
      </p:sp>
      <p:grpSp>
        <p:nvGrpSpPr>
          <p:cNvPr id="14" name="icon:builtin-download"/>
          <p:cNvGrpSpPr/>
          <p:nvPr/>
        </p:nvGrpSpPr>
        <p:grpSpPr>
          <a:xfrm>
            <a:off x="798830" y="5022706"/>
            <a:ext cx="340043" cy="437197"/>
            <a:chOff x="798830" y="5022706"/>
            <a:chExt cx="340043" cy="437197"/>
          </a:xfrm>
        </p:grpSpPr>
        <p:sp>
          <p:nvSpPr>
            <p:cNvPr id="15" name="Freeform 14"/>
            <p:cNvSpPr/>
            <p:nvPr/>
          </p:nvSpPr>
          <p:spPr>
            <a:xfrm>
              <a:off x="968852" y="5022706"/>
              <a:ext cx="0" cy="291465"/>
            </a:xfrm>
            <a:custGeom>
              <a:avLst/>
              <a:gdLst/>
              <a:ahLst/>
              <a:cxnLst/>
              <a:rect l="l" t="t" r="r" b="b"/>
              <a:pathLst>
                <a:path w="0" h="291465">
                  <a:moveTo>
                    <a:pt x="0" y="0"/>
                  </a:moveTo>
                  <a:lnTo>
                    <a:pt x="0" y="291465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847408" y="5192727"/>
              <a:ext cx="242887" cy="121444"/>
            </a:xfrm>
            <a:custGeom>
              <a:avLst/>
              <a:gdLst/>
              <a:ahLst/>
              <a:cxnLst/>
              <a:rect l="l" t="t" r="r" b="b"/>
              <a:pathLst>
                <a:path w="242887" h="121444">
                  <a:moveTo>
                    <a:pt x="0" y="0"/>
                  </a:moveTo>
                  <a:lnTo>
                    <a:pt x="121444" y="121444"/>
                  </a:lnTo>
                  <a:lnTo>
                    <a:pt x="242887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798830" y="5459903"/>
              <a:ext cx="340043" cy="0"/>
            </a:xfrm>
            <a:custGeom>
              <a:avLst/>
              <a:gdLst/>
              <a:ahLst/>
              <a:cxnLst/>
              <a:rect l="l" t="t" r="r" b="b"/>
              <a:pathLst>
                <a:path w="340043" h="0">
                  <a:moveTo>
                    <a:pt x="0" y="0"/>
                  </a:moveTo>
                  <a:lnTo>
                    <a:pt x="340043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8" name="item_2"/>
          <p:cNvSpPr txBox="1"/>
          <p:nvPr/>
        </p:nvSpPr>
        <p:spPr>
          <a:xfrm>
            <a:off x="1522636" y="4728225"/>
            <a:ext cx="10010630" cy="13354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Экспорт в pptx, pdf, html с редактируемыми слайдами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83080"/>
            <a:ext cx="10855878" cy="1737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колоды 4 мин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стиля 2 из 68 колод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77387" y="3691890"/>
          <a:ext cx="10855878" cy="250890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потребуется: ресурсы и сроки</a:t>
            </a:r>
          </a:p>
        </p:txBody>
      </p:sp>
      <p:sp>
        <p:nvSpPr>
          <p:cNvPr id="3" name="stat_0:bar"/>
          <p:cNvSpPr/>
          <p:nvPr/>
        </p:nvSpPr>
        <p:spPr>
          <a:xfrm>
            <a:off x="677387" y="1892808"/>
            <a:ext cx="50800" cy="233883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_0"/>
          <p:cNvSpPr txBox="1"/>
          <p:nvPr/>
        </p:nvSpPr>
        <p:spPr>
          <a:xfrm>
            <a:off x="855187" y="1783080"/>
            <a:ext cx="3151336" cy="24485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 vCPU</a:t>
            </a:r>
          </a:p>
          <a:p>
            <a:pPr>
              <a:spcAft>
                <a:spcPts val="300"/>
              </a:spcAft>
              <a:defRPr sz="3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работает на 2 vCPU / 2 GB RAM</a:t>
            </a:r>
          </a:p>
        </p:txBody>
      </p:sp>
      <p:sp>
        <p:nvSpPr>
          <p:cNvPr id="5" name="stat_1:bar"/>
          <p:cNvSpPr/>
          <p:nvPr/>
        </p:nvSpPr>
        <p:spPr>
          <a:xfrm>
            <a:off x="4440758" y="1892808"/>
            <a:ext cx="50800" cy="286715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at_1"/>
          <p:cNvSpPr txBox="1"/>
          <p:nvPr/>
        </p:nvSpPr>
        <p:spPr>
          <a:xfrm>
            <a:off x="4618558" y="1783080"/>
            <a:ext cx="3151336" cy="29768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6 нед.</a:t>
            </a:r>
          </a:p>
          <a:p>
            <a:pPr>
              <a:spcAft>
                <a:spcPts val="300"/>
              </a:spcAft>
              <a:defRPr sz="3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Инференс за 6 недель пилота стоит 1 400 руб</a:t>
            </a:r>
          </a:p>
        </p:txBody>
      </p:sp>
      <p:sp>
        <p:nvSpPr>
          <p:cNvPr id="7" name="stat_2:bar"/>
          <p:cNvSpPr/>
          <p:nvPr/>
        </p:nvSpPr>
        <p:spPr>
          <a:xfrm>
            <a:off x="8204130" y="1892808"/>
            <a:ext cx="50800" cy="286715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_2"/>
          <p:cNvSpPr txBox="1"/>
          <p:nvPr/>
        </p:nvSpPr>
        <p:spPr>
          <a:xfrm>
            <a:off x="8381930" y="1783080"/>
            <a:ext cx="3151336" cy="29768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20</a:t>
            </a:r>
          </a:p>
          <a:p>
            <a:pPr>
              <a:spcAft>
                <a:spcPts val="300"/>
              </a:spcAft>
              <a:defRPr sz="3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пилота</a:t>
            </a:r>
          </a:p>
        </p:txBody>
      </p:sp>
      <p:sp>
        <p:nvSpPr>
          <p:cNvPr id="797" name="body"/>
          <p:cNvSpPr txBox="1"/>
          <p:nvPr/>
        </p:nvSpPr>
        <p:spPr>
          <a:xfrm>
            <a:off x="677387" y="1783080"/>
            <a:ext cx="10855878" cy="944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6 недель на двух командах, 68 презентаций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4 мин, 1 день до первой версии, 2 нарушения стиля</a:t>
            </a:r>
          </a:p>
        </p:txBody>
      </p:sp>
      <p:graphicFrame>
        <p:nvGraphicFramePr>
          <p:cNvPr id="798" name="Table 797"/>
          <p:cNvGraphicFramePr>
            <a:graphicFrameLocks noGrp="1"/>
          </p:cNvGraphicFramePr>
          <p:nvPr/>
        </p:nvGraphicFramePr>
        <p:xfrm>
          <a:off x="677387" y="2899410"/>
          <a:ext cx="10855878" cy="33013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8626"/>
                <a:gridCol w="3618626"/>
                <a:gridCol w="3618626"/>
              </a:tblGrid>
              <a:tr h="66027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Текущий процесс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66027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сборки (мин)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027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до первой версии (дней)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027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19/42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2/68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0279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 закрыты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38/нед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Риски</a:t>
            </a:r>
          </a:p>
        </p:txBody>
      </p:sp>
      <p:grpSp>
        <p:nvGrpSpPr>
          <p:cNvPr id="3" name="icon:builtin-alert"/>
          <p:cNvGrpSpPr/>
          <p:nvPr/>
        </p:nvGrpSpPr>
        <p:grpSpPr>
          <a:xfrm>
            <a:off x="734076" y="2086353"/>
            <a:ext cx="469551" cy="428405"/>
            <a:chOff x="734076" y="2086353"/>
            <a:chExt cx="469551" cy="428405"/>
          </a:xfrm>
        </p:grpSpPr>
        <p:sp>
          <p:nvSpPr>
            <p:cNvPr id="4" name="Freeform 3"/>
            <p:cNvSpPr/>
            <p:nvPr/>
          </p:nvSpPr>
          <p:spPr>
            <a:xfrm>
              <a:off x="734076" y="2086353"/>
              <a:ext cx="469551" cy="428405"/>
            </a:xfrm>
            <a:custGeom>
              <a:avLst/>
              <a:gdLst/>
              <a:ahLst/>
              <a:cxnLst/>
              <a:rect l="l" t="t" r="r" b="b"/>
              <a:pathLst>
                <a:path w="469551" h="428405">
                  <a:moveTo>
                    <a:pt x="193485" y="22783"/>
                  </a:moveTo>
                  <a:lnTo>
                    <a:pt x="6461" y="355539"/>
                  </a:lnTo>
                  <a:lnTo>
                    <a:pt x="2648" y="363870"/>
                  </a:lnTo>
                  <a:lnTo>
                    <a:pt x="462" y="372784"/>
                  </a:lnTo>
                  <a:lnTo>
                    <a:pt x="0" y="381941"/>
                  </a:lnTo>
                  <a:lnTo>
                    <a:pt x="1263" y="391001"/>
                  </a:lnTo>
                  <a:lnTo>
                    <a:pt x="4202" y="399696"/>
                  </a:lnTo>
                  <a:lnTo>
                    <a:pt x="8720" y="407663"/>
                  </a:lnTo>
                  <a:lnTo>
                    <a:pt x="14647" y="414658"/>
                  </a:lnTo>
                  <a:lnTo>
                    <a:pt x="21787" y="420390"/>
                  </a:lnTo>
                  <a:lnTo>
                    <a:pt x="29876" y="424689"/>
                  </a:lnTo>
                  <a:lnTo>
                    <a:pt x="38644" y="427385"/>
                  </a:lnTo>
                  <a:lnTo>
                    <a:pt x="47752" y="428405"/>
                  </a:lnTo>
                  <a:lnTo>
                    <a:pt x="421799" y="428405"/>
                  </a:lnTo>
                  <a:lnTo>
                    <a:pt x="430907" y="427385"/>
                  </a:lnTo>
                  <a:lnTo>
                    <a:pt x="439675" y="424689"/>
                  </a:lnTo>
                  <a:lnTo>
                    <a:pt x="447764" y="420390"/>
                  </a:lnTo>
                  <a:lnTo>
                    <a:pt x="454904" y="414658"/>
                  </a:lnTo>
                  <a:lnTo>
                    <a:pt x="460831" y="407663"/>
                  </a:lnTo>
                  <a:lnTo>
                    <a:pt x="465349" y="399696"/>
                  </a:lnTo>
                  <a:lnTo>
                    <a:pt x="468288" y="391001"/>
                  </a:lnTo>
                  <a:lnTo>
                    <a:pt x="469551" y="381941"/>
                  </a:lnTo>
                  <a:lnTo>
                    <a:pt x="469089" y="372784"/>
                  </a:lnTo>
                  <a:lnTo>
                    <a:pt x="466903" y="363870"/>
                  </a:lnTo>
                  <a:lnTo>
                    <a:pt x="463090" y="355539"/>
                  </a:lnTo>
                  <a:lnTo>
                    <a:pt x="276066" y="22783"/>
                  </a:lnTo>
                  <a:lnTo>
                    <a:pt x="270674" y="15642"/>
                  </a:lnTo>
                  <a:lnTo>
                    <a:pt x="264043" y="9594"/>
                  </a:lnTo>
                  <a:lnTo>
                    <a:pt x="256417" y="4882"/>
                  </a:lnTo>
                  <a:lnTo>
                    <a:pt x="248061" y="1652"/>
                  </a:lnTo>
                  <a:lnTo>
                    <a:pt x="239245" y="0"/>
                  </a:lnTo>
                  <a:lnTo>
                    <a:pt x="230306" y="0"/>
                  </a:lnTo>
                  <a:lnTo>
                    <a:pt x="221490" y="1652"/>
                  </a:lnTo>
                  <a:lnTo>
                    <a:pt x="213134" y="4882"/>
                  </a:lnTo>
                  <a:lnTo>
                    <a:pt x="205508" y="9594"/>
                  </a:lnTo>
                  <a:lnTo>
                    <a:pt x="198877" y="15642"/>
                  </a:lnTo>
                  <a:lnTo>
                    <a:pt x="193485" y="22783"/>
                  </a:lnTo>
                  <a:close/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Freeform 4"/>
            <p:cNvSpPr/>
            <p:nvPr/>
          </p:nvSpPr>
          <p:spPr>
            <a:xfrm>
              <a:off x="968852" y="2235438"/>
              <a:ext cx="0" cy="97155"/>
            </a:xfrm>
            <a:custGeom>
              <a:avLst/>
              <a:gdLst/>
              <a:ahLst/>
              <a:cxnLst/>
              <a:rect l="l" t="t" r="r" b="b"/>
              <a:pathLst>
                <a:path w="0" h="97155">
                  <a:moveTo>
                    <a:pt x="0" y="0"/>
                  </a:moveTo>
                  <a:lnTo>
                    <a:pt x="0" y="97155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942134" y="2390886"/>
              <a:ext cx="53435" cy="53435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" name="item_0"/>
          <p:cNvSpPr txBox="1"/>
          <p:nvPr/>
        </p:nvSpPr>
        <p:spPr>
          <a:xfrm>
            <a:off x="1522636" y="1783080"/>
            <a:ext cx="10010630" cy="13354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Слабая модель может выдумать неподтверждённые цифры</a:t>
            </a:r>
          </a:p>
        </p:txBody>
      </p:sp>
      <p:grpSp>
        <p:nvGrpSpPr>
          <p:cNvPr id="8" name="icon:builtin-shield"/>
          <p:cNvGrpSpPr/>
          <p:nvPr/>
        </p:nvGrpSpPr>
        <p:grpSpPr>
          <a:xfrm>
            <a:off x="798830" y="3328518"/>
            <a:ext cx="340043" cy="437197"/>
            <a:chOff x="798830" y="3328518"/>
            <a:chExt cx="340043" cy="437197"/>
          </a:xfrm>
        </p:grpSpPr>
        <p:sp>
          <p:nvSpPr>
            <p:cNvPr id="9" name="Freeform 8"/>
            <p:cNvSpPr/>
            <p:nvPr/>
          </p:nvSpPr>
          <p:spPr>
            <a:xfrm>
              <a:off x="798830" y="3328518"/>
              <a:ext cx="340043" cy="437197"/>
            </a:xfrm>
            <a:custGeom>
              <a:avLst/>
              <a:gdLst/>
              <a:ahLst/>
              <a:cxnLst/>
              <a:rect l="l" t="t" r="r" b="b"/>
              <a:pathLst>
                <a:path w="340043" h="437197">
                  <a:moveTo>
                    <a:pt x="170022" y="0"/>
                  </a:moveTo>
                  <a:lnTo>
                    <a:pt x="340043" y="72866"/>
                  </a:lnTo>
                  <a:lnTo>
                    <a:pt x="340043" y="194310"/>
                  </a:lnTo>
                  <a:lnTo>
                    <a:pt x="337905" y="226687"/>
                  </a:lnTo>
                  <a:lnTo>
                    <a:pt x="331687" y="258043"/>
                  </a:lnTo>
                  <a:lnTo>
                    <a:pt x="321680" y="288089"/>
                  </a:lnTo>
                  <a:lnTo>
                    <a:pt x="308176" y="316531"/>
                  </a:lnTo>
                  <a:lnTo>
                    <a:pt x="291465" y="343078"/>
                  </a:lnTo>
                  <a:lnTo>
                    <a:pt x="271840" y="367440"/>
                  </a:lnTo>
                  <a:lnTo>
                    <a:pt x="249591" y="389324"/>
                  </a:lnTo>
                  <a:lnTo>
                    <a:pt x="225011" y="408439"/>
                  </a:lnTo>
                  <a:lnTo>
                    <a:pt x="198391" y="424494"/>
                  </a:lnTo>
                  <a:lnTo>
                    <a:pt x="170022" y="437197"/>
                  </a:lnTo>
                  <a:lnTo>
                    <a:pt x="141652" y="424494"/>
                  </a:lnTo>
                  <a:lnTo>
                    <a:pt x="115032" y="408439"/>
                  </a:lnTo>
                  <a:lnTo>
                    <a:pt x="90452" y="389324"/>
                  </a:lnTo>
                  <a:lnTo>
                    <a:pt x="68203" y="367440"/>
                  </a:lnTo>
                  <a:lnTo>
                    <a:pt x="48578" y="343078"/>
                  </a:lnTo>
                  <a:lnTo>
                    <a:pt x="31867" y="316531"/>
                  </a:lnTo>
                  <a:lnTo>
                    <a:pt x="18363" y="288089"/>
                  </a:lnTo>
                  <a:lnTo>
                    <a:pt x="8356" y="258043"/>
                  </a:lnTo>
                  <a:lnTo>
                    <a:pt x="2138" y="226687"/>
                  </a:lnTo>
                  <a:lnTo>
                    <a:pt x="0" y="194310"/>
                  </a:lnTo>
                  <a:lnTo>
                    <a:pt x="0" y="72866"/>
                  </a:lnTo>
                  <a:close/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95985" y="3498539"/>
              <a:ext cx="145733" cy="97155"/>
            </a:xfrm>
            <a:custGeom>
              <a:avLst/>
              <a:gdLst/>
              <a:ahLst/>
              <a:cxnLst/>
              <a:rect l="l" t="t" r="r" b="b"/>
              <a:pathLst>
                <a:path w="145733" h="97155">
                  <a:moveTo>
                    <a:pt x="0" y="48578"/>
                  </a:moveTo>
                  <a:lnTo>
                    <a:pt x="48578" y="97155"/>
                  </a:lnTo>
                  <a:lnTo>
                    <a:pt x="145733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1" name="item_1"/>
          <p:cNvSpPr txBox="1"/>
          <p:nvPr/>
        </p:nvSpPr>
        <p:spPr>
          <a:xfrm>
            <a:off x="1522636" y="3265177"/>
            <a:ext cx="10010630" cy="132588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Некачественный шаблон приводит к ошибкам стиля</a:t>
            </a:r>
          </a:p>
        </p:txBody>
      </p:sp>
      <p:grpSp>
        <p:nvGrpSpPr>
          <p:cNvPr id="12" name="icon:builtin-target"/>
          <p:cNvGrpSpPr/>
          <p:nvPr/>
        </p:nvGrpSpPr>
        <p:grpSpPr>
          <a:xfrm>
            <a:off x="750253" y="4801091"/>
            <a:ext cx="437197" cy="437197"/>
            <a:chOff x="750253" y="4801091"/>
            <a:chExt cx="437197" cy="437197"/>
          </a:xfrm>
        </p:grpSpPr>
        <p:sp>
          <p:nvSpPr>
            <p:cNvPr id="13" name="Oval 12"/>
            <p:cNvSpPr/>
            <p:nvPr/>
          </p:nvSpPr>
          <p:spPr>
            <a:xfrm>
              <a:off x="750253" y="4801091"/>
              <a:ext cx="437197" cy="437197"/>
            </a:xfrm>
            <a:prstGeom prst="ellipse">
              <a:avLst/>
            </a:pr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847408" y="4898246"/>
              <a:ext cx="242887" cy="242887"/>
            </a:xfrm>
            <a:prstGeom prst="ellipse">
              <a:avLst/>
            </a:pr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934847" y="4985685"/>
              <a:ext cx="68008" cy="68008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6" name="item_2"/>
          <p:cNvSpPr txBox="1"/>
          <p:nvPr/>
        </p:nvSpPr>
        <p:spPr>
          <a:xfrm>
            <a:off x="1522636" y="4737750"/>
            <a:ext cx="10010630" cy="132588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&gt;20 задач требует внешней очереди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875" y="692177"/>
            <a:ext cx="10855391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Стоимость и ресурсы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875" y="1783080"/>
            <a:ext cx="10855391" cy="1158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gpt-oss-20b подключается по OpenAI-совместимому протоколу</a:t>
            </a:r>
          </a:p>
        </p:txBody>
      </p:sp>
      <p:sp>
        <p:nvSpPr>
          <p:cNvPr id="4" name="stat_0:bar"/>
          <p:cNvSpPr/>
          <p:nvPr/>
        </p:nvSpPr>
        <p:spPr>
          <a:xfrm>
            <a:off x="677875" y="3256788"/>
            <a:ext cx="50800" cy="181051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tat_0"/>
          <p:cNvSpPr txBox="1"/>
          <p:nvPr/>
        </p:nvSpPr>
        <p:spPr>
          <a:xfrm>
            <a:off x="855675" y="3147060"/>
            <a:ext cx="5032787" cy="1920239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 vCPU</a:t>
            </a:r>
          </a:p>
          <a:p>
            <a:pPr>
              <a:spcAft>
                <a:spcPts val="300"/>
              </a:spcAft>
              <a:defRPr sz="3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использует 2 vCPU / 2 GB RAM</a:t>
            </a:r>
          </a:p>
        </p:txBody>
      </p:sp>
      <p:sp>
        <p:nvSpPr>
          <p:cNvPr id="6" name="stat_1:bar"/>
          <p:cNvSpPr/>
          <p:nvPr/>
        </p:nvSpPr>
        <p:spPr>
          <a:xfrm>
            <a:off x="6322678" y="3256788"/>
            <a:ext cx="50800" cy="181051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at_1"/>
          <p:cNvSpPr txBox="1"/>
          <p:nvPr/>
        </p:nvSpPr>
        <p:spPr>
          <a:xfrm>
            <a:off x="6500478" y="3147060"/>
            <a:ext cx="5032787" cy="1920239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6 нед.</a:t>
            </a:r>
          </a:p>
          <a:p>
            <a:pPr>
              <a:spcAft>
                <a:spcPts val="300"/>
              </a:spcAft>
              <a:defRPr sz="3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Инференс за 6 недель пилота 1 400 руб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развития</a:t>
            </a:r>
          </a:p>
        </p:txBody>
      </p:sp>
      <p:sp>
        <p:nvSpPr>
          <p:cNvPr id="451" name="Rectangle 450"/>
          <p:cNvSpPr/>
          <p:nvPr/>
        </p:nvSpPr>
        <p:spPr>
          <a:xfrm>
            <a:off x="677387" y="3815229"/>
            <a:ext cx="10855878" cy="132531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2000751" y="3395546"/>
            <a:ext cx="971897" cy="971897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677387" y="1783080"/>
            <a:ext cx="5427939" cy="167873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Третий квартал 2026</a:t>
            </a:r>
          </a:p>
        </p:txBody>
      </p:sp>
      <p:sp>
        <p:nvSpPr>
          <p:cNvPr id="454" name="Oval 453"/>
          <p:cNvSpPr/>
          <p:nvPr/>
        </p:nvSpPr>
        <p:spPr>
          <a:xfrm>
            <a:off x="5619377" y="3395546"/>
            <a:ext cx="971897" cy="971897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3391356" y="4787127"/>
            <a:ext cx="5427939" cy="167873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Четвёртый квартал 2026</a:t>
            </a:r>
          </a:p>
        </p:txBody>
      </p:sp>
      <p:sp>
        <p:nvSpPr>
          <p:cNvPr id="456" name="Oval 455"/>
          <p:cNvSpPr/>
          <p:nvPr/>
        </p:nvSpPr>
        <p:spPr>
          <a:xfrm>
            <a:off x="9238003" y="3395546"/>
            <a:ext cx="971897" cy="971897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6105326" y="1783080"/>
            <a:ext cx="5427939" cy="167873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Первый квартал 2027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Преимущества для компании</a:t>
            </a:r>
          </a:p>
        </p:txBody>
      </p:sp>
      <p:grpSp>
        <p:nvGrpSpPr>
          <p:cNvPr id="2" name="icon:builtin-zap"/>
          <p:cNvGrpSpPr/>
          <p:nvPr/>
        </p:nvGrpSpPr>
        <p:grpSpPr>
          <a:xfrm>
            <a:off x="774542" y="1831657"/>
            <a:ext cx="388620" cy="485775"/>
            <a:chOff x="774542" y="1831657"/>
            <a:chExt cx="388620" cy="485775"/>
          </a:xfrm>
        </p:grpSpPr>
        <p:sp>
          <p:nvSpPr>
            <p:cNvPr id="3" name="Freeform 2"/>
            <p:cNvSpPr/>
            <p:nvPr/>
          </p:nvSpPr>
          <p:spPr>
            <a:xfrm>
              <a:off x="774542" y="1831657"/>
              <a:ext cx="388620" cy="485775"/>
            </a:xfrm>
            <a:custGeom>
              <a:avLst/>
              <a:gdLst/>
              <a:ahLst/>
              <a:cxnLst/>
              <a:rect l="l" t="t" r="r" b="b"/>
              <a:pathLst>
                <a:path w="388620" h="485775">
                  <a:moveTo>
                    <a:pt x="218598" y="0"/>
                  </a:moveTo>
                  <a:lnTo>
                    <a:pt x="0" y="291465"/>
                  </a:lnTo>
                  <a:lnTo>
                    <a:pt x="170021" y="291465"/>
                  </a:lnTo>
                  <a:lnTo>
                    <a:pt x="145732" y="485775"/>
                  </a:lnTo>
                  <a:lnTo>
                    <a:pt x="388620" y="170021"/>
                  </a:lnTo>
                  <a:lnTo>
                    <a:pt x="218598" y="170021"/>
                  </a:lnTo>
                  <a:close/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66" name="item_0"/>
          <p:cNvSpPr txBox="1"/>
          <p:nvPr/>
        </p:nvSpPr>
        <p:spPr>
          <a:xfrm>
            <a:off x="1522636" y="1792605"/>
            <a:ext cx="10010630" cy="95774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Ускорение создания презентаций до 4 мин</a:t>
            </a:r>
          </a:p>
        </p:txBody>
      </p:sp>
      <p:grpSp>
        <p:nvGrpSpPr>
          <p:cNvPr id="4" name="icon:builtin-decline"/>
          <p:cNvGrpSpPr/>
          <p:nvPr/>
        </p:nvGrpSpPr>
        <p:grpSpPr>
          <a:xfrm>
            <a:off x="750253" y="3057530"/>
            <a:ext cx="437197" cy="242887"/>
            <a:chOff x="750253" y="3057530"/>
            <a:chExt cx="437197" cy="242887"/>
          </a:xfrm>
        </p:grpSpPr>
        <p:sp>
          <p:nvSpPr>
            <p:cNvPr id="5" name="Freeform 4"/>
            <p:cNvSpPr/>
            <p:nvPr/>
          </p:nvSpPr>
          <p:spPr>
            <a:xfrm>
              <a:off x="750253" y="3057530"/>
              <a:ext cx="437197" cy="242887"/>
            </a:xfrm>
            <a:custGeom>
              <a:avLst/>
              <a:gdLst/>
              <a:ahLst/>
              <a:cxnLst/>
              <a:rect l="l" t="t" r="r" b="b"/>
              <a:pathLst>
                <a:path w="437197" h="242887">
                  <a:moveTo>
                    <a:pt x="0" y="0"/>
                  </a:moveTo>
                  <a:lnTo>
                    <a:pt x="145732" y="145732"/>
                  </a:lnTo>
                  <a:lnTo>
                    <a:pt x="242887" y="48577"/>
                  </a:lnTo>
                  <a:lnTo>
                    <a:pt x="437197" y="242887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1041718" y="3154685"/>
              <a:ext cx="145732" cy="145732"/>
            </a:xfrm>
            <a:custGeom>
              <a:avLst/>
              <a:gdLst/>
              <a:ahLst/>
              <a:cxnLst/>
              <a:rect l="l" t="t" r="r" b="b"/>
              <a:pathLst>
                <a:path w="145732" h="145732">
                  <a:moveTo>
                    <a:pt x="145732" y="0"/>
                  </a:moveTo>
                  <a:lnTo>
                    <a:pt x="145732" y="145732"/>
                  </a:lnTo>
                  <a:lnTo>
                    <a:pt x="0" y="145732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67" name="item_1"/>
          <p:cNvSpPr txBox="1"/>
          <p:nvPr/>
        </p:nvSpPr>
        <p:spPr>
          <a:xfrm>
            <a:off x="1522636" y="2897034"/>
            <a:ext cx="10010630" cy="95774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Снижение ошибок стиля до 2 из 68 колод</a:t>
            </a:r>
          </a:p>
        </p:txBody>
      </p:sp>
      <p:grpSp>
        <p:nvGrpSpPr>
          <p:cNvPr id="7" name="icon:builtin-money"/>
          <p:cNvGrpSpPr/>
          <p:nvPr/>
        </p:nvGrpSpPr>
        <p:grpSpPr>
          <a:xfrm>
            <a:off x="750253" y="4064804"/>
            <a:ext cx="437197" cy="437197"/>
            <a:chOff x="750253" y="4064804"/>
            <a:chExt cx="437197" cy="437197"/>
          </a:xfrm>
        </p:grpSpPr>
        <p:sp>
          <p:nvSpPr>
            <p:cNvPr id="768" name="Oval 767"/>
            <p:cNvSpPr/>
            <p:nvPr/>
          </p:nvSpPr>
          <p:spPr>
            <a:xfrm>
              <a:off x="750253" y="4064804"/>
              <a:ext cx="437197" cy="437197"/>
            </a:xfrm>
            <a:prstGeom prst="ellipse">
              <a:avLst/>
            </a:pr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Freeform 7"/>
            <p:cNvSpPr/>
            <p:nvPr/>
          </p:nvSpPr>
          <p:spPr>
            <a:xfrm>
              <a:off x="871697" y="4161959"/>
              <a:ext cx="194310" cy="242887"/>
            </a:xfrm>
            <a:custGeom>
              <a:avLst/>
              <a:gdLst/>
              <a:ahLst/>
              <a:cxnLst/>
              <a:rect l="l" t="t" r="r" b="b"/>
              <a:pathLst>
                <a:path w="194310" h="242887">
                  <a:moveTo>
                    <a:pt x="48577" y="242887"/>
                  </a:moveTo>
                  <a:lnTo>
                    <a:pt x="48577" y="0"/>
                  </a:lnTo>
                  <a:lnTo>
                    <a:pt x="133588" y="0"/>
                  </a:lnTo>
                  <a:lnTo>
                    <a:pt x="145441" y="1166"/>
                  </a:lnTo>
                  <a:lnTo>
                    <a:pt x="156832" y="4615"/>
                  </a:lnTo>
                  <a:lnTo>
                    <a:pt x="167325" y="10225"/>
                  </a:lnTo>
                  <a:lnTo>
                    <a:pt x="176530" y="17779"/>
                  </a:lnTo>
                  <a:lnTo>
                    <a:pt x="184084" y="26985"/>
                  </a:lnTo>
                  <a:lnTo>
                    <a:pt x="189695" y="37477"/>
                  </a:lnTo>
                  <a:lnTo>
                    <a:pt x="193144" y="48869"/>
                  </a:lnTo>
                  <a:lnTo>
                    <a:pt x="194310" y="60722"/>
                  </a:lnTo>
                  <a:lnTo>
                    <a:pt x="193144" y="72575"/>
                  </a:lnTo>
                  <a:lnTo>
                    <a:pt x="189695" y="83966"/>
                  </a:lnTo>
                  <a:lnTo>
                    <a:pt x="184084" y="94459"/>
                  </a:lnTo>
                  <a:lnTo>
                    <a:pt x="176530" y="103664"/>
                  </a:lnTo>
                  <a:lnTo>
                    <a:pt x="167325" y="111218"/>
                  </a:lnTo>
                  <a:lnTo>
                    <a:pt x="156832" y="116829"/>
                  </a:lnTo>
                  <a:lnTo>
                    <a:pt x="145441" y="120278"/>
                  </a:lnTo>
                  <a:lnTo>
                    <a:pt x="133588" y="121444"/>
                  </a:lnTo>
                  <a:lnTo>
                    <a:pt x="0" y="121444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Freeform 8"/>
            <p:cNvSpPr/>
            <p:nvPr/>
          </p:nvSpPr>
          <p:spPr>
            <a:xfrm>
              <a:off x="871697" y="4351411"/>
              <a:ext cx="145732" cy="0"/>
            </a:xfrm>
            <a:custGeom>
              <a:avLst/>
              <a:gdLst/>
              <a:ahLst/>
              <a:cxnLst/>
              <a:rect l="l" t="t" r="r" b="b"/>
              <a:pathLst>
                <a:path w="145732" h="0">
                  <a:moveTo>
                    <a:pt x="0" y="0"/>
                  </a:moveTo>
                  <a:lnTo>
                    <a:pt x="145732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69" name="item_2"/>
          <p:cNvSpPr txBox="1"/>
          <p:nvPr/>
        </p:nvSpPr>
        <p:spPr>
          <a:xfrm>
            <a:off x="1522636" y="4001463"/>
            <a:ext cx="10010630" cy="95774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Экономия времени дизайнеров</a:t>
            </a:r>
          </a:p>
        </p:txBody>
      </p:sp>
      <p:grpSp>
        <p:nvGrpSpPr>
          <p:cNvPr id="10" name="icon:builtin-expand"/>
          <p:cNvGrpSpPr/>
          <p:nvPr/>
        </p:nvGrpSpPr>
        <p:grpSpPr>
          <a:xfrm>
            <a:off x="750253" y="5169234"/>
            <a:ext cx="437197" cy="437197"/>
            <a:chOff x="750253" y="5169234"/>
            <a:chExt cx="437197" cy="437197"/>
          </a:xfrm>
        </p:grpSpPr>
        <p:sp>
          <p:nvSpPr>
            <p:cNvPr id="11" name="Freeform 10"/>
            <p:cNvSpPr/>
            <p:nvPr/>
          </p:nvSpPr>
          <p:spPr>
            <a:xfrm>
              <a:off x="1041718" y="5169234"/>
              <a:ext cx="145732" cy="145732"/>
            </a:xfrm>
            <a:custGeom>
              <a:avLst/>
              <a:gdLst/>
              <a:ahLst/>
              <a:cxnLst/>
              <a:rect l="l" t="t" r="r" b="b"/>
              <a:pathLst>
                <a:path w="145732" h="145732">
                  <a:moveTo>
                    <a:pt x="0" y="0"/>
                  </a:moveTo>
                  <a:lnTo>
                    <a:pt x="145732" y="0"/>
                  </a:lnTo>
                  <a:lnTo>
                    <a:pt x="145732" y="145732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750253" y="5460699"/>
              <a:ext cx="145732" cy="145732"/>
            </a:xfrm>
            <a:custGeom>
              <a:avLst/>
              <a:gdLst/>
              <a:ahLst/>
              <a:cxnLst/>
              <a:rect l="l" t="t" r="r" b="b"/>
              <a:pathLst>
                <a:path w="145732" h="145732">
                  <a:moveTo>
                    <a:pt x="145732" y="145732"/>
                  </a:moveTo>
                  <a:lnTo>
                    <a:pt x="0" y="145732"/>
                  </a:lnTo>
                  <a:lnTo>
                    <a:pt x="0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1017429" y="5169234"/>
              <a:ext cx="170021" cy="170021"/>
            </a:xfrm>
            <a:custGeom>
              <a:avLst/>
              <a:gdLst/>
              <a:ahLst/>
              <a:cxnLst/>
              <a:rect l="l" t="t" r="r" b="b"/>
              <a:pathLst>
                <a:path w="170021" h="170021">
                  <a:moveTo>
                    <a:pt x="170021" y="0"/>
                  </a:moveTo>
                  <a:lnTo>
                    <a:pt x="0" y="170021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750253" y="5436410"/>
              <a:ext cx="170021" cy="170021"/>
            </a:xfrm>
            <a:custGeom>
              <a:avLst/>
              <a:gdLst/>
              <a:ahLst/>
              <a:cxnLst/>
              <a:rect l="l" t="t" r="r" b="b"/>
              <a:pathLst>
                <a:path w="170021" h="170021">
                  <a:moveTo>
                    <a:pt x="0" y="170021"/>
                  </a:moveTo>
                  <a:lnTo>
                    <a:pt x="170021" y="0"/>
                  </a:lnTo>
                </a:path>
              </a:pathLst>
            </a:custGeom>
            <a:noFill/>
            <a:ln w="48577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70" name="item_3"/>
          <p:cNvSpPr txBox="1"/>
          <p:nvPr/>
        </p:nvSpPr>
        <p:spPr>
          <a:xfrm>
            <a:off x="1522636" y="5105893"/>
            <a:ext cx="10010630" cy="95774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Масштабируемость без дополнительных сотрудников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78" name="Google Shape;778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99424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9" name="Google Shape;77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0" name="Google Shape;780;p5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1513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мы просим решить</a:t>
            </a:r>
          </a:p>
        </p:txBody>
      </p:sp>
      <p:sp>
        <p:nvSpPr>
          <p:cNvPr id="784" name="card_0"/>
          <p:cNvSpPr txBox="1"/>
          <p:nvPr/>
        </p:nvSpPr>
        <p:spPr>
          <a:xfrm>
            <a:off x="806889" y="392871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Одобрить запуск сервиса на всю компанию</a:t>
            </a:r>
          </a:p>
        </p:txBody>
      </p:sp>
      <p:sp>
        <p:nvSpPr>
          <p:cNvPr id="785" name="card_1"/>
          <p:cNvSpPr txBox="1"/>
          <p:nvPr/>
        </p:nvSpPr>
        <p:spPr>
          <a:xfrm>
            <a:off x="4533496" y="392233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Выделить бюджет на инфраструктуру и интеграцию</a:t>
            </a:r>
          </a:p>
        </p:txBody>
      </p:sp>
      <p:sp>
        <p:nvSpPr>
          <p:cNvPr id="786" name="card_2"/>
          <p:cNvSpPr txBox="1"/>
          <p:nvPr/>
        </p:nvSpPr>
        <p:spPr>
          <a:xfrm>
            <a:off x="8264469" y="392670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Назначить ответственных за внедрение</a:t>
            </a:r>
          </a:p>
        </p:txBody>
      </p:sp>
      <p:grpSp>
        <p:nvGrpSpPr>
          <p:cNvPr id="2" name="icon:builtin-check"/>
          <p:cNvGrpSpPr/>
          <p:nvPr/>
        </p:nvGrpSpPr>
        <p:grpSpPr>
          <a:xfrm>
            <a:off x="935771" y="2826575"/>
            <a:ext cx="338133" cy="338133"/>
            <a:chOff x="935771" y="2826575"/>
            <a:chExt cx="338133" cy="338133"/>
          </a:xfrm>
        </p:grpSpPr>
        <p:sp>
          <p:nvSpPr>
            <p:cNvPr id="787" name="Oval 786"/>
            <p:cNvSpPr/>
            <p:nvPr/>
          </p:nvSpPr>
          <p:spPr>
            <a:xfrm>
              <a:off x="935771" y="2826575"/>
              <a:ext cx="338133" cy="338133"/>
            </a:xfrm>
            <a:prstGeom prst="ellipse">
              <a:avLst/>
            </a:prstGeom>
            <a:noFill/>
            <a:ln w="37570" cap="rnd">
              <a:solidFill>
                <a:srgbClr val="7CEDF8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" name="Freeform 2"/>
            <p:cNvSpPr/>
            <p:nvPr/>
          </p:nvSpPr>
          <p:spPr>
            <a:xfrm>
              <a:off x="1029697" y="2939286"/>
              <a:ext cx="150281" cy="112711"/>
            </a:xfrm>
            <a:custGeom>
              <a:avLst/>
              <a:gdLst/>
              <a:ahLst/>
              <a:cxnLst/>
              <a:rect l="l" t="t" r="r" b="b"/>
              <a:pathLst>
                <a:path w="150281" h="112711">
                  <a:moveTo>
                    <a:pt x="0" y="56356"/>
                  </a:moveTo>
                  <a:lnTo>
                    <a:pt x="56355" y="112711"/>
                  </a:lnTo>
                  <a:lnTo>
                    <a:pt x="150281" y="0"/>
                  </a:lnTo>
                </a:path>
              </a:pathLst>
            </a:custGeom>
            <a:noFill/>
            <a:ln w="37570" cap="rnd">
              <a:solidFill>
                <a:srgbClr val="7CEDF8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" name="icon:builtin-server"/>
          <p:cNvGrpSpPr/>
          <p:nvPr/>
        </p:nvGrpSpPr>
        <p:grpSpPr>
          <a:xfrm>
            <a:off x="4630557" y="2845360"/>
            <a:ext cx="338133" cy="300563"/>
            <a:chOff x="4630557" y="2845360"/>
            <a:chExt cx="338133" cy="300563"/>
          </a:xfrm>
        </p:grpSpPr>
        <p:sp>
          <p:nvSpPr>
            <p:cNvPr id="788" name="Rounded Rectangle 787"/>
            <p:cNvSpPr/>
            <p:nvPr/>
          </p:nvSpPr>
          <p:spPr>
            <a:xfrm>
              <a:off x="4630557" y="2845360"/>
              <a:ext cx="338133" cy="131496"/>
            </a:xfrm>
            <a:prstGeom prst="roundRect">
              <a:avLst>
                <a:gd name="adj" fmla="val 28571"/>
              </a:avLst>
            </a:prstGeom>
            <a:noFill/>
            <a:ln w="37570" cap="rnd">
              <a:solidFill>
                <a:srgbClr val="FEFEFE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9" name="Rounded Rectangle 788"/>
            <p:cNvSpPr/>
            <p:nvPr/>
          </p:nvSpPr>
          <p:spPr>
            <a:xfrm>
              <a:off x="4630557" y="3014427"/>
              <a:ext cx="338133" cy="131496"/>
            </a:xfrm>
            <a:prstGeom prst="roundRect">
              <a:avLst>
                <a:gd name="adj" fmla="val 28571"/>
              </a:avLst>
            </a:prstGeom>
            <a:noFill/>
            <a:ln w="37570" cap="rnd">
              <a:solidFill>
                <a:srgbClr val="FEFEFE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0" name="Oval 789"/>
            <p:cNvSpPr/>
            <p:nvPr/>
          </p:nvSpPr>
          <p:spPr>
            <a:xfrm>
              <a:off x="4685034" y="2890445"/>
              <a:ext cx="41327" cy="41327"/>
            </a:xfrm>
            <a:prstGeom prst="ellipse">
              <a:avLst/>
            </a:prstGeom>
            <a:solidFill>
              <a:srgbClr val="FEFE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1" name="Oval 790"/>
            <p:cNvSpPr/>
            <p:nvPr/>
          </p:nvSpPr>
          <p:spPr>
            <a:xfrm>
              <a:off x="4685034" y="3059511"/>
              <a:ext cx="41327" cy="41327"/>
            </a:xfrm>
            <a:prstGeom prst="ellipse">
              <a:avLst/>
            </a:prstGeom>
            <a:solidFill>
              <a:srgbClr val="FEFE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" name="icon:builtin-rocket"/>
          <p:cNvGrpSpPr/>
          <p:nvPr/>
        </p:nvGrpSpPr>
        <p:grpSpPr>
          <a:xfrm>
            <a:off x="8392164" y="2845186"/>
            <a:ext cx="303418" cy="322203"/>
            <a:chOff x="8392164" y="2845186"/>
            <a:chExt cx="303418" cy="322203"/>
          </a:xfrm>
        </p:grpSpPr>
        <p:sp>
          <p:nvSpPr>
            <p:cNvPr id="6" name="Freeform 5"/>
            <p:cNvSpPr/>
            <p:nvPr/>
          </p:nvSpPr>
          <p:spPr>
            <a:xfrm>
              <a:off x="8467305" y="2845186"/>
              <a:ext cx="228277" cy="247062"/>
            </a:xfrm>
            <a:custGeom>
              <a:avLst/>
              <a:gdLst/>
              <a:ahLst/>
              <a:cxnLst/>
              <a:rect l="l" t="t" r="r" b="b"/>
              <a:pathLst>
                <a:path w="228277" h="247062">
                  <a:moveTo>
                    <a:pt x="112711" y="21640"/>
                  </a:moveTo>
                  <a:lnTo>
                    <a:pt x="129261" y="13769"/>
                  </a:lnTo>
                  <a:lnTo>
                    <a:pt x="144984" y="7965"/>
                  </a:lnTo>
                  <a:lnTo>
                    <a:pt x="159786" y="3963"/>
                  </a:lnTo>
                  <a:lnTo>
                    <a:pt x="173481" y="1502"/>
                  </a:lnTo>
                  <a:lnTo>
                    <a:pt x="185973" y="263"/>
                  </a:lnTo>
                  <a:lnTo>
                    <a:pt x="197113" y="0"/>
                  </a:lnTo>
                  <a:lnTo>
                    <a:pt x="206749" y="394"/>
                  </a:lnTo>
                  <a:lnTo>
                    <a:pt x="214789" y="1202"/>
                  </a:lnTo>
                  <a:lnTo>
                    <a:pt x="221045" y="2122"/>
                  </a:lnTo>
                  <a:lnTo>
                    <a:pt x="225422" y="2855"/>
                  </a:lnTo>
                  <a:lnTo>
                    <a:pt x="226173" y="7232"/>
                  </a:lnTo>
                  <a:lnTo>
                    <a:pt x="227075" y="13487"/>
                  </a:lnTo>
                  <a:lnTo>
                    <a:pt x="227864" y="21527"/>
                  </a:lnTo>
                  <a:lnTo>
                    <a:pt x="228277" y="31164"/>
                  </a:lnTo>
                  <a:lnTo>
                    <a:pt x="228014" y="42304"/>
                  </a:lnTo>
                  <a:lnTo>
                    <a:pt x="226774" y="54796"/>
                  </a:lnTo>
                  <a:lnTo>
                    <a:pt x="224314" y="68490"/>
                  </a:lnTo>
                  <a:lnTo>
                    <a:pt x="220312" y="83293"/>
                  </a:lnTo>
                  <a:lnTo>
                    <a:pt x="214526" y="99016"/>
                  </a:lnTo>
                  <a:lnTo>
                    <a:pt x="206637" y="115566"/>
                  </a:lnTo>
                  <a:lnTo>
                    <a:pt x="75141" y="247062"/>
                  </a:lnTo>
                  <a:lnTo>
                    <a:pt x="0" y="171922"/>
                  </a:lnTo>
                  <a:close/>
                </a:path>
              </a:pathLst>
            </a:custGeom>
            <a:noFill/>
            <a:ln w="37570" cap="rnd">
              <a:solidFill>
                <a:srgbClr val="FF3885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Freeform 6"/>
            <p:cNvSpPr/>
            <p:nvPr/>
          </p:nvSpPr>
          <p:spPr>
            <a:xfrm>
              <a:off x="8410949" y="2941967"/>
              <a:ext cx="131497" cy="75141"/>
            </a:xfrm>
            <a:custGeom>
              <a:avLst/>
              <a:gdLst/>
              <a:ahLst/>
              <a:cxnLst/>
              <a:rect l="l" t="t" r="r" b="b"/>
              <a:pathLst>
                <a:path w="131497" h="75141">
                  <a:moveTo>
                    <a:pt x="56356" y="75141"/>
                  </a:moveTo>
                  <a:lnTo>
                    <a:pt x="0" y="75141"/>
                  </a:lnTo>
                  <a:lnTo>
                    <a:pt x="56356" y="0"/>
                  </a:lnTo>
                  <a:lnTo>
                    <a:pt x="131497" y="0"/>
                  </a:lnTo>
                </a:path>
              </a:pathLst>
            </a:custGeom>
            <a:noFill/>
            <a:ln w="37570" cap="rnd">
              <a:solidFill>
                <a:srgbClr val="FF3885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Freeform 7"/>
            <p:cNvSpPr/>
            <p:nvPr/>
          </p:nvSpPr>
          <p:spPr>
            <a:xfrm>
              <a:off x="8542446" y="3017108"/>
              <a:ext cx="75140" cy="131496"/>
            </a:xfrm>
            <a:custGeom>
              <a:avLst/>
              <a:gdLst/>
              <a:ahLst/>
              <a:cxnLst/>
              <a:rect l="l" t="t" r="r" b="b"/>
              <a:pathLst>
                <a:path w="75140" h="131496">
                  <a:moveTo>
                    <a:pt x="0" y="75140"/>
                  </a:moveTo>
                  <a:lnTo>
                    <a:pt x="0" y="131496"/>
                  </a:lnTo>
                  <a:lnTo>
                    <a:pt x="75140" y="75140"/>
                  </a:lnTo>
                  <a:lnTo>
                    <a:pt x="75140" y="0"/>
                  </a:lnTo>
                </a:path>
              </a:pathLst>
            </a:custGeom>
            <a:noFill/>
            <a:ln w="37570" cap="rnd">
              <a:solidFill>
                <a:srgbClr val="FF3885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2" name="Oval 791"/>
            <p:cNvSpPr/>
            <p:nvPr/>
          </p:nvSpPr>
          <p:spPr>
            <a:xfrm>
              <a:off x="8581894" y="2925060"/>
              <a:ext cx="52598" cy="52598"/>
            </a:xfrm>
            <a:prstGeom prst="ellipse">
              <a:avLst/>
            </a:prstGeom>
            <a:noFill/>
            <a:ln w="37570" cap="rnd">
              <a:solidFill>
                <a:srgbClr val="FF3885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Freeform 8"/>
            <p:cNvSpPr/>
            <p:nvPr/>
          </p:nvSpPr>
          <p:spPr>
            <a:xfrm>
              <a:off x="8392164" y="3101641"/>
              <a:ext cx="65748" cy="65748"/>
            </a:xfrm>
            <a:custGeom>
              <a:avLst/>
              <a:gdLst/>
              <a:ahLst/>
              <a:cxnLst/>
              <a:rect l="l" t="t" r="r" b="b"/>
              <a:pathLst>
                <a:path w="65748" h="65748">
                  <a:moveTo>
                    <a:pt x="46963" y="0"/>
                  </a:moveTo>
                  <a:lnTo>
                    <a:pt x="38792" y="3362"/>
                  </a:lnTo>
                  <a:lnTo>
                    <a:pt x="31259" y="7739"/>
                  </a:lnTo>
                  <a:lnTo>
                    <a:pt x="24383" y="13018"/>
                  </a:lnTo>
                  <a:lnTo>
                    <a:pt x="18259" y="19085"/>
                  </a:lnTo>
                  <a:lnTo>
                    <a:pt x="12924" y="25829"/>
                  </a:lnTo>
                  <a:lnTo>
                    <a:pt x="8416" y="33137"/>
                  </a:lnTo>
                  <a:lnTo>
                    <a:pt x="4809" y="40895"/>
                  </a:lnTo>
                  <a:lnTo>
                    <a:pt x="2179" y="48991"/>
                  </a:lnTo>
                  <a:lnTo>
                    <a:pt x="564" y="57313"/>
                  </a:lnTo>
                  <a:lnTo>
                    <a:pt x="0" y="65748"/>
                  </a:lnTo>
                  <a:lnTo>
                    <a:pt x="8435" y="65203"/>
                  </a:lnTo>
                  <a:lnTo>
                    <a:pt x="16757" y="63569"/>
                  </a:lnTo>
                  <a:lnTo>
                    <a:pt x="24853" y="60920"/>
                  </a:lnTo>
                  <a:lnTo>
                    <a:pt x="32611" y="57332"/>
                  </a:lnTo>
                  <a:lnTo>
                    <a:pt x="39919" y="52824"/>
                  </a:lnTo>
                  <a:lnTo>
                    <a:pt x="46663" y="47489"/>
                  </a:lnTo>
                  <a:lnTo>
                    <a:pt x="52730" y="41346"/>
                  </a:lnTo>
                  <a:lnTo>
                    <a:pt x="58009" y="34489"/>
                  </a:lnTo>
                  <a:lnTo>
                    <a:pt x="62386" y="26938"/>
                  </a:lnTo>
                  <a:lnTo>
                    <a:pt x="65748" y="18785"/>
                  </a:lnTo>
                </a:path>
              </a:pathLst>
            </a:custGeom>
            <a:noFill/>
            <a:ln w="37570" cap="rnd">
              <a:solidFill>
                <a:srgbClr val="FF3885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855" y="692177"/>
            <a:ext cx="5242438" cy="9194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Заключение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58855" y="2465070"/>
            <a:ext cx="5242438" cy="19507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Одобрить запуск сервиса на всю компанию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Назначить ответственных и выделить бюджет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
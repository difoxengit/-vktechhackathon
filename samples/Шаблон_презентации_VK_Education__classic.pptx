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Сборка</c:v>
                </c:pt>
                <c:pt idx="1">
                  <c:v>Правки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74.0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100" b="0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r>
                  <a:t>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Arial"/>
          <a:ea typeface="Arial"/>
          <a:cs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До пилота</c:v>
                </c:pt>
                <c:pt idx="1">
                  <c:v>После пилота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100" b="0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r>
                  <a:t>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Arial"/>
          <a:ea typeface="Arial"/>
          <a:cs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6" Type="http://schemas.openxmlformats.org/officeDocument/2006/relationships/slideLayout" Target="../slideLayouts/slideLayout6.xml"/><Relationship Id="rId12" Type="http://schemas.openxmlformats.org/officeDocument/2006/relationships/slideLayout" Target="../slideLayouts/slideLayout12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3" r:id="rId6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/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Relationship Id="rId4" Type="http://schemas.openxmlformats.org/officeDocument/2006/relationships/image" Target="../media/image229.png"/><Relationship Id="rId5" Type="http://schemas.openxmlformats.org/officeDocument/2006/relationships/image" Target="../media/image230.png"/><Relationship Id="rId6" Type="http://schemas.openxmlformats.org/officeDocument/2006/relationships/image" Target="../media/image231.png"/><Relationship Id="rId7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8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2.png"/><Relationship Id="rId3" Type="http://schemas.openxmlformats.org/officeDocument/2006/relationships/image" Target="../media/image233.png"/><Relationship Id="rId4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5" Type="http://schemas.openxmlformats.org/officeDocument/2006/relationships/image" Target="../media/image235.png"/><Relationship Id="rId6" Type="http://schemas.openxmlformats.org/officeDocument/2006/relationships/image" Target="../media/image234.png"/><Relationship Id="rId7" Type="http://schemas.openxmlformats.org/officeDocument/2006/relationships/image" Target="../media/image236.png"/><Relationship Id="rId8" Type="http://schemas.openxmlformats.org/officeDocument/2006/relationships/image" Target="../media/image231.png"/><Relationship Id="rId9" Type="http://schemas.openxmlformats.org/officeDocument/2006/relationships/notesSlide" Target="../notesSlides/notesSlide62.xml"/></Relationships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Автоматическая вёрстка презентаций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86" name="Google Shape;986;p76"/>
          <p:cNvCxnSpPr/>
          <p:nvPr/>
        </p:nvCxnSpPr>
        <p:spPr>
          <a:xfrm rot="10800000">
            <a:off x="-42658" y="3591512"/>
            <a:ext cx="12234658" cy="0"/>
          </a:xfrm>
          <a:prstGeom prst="straightConnector1">
            <a:avLst/>
          </a:prstGeom>
          <a:noFill/>
          <a:ln cap="flat" cmpd="sng" w="12700">
            <a:solidFill>
              <a:srgbClr val="E1E1E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87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Сейчас сборка презентаций занимает 186 минут</a:t>
            </a:r>
          </a:p>
        </p:txBody>
      </p:sp>
      <p:sp>
        <p:nvSpPr>
          <p:cNvPr id="988" name="body"/>
          <p:cNvSpPr txBox="1"/>
          <p:nvPr/>
        </p:nvSpPr>
        <p:spPr>
          <a:xfrm>
            <a:off x="677387" y="3591534"/>
            <a:ext cx="10855878" cy="50197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Отдел маркетинга вручную собирает 42 колоды за квартал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74 минуты уходит на правки после ревью дизайнера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19 колод нарушают фирменный стиль</a:t>
            </a:r>
          </a:p>
        </p:txBody>
      </p:sp>
      <p:graphicFrame>
        <p:nvGraphicFramePr>
          <p:cNvPr id="989" name="Chart 988"/>
          <p:cNvGraphicFramePr>
            <a:graphicFrameLocks noGrp="1"/>
          </p:cNvGraphicFramePr>
          <p:nvPr/>
        </p:nvGraphicFramePr>
        <p:xfrm>
          <a:off x="677387" y="4264962"/>
          <a:ext cx="10855878" cy="581517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Сервис автоматически вёрстит презентации за 4 минуты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77387" y="2277137"/>
            <a:ext cx="10855878" cy="1341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Принимает шаблон pptx и материалы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Автоматически формирует план колоды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Экспорт в pptx, pdf, html</a:t>
            </a:r>
          </a:p>
        </p:txBody>
      </p:sp>
      <p:sp>
        <p:nvSpPr>
          <p:cNvPr id="4" name="Pentagon 3"/>
          <p:cNvSpPr/>
          <p:nvPr/>
        </p:nvSpPr>
        <p:spPr>
          <a:xfrm>
            <a:off x="677387" y="4354494"/>
            <a:ext cx="2066959" cy="1281514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3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Шаблон</a:t>
            </a:r>
          </a:p>
        </p:txBody>
      </p:sp>
      <p:sp>
        <p:nvSpPr>
          <p:cNvPr id="5" name="Chevron 4"/>
          <p:cNvSpPr/>
          <p:nvPr/>
        </p:nvSpPr>
        <p:spPr>
          <a:xfrm>
            <a:off x="2874616" y="4354494"/>
            <a:ext cx="2066959" cy="1281514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3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План</a:t>
            </a:r>
          </a:p>
        </p:txBody>
      </p:sp>
      <p:sp>
        <p:nvSpPr>
          <p:cNvPr id="6" name="Chevron 5"/>
          <p:cNvSpPr/>
          <p:nvPr/>
        </p:nvSpPr>
        <p:spPr>
          <a:xfrm>
            <a:off x="5071846" y="4354494"/>
            <a:ext cx="2066959" cy="1281514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16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6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Вёрстка</a:t>
            </a:r>
          </a:p>
        </p:txBody>
      </p:sp>
      <p:sp>
        <p:nvSpPr>
          <p:cNvPr id="7" name="Chevron 6"/>
          <p:cNvSpPr/>
          <p:nvPr/>
        </p:nvSpPr>
        <p:spPr>
          <a:xfrm>
            <a:off x="7269076" y="4354494"/>
            <a:ext cx="2066959" cy="1281514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3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Аудит</a:t>
            </a:r>
          </a:p>
        </p:txBody>
      </p:sp>
      <p:sp>
        <p:nvSpPr>
          <p:cNvPr id="8" name="Chevron 7"/>
          <p:cNvSpPr/>
          <p:nvPr/>
        </p:nvSpPr>
        <p:spPr>
          <a:xfrm>
            <a:off x="9466305" y="4354494"/>
            <a:ext cx="2066959" cy="1281514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16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6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Экспорт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Пилот сократил время сборки до 4 минут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77387" y="2277137"/>
            <a:ext cx="10855878" cy="1341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Среднее время 4 минуты вместо 186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Срок до первой версии сократился с 6 дней до 1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Нарушений стиля 2 из 68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77387" y="3789707"/>
          <a:ext cx="10855878" cy="241108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97" name="Google Shape;797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9096" y="2601017"/>
            <a:ext cx="450850" cy="45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8" name="Google Shape;798;p6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97007" y="2603210"/>
            <a:ext cx="450851" cy="450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9" name="Google Shape;799;p6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83052" y="2601017"/>
            <a:ext cx="450850" cy="450850"/>
          </a:xfrm>
          <a:prstGeom prst="rect">
            <a:avLst/>
          </a:prstGeom>
          <a:noFill/>
          <a:ln>
            <a:noFill/>
          </a:ln>
        </p:spPr>
      </p:pic>
      <p:sp>
        <p:nvSpPr>
          <p:cNvPr id="800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Для запуска требуется 2 vCPU, 2 ГБ RAM и 1 400 руб. за инференс</a:t>
            </a:r>
          </a:p>
        </p:txBody>
      </p:sp>
      <p:sp>
        <p:nvSpPr>
          <p:cNvPr id="801" name="card_0"/>
          <p:cNvSpPr txBox="1"/>
          <p:nvPr/>
        </p:nvSpPr>
        <p:spPr>
          <a:xfrm>
            <a:off x="806889" y="3427872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Сервис работает на одной машине</a:t>
            </a:r>
          </a:p>
        </p:txBody>
      </p:sp>
      <p:sp>
        <p:nvSpPr>
          <p:cNvPr id="802" name="card_1"/>
          <p:cNvSpPr txBox="1"/>
          <p:nvPr/>
        </p:nvSpPr>
        <p:spPr>
          <a:xfrm>
            <a:off x="4533496" y="3421494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Модель gpt-oss-20b подключается по OpenAI</a:t>
            </a:r>
          </a:p>
        </p:txBody>
      </p:sp>
      <p:sp>
        <p:nvSpPr>
          <p:cNvPr id="803" name="card_2"/>
          <p:cNvSpPr txBox="1"/>
          <p:nvPr/>
        </p:nvSpPr>
        <p:spPr>
          <a:xfrm>
            <a:off x="8264469" y="3425860"/>
            <a:ext cx="2575194" cy="116013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План запуска: Q3 2026 подключить 4 команды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pic>
        <p:nvPicPr>
          <p:cNvPr id="762" name="Google Shape;762;p5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05070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764" name="Google Shape;764;p58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8" name="Google Shape;768;p58"/>
          <p:cNvSpPr/>
          <p:nvPr/>
        </p:nvSpPr>
        <p:spPr>
          <a:xfrm>
            <a:off x="671513" y="2562300"/>
            <a:ext cx="866700" cy="866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id="769" name="Google Shape;769;p5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38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0" name="Google Shape;770;p5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07349" y="2772418"/>
            <a:ext cx="450851" cy="450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71" name="Google Shape;771;p5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85469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2" name="Google Shape;772;p5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593394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sp>
        <p:nvSpPr>
          <p:cNvPr id="773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Пилот собрал 68 презентаций за 6 недель</a:t>
            </a:r>
          </a:p>
        </p:txBody>
      </p:sp>
      <p:sp>
        <p:nvSpPr>
          <p:cNvPr id="774" name="card_0"/>
          <p:cNvSpPr txBox="1"/>
          <p:nvPr/>
        </p:nvSpPr>
        <p:spPr>
          <a:xfrm>
            <a:off x="806889" y="3928712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7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Дизайнеры закрыли 38 запросов вместо 11</a:t>
            </a:r>
          </a:p>
        </p:txBody>
      </p:sp>
      <p:sp>
        <p:nvSpPr>
          <p:cNvPr id="775" name="card_1"/>
          <p:cNvSpPr txBox="1"/>
          <p:nvPr/>
        </p:nvSpPr>
        <p:spPr>
          <a:xfrm>
            <a:off x="4533496" y="3922334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Рутина вёрстки ушла в сервис</a:t>
            </a:r>
          </a:p>
        </p:txBody>
      </p:sp>
      <p:sp>
        <p:nvSpPr>
          <p:cNvPr id="776" name="card_2"/>
          <p:cNvSpPr txBox="1"/>
          <p:nvPr/>
        </p:nvSpPr>
        <p:spPr>
          <a:xfrm>
            <a:off x="8264469" y="3926700"/>
            <a:ext cx="2575194" cy="116013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Нагрузка выше 20 задач требует внешней очереди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pic>
        <p:nvPicPr>
          <p:cNvPr id="778" name="Google Shape;778;p5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099424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9" name="Google Shape;77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85469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0" name="Google Shape;780;p5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1513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782" name="Google Shape;782;p59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83" name="Google Shape;783;p5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79438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4" name="Google Shape;784;p5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316973" y="2791669"/>
            <a:ext cx="450851" cy="450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85" name="Google Shape;785;p5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574144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sp>
        <p:nvSpPr>
          <p:cNvPr id="786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Решение о запуске сервиса на всю компанию</a:t>
            </a:r>
          </a:p>
        </p:txBody>
      </p:sp>
      <p:sp>
        <p:nvSpPr>
          <p:cNvPr id="787" name="card_0"/>
          <p:cNvSpPr txBox="1"/>
          <p:nvPr/>
        </p:nvSpPr>
        <p:spPr>
          <a:xfrm>
            <a:off x="806889" y="3928712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Запрос одобрения на масштабирование</a:t>
            </a:r>
          </a:p>
        </p:txBody>
      </p:sp>
      <p:sp>
        <p:nvSpPr>
          <p:cNvPr id="788" name="card_1"/>
          <p:cNvSpPr txBox="1"/>
          <p:nvPr/>
        </p:nvSpPr>
        <p:spPr>
          <a:xfrm>
            <a:off x="4533496" y="3922334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Подключение к корпоративному хранилищу</a:t>
            </a:r>
          </a:p>
        </p:txBody>
      </p:sp>
      <p:sp>
        <p:nvSpPr>
          <p:cNvPr id="789" name="card_2"/>
          <p:cNvSpPr txBox="1"/>
          <p:nvPr/>
        </p:nvSpPr>
        <p:spPr>
          <a:xfrm>
            <a:off x="8264469" y="3926700"/>
            <a:ext cx="2575194" cy="116013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Интеграция с доменом и HTTPS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
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2200937"/>
            <a:ext cx="10855878" cy="264554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одной колоды 12 слайдов занимает 186 минут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уходит на правки после ревью дизайнера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Дизайн-отдел из 4 человек закрывает 11 запросов в неделю из 27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в очереди — 6 рабочих дней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Pentagon 2"/>
          <p:cNvSpPr/>
          <p:nvPr/>
        </p:nvSpPr>
        <p:spPr>
          <a:xfrm>
            <a:off x="677387" y="1824859"/>
            <a:ext cx="10855878" cy="634621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Загрузка шаблона</a:t>
            </a:r>
          </a:p>
        </p:txBody>
      </p:sp>
      <p:sp>
        <p:nvSpPr>
          <p:cNvPr id="4" name="Chevron 3"/>
          <p:cNvSpPr/>
          <p:nvPr/>
        </p:nvSpPr>
        <p:spPr>
          <a:xfrm>
            <a:off x="677387" y="2562791"/>
            <a:ext cx="10855878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Анализ дизайна</a:t>
            </a:r>
          </a:p>
        </p:txBody>
      </p:sp>
      <p:sp>
        <p:nvSpPr>
          <p:cNvPr id="5" name="Chevron 4"/>
          <p:cNvSpPr/>
          <p:nvPr/>
        </p:nvSpPr>
        <p:spPr>
          <a:xfrm>
            <a:off x="677387" y="3300723"/>
            <a:ext cx="10855878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6" name="Chevron 5"/>
          <p:cNvSpPr/>
          <p:nvPr/>
        </p:nvSpPr>
        <p:spPr>
          <a:xfrm>
            <a:off x="677387" y="4038655"/>
            <a:ext cx="10855878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Авто-верстка</a:t>
            </a:r>
          </a:p>
        </p:txBody>
      </p:sp>
      <p:sp>
        <p:nvSpPr>
          <p:cNvPr id="7" name="Chevron 6"/>
          <p:cNvSpPr/>
          <p:nvPr/>
        </p:nvSpPr>
        <p:spPr>
          <a:xfrm>
            <a:off x="677387" y="4776587"/>
            <a:ext cx="10855878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 качества</a:t>
            </a:r>
          </a:p>
        </p:txBody>
      </p:sp>
      <p:sp>
        <p:nvSpPr>
          <p:cNvPr id="8" name="Chevron 7"/>
          <p:cNvSpPr/>
          <p:nvPr/>
        </p:nvSpPr>
        <p:spPr>
          <a:xfrm>
            <a:off x="677387" y="5514520"/>
            <a:ext cx="10855878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19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920" name="body"/>
          <p:cNvSpPr txBox="1"/>
          <p:nvPr/>
        </p:nvSpPr>
        <p:spPr>
          <a:xfrm>
            <a:off x="677387" y="2200937"/>
            <a:ext cx="10855878" cy="374865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12 слайдов — 4 минуты вместо 186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рабочих дней до 1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в пилоте — 2 из 68 колод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за 6 недель вместо 11 в неделю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10855878" cy="17710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на 1 машине: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6 недель: 1 400 руб.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Подключение 4 команд: 3й квартал 2026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Доступ всей компании: 4й квартал 2026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Иллюстрации в стиле шаблона: 1й квартал 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677387" y="4858839"/>
            <a:ext cx="10855878" cy="74553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13338" y="4622754"/>
            <a:ext cx="546723" cy="5467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7387" y="3715691"/>
            <a:ext cx="5427939" cy="9443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2026: 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5831964" y="4622754"/>
            <a:ext cx="546723" cy="5467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91356" y="5405563"/>
            <a:ext cx="5427939" cy="9443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2026: доступ для всей компании</a:t>
            </a:r>
          </a:p>
        </p:txBody>
      </p:sp>
      <p:sp>
        <p:nvSpPr>
          <p:cNvPr id="9" name="Oval 8"/>
          <p:cNvSpPr/>
          <p:nvPr/>
        </p:nvSpPr>
        <p:spPr>
          <a:xfrm>
            <a:off x="9450590" y="4622754"/>
            <a:ext cx="546723" cy="5467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05326" y="3715691"/>
            <a:ext cx="5427939" cy="9443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2027: генерация иллюстраций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graphicFrame>
        <p:nvGraphicFramePr>
          <p:cNvPr id="797" name="Table 796"/>
          <p:cNvGraphicFramePr>
            <a:graphicFrameLocks noGrp="1"/>
          </p:cNvGraphicFramePr>
          <p:nvPr/>
        </p:nvGraphicFramePr>
        <p:xfrm>
          <a:off x="677387" y="2200937"/>
          <a:ext cx="10855878" cy="41277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8626"/>
                <a:gridCol w="3618626"/>
                <a:gridCol w="3618626"/>
              </a:tblGrid>
              <a:tr h="82555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255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55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55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555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закрыты в неделю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69" name="Google Shape;769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07349" y="2772418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9339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774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Запуск сервиса на всю компанию в четвертом квартале 2026</a:t>
            </a:r>
          </a:p>
        </p:txBody>
      </p:sp>
      <p:sp>
        <p:nvSpPr>
          <p:cNvPr id="775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Интеграция с хранилищем документов в четвертом квартале 2026</a:t>
            </a:r>
          </a:p>
        </p:txBody>
      </p:sp>
      <p:sp>
        <p:nvSpPr>
          <p:cNvPr id="776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 в третьем квартале 2026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78" name="Google Shape;77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99424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0" name="Google Shape;780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1513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3" name="Google Shape;783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9438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16973" y="2791669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4144" y="2770225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sp>
        <p:nvSpPr>
          <p:cNvPr id="787" name="card_0"/>
          <p:cNvSpPr txBox="1"/>
          <p:nvPr/>
        </p:nvSpPr>
        <p:spPr>
          <a:xfrm>
            <a:off x="806889" y="392871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цифры, аудит проверяет</a:t>
            </a:r>
          </a:p>
        </p:txBody>
      </p:sp>
      <p:sp>
        <p:nvSpPr>
          <p:cNvPr id="788" name="card_1"/>
          <p:cNvSpPr txBox="1"/>
          <p:nvPr/>
        </p:nvSpPr>
        <p:spPr>
          <a:xfrm>
            <a:off x="4533496" y="392233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Неизвестный шаблон может быть плохо сделан</a:t>
            </a:r>
          </a:p>
        </p:txBody>
      </p:sp>
      <p:sp>
        <p:nvSpPr>
          <p:cNvPr id="789" name="card_2"/>
          <p:cNvSpPr txBox="1"/>
          <p:nvPr/>
        </p:nvSpPr>
        <p:spPr>
          <a:xfrm>
            <a:off x="8264469" y="392670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Преимущества</a:t>
            </a:r>
          </a:p>
        </p:txBody>
      </p:sp>
      <p:sp>
        <p:nvSpPr>
          <p:cNvPr id="3" name="card_0"/>
          <p:cNvSpPr txBox="1"/>
          <p:nvPr/>
        </p:nvSpPr>
        <p:spPr>
          <a:xfrm>
            <a:off x="823935" y="1925604"/>
            <a:ext cx="5060899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Сокращение времени сборки до 4 минут</a:t>
            </a:r>
          </a:p>
        </p:txBody>
      </p:sp>
      <p:sp>
        <p:nvSpPr>
          <p:cNvPr id="4" name="card_1"/>
          <p:cNvSpPr txBox="1"/>
          <p:nvPr/>
        </p:nvSpPr>
        <p:spPr>
          <a:xfrm>
            <a:off x="6307165" y="1927936"/>
            <a:ext cx="5086380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Уменьшение нарушений фирменного стиля до 2 из 68</a:t>
            </a:r>
          </a:p>
        </p:txBody>
      </p:sp>
      <p:sp>
        <p:nvSpPr>
          <p:cNvPr id="5" name="card_2"/>
          <p:cNvSpPr txBox="1"/>
          <p:nvPr/>
        </p:nvSpPr>
        <p:spPr>
          <a:xfrm>
            <a:off x="823935" y="4196699"/>
            <a:ext cx="5060899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Экономия 1 400 рублей за 6 недель пилота</a:t>
            </a:r>
          </a:p>
        </p:txBody>
      </p:sp>
      <p:sp>
        <p:nvSpPr>
          <p:cNvPr id="6" name="card_3"/>
          <p:cNvSpPr txBox="1"/>
          <p:nvPr/>
        </p:nvSpPr>
        <p:spPr>
          <a:xfrm>
            <a:off x="6307165" y="4196699"/>
            <a:ext cx="5086380" cy="185169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Повышение производительности дизайнеров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Следующие шаги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58855" y="1783080"/>
            <a:ext cx="5242438" cy="385947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готов к масштабированию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Ожидаем решение о запуске в четвертом квартале 2026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Планируем интеграцию с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
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(мин)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Сейчас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 (мин),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8" Type="http://schemas.openxmlformats.org/officeDocument/2006/relationships/slideLayout" Target="../slideLayouts/slideLayout1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3" r:id="rId6"/>
    <p:sldLayoutId id="2147483657" r:id="rId10"/>
    <p:sldLayoutId id="2147483659" r:id="rId12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7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22279" y="2598016"/>
            <a:ext cx="7535387" cy="24790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вёрстка презентаций: ускоряем работу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Сборка презентаций вручную занимает 186 минут</a:t>
            </a:r>
          </a:p>
        </p:txBody>
      </p:sp>
      <p:sp>
        <p:nvSpPr>
          <p:cNvPr id="3" name="stat_0:bar"/>
          <p:cNvSpPr/>
          <p:nvPr/>
        </p:nvSpPr>
        <p:spPr>
          <a:xfrm>
            <a:off x="677387" y="2489735"/>
            <a:ext cx="50800" cy="128219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187" y="2380007"/>
            <a:ext cx="10678078" cy="139192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42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42 колоды в Q1 2026, 12 слайдов каждая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77387" y="4596066"/>
            <a:ext cx="10855878" cy="1604731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правок после ревью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нарушили фирменный стиль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4 человека закрывают 11 запросов из 27, средний срок ожидания 6 дней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77387" y="2277137"/>
            <a:ext cx="10855878" cy="149206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800">
                <a:solidFill>
                  <a:srgbClr val="000000"/>
                </a:solidFill>
                <a:latin typeface="Play"/>
                <a:ea typeface="Play"/>
                <a:cs typeface="Play"/>
              </a:rPr>
              <a:t>4 человека в отделе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77387" y="4004623"/>
            <a:ext cx="10855878" cy="219617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поступило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11 закрыто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6 рабочих дней ожидания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18" name="Google Shape;918;p74"/>
          <p:cNvCxnSpPr/>
          <p:nvPr/>
        </p:nvCxnSpPr>
        <p:spPr>
          <a:xfrm rot="10800000">
            <a:off x="658813" y="2199500"/>
            <a:ext cx="11533187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19" name="Google Shape;919;p74"/>
          <p:cNvCxnSpPr/>
          <p:nvPr/>
        </p:nvCxnSpPr>
        <p:spPr>
          <a:xfrm flipH="1">
            <a:off x="1" y="4351265"/>
            <a:ext cx="8112124" cy="42098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"/>
            <a:headEnd len="lg" w="lg" type="stealth"/>
            <a:tailEnd len="sm" w="sm" type="none"/>
          </a:ln>
        </p:spPr>
      </p:cxnSp>
      <p:sp>
        <p:nvSpPr>
          <p:cNvPr id="920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автоматически вёрстит презентации из шаблона и материалов</a:t>
            </a:r>
          </a:p>
        </p:txBody>
      </p:sp>
      <p:sp>
        <p:nvSpPr>
          <p:cNvPr id="921" name="lead"/>
          <p:cNvSpPr txBox="1"/>
          <p:nvPr/>
        </p:nvSpPr>
        <p:spPr>
          <a:xfrm>
            <a:off x="677387" y="2434452"/>
            <a:ext cx="10855878" cy="85016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шаблон pptx и материалы</a:t>
            </a:r>
          </a:p>
        </p:txBody>
      </p:sp>
      <p:sp>
        <p:nvSpPr>
          <p:cNvPr id="922" name="body"/>
          <p:cNvSpPr txBox="1"/>
          <p:nvPr/>
        </p:nvSpPr>
        <p:spPr>
          <a:xfrm>
            <a:off x="677387" y="3399623"/>
            <a:ext cx="10855878" cy="951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Парсит в дизайн-систему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Составляет план колоды</a:t>
            </a:r>
          </a:p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Аудит качества до выдачи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Экспорт в pptx, pdf, html, слайды остаются редактируемыми</a:t>
            </a:r>
          </a:p>
        </p:txBody>
      </p:sp>
      <p:sp>
        <p:nvSpPr>
          <p:cNvPr id="797" name="lead"/>
          <p:cNvSpPr txBox="1"/>
          <p:nvPr/>
        </p:nvSpPr>
        <p:spPr>
          <a:xfrm>
            <a:off x="677387" y="2825777"/>
            <a:ext cx="10855878" cy="175501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80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 с нативными объектами</a:t>
            </a:r>
          </a:p>
        </p:txBody>
      </p:sp>
      <p:sp>
        <p:nvSpPr>
          <p:cNvPr id="798" name="body"/>
          <p:cNvSpPr txBox="1"/>
          <p:nvPr/>
        </p:nvSpPr>
        <p:spPr>
          <a:xfrm>
            <a:off x="677387" y="4783289"/>
            <a:ext cx="10855878" cy="141750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Pdf и html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Слайды редактируемы, без слайд-картинок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Средняя сборка колоды за 4 минуты вместо 186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77387" y="2380007"/>
          <a:ext cx="10855878" cy="382078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 до первой версии сократилось с 6 дней до 1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77387" y="2697125"/>
            <a:ext cx="5454861" cy="2082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000000"/>
                </a:solidFill>
                <a:latin typeface="Play"/>
                <a:ea typeface="Play"/>
                <a:cs typeface="Play"/>
              </a:rPr>
              <a:t>2 нарушения фирменного стиля из 68 колод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77387" y="4989599"/>
            <a:ext cx="5454861" cy="8940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Обе исправлены автоматическими правками аудита</a:t>
            </a:r>
          </a:p>
        </p:txBody>
      </p:sp>
      <p:grpSp>
        <p:nvGrpSpPr>
          <p:cNvPr id="5" name="illustration:builtin-presentation"/>
          <p:cNvGrpSpPr/>
          <p:nvPr/>
        </p:nvGrpSpPr>
        <p:grpSpPr>
          <a:xfrm>
            <a:off x="7429531" y="2704296"/>
            <a:ext cx="3172211" cy="3172211"/>
            <a:chOff x="7429531" y="2704296"/>
            <a:chExt cx="3172211" cy="3172211"/>
          </a:xfrm>
        </p:grpSpPr>
        <p:sp>
          <p:nvSpPr>
            <p:cNvPr id="6" name="Oval 5"/>
            <p:cNvSpPr/>
            <p:nvPr/>
          </p:nvSpPr>
          <p:spPr>
            <a:xfrm>
              <a:off x="7429531" y="2704296"/>
              <a:ext cx="3172211" cy="3172211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555412" y="3132293"/>
              <a:ext cx="2920448" cy="1888221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555412" y="3132293"/>
              <a:ext cx="2920448" cy="377644"/>
            </a:xfrm>
            <a:prstGeom prst="roundRect">
              <a:avLst>
                <a:gd name="adj" fmla="val 46666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555412" y="3333703"/>
              <a:ext cx="2920448" cy="176233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857528" y="3761700"/>
              <a:ext cx="1057403" cy="125881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57528" y="4013463"/>
              <a:ext cx="805640" cy="100705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857528" y="4214873"/>
              <a:ext cx="931522" cy="100705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857528" y="4416283"/>
              <a:ext cx="704935" cy="100705"/>
            </a:xfrm>
            <a:prstGeom prst="roundRect">
              <a:avLst>
                <a:gd name="adj" fmla="val 50000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191870" y="4290402"/>
              <a:ext cx="226586" cy="478349"/>
            </a:xfrm>
            <a:prstGeom prst="roundRect">
              <a:avLst>
                <a:gd name="adj" fmla="val 22222"/>
              </a:avLst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519162" y="4038639"/>
              <a:ext cx="226586" cy="730112"/>
            </a:xfrm>
            <a:prstGeom prst="roundRect">
              <a:avLst>
                <a:gd name="adj" fmla="val 22222"/>
              </a:avLst>
            </a:prstGeom>
            <a:solidFill>
              <a:srgbClr val="FF38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9846454" y="3786876"/>
              <a:ext cx="226586" cy="981874"/>
            </a:xfrm>
            <a:prstGeom prst="roundRect">
              <a:avLst>
                <a:gd name="adj" fmla="val 22222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940108" y="5020514"/>
              <a:ext cx="151057" cy="45317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386230" y="5423335"/>
              <a:ext cx="1258814" cy="151057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875" y="692177"/>
            <a:ext cx="10855391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Дизайнеры закрыли 38 запросов за 6 недель, исходный показатель 11 запросов в неделю</a:t>
            </a:r>
          </a:p>
        </p:txBody>
      </p:sp>
      <p:sp>
        <p:nvSpPr>
          <p:cNvPr id="3" name="stat_0:bar"/>
          <p:cNvSpPr/>
          <p:nvPr/>
        </p:nvSpPr>
        <p:spPr>
          <a:xfrm>
            <a:off x="677875" y="2225575"/>
            <a:ext cx="50800" cy="128219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855675" y="2115847"/>
            <a:ext cx="10677591" cy="139192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6 нед.</a:t>
            </a:r>
          </a:p>
          <a:p>
            <a:pPr>
              <a:spcAft>
                <a:spcPts val="300"/>
              </a:spcAft>
              <a:defRPr sz="32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38 запросов за 6 недель</a:t>
            </a:r>
          </a:p>
        </p:txBody>
      </p:sp>
      <p:sp>
        <p:nvSpPr>
          <p:cNvPr id="5" name="body"/>
          <p:cNvSpPr txBox="1"/>
          <p:nvPr/>
        </p:nvSpPr>
        <p:spPr>
          <a:xfrm>
            <a:off x="677875" y="4485118"/>
            <a:ext cx="10855391" cy="171567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000000"/>
                </a:solidFill>
                <a:latin typeface="Play"/>
                <a:ea typeface="Play"/>
                <a:cs typeface="Play"/>
              </a:rPr>
              <a:t>11 запросов в неделю в исходном показателе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title"/>
          <p:cNvSpPr txBox="1"/>
          <p:nvPr/>
        </p:nvSpPr>
        <p:spPr>
          <a:xfrm>
            <a:off x="677387" y="692177"/>
            <a:ext cx="10855878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 работает на 2 vCPU/2GB, модель gpt-oss-20b, инференс за 6 недель 1400 руб</a:t>
            </a:r>
          </a:p>
        </p:txBody>
      </p:sp>
      <p:sp>
        <p:nvSpPr>
          <p:cNvPr id="451" name="stat_0:bar"/>
          <p:cNvSpPr/>
          <p:nvPr/>
        </p:nvSpPr>
        <p:spPr>
          <a:xfrm>
            <a:off x="677387" y="2225575"/>
            <a:ext cx="50800" cy="1150112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stat_0"/>
          <p:cNvSpPr txBox="1"/>
          <p:nvPr/>
        </p:nvSpPr>
        <p:spPr>
          <a:xfrm>
            <a:off x="855187" y="2115847"/>
            <a:ext cx="10678078" cy="125984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8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8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vCPU</a:t>
            </a:r>
          </a:p>
          <a:p>
            <a:pPr>
              <a:spcAft>
                <a:spcPts val="300"/>
              </a:spcAft>
              <a:defRPr sz="2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2 vCPU / 2 GB RAM</a:t>
            </a:r>
          </a:p>
        </p:txBody>
      </p:sp>
      <p:sp>
        <p:nvSpPr>
          <p:cNvPr id="453" name="body"/>
          <p:cNvSpPr txBox="1"/>
          <p:nvPr/>
        </p:nvSpPr>
        <p:spPr>
          <a:xfrm>
            <a:off x="677387" y="4485118"/>
            <a:ext cx="10855878" cy="171567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Инференс за 6 недель 1 400 руб</a:t>
            </a:r>
          </a:p>
          <a:p>
            <a:pPr algn="l">
              <a:spcAft>
                <a:spcPts val="300"/>
              </a:spcAft>
              <a:defRPr sz="2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title"/>
          <p:cNvSpPr txBox="1"/>
          <p:nvPr/>
        </p:nvSpPr>
        <p:spPr>
          <a:xfrm>
            <a:off x="677387" y="692177"/>
            <a:ext cx="10855878" cy="1447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риск — нагрузка выше 20 задач требует внешней очереди</a:t>
            </a:r>
          </a:p>
        </p:txBody>
      </p:sp>
      <p:sp>
        <p:nvSpPr>
          <p:cNvPr id="766" name="lead"/>
          <p:cNvSpPr txBox="1"/>
          <p:nvPr/>
        </p:nvSpPr>
        <p:spPr>
          <a:xfrm>
            <a:off x="677387" y="2825777"/>
            <a:ext cx="10855878" cy="117725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4800">
                <a:solidFill>
                  <a:srgbClr val="000000"/>
                </a:solidFill>
                <a:latin typeface="Play"/>
                <a:ea typeface="Play"/>
                <a:cs typeface="Play"/>
              </a:rPr>
              <a:t>Модель может выдумать цифры</a:t>
            </a:r>
          </a:p>
        </p:txBody>
      </p:sp>
      <p:sp>
        <p:nvSpPr>
          <p:cNvPr id="767" name="body"/>
          <p:cNvSpPr txBox="1"/>
          <p:nvPr/>
        </p:nvSpPr>
        <p:spPr>
          <a:xfrm>
            <a:off x="677387" y="4205531"/>
            <a:ext cx="10855878" cy="19952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Неизвестный шаблон может быть плохо сделанным</a:t>
            </a:r>
          </a:p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77387" y="692177"/>
            <a:ext cx="10855878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План развития: Q3 2026 подключение 4 команд, Q4 2026 доступ компании, Q1 2027 генерация иллюстраций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77387" y="3923600"/>
            <a:ext cx="10855878" cy="12651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2826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7387" y="1983767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Q3 2026</a:t>
            </a:r>
          </a:p>
        </p:txBody>
      </p:sp>
      <p:sp>
        <p:nvSpPr>
          <p:cNvPr id="6" name="Oval 5"/>
          <p:cNvSpPr/>
          <p:nvPr/>
        </p:nvSpPr>
        <p:spPr>
          <a:xfrm>
            <a:off x="5641452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1356" y="4851346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Q4 2026</a:t>
            </a:r>
          </a:p>
        </p:txBody>
      </p:sp>
      <p:sp>
        <p:nvSpPr>
          <p:cNvPr id="8" name="Oval 7"/>
          <p:cNvSpPr/>
          <p:nvPr/>
        </p:nvSpPr>
        <p:spPr>
          <a:xfrm>
            <a:off x="9260078" y="3522982"/>
            <a:ext cx="927746" cy="92774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5326" y="1983767"/>
            <a:ext cx="5427939" cy="160247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000000"/>
                </a:solidFill>
                <a:latin typeface="Play"/>
                <a:ea typeface="Play"/>
                <a:cs typeface="Play"/>
              </a:rPr>
              <a:t>Q1 2027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58855" y="2400300"/>
            <a:ext cx="5475305" cy="10515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Решить о внедрении сервиса автоматической вёрстки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58855" y="4186139"/>
            <a:ext cx="5475305" cy="10261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Подтвердить переход к сервису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
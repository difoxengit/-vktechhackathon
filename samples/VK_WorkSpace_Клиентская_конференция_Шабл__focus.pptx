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 (колоды)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592290"/>
          <a:ext cx="11310884" cy="233734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101083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12‑слайдная колода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чел. закрывают 11 запросов/нед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411957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427817" y="2429574"/>
            <a:ext cx="1772267" cy="109880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868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868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Загрузка шаблона</a:t>
            </a:r>
          </a:p>
        </p:txBody>
      </p:sp>
      <p:sp>
        <p:nvSpPr>
          <p:cNvPr id="683" name="Chevron 682"/>
          <p:cNvSpPr/>
          <p:nvPr/>
        </p:nvSpPr>
        <p:spPr>
          <a:xfrm>
            <a:off x="2335832" y="2429574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Разбор дизайн‑системы</a:t>
            </a:r>
          </a:p>
        </p:txBody>
      </p:sp>
      <p:sp>
        <p:nvSpPr>
          <p:cNvPr id="684" name="Chevron 683"/>
          <p:cNvSpPr/>
          <p:nvPr/>
        </p:nvSpPr>
        <p:spPr>
          <a:xfrm>
            <a:off x="4243848" y="2429574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94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94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Построение плана колоды</a:t>
            </a:r>
          </a:p>
        </p:txBody>
      </p:sp>
      <p:sp>
        <p:nvSpPr>
          <p:cNvPr id="685" name="Chevron 684"/>
          <p:cNvSpPr/>
          <p:nvPr/>
        </p:nvSpPr>
        <p:spPr>
          <a:xfrm>
            <a:off x="6151864" y="2429574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Авто‑верстка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8059880" y="2429574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868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868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  <p:sp>
        <p:nvSpPr>
          <p:cNvPr id="687" name="Chevron 686"/>
          <p:cNvSpPr/>
          <p:nvPr/>
        </p:nvSpPr>
        <p:spPr>
          <a:xfrm>
            <a:off x="9967896" y="2429574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94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94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 результата</a:t>
            </a:r>
          </a:p>
        </p:txBody>
      </p:sp>
      <p:sp>
        <p:nvSpPr>
          <p:cNvPr id="688" name="body"/>
          <p:cNvSpPr txBox="1"/>
          <p:nvPr/>
        </p:nvSpPr>
        <p:spPr>
          <a:xfrm>
            <a:off x="427817" y="4292353"/>
            <a:ext cx="11312347" cy="16368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документы, таблицы, заметки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строит дизайн‑систему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стиль и данные до выдачи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Время</a:t>
            </a:r>
          </a:p>
        </p:txBody>
      </p:sp>
      <p:graphicFrame>
        <p:nvGraphicFramePr>
          <p:cNvPr id="623" name="Chart 622"/>
          <p:cNvGraphicFramePr>
            <a:graphicFrameLocks noGrp="1"/>
          </p:cNvGraphicFramePr>
          <p:nvPr/>
        </p:nvGraphicFramePr>
        <p:xfrm>
          <a:off x="429280" y="1504165"/>
          <a:ext cx="11310884" cy="279039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624" name="body"/>
          <p:cNvSpPr txBox="1"/>
          <p:nvPr/>
        </p:nvSpPr>
        <p:spPr>
          <a:xfrm>
            <a:off x="429280" y="4466013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колоды 12 слайдов сократилось с 186 до 4 мин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готовый вариант доступен за 1 день вместо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Нарушения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492575"/>
          <a:ext cx="11310884" cy="289827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562299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в пилоте –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Все нарушения автоматически исправлены аудитором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280" y="2680184"/>
            <a:ext cx="11310884" cy="60956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90919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279" y="1745515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3 квартал 2026: 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861213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99574" y="3127200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 квартал 2026: 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631508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69869" y="1745515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1 квартал 2027: генерация иллюстраций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429280" y="3948857"/>
            <a:ext cx="11310884" cy="14688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GB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за 6 недель пилота –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 квартал 2026: подключение 4 команд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квартал 2026: доступ для всей компании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квартал 2027: генерация иллюстраций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592290"/>
          <a:ext cx="11310884" cy="2668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5337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Ручной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Кол-во презентаций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на вёрстку/нед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432493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недель, 2 команды,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4 мин, 38 запросов закрыто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– 2 из 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
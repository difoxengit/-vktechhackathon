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FFFFFF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2" r:id="rId6"/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2" name="Google Shape;382;p17"/>
          <p:cNvSpPr/>
          <p:nvPr/>
        </p:nvSpPr>
        <p:spPr>
          <a:xfrm>
            <a:off x="429254" y="4682210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title"/>
          <p:cNvSpPr txBox="1"/>
          <p:nvPr/>
        </p:nvSpPr>
        <p:spPr>
          <a:xfrm>
            <a:off x="429280" y="2490551"/>
            <a:ext cx="7827385" cy="1884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42 колоды в первом квартале 2026 года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848385"/>
          <a:ext cx="11310884" cy="2536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5073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5073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073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Средняя сборка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0738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0738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556759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на правки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нарушили стиль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Сборка одной презентации занимает 186 мин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848385"/>
          <a:ext cx="11310884" cy="2933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73329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73329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Слайдов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73329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73329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 (дней)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29280" y="4953000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12 слайдов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дней ожидания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27164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автоматической вёрстки: как это работает</a:t>
            </a:r>
          </a:p>
        </p:txBody>
      </p:sp>
      <p:sp>
        <p:nvSpPr>
          <p:cNvPr id="682" name="Pentagon 681"/>
          <p:cNvSpPr/>
          <p:nvPr/>
        </p:nvSpPr>
        <p:spPr>
          <a:xfrm>
            <a:off x="427817" y="1895629"/>
            <a:ext cx="11312347" cy="580427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Ввод</a:t>
            </a:r>
          </a:p>
        </p:txBody>
      </p:sp>
      <p:sp>
        <p:nvSpPr>
          <p:cNvPr id="683" name="Chevron 682"/>
          <p:cNvSpPr/>
          <p:nvPr/>
        </p:nvSpPr>
        <p:spPr>
          <a:xfrm>
            <a:off x="427817" y="2570544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Парсинг</a:t>
            </a:r>
          </a:p>
        </p:txBody>
      </p:sp>
      <p:sp>
        <p:nvSpPr>
          <p:cNvPr id="684" name="Chevron 683"/>
          <p:cNvSpPr/>
          <p:nvPr/>
        </p:nvSpPr>
        <p:spPr>
          <a:xfrm>
            <a:off x="427817" y="3245460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Дизайн-система</a:t>
            </a:r>
          </a:p>
        </p:txBody>
      </p:sp>
      <p:sp>
        <p:nvSpPr>
          <p:cNvPr id="685" name="Chevron 684"/>
          <p:cNvSpPr/>
          <p:nvPr/>
        </p:nvSpPr>
        <p:spPr>
          <a:xfrm>
            <a:off x="427817" y="3920376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86" name="Chevron 685"/>
          <p:cNvSpPr/>
          <p:nvPr/>
        </p:nvSpPr>
        <p:spPr>
          <a:xfrm>
            <a:off x="427817" y="4595291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687" name="Chevron 686"/>
          <p:cNvSpPr/>
          <p:nvPr/>
        </p:nvSpPr>
        <p:spPr>
          <a:xfrm>
            <a:off x="427817" y="5270207"/>
            <a:ext cx="11312347" cy="58042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sp>
        <p:nvSpPr>
          <p:cNvPr id="623" name="lead"/>
          <p:cNvSpPr txBox="1"/>
          <p:nvPr/>
        </p:nvSpPr>
        <p:spPr>
          <a:xfrm>
            <a:off x="429280" y="1745515"/>
            <a:ext cx="7827264" cy="180955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Разбирает дизайн-систему</a:t>
            </a:r>
          </a:p>
        </p:txBody>
      </p:sp>
      <p:sp>
        <p:nvSpPr>
          <p:cNvPr id="624" name="body"/>
          <p:cNvSpPr txBox="1"/>
          <p:nvPr/>
        </p:nvSpPr>
        <p:spPr>
          <a:xfrm>
            <a:off x="429280" y="3804214"/>
            <a:ext cx="7827264" cy="20936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Собирает план колоды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Вёрстка по системе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Сокращение времени сборки до 4 мин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1848385"/>
          <a:ext cx="11310884" cy="404949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Нарушений фирменного стиля — 2 из 68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9280" y="2431298"/>
          <a:ext cx="11310884" cy="34665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Ресурсы: 2 vCPU / 2 ГБ RAM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783080"/>
          <a:ext cx="1131088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1371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Ресурс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vCPU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RAM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ГБ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Стоимость инференса за 6 недель — 1 400 руб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29280" y="1848385"/>
          <a:ext cx="11310884" cy="404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202474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202474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Инференс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1 400 руб.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67285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Нагрузка выше 20 задач: главный риск</a:t>
            </a:r>
          </a:p>
        </p:txBody>
      </p:sp>
      <p:sp>
        <p:nvSpPr>
          <p:cNvPr id="682" name="lead"/>
          <p:cNvSpPr txBox="1"/>
          <p:nvPr/>
        </p:nvSpPr>
        <p:spPr>
          <a:xfrm>
            <a:off x="427817" y="2409364"/>
            <a:ext cx="5692225" cy="1884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Требуется внешняя очередь</a:t>
            </a:r>
          </a:p>
        </p:txBody>
      </p:sp>
      <p:sp>
        <p:nvSpPr>
          <p:cNvPr id="683" name="body"/>
          <p:cNvSpPr txBox="1"/>
          <p:nvPr/>
        </p:nvSpPr>
        <p:spPr>
          <a:xfrm>
            <a:off x="427817" y="4839061"/>
            <a:ext cx="5692225" cy="4978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FFFFFF"/>
                </a:solidFill>
                <a:latin typeface="Play"/>
                <a:ea typeface="Play"/>
                <a:cs typeface="Play"/>
              </a:rPr>
              <a:t>Модель может выдумать цифры</a:t>
            </a:r>
          </a:p>
        </p:txBody>
      </p:sp>
      <p:grpSp>
        <p:nvGrpSpPr>
          <p:cNvPr id="2" name="illustration:builtin-target"/>
          <p:cNvGrpSpPr/>
          <p:nvPr/>
        </p:nvGrpSpPr>
        <p:grpSpPr>
          <a:xfrm>
            <a:off x="7457858" y="2218008"/>
            <a:ext cx="3310248" cy="3310247"/>
            <a:chOff x="7457858" y="2218008"/>
            <a:chExt cx="3310248" cy="3310247"/>
          </a:xfrm>
        </p:grpSpPr>
        <p:sp>
          <p:nvSpPr>
            <p:cNvPr id="684" name="Oval 683"/>
            <p:cNvSpPr/>
            <p:nvPr/>
          </p:nvSpPr>
          <p:spPr>
            <a:xfrm>
              <a:off x="7457858" y="2218008"/>
              <a:ext cx="3310247" cy="3310247"/>
            </a:xfrm>
            <a:prstGeom prst="ellipse">
              <a:avLst/>
            </a:prstGeom>
            <a:solidFill>
              <a:srgbClr val="0E21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5" name="Oval 684"/>
            <p:cNvSpPr/>
            <p:nvPr/>
          </p:nvSpPr>
          <p:spPr>
            <a:xfrm>
              <a:off x="7720576" y="2743444"/>
              <a:ext cx="2522093" cy="2522093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6" name="Oval 685"/>
            <p:cNvSpPr/>
            <p:nvPr/>
          </p:nvSpPr>
          <p:spPr>
            <a:xfrm>
              <a:off x="8035838" y="3058706"/>
              <a:ext cx="1891569" cy="189156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7" name="Oval 686"/>
            <p:cNvSpPr/>
            <p:nvPr/>
          </p:nvSpPr>
          <p:spPr>
            <a:xfrm>
              <a:off x="8351100" y="3373968"/>
              <a:ext cx="1261046" cy="1261046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8" name="Oval 687"/>
            <p:cNvSpPr/>
            <p:nvPr/>
          </p:nvSpPr>
          <p:spPr>
            <a:xfrm>
              <a:off x="8666361" y="3689229"/>
              <a:ext cx="630523" cy="630523"/>
            </a:xfrm>
            <a:prstGeom prst="ellipse">
              <a:avLst/>
            </a:prstGeom>
            <a:solidFill>
              <a:srgbClr val="6DBC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Freeform 2"/>
            <p:cNvSpPr/>
            <p:nvPr/>
          </p:nvSpPr>
          <p:spPr>
            <a:xfrm>
              <a:off x="9060438" y="2559542"/>
              <a:ext cx="1366134" cy="1366134"/>
            </a:xfrm>
            <a:custGeom>
              <a:avLst/>
              <a:gdLst/>
              <a:ahLst/>
              <a:cxnLst/>
              <a:rect l="l" t="t" r="r" b="b"/>
              <a:pathLst>
                <a:path w="1366134" h="1366134">
                  <a:moveTo>
                    <a:pt x="0" y="1366134"/>
                  </a:moveTo>
                  <a:lnTo>
                    <a:pt x="1366134" y="0"/>
                  </a:lnTo>
                </a:path>
              </a:pathLst>
            </a:custGeom>
            <a:solidFill>
              <a:srgbClr val="000000"/>
            </a:solidFill>
            <a:ln w="105087" cap="rnd">
              <a:solidFill>
                <a:srgbClr val="FFFF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Freeform 3"/>
            <p:cNvSpPr/>
            <p:nvPr/>
          </p:nvSpPr>
          <p:spPr>
            <a:xfrm>
              <a:off x="10426572" y="2218008"/>
              <a:ext cx="341534" cy="446621"/>
            </a:xfrm>
            <a:custGeom>
              <a:avLst/>
              <a:gdLst/>
              <a:ahLst/>
              <a:cxnLst/>
              <a:rect l="l" t="t" r="r" b="b"/>
              <a:pathLst>
                <a:path w="341534" h="446621">
                  <a:moveTo>
                    <a:pt x="0" y="341534"/>
                  </a:moveTo>
                  <a:lnTo>
                    <a:pt x="236446" y="0"/>
                  </a:lnTo>
                  <a:lnTo>
                    <a:pt x="341534" y="44662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10111311" y="2323096"/>
              <a:ext cx="446620" cy="236446"/>
            </a:xfrm>
            <a:custGeom>
              <a:avLst/>
              <a:gdLst/>
              <a:ahLst/>
              <a:cxnLst/>
              <a:rect l="l" t="t" r="r" b="b"/>
              <a:pathLst>
                <a:path w="446620" h="236446">
                  <a:moveTo>
                    <a:pt x="315261" y="236446"/>
                  </a:moveTo>
                  <a:lnTo>
                    <a:pt x="0" y="131359"/>
                  </a:lnTo>
                  <a:lnTo>
                    <a:pt x="44662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Пилот: 6 недель, 68 колод</a:t>
            </a:r>
          </a:p>
        </p:txBody>
      </p:sp>
      <p:graphicFrame>
        <p:nvGraphicFramePr>
          <p:cNvPr id="623" name="Table 622"/>
          <p:cNvGraphicFramePr>
            <a:graphicFrameLocks noGrp="1"/>
          </p:cNvGraphicFramePr>
          <p:nvPr/>
        </p:nvGraphicFramePr>
        <p:xfrm>
          <a:off x="429280" y="1783080"/>
          <a:ext cx="1131088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1371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Длительность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недель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1" name="Google Shape;881;p45"/>
          <p:cNvSpPr/>
          <p:nvPr/>
        </p:nvSpPr>
        <p:spPr>
          <a:xfrm>
            <a:off x="429254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45"/>
          <p:cNvSpPr/>
          <p:nvPr/>
        </p:nvSpPr>
        <p:spPr>
          <a:xfrm>
            <a:off x="3499026" y="4567907"/>
            <a:ext cx="834282" cy="834282"/>
          </a:xfrm>
          <a:prstGeom prst="ellipse">
            <a:avLst/>
          </a:prstGeom>
          <a:solidFill>
            <a:srgbClr val="5A67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Rounded Rectangle 883"/>
          <p:cNvSpPr/>
          <p:nvPr/>
        </p:nvSpPr>
        <p:spPr>
          <a:xfrm>
            <a:off x="300817" y="297715"/>
            <a:ext cx="11566347" cy="410835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title"/>
          <p:cNvSpPr txBox="1"/>
          <p:nvPr/>
        </p:nvSpPr>
        <p:spPr>
          <a:xfrm>
            <a:off x="427817" y="424715"/>
            <a:ext cx="11312347" cy="10185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54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54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Решение о полном запуске</a:t>
            </a:r>
          </a:p>
        </p:txBody>
      </p:sp>
      <p:sp>
        <p:nvSpPr>
          <p:cNvPr id="886" name="lead"/>
          <p:cNvSpPr txBox="1"/>
          <p:nvPr/>
        </p:nvSpPr>
        <p:spPr>
          <a:xfrm>
            <a:off x="427817" y="1783080"/>
            <a:ext cx="11312347" cy="117477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32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 подключение 4 команд</a:t>
            </a:r>
          </a:p>
        </p:txBody>
      </p:sp>
      <p:sp>
        <p:nvSpPr>
          <p:cNvPr id="887" name="body"/>
          <p:cNvSpPr txBox="1"/>
          <p:nvPr/>
        </p:nvSpPr>
        <p:spPr>
          <a:xfrm>
            <a:off x="427817" y="3120832"/>
            <a:ext cx="11312347" cy="13784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Четвертый квартал 2026 доступ для всей компании</a:t>
            </a:r>
          </a:p>
          <a:p>
            <a:pPr algn="l">
              <a:spcAft>
                <a:spcPts val="300"/>
              </a:spcAft>
              <a:defRPr sz="32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квартал 2027 генерация иллюстраций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
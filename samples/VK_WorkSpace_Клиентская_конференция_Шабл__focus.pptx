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Текущее время</c:v>
                </c:pt>
                <c:pt idx="1">
                  <c:v>Автоматизированное время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минут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Титульный слайд">
  <p:cSld name="12_Титульный слайд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27" name="Google Shape;327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979" cy="6857131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15"/>
          <p:cNvSpPr/>
          <p:nvPr/>
        </p:nvSpPr>
        <p:spPr>
          <a:xfrm>
            <a:off x="0" y="4499104"/>
            <a:ext cx="6792686" cy="166168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5"/>
          <p:cNvSpPr/>
          <p:nvPr/>
        </p:nvSpPr>
        <p:spPr>
          <a:xfrm>
            <a:off x="1" y="5501389"/>
            <a:ext cx="4811842" cy="135660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0" name="Google Shape;330;p1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31" name="Google Shape;331;p1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2" name="Google Shape;332;p1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3" name="Google Shape;333;p1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4" name="Google Shape;334;p1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5" name="Google Shape;335;p1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6" name="Google Shape;336;p1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7" name="Google Shape;337;p1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8" name="Google Shape;338;p1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9" name="Google Shape;339;p1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0" name="Google Shape;340;p1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1" name="Google Shape;341;p1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2" name="Google Shape;342;p1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3" name="Google Shape;343;p1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4" name="Google Shape;344;p1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5" name="Google Shape;345;p1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6" name="Google Shape;346;p1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7" name="Google Shape;347;p1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8" name="Google Shape;348;p1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9" name="Google Shape;349;p1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50" name="Google Shape;350;p15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51" name="Google Shape;35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5895936"/>
            <a:ext cx="3536690" cy="5572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52" name="Google Shape;35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7" Type="http://schemas.openxmlformats.org/officeDocument/2006/relationships/slideLayout" Target="../slideLayouts/slideLayout6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7"/>
    <p:sldLayoutId id="2147483655" r:id="rId9"/>
    <p:sldLayoutId id="2147483661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chart" Target="../charts/chart1.xml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Автоматическая вёрстка презентаций: ускоряем работу команды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0435112" cy="4297757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Текущие затраты времени на создание колод</a:t>
            </a:r>
          </a:p>
        </p:txBody>
      </p:sp>
      <p:sp>
        <p:nvSpPr>
          <p:cNvPr id="682" name="lead"/>
          <p:cNvSpPr txBox="1"/>
          <p:nvPr/>
        </p:nvSpPr>
        <p:spPr>
          <a:xfrm>
            <a:off x="1559052" y="1837052"/>
            <a:ext cx="9049877" cy="122765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42 колоды за Q1 2026: 186 минут на 12 слайдов</a:t>
            </a:r>
          </a:p>
        </p:txBody>
      </p:sp>
      <p:sp>
        <p:nvSpPr>
          <p:cNvPr id="683" name="body"/>
          <p:cNvSpPr txBox="1"/>
          <p:nvPr/>
        </p:nvSpPr>
        <p:spPr>
          <a:xfrm>
            <a:off x="1559052" y="3310233"/>
            <a:ext cx="9049877" cy="261898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• 74 минуты на правки после ревью</a:t>
            </a:r>
          </a:p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19 колод нарушили фирменный стиль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Проблемы дизайна и ожидания</a:t>
            </a:r>
          </a:p>
        </p:txBody>
      </p:sp>
      <p:sp>
        <p:nvSpPr>
          <p:cNvPr id="3" name="lead"/>
          <p:cNvSpPr txBox="1"/>
          <p:nvPr/>
        </p:nvSpPr>
        <p:spPr>
          <a:xfrm>
            <a:off x="1560368" y="1592290"/>
            <a:ext cx="9048707" cy="125439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Дизайн-отдел из 4 человек закрывает 11 запросов/неделю из 27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1560368" y="3097566"/>
            <a:ext cx="9048707" cy="267604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Средний срок ожидания 6 рабочих дней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19 колод с нарушением стиля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0435112" cy="4826077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Сервис автоматической вёрстки</a:t>
            </a:r>
          </a:p>
        </p:txBody>
      </p:sp>
      <p:sp>
        <p:nvSpPr>
          <p:cNvPr id="682" name="lead"/>
          <p:cNvSpPr txBox="1"/>
          <p:nvPr/>
        </p:nvSpPr>
        <p:spPr>
          <a:xfrm>
            <a:off x="1559052" y="1837052"/>
            <a:ext cx="9049877" cy="122765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Принимает шаблон pptx и материалы</a:t>
            </a:r>
          </a:p>
        </p:txBody>
      </p:sp>
      <p:sp>
        <p:nvSpPr>
          <p:cNvPr id="683" name="body"/>
          <p:cNvSpPr txBox="1"/>
          <p:nvPr/>
        </p:nvSpPr>
        <p:spPr>
          <a:xfrm>
            <a:off x="1559052" y="3310233"/>
            <a:ext cx="9049877" cy="261898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Автоматически формирует план колоды и вёрстку</a:t>
            </a:r>
          </a:p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Экспорт в pptx, pdf, html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17" name="Google Shape;617;p28"/>
          <p:cNvGrpSpPr/>
          <p:nvPr/>
        </p:nvGrpSpPr>
        <p:grpSpPr>
          <a:xfrm>
            <a:off x="427865" y="1988423"/>
            <a:ext cx="476638" cy="474884"/>
            <a:chOff x="427865" y="2634106"/>
            <a:chExt cx="476638" cy="474884"/>
          </a:xfrm>
        </p:grpSpPr>
        <p:sp>
          <p:nvSpPr>
            <p:cNvPr id="618" name="Google Shape;618;p28"/>
            <p:cNvSpPr/>
            <p:nvPr/>
          </p:nvSpPr>
          <p:spPr>
            <a:xfrm>
              <a:off x="427865" y="2634106"/>
              <a:ext cx="476638" cy="474884"/>
            </a:xfrm>
            <a:prstGeom prst="roundRect">
              <a:avLst>
                <a:gd fmla="val 30745" name="adj"/>
              </a:avLst>
            </a:prstGeom>
            <a:gradFill>
              <a:gsLst>
                <a:gs pos="0">
                  <a:srgbClr val="00AEE8"/>
                </a:gs>
                <a:gs pos="100000">
                  <a:srgbClr val="0077FF"/>
                </a:gs>
              </a:gsLst>
              <a:lin ang="8100000" scaled="0"/>
            </a:gradFill>
            <a:ln>
              <a:noFill/>
            </a:ln>
          </p:spPr>
          <p:txBody>
            <a:bodyPr anchorCtr="0" anchor="ctr" bIns="45700" lIns="36000" spcFirstLastPara="1" rIns="36000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t/>
              </a:r>
              <a:endParaRPr sz="1400" u="none" cap="none" strike="noStrike">
                <a:solidFill>
                  <a:srgbClr val="00D3E3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pic>
          <p:nvPicPr>
            <p:cNvPr id="619" name="Google Shape;619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58184" y="2763548"/>
              <a:ext cx="216000" cy="216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33" name="Google Shape;633;p28"/>
          <p:cNvGrpSpPr/>
          <p:nvPr/>
        </p:nvGrpSpPr>
        <p:grpSpPr>
          <a:xfrm>
            <a:off x="3323465" y="1988423"/>
            <a:ext cx="476638" cy="474884"/>
            <a:chOff x="427865" y="2634106"/>
            <a:chExt cx="476638" cy="474884"/>
          </a:xfrm>
        </p:grpSpPr>
        <p:sp>
          <p:nvSpPr>
            <p:cNvPr id="634" name="Google Shape;634;p28"/>
            <p:cNvSpPr/>
            <p:nvPr/>
          </p:nvSpPr>
          <p:spPr>
            <a:xfrm>
              <a:off x="427865" y="2634106"/>
              <a:ext cx="476638" cy="474884"/>
            </a:xfrm>
            <a:prstGeom prst="roundRect">
              <a:avLst>
                <a:gd fmla="val 30745" name="adj"/>
              </a:avLst>
            </a:prstGeom>
            <a:gradFill>
              <a:gsLst>
                <a:gs pos="0">
                  <a:srgbClr val="00AEE8"/>
                </a:gs>
                <a:gs pos="100000">
                  <a:srgbClr val="0077FF"/>
                </a:gs>
              </a:gsLst>
              <a:lin ang="8100000" scaled="0"/>
            </a:gradFill>
            <a:ln>
              <a:noFill/>
            </a:ln>
          </p:spPr>
          <p:txBody>
            <a:bodyPr anchorCtr="0" anchor="ctr" bIns="45700" lIns="36000" spcFirstLastPara="1" rIns="36000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t/>
              </a:r>
              <a:endParaRPr sz="1400" u="none" cap="none" strike="noStrike">
                <a:solidFill>
                  <a:srgbClr val="00D3E3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pic>
          <p:nvPicPr>
            <p:cNvPr id="635" name="Google Shape;635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58184" y="2763548"/>
              <a:ext cx="216000" cy="216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36" name="Google Shape;636;p28"/>
          <p:cNvGrpSpPr/>
          <p:nvPr/>
        </p:nvGrpSpPr>
        <p:grpSpPr>
          <a:xfrm>
            <a:off x="6094374" y="1988423"/>
            <a:ext cx="476638" cy="474884"/>
            <a:chOff x="427865" y="2634106"/>
            <a:chExt cx="476638" cy="474884"/>
          </a:xfrm>
        </p:grpSpPr>
        <p:sp>
          <p:nvSpPr>
            <p:cNvPr id="637" name="Google Shape;637;p28"/>
            <p:cNvSpPr/>
            <p:nvPr/>
          </p:nvSpPr>
          <p:spPr>
            <a:xfrm>
              <a:off x="427865" y="2634106"/>
              <a:ext cx="476638" cy="474884"/>
            </a:xfrm>
            <a:prstGeom prst="roundRect">
              <a:avLst>
                <a:gd fmla="val 30745" name="adj"/>
              </a:avLst>
            </a:prstGeom>
            <a:gradFill>
              <a:gsLst>
                <a:gs pos="0">
                  <a:srgbClr val="00AEE8"/>
                </a:gs>
                <a:gs pos="100000">
                  <a:srgbClr val="0077FF"/>
                </a:gs>
              </a:gsLst>
              <a:lin ang="8100000" scaled="0"/>
            </a:gradFill>
            <a:ln>
              <a:noFill/>
            </a:ln>
          </p:spPr>
          <p:txBody>
            <a:bodyPr anchorCtr="0" anchor="ctr" bIns="45700" lIns="36000" spcFirstLastPara="1" rIns="36000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t/>
              </a:r>
              <a:endParaRPr sz="1400" u="none" cap="none" strike="noStrike">
                <a:solidFill>
                  <a:srgbClr val="00D3E3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pic>
          <p:nvPicPr>
            <p:cNvPr id="638" name="Google Shape;638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58184" y="2763548"/>
              <a:ext cx="216000" cy="216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39" name="Google Shape;639;p28"/>
          <p:cNvGrpSpPr/>
          <p:nvPr/>
        </p:nvGrpSpPr>
        <p:grpSpPr>
          <a:xfrm>
            <a:off x="8989974" y="1988423"/>
            <a:ext cx="476638" cy="474884"/>
            <a:chOff x="427865" y="2634106"/>
            <a:chExt cx="476638" cy="474884"/>
          </a:xfrm>
        </p:grpSpPr>
        <p:sp>
          <p:nvSpPr>
            <p:cNvPr id="640" name="Google Shape;640;p28"/>
            <p:cNvSpPr/>
            <p:nvPr/>
          </p:nvSpPr>
          <p:spPr>
            <a:xfrm>
              <a:off x="427865" y="2634106"/>
              <a:ext cx="476638" cy="474884"/>
            </a:xfrm>
            <a:prstGeom prst="roundRect">
              <a:avLst>
                <a:gd fmla="val 30745" name="adj"/>
              </a:avLst>
            </a:prstGeom>
            <a:gradFill>
              <a:gsLst>
                <a:gs pos="0">
                  <a:srgbClr val="00AEE8"/>
                </a:gs>
                <a:gs pos="100000">
                  <a:srgbClr val="0077FF"/>
                </a:gs>
              </a:gsLst>
              <a:lin ang="8100000" scaled="0"/>
            </a:gradFill>
            <a:ln>
              <a:noFill/>
            </a:ln>
          </p:spPr>
          <p:txBody>
            <a:bodyPr anchorCtr="0" anchor="ctr" bIns="45700" lIns="36000" spcFirstLastPara="1" rIns="36000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t/>
              </a:r>
              <a:endParaRPr sz="1400" u="none" cap="none" strike="noStrike">
                <a:solidFill>
                  <a:srgbClr val="00D3E3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pic>
          <p:nvPicPr>
            <p:cNvPr id="641" name="Google Shape;641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58184" y="2763548"/>
              <a:ext cx="216000" cy="2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4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Качество и аудит</a:t>
            </a:r>
          </a:p>
        </p:txBody>
      </p:sp>
      <p:sp>
        <p:nvSpPr>
          <p:cNvPr id="643" name="lead"/>
          <p:cNvSpPr txBox="1"/>
          <p:nvPr/>
        </p:nvSpPr>
        <p:spPr>
          <a:xfrm>
            <a:off x="1560368" y="2463325"/>
            <a:ext cx="9048707" cy="88427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 качества до публикации</a:t>
            </a:r>
          </a:p>
        </p:txBody>
      </p:sp>
      <p:sp>
        <p:nvSpPr>
          <p:cNvPr id="644" name="body"/>
          <p:cNvSpPr txBox="1"/>
          <p:nvPr/>
        </p:nvSpPr>
        <p:spPr>
          <a:xfrm>
            <a:off x="1560368" y="3524449"/>
            <a:ext cx="9048707" cy="188644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Автоматические правки нарушений стиля</a:t>
            </a:r>
          </a:p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Слайды остаются редактируемыми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Эффект пилота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29280" y="1492575"/>
          <a:ext cx="11310884" cy="2237312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" name="body"/>
          <p:cNvSpPr txBox="1"/>
          <p:nvPr/>
        </p:nvSpPr>
        <p:spPr>
          <a:xfrm>
            <a:off x="429280" y="3901337"/>
            <a:ext cx="11310884" cy="160584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Средняя сборка 4 минуты вместо 186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Время до первой версии сократилось с 6 дней до 1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Нарушений стиля 2 из 68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Дизайнеры закрыли 38 запросов вместо 11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0435112" cy="5354397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Ресурсы и сроки</a:t>
            </a:r>
          </a:p>
        </p:txBody>
      </p:sp>
      <p:sp>
        <p:nvSpPr>
          <p:cNvPr id="682" name="lead"/>
          <p:cNvSpPr txBox="1"/>
          <p:nvPr/>
        </p:nvSpPr>
        <p:spPr>
          <a:xfrm>
            <a:off x="1559052" y="1837052"/>
            <a:ext cx="9049877" cy="122765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Сервис работает на 2 vCPU / 2 GB RAM</a:t>
            </a:r>
          </a:p>
        </p:txBody>
      </p:sp>
      <p:sp>
        <p:nvSpPr>
          <p:cNvPr id="683" name="body"/>
          <p:cNvSpPr txBox="1"/>
          <p:nvPr/>
        </p:nvSpPr>
        <p:spPr>
          <a:xfrm>
            <a:off x="1559052" y="3310233"/>
            <a:ext cx="9049877" cy="261898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Стоимость инференса 1 400 рублей за 6 недель</a:t>
            </a:r>
          </a:p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План: Q3 2026 подключение 4 команд, Q4 2026 доступ для всей компании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пилота</a:t>
            </a:r>
          </a:p>
        </p:txBody>
      </p:sp>
      <p:sp>
        <p:nvSpPr>
          <p:cNvPr id="3" name="lead"/>
          <p:cNvSpPr txBox="1"/>
          <p:nvPr/>
        </p:nvSpPr>
        <p:spPr>
          <a:xfrm>
            <a:off x="1560368" y="1592290"/>
            <a:ext cx="9048707" cy="125439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6 недель на 2 командах, 68 презентаций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1560368" y="3097566"/>
            <a:ext cx="9048707" cy="267604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План колоды из 12 слайдов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Автоматический аудит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81" name="Google Shape;881;p45"/>
          <p:cNvSpPr/>
          <p:nvPr/>
        </p:nvSpPr>
        <p:spPr>
          <a:xfrm>
            <a:off x="429254" y="4567907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45"/>
          <p:cNvSpPr/>
          <p:nvPr/>
        </p:nvSpPr>
        <p:spPr>
          <a:xfrm>
            <a:off x="3499026" y="4567907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Rounded Rectangle 883"/>
          <p:cNvSpPr/>
          <p:nvPr/>
        </p:nvSpPr>
        <p:spPr>
          <a:xfrm>
            <a:off x="302280" y="2164394"/>
            <a:ext cx="10433795" cy="2511591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title"/>
          <p:cNvSpPr txBox="1"/>
          <p:nvPr/>
        </p:nvSpPr>
        <p:spPr>
          <a:xfrm>
            <a:off x="429280" y="2291394"/>
            <a:ext cx="7827385" cy="9194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800">
                <a:solidFill>
                  <a:srgbClr val="FFFFFF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886" name="lead"/>
          <p:cNvSpPr txBox="1"/>
          <p:nvPr/>
        </p:nvSpPr>
        <p:spPr>
          <a:xfrm>
            <a:off x="1560368" y="3450904"/>
            <a:ext cx="9048707" cy="3351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14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Одобрить запуск сервиса на всю компанию</a:t>
            </a:r>
          </a:p>
        </p:txBody>
      </p:sp>
      <p:sp>
        <p:nvSpPr>
          <p:cNvPr id="887" name="body"/>
          <p:cNvSpPr txBox="1"/>
          <p:nvPr/>
        </p:nvSpPr>
        <p:spPr>
          <a:xfrm>
            <a:off x="1560368" y="3853026"/>
            <a:ext cx="9048707" cy="71488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• Предоставить ресурсы для масштабирования</a:t>
            </a:r>
          </a:p>
          <a:p>
            <a:pPr algn="l">
              <a:spcAft>
                <a:spcPts val="300"/>
              </a:spcAft>
              <a:defRPr sz="18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Поддержать интеграцию с хранилищем документов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
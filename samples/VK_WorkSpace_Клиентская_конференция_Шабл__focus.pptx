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768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783080"/>
          <a:ext cx="11310884" cy="22974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3282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Единица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32820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2820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правок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2820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шт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2820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Размер команды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чел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2820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в неделю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11/27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запросов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2820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Срок ожидания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251959"/>
            <a:ext cx="11310884" cy="1645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одной презентации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Правки после ревью добавляют 74 минуты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из 4 человек обслуживает 11 запросов в неделю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3" name="Pentagon 2"/>
          <p:cNvSpPr/>
          <p:nvPr/>
        </p:nvSpPr>
        <p:spPr>
          <a:xfrm>
            <a:off x="429280" y="1809883"/>
            <a:ext cx="11310884" cy="329298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Загрузить шаблон</a:t>
            </a:r>
          </a:p>
        </p:txBody>
      </p:sp>
      <p:sp>
        <p:nvSpPr>
          <p:cNvPr id="4" name="Chevron 3"/>
          <p:cNvSpPr/>
          <p:nvPr/>
        </p:nvSpPr>
        <p:spPr>
          <a:xfrm>
            <a:off x="429280" y="2192788"/>
            <a:ext cx="11310884" cy="32929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Разобрать дизайн-систему</a:t>
            </a:r>
          </a:p>
        </p:txBody>
      </p:sp>
      <p:sp>
        <p:nvSpPr>
          <p:cNvPr id="5" name="Chevron 4"/>
          <p:cNvSpPr/>
          <p:nvPr/>
        </p:nvSpPr>
        <p:spPr>
          <a:xfrm>
            <a:off x="429280" y="2575693"/>
            <a:ext cx="11310884" cy="32929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Сформировать план колоды</a:t>
            </a:r>
          </a:p>
        </p:txBody>
      </p:sp>
      <p:sp>
        <p:nvSpPr>
          <p:cNvPr id="6" name="Chevron 5"/>
          <p:cNvSpPr/>
          <p:nvPr/>
        </p:nvSpPr>
        <p:spPr>
          <a:xfrm>
            <a:off x="429280" y="2958598"/>
            <a:ext cx="11310884" cy="32929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Автоматически вёрстать</a:t>
            </a:r>
          </a:p>
        </p:txBody>
      </p:sp>
      <p:sp>
        <p:nvSpPr>
          <p:cNvPr id="7" name="Chevron 6"/>
          <p:cNvSpPr/>
          <p:nvPr/>
        </p:nvSpPr>
        <p:spPr>
          <a:xfrm>
            <a:off x="429280" y="3341503"/>
            <a:ext cx="11310884" cy="32929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Провести аудит качества</a:t>
            </a:r>
          </a:p>
        </p:txBody>
      </p:sp>
      <p:sp>
        <p:nvSpPr>
          <p:cNvPr id="8" name="Chevron 7"/>
          <p:cNvSpPr/>
          <p:nvPr/>
        </p:nvSpPr>
        <p:spPr>
          <a:xfrm>
            <a:off x="429280" y="3724408"/>
            <a:ext cx="11310884" cy="32929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Экспортировать pptx/pdf/html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429280" y="4251959"/>
            <a:ext cx="11310884" cy="1645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Шаблон преобразуется в дизайн-систему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формируется план колоды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Вёрстка выполняется по правилам дизайна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Проводится аудит качества до публикации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239484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graphicFrame>
        <p:nvGraphicFramePr>
          <p:cNvPr id="682" name="Table 681"/>
          <p:cNvGraphicFramePr>
            <a:graphicFrameLocks noGrp="1"/>
          </p:cNvGraphicFramePr>
          <p:nvPr/>
        </p:nvGraphicFramePr>
        <p:xfrm>
          <a:off x="427817" y="1783080"/>
          <a:ext cx="11312347" cy="22974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782"/>
                <a:gridCol w="3770782"/>
                <a:gridCol w="3770783"/>
              </a:tblGrid>
              <a:tr h="45948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Первый вариант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2/68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Загрузка дизайнеров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683" name="body"/>
          <p:cNvSpPr txBox="1"/>
          <p:nvPr/>
        </p:nvSpPr>
        <p:spPr>
          <a:xfrm>
            <a:off x="427817" y="4251959"/>
            <a:ext cx="11312347" cy="1645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колоды сократилось с 186 до 4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готовый вариант появился за 1 день вместо 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Нарушения стиля уменьшились до 2 из 68 колод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623" name="Rectangle 622"/>
          <p:cNvSpPr/>
          <p:nvPr/>
        </p:nvSpPr>
        <p:spPr>
          <a:xfrm>
            <a:off x="429280" y="2839897"/>
            <a:ext cx="11310884" cy="68922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061710" y="2621641"/>
            <a:ext cx="505434" cy="50543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429280" y="1783080"/>
            <a:ext cx="5655442" cy="8730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Q3 2026: подключение 4 команд</a:t>
            </a:r>
          </a:p>
        </p:txBody>
      </p:sp>
      <p:sp>
        <p:nvSpPr>
          <p:cNvPr id="626" name="Oval 625"/>
          <p:cNvSpPr/>
          <p:nvPr/>
        </p:nvSpPr>
        <p:spPr>
          <a:xfrm>
            <a:off x="5832004" y="2621641"/>
            <a:ext cx="505434" cy="50543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3257001" y="3345332"/>
            <a:ext cx="5655442" cy="8730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Q4 2026: доступ для всей компании</a:t>
            </a:r>
          </a:p>
        </p:txBody>
      </p:sp>
      <p:sp>
        <p:nvSpPr>
          <p:cNvPr id="628" name="Oval 627"/>
          <p:cNvSpPr/>
          <p:nvPr/>
        </p:nvSpPr>
        <p:spPr>
          <a:xfrm>
            <a:off x="9602299" y="2621641"/>
            <a:ext cx="505434" cy="505434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6084722" y="1783080"/>
            <a:ext cx="5655442" cy="8730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Q1 2027: генерация иллюстраций</a:t>
            </a:r>
          </a:p>
        </p:txBody>
      </p:sp>
      <p:sp>
        <p:nvSpPr>
          <p:cNvPr id="630" name="body"/>
          <p:cNvSpPr txBox="1"/>
          <p:nvPr/>
        </p:nvSpPr>
        <p:spPr>
          <a:xfrm>
            <a:off x="429280" y="4251959"/>
            <a:ext cx="11310884" cy="1645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Инференс gpt-oss-20b стоит 1 400 рублей за 6 недель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 запуска: Q3 2026 подключение 4 команд, Q4 2026 доступ компании, Q1 2027 генерация иллюстраций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429280" y="1592290"/>
            <a:ext cx="7827264" cy="14475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Пилот длился 6 недель на двух командах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429280" y="3290703"/>
            <a:ext cx="7827264" cy="248290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Собрано 68 презентаций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Среднее время сборки 4 минуты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вариант готов за 1 день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Нарушения стиля 2 из 68, исправлены автоматически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429280" y="2431298"/>
            <a:ext cx="7827264" cy="117884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429280" y="3775758"/>
            <a:ext cx="7827264" cy="141574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Выделить бюджет на интеграцию и поддержку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Согласовать сроки и ответственных за расширение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grpSp>
        <p:nvGrpSpPr>
          <p:cNvPr id="3" name="icon:builtin-sparkles"/>
          <p:cNvGrpSpPr/>
          <p:nvPr/>
        </p:nvGrpSpPr>
        <p:grpSpPr>
          <a:xfrm>
            <a:off x="1884664" y="1945719"/>
            <a:ext cx="878252" cy="840303"/>
            <a:chOff x="1884664" y="1945719"/>
            <a:chExt cx="878252" cy="840303"/>
          </a:xfrm>
        </p:grpSpPr>
        <p:sp>
          <p:nvSpPr>
            <p:cNvPr id="4" name="Freeform 3"/>
            <p:cNvSpPr/>
            <p:nvPr/>
          </p:nvSpPr>
          <p:spPr>
            <a:xfrm>
              <a:off x="1884664" y="1945719"/>
              <a:ext cx="650557" cy="650557"/>
            </a:xfrm>
            <a:custGeom>
              <a:avLst/>
              <a:gdLst/>
              <a:ahLst/>
              <a:cxnLst/>
              <a:rect l="l" t="t" r="r" b="b"/>
              <a:pathLst>
                <a:path w="650557" h="650557">
                  <a:moveTo>
                    <a:pt x="325278" y="0"/>
                  </a:moveTo>
                  <a:lnTo>
                    <a:pt x="335145" y="61098"/>
                  </a:lnTo>
                  <a:lnTo>
                    <a:pt x="348698" y="114498"/>
                  </a:lnTo>
                  <a:lnTo>
                    <a:pt x="366480" y="160742"/>
                  </a:lnTo>
                  <a:lnTo>
                    <a:pt x="389033" y="200371"/>
                  </a:lnTo>
                  <a:lnTo>
                    <a:pt x="416790" y="233767"/>
                  </a:lnTo>
                  <a:lnTo>
                    <a:pt x="450185" y="261524"/>
                  </a:lnTo>
                  <a:lnTo>
                    <a:pt x="489761" y="284022"/>
                  </a:lnTo>
                  <a:lnTo>
                    <a:pt x="536059" y="301858"/>
                  </a:lnTo>
                  <a:lnTo>
                    <a:pt x="589459" y="315466"/>
                  </a:lnTo>
                  <a:lnTo>
                    <a:pt x="650557" y="325278"/>
                  </a:lnTo>
                  <a:lnTo>
                    <a:pt x="589459" y="335145"/>
                  </a:lnTo>
                  <a:lnTo>
                    <a:pt x="536059" y="348698"/>
                  </a:lnTo>
                  <a:lnTo>
                    <a:pt x="489761" y="366480"/>
                  </a:lnTo>
                  <a:lnTo>
                    <a:pt x="450185" y="389033"/>
                  </a:lnTo>
                  <a:lnTo>
                    <a:pt x="416790" y="416790"/>
                  </a:lnTo>
                  <a:lnTo>
                    <a:pt x="389033" y="450185"/>
                  </a:lnTo>
                  <a:lnTo>
                    <a:pt x="366480" y="489761"/>
                  </a:lnTo>
                  <a:lnTo>
                    <a:pt x="348698" y="536059"/>
                  </a:lnTo>
                  <a:lnTo>
                    <a:pt x="335145" y="589513"/>
                  </a:lnTo>
                  <a:lnTo>
                    <a:pt x="325278" y="650557"/>
                  </a:lnTo>
                  <a:lnTo>
                    <a:pt x="315466" y="589513"/>
                  </a:lnTo>
                  <a:lnTo>
                    <a:pt x="301858" y="536059"/>
                  </a:lnTo>
                  <a:lnTo>
                    <a:pt x="284022" y="489761"/>
                  </a:lnTo>
                  <a:lnTo>
                    <a:pt x="261524" y="450185"/>
                  </a:lnTo>
                  <a:lnTo>
                    <a:pt x="233767" y="416790"/>
                  </a:lnTo>
                  <a:lnTo>
                    <a:pt x="200371" y="389033"/>
                  </a:lnTo>
                  <a:lnTo>
                    <a:pt x="160742" y="366534"/>
                  </a:lnTo>
                  <a:lnTo>
                    <a:pt x="114498" y="348698"/>
                  </a:lnTo>
                  <a:lnTo>
                    <a:pt x="61098" y="335091"/>
                  </a:lnTo>
                  <a:lnTo>
                    <a:pt x="0" y="325278"/>
                  </a:lnTo>
                  <a:lnTo>
                    <a:pt x="61098" y="315466"/>
                  </a:lnTo>
                  <a:lnTo>
                    <a:pt x="114498" y="301858"/>
                  </a:lnTo>
                  <a:lnTo>
                    <a:pt x="160742" y="284022"/>
                  </a:lnTo>
                  <a:lnTo>
                    <a:pt x="200371" y="261524"/>
                  </a:lnTo>
                  <a:lnTo>
                    <a:pt x="233767" y="233767"/>
                  </a:lnTo>
                  <a:lnTo>
                    <a:pt x="261524" y="200371"/>
                  </a:lnTo>
                  <a:lnTo>
                    <a:pt x="284022" y="160796"/>
                  </a:lnTo>
                  <a:lnTo>
                    <a:pt x="301858" y="114498"/>
                  </a:lnTo>
                  <a:lnTo>
                    <a:pt x="315466" y="61098"/>
                  </a:lnTo>
                  <a:lnTo>
                    <a:pt x="325278" y="0"/>
                  </a:lnTo>
                  <a:close/>
                </a:path>
              </a:pathLst>
            </a:custGeom>
            <a:noFill/>
            <a:ln w="10842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2524378" y="2542063"/>
              <a:ext cx="238538" cy="243959"/>
            </a:xfrm>
            <a:custGeom>
              <a:avLst/>
              <a:gdLst/>
              <a:ahLst/>
              <a:cxnLst/>
              <a:rect l="l" t="t" r="r" b="b"/>
              <a:pathLst>
                <a:path w="238538" h="243959">
                  <a:moveTo>
                    <a:pt x="119269" y="0"/>
                  </a:moveTo>
                  <a:lnTo>
                    <a:pt x="123172" y="22986"/>
                  </a:lnTo>
                  <a:lnTo>
                    <a:pt x="128540" y="43153"/>
                  </a:lnTo>
                  <a:lnTo>
                    <a:pt x="135479" y="60718"/>
                  </a:lnTo>
                  <a:lnTo>
                    <a:pt x="144099" y="75898"/>
                  </a:lnTo>
                  <a:lnTo>
                    <a:pt x="154508" y="88801"/>
                  </a:lnTo>
                  <a:lnTo>
                    <a:pt x="166868" y="99535"/>
                  </a:lnTo>
                  <a:lnTo>
                    <a:pt x="181343" y="108317"/>
                  </a:lnTo>
                  <a:lnTo>
                    <a:pt x="198041" y="115365"/>
                  </a:lnTo>
                  <a:lnTo>
                    <a:pt x="217069" y="120732"/>
                  </a:lnTo>
                  <a:lnTo>
                    <a:pt x="238538" y="124690"/>
                  </a:lnTo>
                  <a:lnTo>
                    <a:pt x="217069" y="128593"/>
                  </a:lnTo>
                  <a:lnTo>
                    <a:pt x="198041" y="133960"/>
                  </a:lnTo>
                  <a:lnTo>
                    <a:pt x="181343" y="140899"/>
                  </a:lnTo>
                  <a:lnTo>
                    <a:pt x="166868" y="149519"/>
                  </a:lnTo>
                  <a:lnTo>
                    <a:pt x="154508" y="159928"/>
                  </a:lnTo>
                  <a:lnTo>
                    <a:pt x="144099" y="172289"/>
                  </a:lnTo>
                  <a:lnTo>
                    <a:pt x="135479" y="186764"/>
                  </a:lnTo>
                  <a:lnTo>
                    <a:pt x="128540" y="203461"/>
                  </a:lnTo>
                  <a:lnTo>
                    <a:pt x="123172" y="222490"/>
                  </a:lnTo>
                  <a:lnTo>
                    <a:pt x="119269" y="243959"/>
                  </a:lnTo>
                  <a:lnTo>
                    <a:pt x="115366" y="222490"/>
                  </a:lnTo>
                  <a:lnTo>
                    <a:pt x="109999" y="203461"/>
                  </a:lnTo>
                  <a:lnTo>
                    <a:pt x="103059" y="186764"/>
                  </a:lnTo>
                  <a:lnTo>
                    <a:pt x="94439" y="172289"/>
                  </a:lnTo>
                  <a:lnTo>
                    <a:pt x="84031" y="159928"/>
                  </a:lnTo>
                  <a:lnTo>
                    <a:pt x="71670" y="149519"/>
                  </a:lnTo>
                  <a:lnTo>
                    <a:pt x="57195" y="140899"/>
                  </a:lnTo>
                  <a:lnTo>
                    <a:pt x="40497" y="133960"/>
                  </a:lnTo>
                  <a:lnTo>
                    <a:pt x="21469" y="128593"/>
                  </a:lnTo>
                  <a:lnTo>
                    <a:pt x="0" y="124690"/>
                  </a:lnTo>
                  <a:lnTo>
                    <a:pt x="21469" y="120786"/>
                  </a:lnTo>
                  <a:lnTo>
                    <a:pt x="40497" y="115365"/>
                  </a:lnTo>
                  <a:lnTo>
                    <a:pt x="57195" y="108317"/>
                  </a:lnTo>
                  <a:lnTo>
                    <a:pt x="71670" y="99535"/>
                  </a:lnTo>
                  <a:lnTo>
                    <a:pt x="84031" y="88801"/>
                  </a:lnTo>
                  <a:lnTo>
                    <a:pt x="94439" y="75898"/>
                  </a:lnTo>
                  <a:lnTo>
                    <a:pt x="103059" y="60718"/>
                  </a:lnTo>
                  <a:lnTo>
                    <a:pt x="109999" y="43153"/>
                  </a:lnTo>
                  <a:lnTo>
                    <a:pt x="115366" y="22986"/>
                  </a:lnTo>
                  <a:lnTo>
                    <a:pt x="119269" y="0"/>
                  </a:lnTo>
                  <a:close/>
                </a:path>
              </a:pathLst>
            </a:custGeom>
            <a:noFill/>
            <a:ln w="10842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29280" y="3240328"/>
            <a:ext cx="3669753" cy="11449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Модель может выдумать цифры</a:t>
            </a:r>
          </a:p>
        </p:txBody>
      </p:sp>
      <p:grpSp>
        <p:nvGrpSpPr>
          <p:cNvPr id="7" name="icon:builtin-layout"/>
          <p:cNvGrpSpPr/>
          <p:nvPr/>
        </p:nvGrpSpPr>
        <p:grpSpPr>
          <a:xfrm>
            <a:off x="5596803" y="1945719"/>
            <a:ext cx="975835" cy="975835"/>
            <a:chOff x="5596803" y="1945719"/>
            <a:chExt cx="975835" cy="975835"/>
          </a:xfrm>
        </p:grpSpPr>
        <p:sp>
          <p:nvSpPr>
            <p:cNvPr id="8" name="Rounded Rectangle 7"/>
            <p:cNvSpPr/>
            <p:nvPr/>
          </p:nvSpPr>
          <p:spPr>
            <a:xfrm>
              <a:off x="5596803" y="1945719"/>
              <a:ext cx="975835" cy="975835"/>
            </a:xfrm>
            <a:prstGeom prst="roundRect">
              <a:avLst>
                <a:gd name="adj" fmla="val 11111"/>
              </a:avLst>
            </a:prstGeom>
            <a:noFill/>
            <a:ln w="10842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5596803" y="2270997"/>
              <a:ext cx="975835" cy="0"/>
            </a:xfrm>
            <a:custGeom>
              <a:avLst/>
              <a:gdLst/>
              <a:ahLst/>
              <a:cxnLst/>
              <a:rect l="l" t="t" r="r" b="b"/>
              <a:pathLst>
                <a:path w="975835" h="0">
                  <a:moveTo>
                    <a:pt x="0" y="0"/>
                  </a:moveTo>
                  <a:lnTo>
                    <a:pt x="975835" y="0"/>
                  </a:lnTo>
                </a:path>
              </a:pathLst>
            </a:custGeom>
            <a:noFill/>
            <a:ln w="10842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5922081" y="2270997"/>
              <a:ext cx="0" cy="650557"/>
            </a:xfrm>
            <a:custGeom>
              <a:avLst/>
              <a:gdLst/>
              <a:ahLst/>
              <a:cxnLst/>
              <a:rect l="l" t="t" r="r" b="b"/>
              <a:pathLst>
                <a:path w="0" h="650557">
                  <a:moveTo>
                    <a:pt x="0" y="0"/>
                  </a:moveTo>
                  <a:lnTo>
                    <a:pt x="0" y="650557"/>
                  </a:lnTo>
                </a:path>
              </a:pathLst>
            </a:custGeom>
            <a:noFill/>
            <a:ln w="10842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4249845" y="3240328"/>
            <a:ext cx="3669753" cy="11449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Неправильный шаблон</a:t>
            </a:r>
          </a:p>
        </p:txBody>
      </p:sp>
      <p:grpSp>
        <p:nvGrpSpPr>
          <p:cNvPr id="12" name="icon:builtin-target"/>
          <p:cNvGrpSpPr/>
          <p:nvPr/>
        </p:nvGrpSpPr>
        <p:grpSpPr>
          <a:xfrm>
            <a:off x="9417369" y="1945719"/>
            <a:ext cx="975835" cy="975835"/>
            <a:chOff x="9417369" y="1945719"/>
            <a:chExt cx="975835" cy="975835"/>
          </a:xfrm>
        </p:grpSpPr>
        <p:sp>
          <p:nvSpPr>
            <p:cNvPr id="13" name="Oval 12"/>
            <p:cNvSpPr/>
            <p:nvPr/>
          </p:nvSpPr>
          <p:spPr>
            <a:xfrm>
              <a:off x="9417369" y="1945719"/>
              <a:ext cx="975835" cy="975835"/>
            </a:xfrm>
            <a:prstGeom prst="ellipse">
              <a:avLst/>
            </a:prstGeom>
            <a:noFill/>
            <a:ln w="10842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9634221" y="2162571"/>
              <a:ext cx="542130" cy="542130"/>
            </a:xfrm>
            <a:prstGeom prst="ellipse">
              <a:avLst/>
            </a:prstGeom>
            <a:noFill/>
            <a:ln w="108426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9829388" y="2357738"/>
              <a:ext cx="151796" cy="151796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8070410" y="3240328"/>
            <a:ext cx="3669753" cy="11449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&gt;20 задач</a:t>
            </a:r>
          </a:p>
        </p:txBody>
      </p:sp>
      <p:sp>
        <p:nvSpPr>
          <p:cNvPr id="17" name="body"/>
          <p:cNvSpPr txBox="1"/>
          <p:nvPr/>
        </p:nvSpPr>
        <p:spPr>
          <a:xfrm>
            <a:off x="429280" y="4556759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может выдумать цифры, которые не подтверждены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Неправильный шаблон может привести к некорректной вёрстке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выше 20 одновременных задач требует внешней очереди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Итоги</a:t>
            </a:r>
          </a:p>
        </p:txBody>
      </p:sp>
      <p:sp>
        <p:nvSpPr>
          <p:cNvPr id="3" name="stat_0:bar"/>
          <p:cNvSpPr/>
          <p:nvPr/>
        </p:nvSpPr>
        <p:spPr>
          <a:xfrm>
            <a:off x="429280" y="1906524"/>
            <a:ext cx="50800" cy="1231646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607080" y="1783080"/>
            <a:ext cx="11133084" cy="135509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54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54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4 мин</a:t>
            </a:r>
          </a:p>
          <a:p>
            <a:pPr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Время сборки сократилось с 186 до 4 минут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29280" y="4169664"/>
            <a:ext cx="11310884" cy="172821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вариант появился за 1 день вместо 6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Нарушения стиля уменьшились до 2 из 68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280124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Следующие шаги</a:t>
            </a:r>
          </a:p>
        </p:txBody>
      </p:sp>
      <p:sp>
        <p:nvSpPr>
          <p:cNvPr id="682" name="Pentagon 681"/>
          <p:cNvSpPr/>
          <p:nvPr/>
        </p:nvSpPr>
        <p:spPr>
          <a:xfrm>
            <a:off x="427817" y="1943306"/>
            <a:ext cx="3680283" cy="2281775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26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6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Согласовать бюджет</a:t>
            </a:r>
          </a:p>
        </p:txBody>
      </p:sp>
      <p:sp>
        <p:nvSpPr>
          <p:cNvPr id="683" name="Chevron 682"/>
          <p:cNvSpPr/>
          <p:nvPr/>
        </p:nvSpPr>
        <p:spPr>
          <a:xfrm>
            <a:off x="4243848" y="1943306"/>
            <a:ext cx="3680283" cy="228177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26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6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Интеграция с хранилищем</a:t>
            </a:r>
          </a:p>
        </p:txBody>
      </p:sp>
      <p:sp>
        <p:nvSpPr>
          <p:cNvPr id="684" name="Chevron 683"/>
          <p:cNvSpPr/>
          <p:nvPr/>
        </p:nvSpPr>
        <p:spPr>
          <a:xfrm>
            <a:off x="8059880" y="1943306"/>
            <a:ext cx="3680283" cy="228177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26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6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Расширить команды</a:t>
            </a:r>
          </a:p>
        </p:txBody>
      </p:sp>
      <p:sp>
        <p:nvSpPr>
          <p:cNvPr id="685" name="body"/>
          <p:cNvSpPr txBox="1"/>
          <p:nvPr/>
        </p:nvSpPr>
        <p:spPr>
          <a:xfrm>
            <a:off x="427817" y="4556759"/>
            <a:ext cx="11312347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Согласовать бюджет и ресурсы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Интегрировать сервис с корпоративным хранилищем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Расширить команды до 8 в Q3 2026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Вопросы и ответы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2280" y="2164394"/>
            <a:ext cx="8081385" cy="2078989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9280" y="2291394"/>
            <a:ext cx="7827385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Контактная информация</a:t>
            </a:r>
          </a:p>
        </p:txBody>
      </p:sp>
      <p:sp>
        <p:nvSpPr>
          <p:cNvPr id="886" name="lead"/>
          <p:cNvSpPr txBox="1"/>
          <p:nvPr/>
        </p:nvSpPr>
        <p:spPr>
          <a:xfrm>
            <a:off x="429280" y="3354384"/>
            <a:ext cx="7827385" cy="121352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0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Email: support@example.com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
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Текущая сборка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ут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Время, минут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7"/>
    <p:sldLayoutId id="2147483655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9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8081264" cy="5544651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682" name="lead"/>
          <p:cNvSpPr txBox="1"/>
          <p:nvPr/>
        </p:nvSpPr>
        <p:spPr>
          <a:xfrm>
            <a:off x="427817" y="1837052"/>
            <a:ext cx="7827264" cy="168206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42 колоды, 12 слайдов, 186 минут сборки</a:t>
            </a:r>
          </a:p>
        </p:txBody>
      </p:sp>
      <p:sp>
        <p:nvSpPr>
          <p:cNvPr id="683" name="body"/>
          <p:cNvSpPr txBox="1"/>
          <p:nvPr/>
        </p:nvSpPr>
        <p:spPr>
          <a:xfrm>
            <a:off x="427817" y="3764647"/>
            <a:ext cx="7827264" cy="216457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74 минуты правки, 19 нарушений фирменного стиля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4 дизайнера, 11 запросов/неделя, 6 дней ожидания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429280" y="1592290"/>
            <a:ext cx="7827264" cy="176882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принимает шаблон pptx и материалы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429280" y="3611995"/>
            <a:ext cx="7827264" cy="216161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Генерирует колоду, экспортирует pptx/pdf/html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Автоматический аудит исправляет нарушения стиля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sp>
        <p:nvSpPr>
          <p:cNvPr id="623" name="lead"/>
          <p:cNvSpPr txBox="1"/>
          <p:nvPr/>
        </p:nvSpPr>
        <p:spPr>
          <a:xfrm>
            <a:off x="429280" y="1504165"/>
            <a:ext cx="7827264" cy="132828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Сборка 4 минуты вместо 186</a:t>
            </a:r>
          </a:p>
        </p:txBody>
      </p:sp>
      <p:sp>
        <p:nvSpPr>
          <p:cNvPr id="624" name="body"/>
          <p:cNvSpPr txBox="1"/>
          <p:nvPr/>
        </p:nvSpPr>
        <p:spPr>
          <a:xfrm>
            <a:off x="429280" y="3066856"/>
            <a:ext cx="7827264" cy="234403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до первой версии 1 день вместо 6</a:t>
            </a:r>
          </a:p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Нарушений 2 из 68, все исправлены</a:t>
            </a:r>
          </a:p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Дизайнеры закрыли 38 запросов вместо 11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Время сборки колоды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29280" y="1492575"/>
          <a:ext cx="11310884" cy="401460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Нарушения фирменного стиля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29280" y="1664162"/>
          <a:ext cx="11310884" cy="37535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294"/>
                <a:gridCol w="3770294"/>
                <a:gridCol w="3770296"/>
              </a:tblGrid>
              <a:tr h="187679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Текущие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Пилот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1876795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фирменного стиля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 из 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 из 68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Нагрузка дизайнеров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29280" y="1592290"/>
          <a:ext cx="11310884" cy="41813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294"/>
                <a:gridCol w="3770294"/>
                <a:gridCol w="3770296"/>
              </a:tblGrid>
              <a:tr h="2090661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Текущая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Пилот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09066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Запросов/неделя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8081264" cy="4989763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Ресурсы и сроки</a:t>
            </a:r>
          </a:p>
        </p:txBody>
      </p:sp>
      <p:sp>
        <p:nvSpPr>
          <p:cNvPr id="682" name="lead"/>
          <p:cNvSpPr txBox="1"/>
          <p:nvPr/>
        </p:nvSpPr>
        <p:spPr>
          <a:xfrm>
            <a:off x="427817" y="1837052"/>
            <a:ext cx="7827264" cy="13913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5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5400">
                <a:solidFill>
                  <a:srgbClr val="FFFFFF"/>
                </a:solidFill>
                <a:latin typeface="Play"/>
                <a:ea typeface="Play"/>
                <a:cs typeface="Play"/>
              </a:rPr>
              <a:t>2 vCPU / 2 GB RAM</a:t>
            </a:r>
          </a:p>
        </p:txBody>
      </p:sp>
      <p:sp>
        <p:nvSpPr>
          <p:cNvPr id="683" name="body"/>
          <p:cNvSpPr txBox="1"/>
          <p:nvPr/>
        </p:nvSpPr>
        <p:spPr>
          <a:xfrm>
            <a:off x="427817" y="3473919"/>
            <a:ext cx="7827264" cy="245530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1 400 рублей за 6 недель пилота</a:t>
            </a:r>
          </a:p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 недель пилота, 2 команды, 68 презентаций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623" name="lead"/>
          <p:cNvSpPr txBox="1"/>
          <p:nvPr/>
        </p:nvSpPr>
        <p:spPr>
          <a:xfrm>
            <a:off x="429280" y="1504165"/>
            <a:ext cx="7827264" cy="165266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Запуск сервиса на всю компанию</a:t>
            </a:r>
          </a:p>
        </p:txBody>
      </p:sp>
      <p:sp>
        <p:nvSpPr>
          <p:cNvPr id="624" name="body"/>
          <p:cNvSpPr txBox="1"/>
          <p:nvPr/>
        </p:nvSpPr>
        <p:spPr>
          <a:xfrm>
            <a:off x="429280" y="3391233"/>
            <a:ext cx="7827264" cy="20196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Интеграция с корпоративным хранилищем</a:t>
            </a:r>
          </a:p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Поддержка 20 одновременных задач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запуска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429280" y="3339292"/>
            <a:ext cx="11310884" cy="120438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872820" y="2957905"/>
            <a:ext cx="883212" cy="88321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280" y="1492575"/>
            <a:ext cx="5655442" cy="1525549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Третий квартал 2026: подключение 4 команд</a:t>
            </a:r>
          </a:p>
        </p:txBody>
      </p:sp>
      <p:sp>
        <p:nvSpPr>
          <p:cNvPr id="6" name="Oval 5"/>
          <p:cNvSpPr/>
          <p:nvPr/>
        </p:nvSpPr>
        <p:spPr>
          <a:xfrm>
            <a:off x="5643115" y="2957905"/>
            <a:ext cx="883212" cy="88321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57001" y="4222505"/>
            <a:ext cx="5655442" cy="1525549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Четвёртый квартал 2026: доступ для всей компании</a:t>
            </a:r>
          </a:p>
        </p:txBody>
      </p:sp>
      <p:sp>
        <p:nvSpPr>
          <p:cNvPr id="8" name="Oval 7"/>
          <p:cNvSpPr/>
          <p:nvPr/>
        </p:nvSpPr>
        <p:spPr>
          <a:xfrm>
            <a:off x="9413410" y="2957905"/>
            <a:ext cx="883212" cy="88321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4722" y="1492575"/>
            <a:ext cx="5655442" cy="1525549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Первый квартал 2027: генерация иллюстраций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
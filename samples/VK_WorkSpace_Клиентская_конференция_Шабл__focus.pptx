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7"/>
    <p:sldLayoutId id="2147483655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9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29280" y="1592290"/>
          <a:ext cx="11310884" cy="23373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5442"/>
                <a:gridCol w="5655442"/>
              </a:tblGrid>
              <a:tr h="38955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38955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Сборка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 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38955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Правки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74 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38955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 из 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38955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38955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Ожидание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 дней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body"/>
          <p:cNvSpPr txBox="1"/>
          <p:nvPr/>
        </p:nvSpPr>
        <p:spPr>
          <a:xfrm>
            <a:off x="429280" y="4101083"/>
            <a:ext cx="11310884" cy="167252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42 колоды, 186 мин сборки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74 мин правок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нарушений фирменного стиля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4 человека, 11 запросов/нед, 6 дней ожидания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311465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682" name="Pentagon 681"/>
          <p:cNvSpPr/>
          <p:nvPr/>
        </p:nvSpPr>
        <p:spPr>
          <a:xfrm>
            <a:off x="427817" y="2459151"/>
            <a:ext cx="2153870" cy="1335399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143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143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Шаблон</a:t>
            </a:r>
          </a:p>
        </p:txBody>
      </p:sp>
      <p:sp>
        <p:nvSpPr>
          <p:cNvPr id="683" name="Chevron 682"/>
          <p:cNvSpPr/>
          <p:nvPr/>
        </p:nvSpPr>
        <p:spPr>
          <a:xfrm>
            <a:off x="2717436" y="2459151"/>
            <a:ext cx="2153870" cy="133539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143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143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колоды</a:t>
            </a:r>
          </a:p>
        </p:txBody>
      </p:sp>
      <p:sp>
        <p:nvSpPr>
          <p:cNvPr id="684" name="Chevron 683"/>
          <p:cNvSpPr/>
          <p:nvPr/>
        </p:nvSpPr>
        <p:spPr>
          <a:xfrm>
            <a:off x="5007055" y="2459151"/>
            <a:ext cx="2153870" cy="133539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143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143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</a:t>
            </a:r>
          </a:p>
        </p:txBody>
      </p:sp>
      <p:sp>
        <p:nvSpPr>
          <p:cNvPr id="685" name="Chevron 684"/>
          <p:cNvSpPr/>
          <p:nvPr/>
        </p:nvSpPr>
        <p:spPr>
          <a:xfrm>
            <a:off x="7296674" y="2459151"/>
            <a:ext cx="2153870" cy="133539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143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143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686" name="Chevron 685"/>
          <p:cNvSpPr/>
          <p:nvPr/>
        </p:nvSpPr>
        <p:spPr>
          <a:xfrm>
            <a:off x="9586293" y="2459151"/>
            <a:ext cx="2153870" cy="133539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143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143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  <p:sp>
        <p:nvSpPr>
          <p:cNvPr id="687" name="body"/>
          <p:cNvSpPr txBox="1"/>
          <p:nvPr/>
        </p:nvSpPr>
        <p:spPr>
          <a:xfrm>
            <a:off x="427817" y="4588101"/>
            <a:ext cx="11312347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принимает pptx, материалы, применяет дизайн‑систему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Экспорт в pptx, pdf, html, слайды редактируемы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Аудит качества устраняет нарушения стиля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623" name="lead"/>
          <p:cNvSpPr txBox="1"/>
          <p:nvPr/>
        </p:nvSpPr>
        <p:spPr>
          <a:xfrm>
            <a:off x="429280" y="1504165"/>
            <a:ext cx="7827264" cy="147699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>
                <a:solidFill>
                  <a:srgbClr val="FFFFFF"/>
                </a:solidFill>
                <a:latin typeface="Play"/>
                <a:ea typeface="Play"/>
                <a:cs typeface="Play"/>
              </a:rPr>
              <a:t>6 недель</a:t>
            </a:r>
          </a:p>
        </p:txBody>
      </p:sp>
      <p:sp>
        <p:nvSpPr>
          <p:cNvPr id="624" name="body"/>
          <p:cNvSpPr txBox="1"/>
          <p:nvPr/>
        </p:nvSpPr>
        <p:spPr>
          <a:xfrm>
            <a:off x="429280" y="3215564"/>
            <a:ext cx="7827264" cy="219532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2 команды</a:t>
            </a:r>
          </a:p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68 презентаций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Результаты пилота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29280" y="1492575"/>
          <a:ext cx="11310884" cy="2237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294"/>
                <a:gridCol w="3770294"/>
                <a:gridCol w="3770296"/>
              </a:tblGrid>
              <a:tr h="44746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До пилота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После пилота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4746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Сборка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 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 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4746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до первой версии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 дней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 день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4746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 из 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 из 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4746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body"/>
          <p:cNvSpPr txBox="1"/>
          <p:nvPr/>
        </p:nvSpPr>
        <p:spPr>
          <a:xfrm>
            <a:off x="429280" y="3901337"/>
            <a:ext cx="11310884" cy="160584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Сборка 4 мин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 день до первой версии вместо 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2 нарушения из 68 вместо 19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38 запросов вместо 11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429280" y="1592290"/>
            <a:ext cx="7827264" cy="149320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Сборка 4 мин вместо 186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429280" y="3336376"/>
            <a:ext cx="7827264" cy="243723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 день до первой версии вместо 6</a:t>
            </a:r>
          </a:p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2 нарушения вместо 19</a:t>
            </a:r>
          </a:p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38 запросов вместо 11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потребуется: ресурсы и сроки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429280" y="2680184"/>
            <a:ext cx="11310884" cy="60956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090919" y="2487155"/>
            <a:ext cx="447016" cy="44701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280" y="1745515"/>
            <a:ext cx="5655442" cy="7721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Третий квартал 2026</a:t>
            </a:r>
          </a:p>
        </p:txBody>
      </p:sp>
      <p:sp>
        <p:nvSpPr>
          <p:cNvPr id="6" name="Oval 5"/>
          <p:cNvSpPr/>
          <p:nvPr/>
        </p:nvSpPr>
        <p:spPr>
          <a:xfrm>
            <a:off x="5861213" y="2487155"/>
            <a:ext cx="447016" cy="44701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57001" y="3127200"/>
            <a:ext cx="5655442" cy="7721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Четвёртый квартал 2026</a:t>
            </a:r>
          </a:p>
        </p:txBody>
      </p:sp>
      <p:sp>
        <p:nvSpPr>
          <p:cNvPr id="8" name="Oval 7"/>
          <p:cNvSpPr/>
          <p:nvPr/>
        </p:nvSpPr>
        <p:spPr>
          <a:xfrm>
            <a:off x="9631508" y="2487155"/>
            <a:ext cx="447016" cy="44701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4722" y="1745515"/>
            <a:ext cx="5655442" cy="7721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Первый квартал 2027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429280" y="3948857"/>
            <a:ext cx="11310884" cy="146889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2 vCPU / 2 ГБ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1 400 руб инференс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Gpt-oss-20b, OpenAI‑совместим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Дизайн‑отдел 4 человека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8081264" cy="556546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682" name="lead"/>
          <p:cNvSpPr txBox="1"/>
          <p:nvPr/>
        </p:nvSpPr>
        <p:spPr>
          <a:xfrm>
            <a:off x="427817" y="1837052"/>
            <a:ext cx="7827264" cy="14387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Запуск на всю компанию</a:t>
            </a:r>
          </a:p>
        </p:txBody>
      </p:sp>
      <p:sp>
        <p:nvSpPr>
          <p:cNvPr id="683" name="body"/>
          <p:cNvSpPr txBox="1"/>
          <p:nvPr/>
        </p:nvSpPr>
        <p:spPr>
          <a:xfrm>
            <a:off x="427817" y="3521302"/>
            <a:ext cx="7827264" cy="240791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Бюджет на расширение инфраструктуры</a:t>
            </a:r>
          </a:p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Назначение ответственных за интеграцию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623" name="lead"/>
          <p:cNvSpPr txBox="1"/>
          <p:nvPr/>
        </p:nvSpPr>
        <p:spPr>
          <a:xfrm>
            <a:off x="429280" y="1504165"/>
            <a:ext cx="7827264" cy="151470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Слабая модель может выдумать цифры</a:t>
            </a:r>
          </a:p>
        </p:txBody>
      </p:sp>
      <p:sp>
        <p:nvSpPr>
          <p:cNvPr id="624" name="body"/>
          <p:cNvSpPr txBox="1"/>
          <p:nvPr/>
        </p:nvSpPr>
        <p:spPr>
          <a:xfrm>
            <a:off x="429280" y="3253271"/>
            <a:ext cx="7827264" cy="215762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Плохой шаблон может привести к некорректной вёрстке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Нагрузка &gt;20 задач требует внешней очереди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Команда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29280" y="1492575"/>
          <a:ext cx="11310884" cy="28982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5442"/>
                <a:gridCol w="5655442"/>
              </a:tblGrid>
              <a:tr h="483045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Роль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Количество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83045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Дизайн‑отдел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 человека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83045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83045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Ожидание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 дней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83045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Пилотные команды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83049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Презентации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body"/>
          <p:cNvSpPr txBox="1"/>
          <p:nvPr/>
        </p:nvSpPr>
        <p:spPr>
          <a:xfrm>
            <a:off x="429280" y="4562299"/>
            <a:ext cx="11310884" cy="9448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Дизайн‑отдел 4 человека, 11 запросов/нед, 6 дней ожидания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Пилотные команды 2, 68 презентаций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
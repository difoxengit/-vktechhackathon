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Текущее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Пилот</c:v>
                </c:pt>
              </c:strCache>
            </c:strRef>
          </c:tx>
          <c:spPr>
            <a:solidFill>
              <a:srgbClr val="6DBCFF"/>
            </a:solidFill>
            <a:ln>
              <a:solidFill>
                <a:srgbClr val="6DBC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Первая версия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4.0</c:v>
                </c:pt>
                <c:pt idx="1">
                  <c:v>1.0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Текущая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3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664162"/>
          <a:ext cx="11310884" cy="208070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3916315"/>
            <a:ext cx="11310884" cy="15014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одной презентации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закрывает 11 запросов в неделю из 27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429280" y="1619559"/>
            <a:ext cx="11310884" cy="335019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4" name="Chevron 3"/>
          <p:cNvSpPr/>
          <p:nvPr/>
        </p:nvSpPr>
        <p:spPr>
          <a:xfrm>
            <a:off x="429280" y="2009116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5" name="Chevron 4"/>
          <p:cNvSpPr/>
          <p:nvPr/>
        </p:nvSpPr>
        <p:spPr>
          <a:xfrm>
            <a:off x="429280" y="2398673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" name="Chevron 5"/>
          <p:cNvSpPr/>
          <p:nvPr/>
        </p:nvSpPr>
        <p:spPr>
          <a:xfrm>
            <a:off x="429280" y="2788230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429280" y="3177787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429280" y="3567344"/>
            <a:ext cx="11310884" cy="33501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429280" y="4101083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все данные до выдачи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31146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время</a:t>
            </a:r>
          </a:p>
        </p:txBody>
      </p:sp>
      <p:graphicFrame>
        <p:nvGraphicFramePr>
          <p:cNvPr id="682" name="Chart 681"/>
          <p:cNvGraphicFramePr>
            <a:graphicFrameLocks noGrp="1"/>
          </p:cNvGraphicFramePr>
          <p:nvPr/>
        </p:nvGraphicFramePr>
        <p:xfrm>
          <a:off x="427817" y="1837052"/>
          <a:ext cx="11312347" cy="257959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83" name="body"/>
          <p:cNvSpPr txBox="1"/>
          <p:nvPr/>
        </p:nvSpPr>
        <p:spPr>
          <a:xfrm>
            <a:off x="427817" y="4588101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 собраны за 6 недель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пилота: качество и нагрузка</a:t>
            </a:r>
          </a:p>
        </p:txBody>
      </p:sp>
      <p:graphicFrame>
        <p:nvGraphicFramePr>
          <p:cNvPr id="623" name="Chart 622"/>
          <p:cNvGraphicFramePr>
            <a:graphicFrameLocks noGrp="1"/>
          </p:cNvGraphicFramePr>
          <p:nvPr/>
        </p:nvGraphicFramePr>
        <p:xfrm>
          <a:off x="429280" y="1745515"/>
          <a:ext cx="11310884" cy="254904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624" name="body"/>
          <p:cNvSpPr txBox="1"/>
          <p:nvPr/>
        </p:nvSpPr>
        <p:spPr>
          <a:xfrm>
            <a:off x="429280" y="4466013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2 из 68 колод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 ресурсы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429280" y="2431298"/>
            <a:ext cx="7827264" cy="10212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618187"/>
            <a:ext cx="7827264" cy="157331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gpt-oss-20b подключается по OpenAI-совместимому протоколу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Стоимость инференса за 6 недель 1 400 рублей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Oval 2"/>
          <p:cNvSpPr/>
          <p:nvPr/>
        </p:nvSpPr>
        <p:spPr>
          <a:xfrm>
            <a:off x="1713709" y="1567636"/>
            <a:ext cx="1100894" cy="110089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88851" y="1742778"/>
            <a:ext cx="750610" cy="75061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89014" y="1942941"/>
            <a:ext cx="350284" cy="35028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280" y="289371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Выдумка</a:t>
            </a:r>
          </a:p>
        </p:txBody>
      </p:sp>
      <p:sp>
        <p:nvSpPr>
          <p:cNvPr id="7" name="Document 6"/>
          <p:cNvSpPr/>
          <p:nvPr/>
        </p:nvSpPr>
        <p:spPr>
          <a:xfrm>
            <a:off x="5609335" y="1592656"/>
            <a:ext cx="950772" cy="1050854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49845" y="289371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Плохой шаблон</a:t>
            </a:r>
          </a:p>
        </p:txBody>
      </p:sp>
      <p:sp>
        <p:nvSpPr>
          <p:cNvPr id="9" name="Oval 8"/>
          <p:cNvSpPr/>
          <p:nvPr/>
        </p:nvSpPr>
        <p:spPr>
          <a:xfrm>
            <a:off x="9354839" y="1567636"/>
            <a:ext cx="1100894" cy="110089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29982" y="1742778"/>
            <a:ext cx="750610" cy="75061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30144" y="1942941"/>
            <a:ext cx="350284" cy="35028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70410" y="2893714"/>
            <a:ext cx="3669753" cy="110089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Перегрузка</a:t>
            </a:r>
          </a:p>
        </p:txBody>
      </p:sp>
      <p:sp>
        <p:nvSpPr>
          <p:cNvPr id="13" name="body"/>
          <p:cNvSpPr txBox="1"/>
          <p:nvPr/>
        </p:nvSpPr>
        <p:spPr>
          <a:xfrm>
            <a:off x="429280" y="4166059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цифры, аудит проверяет каждое число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</a:t>
            </a:r>
          </a:p>
        </p:txBody>
      </p:sp>
      <p:sp>
        <p:nvSpPr>
          <p:cNvPr id="3" name="Rectangle 2"/>
          <p:cNvSpPr/>
          <p:nvPr/>
        </p:nvSpPr>
        <p:spPr>
          <a:xfrm>
            <a:off x="429280" y="2695030"/>
            <a:ext cx="11310884" cy="6723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67915" y="248213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280" y="1664162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5838209" y="248213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01" y="3188054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Доступ для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9608504" y="2482133"/>
            <a:ext cx="493024" cy="49302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4722" y="1664162"/>
            <a:ext cx="5655442" cy="85158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Генерация иллюстраций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429280" y="4076631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Q3 2026: подключение 4 команд, домен и HTTPS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Q4 2026: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Q1 2027: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8081264" cy="5658188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427817" y="1837052"/>
            <a:ext cx="7827264" cy="15314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 сервиса на всю компанию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427817" y="3614024"/>
            <a:ext cx="7827264" cy="23151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Выделение бюджета на поддержку и развитие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Поддержка интеграции с корпоративными системами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8081385" cy="124714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
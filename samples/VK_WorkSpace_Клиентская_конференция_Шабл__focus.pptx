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Текущее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cat>
            <c:strRef>
              <c:f>Sheet1!$A$2:$A$4</c:f>
              <c:strCache>
                <c:ptCount val="3"/>
                <c:pt idx="0">
                  <c:v>Сборка</c:v>
                </c:pt>
                <c:pt idx="1">
                  <c:v>Правки</c:v>
                </c:pt>
                <c:pt idx="2">
                  <c:v>Ожидание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186.0</c:v>
                </c:pt>
                <c:pt idx="1">
                  <c:v>74.0</c:v>
                </c:pt>
                <c:pt idx="2">
                  <c:v>6.0</c:v>
                </c:pt>
              </c:numCache>
            </c:numRef>
          </c:val>
        </c:ser>
        <c:dLbls>
          <c:numFmt formatCode="0&quot; мин&quot;" sourceLinked="0"/>
          <c:txPr>
            <a:bodyPr wrap="none"/>
            <a:lstStyle/>
            <a:p>
              <a:pPr>
                <a:defRPr sz="1100" b="0">
                  <a:solidFill>
                    <a:srgbClr val="FFFFFF"/>
                  </a:solidFill>
                  <a:latin typeface="Play"/>
                  <a:ea typeface="Play"/>
                  <a:cs typeface="Play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3C3C3C"/>
              </a:solidFill>
            </a:ln>
          </c:spPr>
        </c:majorGridlines>
        <c:title>
          <c:tx>
            <c:rich>
              <a:bodyPr rot="0" vert="horz"/>
              <a:lstStyle/>
              <a:p>
                <a:pPr>
                  <a:defRPr sz="1100" b="0">
                    <a:solidFill>
                      <a:srgbClr val="FFFFFF"/>
                    </a:solidFill>
                    <a:latin typeface="Play"/>
                    <a:ea typeface="Play"/>
                    <a:cs typeface="Play"/>
                  </a:defRPr>
                </a:pPr>
                <a:r>
                  <a:t>Текущее, мин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FFFFFF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До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cat>
            <c:strRef>
              <c:f>Sheet1!$A$2:$A$5</c:f>
              <c:strCache>
                <c:ptCount val="4"/>
                <c:pt idx="0">
                  <c:v>Время сборки</c:v>
                </c:pt>
                <c:pt idx="1">
                  <c:v>Время до первой версии</c:v>
                </c:pt>
                <c:pt idx="2">
                  <c:v>Нарушения стиля</c:v>
                </c:pt>
                <c:pt idx="3">
                  <c:v>Запросы закрыты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186.0</c:v>
                </c:pt>
                <c:pt idx="1">
                  <c:v>6.0</c:v>
                </c:pt>
                <c:pt idx="2">
                  <c:v>19.0</c:v>
                </c:pt>
                <c:pt idx="3">
                  <c:v>11.0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</c:v>
                </c:pt>
              </c:strCache>
            </c:strRef>
          </c:tx>
          <c:spPr>
            <a:solidFill>
              <a:srgbClr val="6DBCFF"/>
            </a:solidFill>
            <a:ln>
              <a:solidFill>
                <a:srgbClr val="6DBCFF"/>
              </a:solidFill>
            </a:ln>
          </c:spPr>
          <c:cat>
            <c:strRef>
              <c:f>Sheet1!$A$2:$A$5</c:f>
              <c:strCache>
                <c:ptCount val="4"/>
                <c:pt idx="0">
                  <c:v>Время сборки</c:v>
                </c:pt>
                <c:pt idx="1">
                  <c:v>Время до первой версии</c:v>
                </c:pt>
                <c:pt idx="2">
                  <c:v>Нарушения стиля</c:v>
                </c:pt>
                <c:pt idx="3">
                  <c:v>Запросы закрыты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4.0</c:v>
                </c:pt>
                <c:pt idx="1">
                  <c:v>1.0</c:v>
                </c:pt>
                <c:pt idx="2">
                  <c:v>2.0</c:v>
                </c:pt>
                <c:pt idx="3">
                  <c:v>38.0</c:v>
                </c:pt>
              </c:numCache>
            </c:numRef>
          </c:val>
        </c:ser>
        <c:dLbls>
          <c:numFmt formatCode="0" sourceLinked="0"/>
          <c:txPr>
            <a:bodyPr wrap="none"/>
            <a:lstStyle/>
            <a:p>
              <a:pPr>
                <a:defRPr sz="1100" b="0">
                  <a:solidFill>
                    <a:srgbClr val="FFFFFF"/>
                  </a:solidFill>
                  <a:latin typeface="Play"/>
                  <a:ea typeface="Play"/>
                  <a:cs typeface="Play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3C3C3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 b="0">
          <a:solidFill>
            <a:srgbClr val="FFFFFF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Титульный слайд">
  <p:cSld name="14_Титульный слайд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5" name="Google Shape;2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5844358"/>
            <a:ext cx="6096000" cy="1013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0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37" name="Google Shape;237;p10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8" name="Google Shape;238;p10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9" name="Google Shape;239;p10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0" name="Google Shape;240;p10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1" name="Google Shape;241;p10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2" name="Google Shape;242;p10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3" name="Google Shape;243;p10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4" name="Google Shape;244;p10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6" name="Google Shape;246;p10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8" name="Google Shape;248;p10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9" name="Google Shape;249;p10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1" name="Google Shape;251;p10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10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3" name="Google Shape;253;p10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4" name="Google Shape;254;p10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5" name="Google Shape;255;p10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56" name="Google Shape;256;p1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6292" y="0"/>
            <a:ext cx="1325708" cy="3723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4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52" r:id="rId6"/>
    <p:sldLayoutId id="2147483653" r:id="rId7"/>
    <p:sldLayoutId id="2147483655" r:id="rId9"/>
    <p:sldLayoutId id="2147483656" r:id="rId10"/>
    <p:sldLayoutId id="2147483661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/Relationships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2" name="Google Shape;382;p17"/>
          <p:cNvSpPr/>
          <p:nvPr/>
        </p:nvSpPr>
        <p:spPr>
          <a:xfrm>
            <a:off x="429254" y="4682210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title"/>
          <p:cNvSpPr txBox="1"/>
          <p:nvPr/>
        </p:nvSpPr>
        <p:spPr>
          <a:xfrm>
            <a:off x="429280" y="2490551"/>
            <a:ext cx="7827385" cy="187689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5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5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Защита инициативы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29280" y="424715"/>
            <a:ext cx="7827264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Контекст и возможность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29280" y="1664162"/>
          <a:ext cx="11310884" cy="224101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body"/>
          <p:cNvSpPr txBox="1"/>
          <p:nvPr/>
        </p:nvSpPr>
        <p:spPr>
          <a:xfrm>
            <a:off x="429280" y="4076631"/>
            <a:ext cx="11310884" cy="13411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Сборка 12-слайдной колоды занимает 186 мин</a:t>
            </a:r>
          </a:p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Правки после ревью добавляют 74 мин</a:t>
            </a:r>
          </a:p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Средний срок ожидания 6 дней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29280" y="424715"/>
            <a:ext cx="7827264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4000">
                <a:solidFill>
                  <a:srgbClr val="FFFFFF"/>
                </a:solidFill>
                <a:latin typeface="Play"/>
                <a:ea typeface="Play"/>
                <a:cs typeface="Play"/>
              </a:rPr>
              <a:t>Текущая нагрузка дизайна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429280" y="1384835"/>
            <a:ext cx="7827264" cy="2497631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4000">
                <a:solidFill>
                  <a:srgbClr val="FFFFFF"/>
                </a:solidFill>
                <a:latin typeface="Play"/>
                <a:ea typeface="Play"/>
                <a:cs typeface="Play"/>
              </a:rPr>
              <a:t>Дизайн-отдел закрывает 11 запросов в неделю из 27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429280" y="4170655"/>
            <a:ext cx="7827264" cy="201731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Средний срок ожидания 6 дней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29280" y="424715"/>
            <a:ext cx="7827264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Ожидаемый эффект пилота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29280" y="1592290"/>
          <a:ext cx="11310884" cy="233734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body"/>
          <p:cNvSpPr txBox="1"/>
          <p:nvPr/>
        </p:nvSpPr>
        <p:spPr>
          <a:xfrm>
            <a:off x="429280" y="4101083"/>
            <a:ext cx="11310884" cy="1672529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Средняя сборка колоды 12 слайдов — 4 мин вместо 186</a:t>
            </a:r>
          </a:p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Время до первой версии сократилось с 6 дней до 1</a:t>
            </a:r>
          </a:p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Нарушений стиля 2 из 68, исправлены автоматически</a:t>
            </a:r>
          </a:p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Дизайнеры закрыли 38 запросов вместо 11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9" name="Google Shape;679;p31"/>
          <p:cNvSpPr/>
          <p:nvPr/>
        </p:nvSpPr>
        <p:spPr>
          <a:xfrm>
            <a:off x="0" y="4748271"/>
            <a:ext cx="12192000" cy="2109730"/>
          </a:xfrm>
          <a:prstGeom prst="rect">
            <a:avLst/>
          </a:prstGeom>
          <a:gradFill>
            <a:gsLst>
              <a:gs pos="0">
                <a:srgbClr val="0077FF">
                  <a:alpha val="61961"/>
                </a:srgbClr>
              </a:gs>
              <a:gs pos="99000">
                <a:srgbClr val="00AEE8"/>
              </a:gs>
              <a:gs pos="100000">
                <a:srgbClr val="00AEE8"/>
              </a:gs>
            </a:gsLst>
            <a:lin ang="14400000" scaled="0"/>
          </a:gradFill>
          <a:ln>
            <a:noFill/>
          </a:ln>
        </p:spPr>
        <p:txBody>
          <a:bodyPr anchorCtr="0" anchor="ctr" bIns="0" lIns="108000" spcFirstLastPara="1" rIns="914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80" name="Rounded Rectangle 679"/>
          <p:cNvSpPr/>
          <p:nvPr/>
        </p:nvSpPr>
        <p:spPr>
          <a:xfrm>
            <a:off x="300817" y="297715"/>
            <a:ext cx="11566347" cy="5311465"/>
          </a:xfrm>
          <a:prstGeom prst="roundRect">
            <a:avLst/>
          </a:prstGeom>
          <a:solidFill>
            <a:srgbClr val="111111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title"/>
          <p:cNvSpPr txBox="1"/>
          <p:nvPr/>
        </p:nvSpPr>
        <p:spPr>
          <a:xfrm>
            <a:off x="427817" y="424715"/>
            <a:ext cx="7827264" cy="11836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Что потребуется: ресурсы и сроки</a:t>
            </a:r>
          </a:p>
        </p:txBody>
      </p:sp>
      <p:sp>
        <p:nvSpPr>
          <p:cNvPr id="682" name="Rectangle 681"/>
          <p:cNvSpPr/>
          <p:nvPr/>
        </p:nvSpPr>
        <p:spPr>
          <a:xfrm>
            <a:off x="427817" y="3023667"/>
            <a:ext cx="11312347" cy="77387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Oval 682"/>
          <p:cNvSpPr/>
          <p:nvPr/>
        </p:nvSpPr>
        <p:spPr>
          <a:xfrm>
            <a:off x="2029452" y="2778605"/>
            <a:ext cx="567511" cy="567511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TextBox 683"/>
          <p:cNvSpPr txBox="1"/>
          <p:nvPr/>
        </p:nvSpPr>
        <p:spPr>
          <a:xfrm>
            <a:off x="427817" y="1837052"/>
            <a:ext cx="5656173" cy="98024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Третий квартал 2026 подключение 4 команд</a:t>
            </a:r>
          </a:p>
        </p:txBody>
      </p:sp>
      <p:sp>
        <p:nvSpPr>
          <p:cNvPr id="685" name="Oval 684"/>
          <p:cNvSpPr/>
          <p:nvPr/>
        </p:nvSpPr>
        <p:spPr>
          <a:xfrm>
            <a:off x="5800234" y="2778605"/>
            <a:ext cx="567511" cy="567511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TextBox 685"/>
          <p:cNvSpPr txBox="1"/>
          <p:nvPr/>
        </p:nvSpPr>
        <p:spPr>
          <a:xfrm>
            <a:off x="3255903" y="3591178"/>
            <a:ext cx="5656173" cy="98024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Четвёртый квартал 2026 доступ для всей компании</a:t>
            </a:r>
          </a:p>
        </p:txBody>
      </p:sp>
      <p:sp>
        <p:nvSpPr>
          <p:cNvPr id="687" name="Oval 686"/>
          <p:cNvSpPr/>
          <p:nvPr/>
        </p:nvSpPr>
        <p:spPr>
          <a:xfrm>
            <a:off x="9571017" y="2778605"/>
            <a:ext cx="567511" cy="567511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TextBox 687"/>
          <p:cNvSpPr txBox="1"/>
          <p:nvPr/>
        </p:nvSpPr>
        <p:spPr>
          <a:xfrm>
            <a:off x="6083990" y="1837052"/>
            <a:ext cx="5656173" cy="98024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Первый квартал 2027 генерация иллюстраций</a:t>
            </a:r>
          </a:p>
        </p:txBody>
      </p:sp>
      <p:sp>
        <p:nvSpPr>
          <p:cNvPr id="689" name="body"/>
          <p:cNvSpPr txBox="1"/>
          <p:nvPr/>
        </p:nvSpPr>
        <p:spPr>
          <a:xfrm>
            <a:off x="427817" y="4588101"/>
            <a:ext cx="11312347" cy="13411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Сервис работает на 2 vCPU / 2 ГБ RAM</a:t>
            </a:r>
          </a:p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Инференс за 6 недель 1 400 руб</a:t>
            </a:r>
          </a:p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Модель gpt-oss-20b подключается по OpenAI-совместимому протоколу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29280" y="424715"/>
            <a:ext cx="7827264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4000">
                <a:solidFill>
                  <a:srgbClr val="FFFFFF"/>
                </a:solidFill>
                <a:latin typeface="Play"/>
                <a:ea typeface="Play"/>
                <a:cs typeface="Play"/>
              </a:rPr>
              <a:t>Риски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429280" y="2431298"/>
            <a:ext cx="7827264" cy="126589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Слабая модель может выдумать цифру, аудит проверяет каждое число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429280" y="3862809"/>
            <a:ext cx="7827264" cy="13286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0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0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Незнакомый шаблон может быть плохо сделанным, сервис использует рабочую область</a:t>
            </a:r>
          </a:p>
          <a:p>
            <a:pPr algn="l">
              <a:spcAft>
                <a:spcPts val="300"/>
              </a:spcAft>
              <a:defRPr sz="20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0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Нагрузка выше 20 задач требует внешней очереди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9" name="Google Shape;679;p31"/>
          <p:cNvSpPr/>
          <p:nvPr/>
        </p:nvSpPr>
        <p:spPr>
          <a:xfrm>
            <a:off x="0" y="4748271"/>
            <a:ext cx="12192000" cy="2109730"/>
          </a:xfrm>
          <a:prstGeom prst="rect">
            <a:avLst/>
          </a:prstGeom>
          <a:gradFill>
            <a:gsLst>
              <a:gs pos="0">
                <a:srgbClr val="0077FF">
                  <a:alpha val="61961"/>
                </a:srgbClr>
              </a:gs>
              <a:gs pos="99000">
                <a:srgbClr val="00AEE8"/>
              </a:gs>
              <a:gs pos="100000">
                <a:srgbClr val="00AEE8"/>
              </a:gs>
            </a:gsLst>
            <a:lin ang="14400000" scaled="0"/>
          </a:gradFill>
          <a:ln>
            <a:noFill/>
          </a:ln>
        </p:spPr>
        <p:txBody>
          <a:bodyPr anchorCtr="0" anchor="ctr" bIns="0" lIns="108000" spcFirstLastPara="1" rIns="914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80" name="Rounded Rectangle 679"/>
          <p:cNvSpPr/>
          <p:nvPr/>
        </p:nvSpPr>
        <p:spPr>
          <a:xfrm>
            <a:off x="300817" y="297715"/>
            <a:ext cx="8081264" cy="5563696"/>
          </a:xfrm>
          <a:prstGeom prst="roundRect">
            <a:avLst/>
          </a:prstGeom>
          <a:solidFill>
            <a:srgbClr val="111111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title"/>
          <p:cNvSpPr txBox="1"/>
          <p:nvPr/>
        </p:nvSpPr>
        <p:spPr>
          <a:xfrm>
            <a:off x="427817" y="424715"/>
            <a:ext cx="7827264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4000">
                <a:solidFill>
                  <a:srgbClr val="FFFFFF"/>
                </a:solidFill>
                <a:latin typeface="Play"/>
                <a:ea typeface="Play"/>
                <a:cs typeface="Play"/>
              </a:rPr>
              <a:t>План пилота</a:t>
            </a:r>
          </a:p>
        </p:txBody>
      </p:sp>
      <p:sp>
        <p:nvSpPr>
          <p:cNvPr id="682" name="lead"/>
          <p:cNvSpPr txBox="1"/>
          <p:nvPr/>
        </p:nvSpPr>
        <p:spPr>
          <a:xfrm>
            <a:off x="427817" y="1837052"/>
            <a:ext cx="7827264" cy="170111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Третий квартал 2026 подключение 4 команд, домен и HTTPS</a:t>
            </a:r>
          </a:p>
        </p:txBody>
      </p:sp>
      <p:sp>
        <p:nvSpPr>
          <p:cNvPr id="683" name="body"/>
          <p:cNvSpPr txBox="1"/>
          <p:nvPr/>
        </p:nvSpPr>
        <p:spPr>
          <a:xfrm>
            <a:off x="427817" y="3783692"/>
            <a:ext cx="7827264" cy="214552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• Четвёртый квартал 2026 доступ для всей компании, интеграция с хранилищем</a:t>
            </a:r>
          </a:p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Первый квартал 2027 генерация иллюстраций под стиль шаблона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29280" y="424715"/>
            <a:ext cx="7827264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4000">
                <a:solidFill>
                  <a:srgbClr val="FFFFFF"/>
                </a:solidFill>
                <a:latin typeface="Play"/>
                <a:ea typeface="Play"/>
                <a:cs typeface="Play"/>
              </a:rPr>
              <a:t>Пилотные результаты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429280" y="2431298"/>
            <a:ext cx="7827264" cy="143530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Пилот шёл 6 недель на двух командах, собрал 68 презентаций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429280" y="4032218"/>
            <a:ext cx="7827264" cy="115928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0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000">
                <a:solidFill>
                  <a:srgbClr val="FFFFFF"/>
                </a:solidFill>
                <a:latin typeface="Play"/>
                <a:ea typeface="Play"/>
                <a:cs typeface="Play"/>
              </a:rPr>
              <a:t>• Сервис ускорил сборку с 186 до 4 мин</a:t>
            </a:r>
          </a:p>
          <a:p>
            <a:pPr algn="l">
              <a:spcAft>
                <a:spcPts val="300"/>
              </a:spcAft>
              <a:defRPr sz="20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0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Нарушения стиля 2 из 68, исправлены автоматически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9" name="Google Shape;679;p31"/>
          <p:cNvSpPr/>
          <p:nvPr/>
        </p:nvSpPr>
        <p:spPr>
          <a:xfrm>
            <a:off x="0" y="4748271"/>
            <a:ext cx="12192000" cy="2109730"/>
          </a:xfrm>
          <a:prstGeom prst="rect">
            <a:avLst/>
          </a:prstGeom>
          <a:gradFill>
            <a:gsLst>
              <a:gs pos="0">
                <a:srgbClr val="0077FF">
                  <a:alpha val="61961"/>
                </a:srgbClr>
              </a:gs>
              <a:gs pos="99000">
                <a:srgbClr val="00AEE8"/>
              </a:gs>
              <a:gs pos="100000">
                <a:srgbClr val="00AEE8"/>
              </a:gs>
            </a:gsLst>
            <a:lin ang="14400000" scaled="0"/>
          </a:gradFill>
          <a:ln>
            <a:noFill/>
          </a:ln>
        </p:spPr>
        <p:txBody>
          <a:bodyPr anchorCtr="0" anchor="ctr" bIns="0" lIns="108000" spcFirstLastPara="1" rIns="914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80" name="Rounded Rectangle 679"/>
          <p:cNvSpPr/>
          <p:nvPr/>
        </p:nvSpPr>
        <p:spPr>
          <a:xfrm>
            <a:off x="300817" y="297715"/>
            <a:ext cx="8081264" cy="5418295"/>
          </a:xfrm>
          <a:prstGeom prst="roundRect">
            <a:avLst/>
          </a:prstGeom>
          <a:solidFill>
            <a:srgbClr val="111111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title"/>
          <p:cNvSpPr txBox="1"/>
          <p:nvPr/>
        </p:nvSpPr>
        <p:spPr>
          <a:xfrm>
            <a:off x="427817" y="424715"/>
            <a:ext cx="7827264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4000">
                <a:solidFill>
                  <a:srgbClr val="FFFFFF"/>
                </a:solidFill>
                <a:latin typeface="Play"/>
                <a:ea typeface="Play"/>
                <a:cs typeface="Play"/>
              </a:rPr>
              <a:t>Показатели после пилота</a:t>
            </a:r>
          </a:p>
        </p:txBody>
      </p:sp>
      <p:sp>
        <p:nvSpPr>
          <p:cNvPr id="682" name="lead"/>
          <p:cNvSpPr txBox="1"/>
          <p:nvPr/>
        </p:nvSpPr>
        <p:spPr>
          <a:xfrm>
            <a:off x="427817" y="1837052"/>
            <a:ext cx="7827264" cy="201798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4000">
                <a:solidFill>
                  <a:srgbClr val="FFFFFF"/>
                </a:solidFill>
                <a:latin typeface="Play"/>
                <a:ea typeface="Play"/>
                <a:cs typeface="Play"/>
              </a:rPr>
              <a:t>Запросы закрыты 38 вместо 11, рутина ушла в сервис</a:t>
            </a:r>
          </a:p>
        </p:txBody>
      </p:sp>
      <p:sp>
        <p:nvSpPr>
          <p:cNvPr id="683" name="body"/>
          <p:cNvSpPr txBox="1"/>
          <p:nvPr/>
        </p:nvSpPr>
        <p:spPr>
          <a:xfrm>
            <a:off x="427817" y="4100571"/>
            <a:ext cx="7827264" cy="1828649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Время до первой версии сократилось с 6 дней до 1</a:t>
            </a:r>
          </a:p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• Сервис работает на 2 vCPU / 2 ГБ RAM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1" name="Google Shape;881;p45"/>
          <p:cNvSpPr/>
          <p:nvPr/>
        </p:nvSpPr>
        <p:spPr>
          <a:xfrm>
            <a:off x="429254" y="4567907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45"/>
          <p:cNvSpPr/>
          <p:nvPr/>
        </p:nvSpPr>
        <p:spPr>
          <a:xfrm>
            <a:off x="3499026" y="4567907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Rounded Rectangle 883"/>
          <p:cNvSpPr/>
          <p:nvPr/>
        </p:nvSpPr>
        <p:spPr>
          <a:xfrm>
            <a:off x="300817" y="297715"/>
            <a:ext cx="11566347" cy="4213947"/>
          </a:xfrm>
          <a:prstGeom prst="roundRect">
            <a:avLst/>
          </a:prstGeom>
          <a:solidFill>
            <a:srgbClr val="111111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title"/>
          <p:cNvSpPr txBox="1"/>
          <p:nvPr/>
        </p:nvSpPr>
        <p:spPr>
          <a:xfrm>
            <a:off x="427817" y="424715"/>
            <a:ext cx="11312347" cy="10185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54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5400">
                <a:solidFill>
                  <a:srgbClr val="FFFFFF"/>
                </a:solidFill>
                <a:latin typeface="Play"/>
                <a:ea typeface="Play"/>
                <a:cs typeface="Play"/>
              </a:rPr>
              <a:t>Что мы просим решить</a:t>
            </a:r>
          </a:p>
        </p:txBody>
      </p:sp>
      <p:sp>
        <p:nvSpPr>
          <p:cNvPr id="886" name="lead"/>
          <p:cNvSpPr txBox="1"/>
          <p:nvPr/>
        </p:nvSpPr>
        <p:spPr>
          <a:xfrm>
            <a:off x="427817" y="1783080"/>
            <a:ext cx="11312347" cy="141244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>
              <a:spcAft>
                <a:spcPts val="300"/>
              </a:spcAft>
              <a:defRPr sz="3200" b="1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 b="1">
                <a:solidFill>
                  <a:srgbClr val="FFFFFF"/>
                </a:solidFill>
                <a:latin typeface="Play"/>
                <a:ea typeface="Play"/>
                <a:cs typeface="Play"/>
              </a:rPr>
              <a:t>Попросим решение о запуске на всю компанию</a:t>
            </a:r>
          </a:p>
        </p:txBody>
      </p:sp>
      <p:sp>
        <p:nvSpPr>
          <p:cNvPr id="887" name="body"/>
          <p:cNvSpPr txBox="1"/>
          <p:nvPr/>
        </p:nvSpPr>
        <p:spPr>
          <a:xfrm>
            <a:off x="427817" y="3358503"/>
            <a:ext cx="11312347" cy="114082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 b="1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 b="1">
                <a:solidFill>
                  <a:srgbClr val="FFFFFF"/>
                </a:solidFill>
                <a:latin typeface="Play"/>
                <a:ea typeface="Play"/>
                <a:cs typeface="Play"/>
              </a:rPr>
              <a:t>• Ожидаем одобрения руководства</a:t>
            </a:r>
          </a:p>
          <a:p>
            <a:pPr algn="l">
              <a:spcAft>
                <a:spcPts val="300"/>
              </a:spcAft>
              <a:defRPr sz="2800" b="1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 b="1">
                <a:solidFill>
                  <a:srgbClr val="FFFFFF"/>
                </a:solidFill>
                <a:latin typeface="Play"/>
                <a:ea typeface="Play"/>
                <a:cs typeface="Play"/>
              </a:rPr>
              <a:t>• Готовы к масштабированию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
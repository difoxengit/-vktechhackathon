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Сборка</c:v>
                </c:pt>
                <c:pt idx="1">
                  <c:v>Правки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74.0</c:v>
                </c:pt>
              </c:numCache>
            </c:numRef>
          </c:val>
        </c:ser>
        <c:dLbls>
          <c:numFmt formatCode="0&quot; минуты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минуты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Текущее</c:v>
                </c:pt>
                <c:pt idx="1">
                  <c:v>Сервис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уты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минуты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Сервис повышает эффективность и соблюдение стиля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Сервис повышает эффективность и соблюдение стиля,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8" Type="http://schemas.openxmlformats.org/officeDocument/2006/relationships/slideLayout" Target="../slideLayouts/slideLayout11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6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473726" y="1370485"/>
            <a:ext cx="4288261" cy="144138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705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705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Защита инициативы: сервис автоматической вёрстки презентаций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вручную занимает 186 минут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74320" y="1337310"/>
            <a:ext cx="4035247" cy="30861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74 минуты на правки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из 42 колод нарушают фирменный стиль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83887" y="1337310"/>
          <a:ext cx="4035247" cy="30861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Дизайн-отдел из 4 человек обслуживает 11 запросов в неделю</a:t>
            </a:r>
          </a:p>
        </p:txBody>
      </p:sp>
      <p:sp>
        <p:nvSpPr>
          <p:cNvPr id="556" name="body"/>
          <p:cNvSpPr txBox="1"/>
          <p:nvPr/>
        </p:nvSpPr>
        <p:spPr>
          <a:xfrm>
            <a:off x="274320" y="1394994"/>
            <a:ext cx="4035247" cy="302841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4 дизайнеры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11 запросов в неделю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27 запросов поступает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Средний срок ожидания 6 дней</a:t>
            </a:r>
          </a:p>
        </p:txBody>
      </p:sp>
      <p:graphicFrame>
        <p:nvGraphicFramePr>
          <p:cNvPr id="557" name="Table 556"/>
          <p:cNvGraphicFramePr>
            <a:graphicFrameLocks noGrp="1"/>
          </p:cNvGraphicFramePr>
          <p:nvPr/>
        </p:nvGraphicFramePr>
        <p:xfrm>
          <a:off x="4583887" y="1394994"/>
          <a:ext cx="4035247" cy="3028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623"/>
                <a:gridCol w="2017624"/>
              </a:tblGrid>
              <a:tr h="60568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Дизайнеры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Запросы в неделю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Поступающие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Средний срок ожидания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принимает шаблон и материалы, генерирует колоду</a:t>
            </a:r>
          </a:p>
        </p:txBody>
      </p:sp>
      <p:sp>
        <p:nvSpPr>
          <p:cNvPr id="2252" name="body_left"/>
          <p:cNvSpPr txBox="1"/>
          <p:nvPr/>
        </p:nvSpPr>
        <p:spPr>
          <a:xfrm>
            <a:off x="274320" y="2117345"/>
            <a:ext cx="3457574" cy="9931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Принимает pptx шаблон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Разбирает дизайн-систему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Собирает план колоды</a:t>
            </a:r>
          </a:p>
        </p:txBody>
      </p:sp>
      <p:sp>
        <p:nvSpPr>
          <p:cNvPr id="2253" name="body_right"/>
          <p:cNvSpPr txBox="1"/>
          <p:nvPr/>
        </p:nvSpPr>
        <p:spPr>
          <a:xfrm>
            <a:off x="4006215" y="2117345"/>
            <a:ext cx="3457574" cy="9931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Вёрстка по системе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Аудит качества до публикации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pptx, pdf, html; слайды остаются редактируемыми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74320" y="2115452"/>
            <a:ext cx="4519476" cy="15875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pptx с нативными объектами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pdf и html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Слайды редактируемы без преобразования в картинки</a:t>
            </a:r>
          </a:p>
        </p:txBody>
      </p:sp>
      <p:grpSp>
        <p:nvGrpSpPr>
          <p:cNvPr id="4" name="illustration:builtin-presentation"/>
          <p:cNvGrpSpPr/>
          <p:nvPr/>
        </p:nvGrpSpPr>
        <p:grpSpPr>
          <a:xfrm>
            <a:off x="5725054" y="1790631"/>
            <a:ext cx="2237140" cy="2237140"/>
            <a:chOff x="5725054" y="1790631"/>
            <a:chExt cx="2237140" cy="2237140"/>
          </a:xfrm>
        </p:grpSpPr>
        <p:sp>
          <p:nvSpPr>
            <p:cNvPr id="5" name="Oval 4"/>
            <p:cNvSpPr/>
            <p:nvPr/>
          </p:nvSpPr>
          <p:spPr>
            <a:xfrm>
              <a:off x="5725054" y="1790631"/>
              <a:ext cx="2237140" cy="223714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813829" y="2092467"/>
              <a:ext cx="2059589" cy="1331631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13829" y="2092467"/>
              <a:ext cx="2059589" cy="266326"/>
            </a:xfrm>
            <a:prstGeom prst="roundRect">
              <a:avLst>
                <a:gd name="adj" fmla="val 46666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813829" y="2234508"/>
              <a:ext cx="2059589" cy="124285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026890" y="2536344"/>
              <a:ext cx="745713" cy="88775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026890" y="2713895"/>
              <a:ext cx="568162" cy="71020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026890" y="2855936"/>
              <a:ext cx="656938" cy="71020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026890" y="2997976"/>
              <a:ext cx="497142" cy="71020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67910" y="2909201"/>
              <a:ext cx="159795" cy="337346"/>
            </a:xfrm>
            <a:prstGeom prst="roundRect">
              <a:avLst>
                <a:gd name="adj" fmla="val 22222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198726" y="2731650"/>
              <a:ext cx="159795" cy="514897"/>
            </a:xfrm>
            <a:prstGeom prst="roundRect">
              <a:avLst>
                <a:gd name="adj" fmla="val 22222"/>
              </a:avLst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429542" y="2554099"/>
              <a:ext cx="159795" cy="692448"/>
            </a:xfrm>
            <a:prstGeom prst="roundRect">
              <a:avLst>
                <a:gd name="adj" fmla="val 22222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90359" y="3424098"/>
              <a:ext cx="106530" cy="31959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399747" y="3708180"/>
              <a:ext cx="887754" cy="10653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Время сборки колоды сократилось с 186 до 4 минут</a:t>
            </a:r>
          </a:p>
        </p:txBody>
      </p:sp>
      <p:sp>
        <p:nvSpPr>
          <p:cNvPr id="1035" name="body"/>
          <p:cNvSpPr txBox="1"/>
          <p:nvPr/>
        </p:nvSpPr>
        <p:spPr>
          <a:xfrm>
            <a:off x="274320" y="1394994"/>
            <a:ext cx="4035247" cy="302841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4 минуты вместо 186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до первой версии с 6 дней до 1 дня</a:t>
            </a:r>
          </a:p>
        </p:txBody>
      </p:sp>
      <p:graphicFrame>
        <p:nvGraphicFramePr>
          <p:cNvPr id="1036" name="Chart 1035"/>
          <p:cNvGraphicFramePr>
            <a:graphicFrameLocks noGrp="1"/>
          </p:cNvGraphicFramePr>
          <p:nvPr/>
        </p:nvGraphicFramePr>
        <p:xfrm>
          <a:off x="4583887" y="1394994"/>
          <a:ext cx="4035247" cy="302841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Нарушений фирменного стиля в пилоте — 2 из 68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74320" y="2412632"/>
            <a:ext cx="4519476" cy="9931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из 68 колод нарушили стиль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Все нарушения исправлены автоматическими правками</a:t>
            </a:r>
          </a:p>
        </p:txBody>
      </p:sp>
      <p:grpSp>
        <p:nvGrpSpPr>
          <p:cNvPr id="4" name="illustration:builtin-launch"/>
          <p:cNvGrpSpPr/>
          <p:nvPr/>
        </p:nvGrpSpPr>
        <p:grpSpPr>
          <a:xfrm>
            <a:off x="5725054" y="1790631"/>
            <a:ext cx="2325915" cy="2237140"/>
            <a:chOff x="5725054" y="1790631"/>
            <a:chExt cx="2325915" cy="2237140"/>
          </a:xfrm>
        </p:grpSpPr>
        <p:sp>
          <p:nvSpPr>
            <p:cNvPr id="5" name="Oval 4"/>
            <p:cNvSpPr/>
            <p:nvPr/>
          </p:nvSpPr>
          <p:spPr>
            <a:xfrm>
              <a:off x="5725054" y="1790631"/>
              <a:ext cx="2237140" cy="223714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6401025" y="1897161"/>
              <a:ext cx="885198" cy="1225101"/>
            </a:xfrm>
            <a:custGeom>
              <a:avLst/>
              <a:gdLst/>
              <a:ahLst/>
              <a:cxnLst/>
              <a:rect l="l" t="t" r="r" b="b"/>
              <a:pathLst>
                <a:path w="885198" h="1225101">
                  <a:moveTo>
                    <a:pt x="442599" y="0"/>
                  </a:moveTo>
                  <a:lnTo>
                    <a:pt x="547514" y="85597"/>
                  </a:lnTo>
                  <a:lnTo>
                    <a:pt x="638473" y="181954"/>
                  </a:lnTo>
                  <a:lnTo>
                    <a:pt x="715370" y="288112"/>
                  </a:lnTo>
                  <a:lnTo>
                    <a:pt x="778099" y="403112"/>
                  </a:lnTo>
                  <a:lnTo>
                    <a:pt x="826553" y="525995"/>
                  </a:lnTo>
                  <a:lnTo>
                    <a:pt x="860625" y="655802"/>
                  </a:lnTo>
                  <a:lnTo>
                    <a:pt x="880209" y="791575"/>
                  </a:lnTo>
                  <a:lnTo>
                    <a:pt x="885198" y="932355"/>
                  </a:lnTo>
                  <a:lnTo>
                    <a:pt x="875486" y="1077183"/>
                  </a:lnTo>
                  <a:lnTo>
                    <a:pt x="850966" y="1225101"/>
                  </a:lnTo>
                  <a:lnTo>
                    <a:pt x="34232" y="1225101"/>
                  </a:lnTo>
                  <a:lnTo>
                    <a:pt x="9712" y="1077183"/>
                  </a:lnTo>
                  <a:lnTo>
                    <a:pt x="0" y="932355"/>
                  </a:lnTo>
                  <a:lnTo>
                    <a:pt x="4989" y="791575"/>
                  </a:lnTo>
                  <a:lnTo>
                    <a:pt x="24573" y="655802"/>
                  </a:lnTo>
                  <a:lnTo>
                    <a:pt x="58645" y="525995"/>
                  </a:lnTo>
                  <a:lnTo>
                    <a:pt x="107099" y="403112"/>
                  </a:lnTo>
                  <a:lnTo>
                    <a:pt x="169828" y="288112"/>
                  </a:lnTo>
                  <a:lnTo>
                    <a:pt x="246725" y="181954"/>
                  </a:lnTo>
                  <a:lnTo>
                    <a:pt x="337684" y="85597"/>
                  </a:lnTo>
                  <a:lnTo>
                    <a:pt x="442599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630563" y="2358793"/>
              <a:ext cx="426122" cy="4261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719338" y="2447569"/>
              <a:ext cx="248571" cy="24857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6133421" y="2909201"/>
              <a:ext cx="355101" cy="585918"/>
            </a:xfrm>
            <a:custGeom>
              <a:avLst/>
              <a:gdLst/>
              <a:ahLst/>
              <a:cxnLst/>
              <a:rect l="l" t="t" r="r" b="b"/>
              <a:pathLst>
                <a:path w="355101" h="585918">
                  <a:moveTo>
                    <a:pt x="301836" y="0"/>
                  </a:moveTo>
                  <a:lnTo>
                    <a:pt x="0" y="372857"/>
                  </a:lnTo>
                  <a:lnTo>
                    <a:pt x="0" y="585918"/>
                  </a:lnTo>
                  <a:lnTo>
                    <a:pt x="355101" y="42612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198726" y="2909201"/>
              <a:ext cx="355101" cy="585918"/>
            </a:xfrm>
            <a:custGeom>
              <a:avLst/>
              <a:gdLst/>
              <a:ahLst/>
              <a:cxnLst/>
              <a:rect l="l" t="t" r="r" b="b"/>
              <a:pathLst>
                <a:path w="355101" h="585918">
                  <a:moveTo>
                    <a:pt x="53265" y="0"/>
                  </a:moveTo>
                  <a:lnTo>
                    <a:pt x="355101" y="372857"/>
                  </a:lnTo>
                  <a:lnTo>
                    <a:pt x="355101" y="585918"/>
                  </a:lnTo>
                  <a:lnTo>
                    <a:pt x="0" y="42612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0563" y="3157772"/>
              <a:ext cx="426122" cy="266326"/>
            </a:xfrm>
            <a:custGeom>
              <a:avLst/>
              <a:gdLst/>
              <a:ahLst/>
              <a:cxnLst/>
              <a:rect l="l" t="t" r="r" b="b"/>
              <a:pathLst>
                <a:path w="426122" h="266326">
                  <a:moveTo>
                    <a:pt x="0" y="0"/>
                  </a:moveTo>
                  <a:lnTo>
                    <a:pt x="426122" y="0"/>
                  </a:lnTo>
                  <a:lnTo>
                    <a:pt x="355102" y="266326"/>
                  </a:lnTo>
                  <a:lnTo>
                    <a:pt x="71020" y="266326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701583" y="3424098"/>
              <a:ext cx="284082" cy="497143"/>
            </a:xfrm>
            <a:custGeom>
              <a:avLst/>
              <a:gdLst/>
              <a:ahLst/>
              <a:cxnLst/>
              <a:rect l="l" t="t" r="r" b="b"/>
              <a:pathLst>
                <a:path w="284082" h="497143">
                  <a:moveTo>
                    <a:pt x="0" y="0"/>
                  </a:moveTo>
                  <a:lnTo>
                    <a:pt x="284082" y="0"/>
                  </a:lnTo>
                  <a:lnTo>
                    <a:pt x="282022" y="66653"/>
                  </a:lnTo>
                  <a:lnTo>
                    <a:pt x="276127" y="128405"/>
                  </a:lnTo>
                  <a:lnTo>
                    <a:pt x="266824" y="185683"/>
                  </a:lnTo>
                  <a:lnTo>
                    <a:pt x="254537" y="238913"/>
                  </a:lnTo>
                  <a:lnTo>
                    <a:pt x="239694" y="288521"/>
                  </a:lnTo>
                  <a:lnTo>
                    <a:pt x="222720" y="334932"/>
                  </a:lnTo>
                  <a:lnTo>
                    <a:pt x="204042" y="378574"/>
                  </a:lnTo>
                  <a:lnTo>
                    <a:pt x="184085" y="419873"/>
                  </a:lnTo>
                  <a:lnTo>
                    <a:pt x="163276" y="459253"/>
                  </a:lnTo>
                  <a:lnTo>
                    <a:pt x="142041" y="497143"/>
                  </a:lnTo>
                  <a:lnTo>
                    <a:pt x="120806" y="459253"/>
                  </a:lnTo>
                  <a:lnTo>
                    <a:pt x="99997" y="419873"/>
                  </a:lnTo>
                  <a:lnTo>
                    <a:pt x="80040" y="378574"/>
                  </a:lnTo>
                  <a:lnTo>
                    <a:pt x="61362" y="334932"/>
                  </a:lnTo>
                  <a:lnTo>
                    <a:pt x="44388" y="288521"/>
                  </a:lnTo>
                  <a:lnTo>
                    <a:pt x="29545" y="238913"/>
                  </a:lnTo>
                  <a:lnTo>
                    <a:pt x="17258" y="185683"/>
                  </a:lnTo>
                  <a:lnTo>
                    <a:pt x="7955" y="128405"/>
                  </a:lnTo>
                  <a:lnTo>
                    <a:pt x="2060" y="66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822707" y="2278895"/>
              <a:ext cx="124285" cy="12428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784644" y="2110222"/>
              <a:ext cx="177550" cy="177550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7944439" y="3299813"/>
              <a:ext cx="106530" cy="106530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работает на одной машине 2 vCPU / 2 GB RAM</a:t>
            </a:r>
          </a:p>
        </p:txBody>
      </p:sp>
      <p:sp>
        <p:nvSpPr>
          <p:cNvPr id="556" name="body"/>
          <p:cNvSpPr txBox="1"/>
          <p:nvPr/>
        </p:nvSpPr>
        <p:spPr>
          <a:xfrm>
            <a:off x="274320" y="1394994"/>
            <a:ext cx="4035247" cy="302841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vCPU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GB RAM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</a:t>
            </a:r>
          </a:p>
        </p:txBody>
      </p:sp>
      <p:graphicFrame>
        <p:nvGraphicFramePr>
          <p:cNvPr id="557" name="Table 556"/>
          <p:cNvGraphicFramePr>
            <a:graphicFrameLocks noGrp="1"/>
          </p:cNvGraphicFramePr>
          <p:nvPr/>
        </p:nvGraphicFramePr>
        <p:xfrm>
          <a:off x="4583887" y="1394994"/>
          <a:ext cx="4035247" cy="3028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623"/>
                <a:gridCol w="2017624"/>
              </a:tblGrid>
              <a:tr h="75710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7571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 vCPU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10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10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Стоимость инференса за 6 недель пилота — 1 400 рублей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274320" y="2709812"/>
            <a:ext cx="4519476" cy="3987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1 400 руб за 6 недель</a:t>
            </a:r>
          </a:p>
        </p:txBody>
      </p:sp>
      <p:grpSp>
        <p:nvGrpSpPr>
          <p:cNvPr id="2" name="illustration:builtin-money"/>
          <p:cNvGrpSpPr/>
          <p:nvPr/>
        </p:nvGrpSpPr>
        <p:grpSpPr>
          <a:xfrm>
            <a:off x="5725054" y="1790631"/>
            <a:ext cx="2237140" cy="2237140"/>
            <a:chOff x="5725054" y="1790631"/>
            <a:chExt cx="2237140" cy="2237140"/>
          </a:xfrm>
        </p:grpSpPr>
        <p:sp>
          <p:nvSpPr>
            <p:cNvPr id="683" name="Oval 682"/>
            <p:cNvSpPr/>
            <p:nvPr/>
          </p:nvSpPr>
          <p:spPr>
            <a:xfrm>
              <a:off x="5725054" y="1790631"/>
              <a:ext cx="2237140" cy="223714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Rounded Rectangle 683"/>
            <p:cNvSpPr/>
            <p:nvPr/>
          </p:nvSpPr>
          <p:spPr>
            <a:xfrm>
              <a:off x="5884849" y="2429814"/>
              <a:ext cx="1562447" cy="923264"/>
            </a:xfrm>
            <a:prstGeom prst="roundRect">
              <a:avLst>
                <a:gd name="adj" fmla="val 13461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Oval 684"/>
            <p:cNvSpPr/>
            <p:nvPr/>
          </p:nvSpPr>
          <p:spPr>
            <a:xfrm>
              <a:off x="6399747" y="2625120"/>
              <a:ext cx="532652" cy="53265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6559543" y="2749405"/>
              <a:ext cx="213061" cy="301837"/>
            </a:xfrm>
            <a:custGeom>
              <a:avLst/>
              <a:gdLst/>
              <a:ahLst/>
              <a:cxnLst/>
              <a:rect l="l" t="t" r="r" b="b"/>
              <a:pathLst>
                <a:path w="213061" h="301837">
                  <a:moveTo>
                    <a:pt x="53265" y="301837"/>
                  </a:moveTo>
                  <a:lnTo>
                    <a:pt x="53265" y="0"/>
                  </a:lnTo>
                  <a:lnTo>
                    <a:pt x="142040" y="0"/>
                  </a:lnTo>
                  <a:lnTo>
                    <a:pt x="155898" y="1367"/>
                  </a:lnTo>
                  <a:lnTo>
                    <a:pt x="169214" y="5407"/>
                  </a:lnTo>
                  <a:lnTo>
                    <a:pt x="181501" y="11967"/>
                  </a:lnTo>
                  <a:lnTo>
                    <a:pt x="192261" y="20800"/>
                  </a:lnTo>
                  <a:lnTo>
                    <a:pt x="201094" y="31560"/>
                  </a:lnTo>
                  <a:lnTo>
                    <a:pt x="207654" y="43846"/>
                  </a:lnTo>
                  <a:lnTo>
                    <a:pt x="211694" y="57163"/>
                  </a:lnTo>
                  <a:lnTo>
                    <a:pt x="213061" y="71021"/>
                  </a:lnTo>
                  <a:lnTo>
                    <a:pt x="211694" y="84878"/>
                  </a:lnTo>
                  <a:lnTo>
                    <a:pt x="207654" y="98195"/>
                  </a:lnTo>
                  <a:lnTo>
                    <a:pt x="201094" y="110481"/>
                  </a:lnTo>
                  <a:lnTo>
                    <a:pt x="192261" y="121241"/>
                  </a:lnTo>
                  <a:lnTo>
                    <a:pt x="181501" y="130074"/>
                  </a:lnTo>
                  <a:lnTo>
                    <a:pt x="169214" y="136634"/>
                  </a:lnTo>
                  <a:lnTo>
                    <a:pt x="155898" y="140674"/>
                  </a:lnTo>
                  <a:lnTo>
                    <a:pt x="142040" y="142041"/>
                  </a:lnTo>
                  <a:lnTo>
                    <a:pt x="0" y="142041"/>
                  </a:lnTo>
                </a:path>
              </a:pathLst>
            </a:custGeom>
            <a:noFill/>
            <a:ln w="53265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6559543" y="2971344"/>
              <a:ext cx="159795" cy="0"/>
            </a:xfrm>
            <a:custGeom>
              <a:avLst/>
              <a:gdLst/>
              <a:ahLst/>
              <a:cxnLst/>
              <a:rect l="l" t="t" r="r" b="b"/>
              <a:pathLst>
                <a:path w="159795" h="0">
                  <a:moveTo>
                    <a:pt x="0" y="0"/>
                  </a:moveTo>
                  <a:lnTo>
                    <a:pt x="159795" y="0"/>
                  </a:lnTo>
                </a:path>
              </a:pathLst>
            </a:custGeom>
            <a:solidFill>
              <a:srgbClr val="000000"/>
            </a:solidFill>
            <a:ln w="53265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Oval 685"/>
            <p:cNvSpPr/>
            <p:nvPr/>
          </p:nvSpPr>
          <p:spPr>
            <a:xfrm>
              <a:off x="7198726" y="3512874"/>
              <a:ext cx="710203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Oval 686"/>
            <p:cNvSpPr/>
            <p:nvPr/>
          </p:nvSpPr>
          <p:spPr>
            <a:xfrm>
              <a:off x="7198726" y="3353078"/>
              <a:ext cx="710203" cy="213061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Oval 687"/>
            <p:cNvSpPr/>
            <p:nvPr/>
          </p:nvSpPr>
          <p:spPr>
            <a:xfrm>
              <a:off x="7198726" y="3193282"/>
              <a:ext cx="710203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Oval 688"/>
            <p:cNvSpPr/>
            <p:nvPr/>
          </p:nvSpPr>
          <p:spPr>
            <a:xfrm>
              <a:off x="7198726" y="3033487"/>
              <a:ext cx="710203" cy="213061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Oval 689"/>
            <p:cNvSpPr/>
            <p:nvPr/>
          </p:nvSpPr>
          <p:spPr>
            <a:xfrm>
              <a:off x="7198726" y="2873691"/>
              <a:ext cx="710203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Oval 690"/>
            <p:cNvSpPr/>
            <p:nvPr/>
          </p:nvSpPr>
          <p:spPr>
            <a:xfrm>
              <a:off x="5813829" y="3530629"/>
              <a:ext cx="213061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Пилот шёл 6 недель на двух командах, собрано 68 презентаций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74320" y="1394994"/>
            <a:ext cx="4035247" cy="302841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6 недель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2 команды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68 презентаций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38 запросов закрыто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83887" y="1394994"/>
          <a:ext cx="4035247" cy="3028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623"/>
                <a:gridCol w="2017624"/>
              </a:tblGrid>
              <a:tr h="60568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Длительность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 недель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Команды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Презентаций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6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Запросов закрыто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title"/>
          <p:cNvSpPr txBox="1"/>
          <p:nvPr/>
        </p:nvSpPr>
        <p:spPr>
          <a:xfrm>
            <a:off x="274320" y="282943"/>
            <a:ext cx="3412266" cy="10185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Риски: слабая модель, непроверенные шаблоны, нагрузка &gt;20 задач</a:t>
            </a:r>
          </a:p>
        </p:txBody>
      </p:sp>
      <p:sp>
        <p:nvSpPr>
          <p:cNvPr id="1071" name="body"/>
          <p:cNvSpPr txBox="1"/>
          <p:nvPr/>
        </p:nvSpPr>
        <p:spPr>
          <a:xfrm>
            <a:off x="274320" y="2010118"/>
            <a:ext cx="4519476" cy="18846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Слабая модель может выдумать цифры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Неизвестный шаблон может быть плохо сделан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  <p:grpSp>
        <p:nvGrpSpPr>
          <p:cNvPr id="2" name="illustration:builtin-risk"/>
          <p:cNvGrpSpPr/>
          <p:nvPr/>
        </p:nvGrpSpPr>
        <p:grpSpPr>
          <a:xfrm>
            <a:off x="5725054" y="1833887"/>
            <a:ext cx="2325916" cy="2237140"/>
            <a:chOff x="5725054" y="1833887"/>
            <a:chExt cx="2325916" cy="2237140"/>
          </a:xfrm>
        </p:grpSpPr>
        <p:sp>
          <p:nvSpPr>
            <p:cNvPr id="1072" name="Oval 1071"/>
            <p:cNvSpPr/>
            <p:nvPr/>
          </p:nvSpPr>
          <p:spPr>
            <a:xfrm>
              <a:off x="5725054" y="1833887"/>
              <a:ext cx="2237140" cy="223714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5868870" y="2084642"/>
              <a:ext cx="1949508" cy="1773324"/>
            </a:xfrm>
            <a:custGeom>
              <a:avLst/>
              <a:gdLst/>
              <a:ahLst/>
              <a:cxnLst/>
              <a:rect l="l" t="t" r="r" b="b"/>
              <a:pathLst>
                <a:path w="1949508" h="1773324">
                  <a:moveTo>
                    <a:pt x="832713" y="86591"/>
                  </a:moveTo>
                  <a:lnTo>
                    <a:pt x="848356" y="62027"/>
                  </a:lnTo>
                  <a:lnTo>
                    <a:pt x="868197" y="40712"/>
                  </a:lnTo>
                  <a:lnTo>
                    <a:pt x="891580" y="23357"/>
                  </a:lnTo>
                  <a:lnTo>
                    <a:pt x="917716" y="10528"/>
                  </a:lnTo>
                  <a:lnTo>
                    <a:pt x="945751" y="2654"/>
                  </a:lnTo>
                  <a:lnTo>
                    <a:pt x="974754" y="0"/>
                  </a:lnTo>
                  <a:lnTo>
                    <a:pt x="1003757" y="2654"/>
                  </a:lnTo>
                  <a:lnTo>
                    <a:pt x="1031792" y="10528"/>
                  </a:lnTo>
                  <a:lnTo>
                    <a:pt x="1057928" y="23357"/>
                  </a:lnTo>
                  <a:lnTo>
                    <a:pt x="1081311" y="40712"/>
                  </a:lnTo>
                  <a:lnTo>
                    <a:pt x="1101152" y="62027"/>
                  </a:lnTo>
                  <a:lnTo>
                    <a:pt x="1116795" y="86591"/>
                  </a:lnTo>
                  <a:lnTo>
                    <a:pt x="1933529" y="1542508"/>
                  </a:lnTo>
                  <a:lnTo>
                    <a:pt x="1944111" y="1569904"/>
                  </a:lnTo>
                  <a:lnTo>
                    <a:pt x="1949499" y="1598774"/>
                  </a:lnTo>
                  <a:lnTo>
                    <a:pt x="1949508" y="1628141"/>
                  </a:lnTo>
                  <a:lnTo>
                    <a:pt x="1944146" y="1657020"/>
                  </a:lnTo>
                  <a:lnTo>
                    <a:pt x="1933600" y="1684425"/>
                  </a:lnTo>
                  <a:lnTo>
                    <a:pt x="1918206" y="1709433"/>
                  </a:lnTo>
                  <a:lnTo>
                    <a:pt x="1898498" y="1731200"/>
                  </a:lnTo>
                  <a:lnTo>
                    <a:pt x="1875132" y="1749000"/>
                  </a:lnTo>
                  <a:lnTo>
                    <a:pt x="1848908" y="1762227"/>
                  </a:lnTo>
                  <a:lnTo>
                    <a:pt x="1820713" y="1770421"/>
                  </a:lnTo>
                  <a:lnTo>
                    <a:pt x="1791488" y="1773324"/>
                  </a:lnTo>
                  <a:lnTo>
                    <a:pt x="158020" y="1773324"/>
                  </a:lnTo>
                  <a:lnTo>
                    <a:pt x="128795" y="1770421"/>
                  </a:lnTo>
                  <a:lnTo>
                    <a:pt x="100600" y="1762227"/>
                  </a:lnTo>
                  <a:lnTo>
                    <a:pt x="74376" y="1749000"/>
                  </a:lnTo>
                  <a:lnTo>
                    <a:pt x="51010" y="1731200"/>
                  </a:lnTo>
                  <a:lnTo>
                    <a:pt x="31302" y="1709433"/>
                  </a:lnTo>
                  <a:lnTo>
                    <a:pt x="15908" y="1684425"/>
                  </a:lnTo>
                  <a:lnTo>
                    <a:pt x="5362" y="1657020"/>
                  </a:lnTo>
                  <a:lnTo>
                    <a:pt x="0" y="1628141"/>
                  </a:lnTo>
                  <a:lnTo>
                    <a:pt x="9" y="1598774"/>
                  </a:lnTo>
                  <a:lnTo>
                    <a:pt x="5397" y="1569904"/>
                  </a:lnTo>
                  <a:lnTo>
                    <a:pt x="15979" y="1542508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ounded Rectangle 1072"/>
            <p:cNvSpPr/>
            <p:nvPr/>
          </p:nvSpPr>
          <p:spPr>
            <a:xfrm>
              <a:off x="6754849" y="2615110"/>
              <a:ext cx="177550" cy="65693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4" name="Oval 1073"/>
            <p:cNvSpPr/>
            <p:nvPr/>
          </p:nvSpPr>
          <p:spPr>
            <a:xfrm>
              <a:off x="6737093" y="3414089"/>
              <a:ext cx="213061" cy="21306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5" name="Oval 1074"/>
            <p:cNvSpPr/>
            <p:nvPr/>
          </p:nvSpPr>
          <p:spPr>
            <a:xfrm>
              <a:off x="5725054" y="2384294"/>
              <a:ext cx="177550" cy="177550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6" name="Oval 1075"/>
            <p:cNvSpPr/>
            <p:nvPr/>
          </p:nvSpPr>
          <p:spPr>
            <a:xfrm>
              <a:off x="7802399" y="2242254"/>
              <a:ext cx="248571" cy="248571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43608" y="159030"/>
            <a:ext cx="7202525" cy="4391379"/>
          </a:xfrm>
          <a:prstGeom prst="round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670608" y="286030"/>
            <a:ext cx="6948525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повышает эффективность и соблюдение стиля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1670608" y="1649692"/>
            <a:ext cx="3337102" cy="277371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сборки с 186 до 4 мин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до первой версии с 6 до 1 дня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Снижение нарушений стиля до 2 из 68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Экономия ресурсов на инференсе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282031" y="1649692"/>
          <a:ext cx="3337102" cy="27737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
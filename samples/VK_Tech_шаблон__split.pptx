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на колоду (мин)</c:v>
                </c:pt>
                <c:pt idx="1">
                  <c:v>Время до первой версии (дн)</c:v>
                </c:pt>
                <c:pt idx="2">
                  <c:v>Нарушения стиля</c:v>
                </c:pt>
                <c:pt idx="3">
                  <c:v>Запросы закрыты/нед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186.0</c:v>
                </c:pt>
                <c:pt idx="1">
                  <c:v>6.0</c:v>
                </c:pt>
                <c:pt idx="2">
                  <c:v>19.0</c:v>
                </c:pt>
                <c:pt idx="3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FFD91D"/>
            </a:solidFill>
            <a:ln>
              <a:solidFill>
                <a:srgbClr val="FFD91D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на колоду (мин)</c:v>
                </c:pt>
                <c:pt idx="1">
                  <c:v>Время до первой версии (дн)</c:v>
                </c:pt>
                <c:pt idx="2">
                  <c:v>Нарушения стиля</c:v>
                </c:pt>
                <c:pt idx="3">
                  <c:v>Запросы закрыты/нед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1.0</c:v>
                </c:pt>
                <c:pt idx="2">
                  <c:v>2.0</c:v>
                </c:pt>
                <c:pt idx="3">
                  <c:v>38.0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пилот и масштаб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Текущие трудности в сборке презентаций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274320" y="1383652"/>
            <a:ext cx="4035247" cy="27633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колоды, 186 мин на одну 12-слайдовую презентацию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на правки после ревью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колод нарушили фирменный стиль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4583887" y="1383652"/>
            <a:ext cx="4035247" cy="27633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Дизайн-отдел закрывает 11 запросов/неделю из 27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Предлагаемый сервис автоматической вёрстки</a:t>
            </a:r>
          </a:p>
        </p:txBody>
      </p:sp>
      <p:sp>
        <p:nvSpPr>
          <p:cNvPr id="684" name="body_left"/>
          <p:cNvSpPr txBox="1"/>
          <p:nvPr/>
        </p:nvSpPr>
        <p:spPr>
          <a:xfrm>
            <a:off x="274320" y="2088404"/>
            <a:ext cx="4035247" cy="1026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материалы, автоматически строит дизайн-систему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план колоды и вёрстку по ролям страниц</a:t>
            </a:r>
          </a:p>
        </p:txBody>
      </p:sp>
      <p:sp>
        <p:nvSpPr>
          <p:cNvPr id="685" name="body_right"/>
          <p:cNvSpPr txBox="1"/>
          <p:nvPr/>
        </p:nvSpPr>
        <p:spPr>
          <a:xfrm>
            <a:off x="4583887" y="2088404"/>
            <a:ext cx="4035247" cy="1026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стиль и данные до выдачи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html,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Результаты пилота за 6 недель</a:t>
            </a:r>
          </a:p>
        </p:txBody>
      </p:sp>
      <p:graphicFrame>
        <p:nvGraphicFramePr>
          <p:cNvPr id="561" name="Chart 560"/>
          <p:cNvGraphicFramePr>
            <a:graphicFrameLocks noGrp="1"/>
          </p:cNvGraphicFramePr>
          <p:nvPr/>
        </p:nvGraphicFramePr>
        <p:xfrm>
          <a:off x="4583887" y="1414513"/>
          <a:ext cx="4035247" cy="285186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274320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сборки с 186 до 4 минут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до первой версии с 6 до 1 дня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Снижение нарушений стиля до 2 из 68 колод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4006215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Увеличение объёма закрытых запросов до 38/нед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пилот – 1400 руб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274320" y="1414513"/>
            <a:ext cx="4035247" cy="17908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через OpenAI-совместимый протокол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План: Q3 2026 – подключение 4 команд, домен и HTTPS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4583887" y="1414513"/>
            <a:ext cx="4035247" cy="17908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Q4 2026 –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Q1 2027 –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Слабая модель может выдумать неверные цифры – аудит проверяет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 вместо готовых страниц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одновременных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84" name="body_left"/>
          <p:cNvSpPr txBox="1"/>
          <p:nvPr/>
        </p:nvSpPr>
        <p:spPr>
          <a:xfrm>
            <a:off x="274320" y="1882839"/>
            <a:ext cx="4035247" cy="9931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Подключить ещё 4 команды в Q3 2026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Настроить домен и HTTPS</a:t>
            </a:r>
          </a:p>
        </p:txBody>
      </p:sp>
      <p:sp>
        <p:nvSpPr>
          <p:cNvPr id="685" name="body_right"/>
          <p:cNvSpPr txBox="1"/>
          <p:nvPr/>
        </p:nvSpPr>
        <p:spPr>
          <a:xfrm>
            <a:off x="4583887" y="1882839"/>
            <a:ext cx="40352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Интегрировать с корпоративным хранилищем документов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 Q1 2027 добавить генерацию иллюстраций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Предоставить ресурсы для масштабирования (серверы, лицензии)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Согласовать сроки и ответственных за интеграцию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282246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Вывод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1891876"/>
            <a:ext cx="6948525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Автоматизация вёрстки повышает скорость, качество и экономит ресурсы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показал значительный рост эффективности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на всю компанию – стратегический шаг к цифровой трансформации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
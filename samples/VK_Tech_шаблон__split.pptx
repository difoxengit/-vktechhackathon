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Ручная</c:v>
                </c:pt>
                <c:pt idx="1">
                  <c:v>Сервис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Срок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6 дней</c:v>
                </c:pt>
                <c:pt idx="1">
                  <c:v>1 день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6.0</c:v>
                </c:pt>
                <c:pt idx="1">
                  <c:v>1.0</c:v>
                </c:pt>
              </c:numCache>
            </c:numRef>
          </c:val>
        </c:ser>
        <c:dLbls>
          <c:numFmt formatCode="0&quot; дней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Срок, дней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Ручная</c:v>
                </c:pt>
                <c:pt idx="1">
                  <c:v>Сервис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dLbls>
          <c:numFmt formatCode="0&quot; колод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Нарушения, колод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6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473726" y="1370485"/>
            <a:ext cx="4288261" cy="188798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2705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705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 Защита инициативы перед руководством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Сейчас: ручная сборка занимает 186 мин</a:t>
            </a:r>
          </a:p>
        </p:txBody>
      </p:sp>
      <p:sp>
        <p:nvSpPr>
          <p:cNvPr id="3" name="stat_0:bar"/>
          <p:cNvSpPr/>
          <p:nvPr/>
        </p:nvSpPr>
        <p:spPr>
          <a:xfrm>
            <a:off x="274320" y="1468146"/>
            <a:ext cx="50800" cy="113080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t_0"/>
          <p:cNvSpPr txBox="1"/>
          <p:nvPr/>
        </p:nvSpPr>
        <p:spPr>
          <a:xfrm>
            <a:off x="452119" y="1394994"/>
            <a:ext cx="3827710" cy="120396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186 мин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42 колоды, 12 слайдов, 186 мин сборки</a:t>
            </a:r>
          </a:p>
        </p:txBody>
      </p:sp>
      <p:sp>
        <p:nvSpPr>
          <p:cNvPr id="5" name="stat_1:bar"/>
          <p:cNvSpPr/>
          <p:nvPr/>
        </p:nvSpPr>
        <p:spPr>
          <a:xfrm>
            <a:off x="4613623" y="1468146"/>
            <a:ext cx="50800" cy="83362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at_1"/>
          <p:cNvSpPr txBox="1"/>
          <p:nvPr/>
        </p:nvSpPr>
        <p:spPr>
          <a:xfrm>
            <a:off x="4791423" y="1394994"/>
            <a:ext cx="3827710" cy="90678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74 мин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74 мин правки после ревью</a:t>
            </a:r>
          </a:p>
        </p:txBody>
      </p:sp>
      <p:sp>
        <p:nvSpPr>
          <p:cNvPr id="7" name="stat_2:bar"/>
          <p:cNvSpPr/>
          <p:nvPr/>
        </p:nvSpPr>
        <p:spPr>
          <a:xfrm>
            <a:off x="274320" y="3085224"/>
            <a:ext cx="50800" cy="113080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_2"/>
          <p:cNvSpPr txBox="1"/>
          <p:nvPr/>
        </p:nvSpPr>
        <p:spPr>
          <a:xfrm>
            <a:off x="452119" y="3012072"/>
            <a:ext cx="3827710" cy="120396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19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19 колод нарушили фирменный стиль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Дизайнеры ждут 6 дней, закрывают 11 запросов</a:t>
            </a:r>
          </a:p>
        </p:txBody>
      </p:sp>
      <p:sp>
        <p:nvSpPr>
          <p:cNvPr id="556" name="body"/>
          <p:cNvSpPr txBox="1"/>
          <p:nvPr/>
        </p:nvSpPr>
        <p:spPr>
          <a:xfrm>
            <a:off x="274320" y="1394994"/>
            <a:ext cx="8344814" cy="3987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Средний срок ожидания 6 рабочих дней</a:t>
            </a:r>
          </a:p>
        </p:txBody>
      </p:sp>
      <p:sp>
        <p:nvSpPr>
          <p:cNvPr id="557" name="stat_0:bar"/>
          <p:cNvSpPr/>
          <p:nvPr/>
        </p:nvSpPr>
        <p:spPr>
          <a:xfrm>
            <a:off x="274320" y="2021231"/>
            <a:ext cx="50800" cy="113080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stat_0"/>
          <p:cNvSpPr txBox="1"/>
          <p:nvPr/>
        </p:nvSpPr>
        <p:spPr>
          <a:xfrm>
            <a:off x="452119" y="1948079"/>
            <a:ext cx="3827710" cy="120396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11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4 дизайнера закрывают 11 запросов/неделю</a:t>
            </a:r>
          </a:p>
        </p:txBody>
      </p:sp>
      <p:sp>
        <p:nvSpPr>
          <p:cNvPr id="559" name="stat_1:bar"/>
          <p:cNvSpPr/>
          <p:nvPr/>
        </p:nvSpPr>
        <p:spPr>
          <a:xfrm>
            <a:off x="4613623" y="2021231"/>
            <a:ext cx="50800" cy="83362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stat_1"/>
          <p:cNvSpPr txBox="1"/>
          <p:nvPr/>
        </p:nvSpPr>
        <p:spPr>
          <a:xfrm>
            <a:off x="4791423" y="1948079"/>
            <a:ext cx="3827710" cy="90678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27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27 запросов поступает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автоматической вёрстки: ускоряет сборку и устраняет ошибки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274320" y="2115452"/>
            <a:ext cx="4519476" cy="15875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Принимает шаблон pptx и материалы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Генерирует план колоды и вёрстку по дизайн-системе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</a:t>
            </a:r>
          </a:p>
        </p:txBody>
      </p:sp>
      <p:grpSp>
        <p:nvGrpSpPr>
          <p:cNvPr id="4" name="illustration:builtin-presentation"/>
          <p:cNvGrpSpPr/>
          <p:nvPr/>
        </p:nvGrpSpPr>
        <p:grpSpPr>
          <a:xfrm>
            <a:off x="5725054" y="1790631"/>
            <a:ext cx="2237140" cy="2237140"/>
            <a:chOff x="5725054" y="1790631"/>
            <a:chExt cx="2237140" cy="2237140"/>
          </a:xfrm>
        </p:grpSpPr>
        <p:sp>
          <p:nvSpPr>
            <p:cNvPr id="5" name="Oval 4"/>
            <p:cNvSpPr/>
            <p:nvPr/>
          </p:nvSpPr>
          <p:spPr>
            <a:xfrm>
              <a:off x="5725054" y="1790631"/>
              <a:ext cx="2237140" cy="2237140"/>
            </a:xfrm>
            <a:prstGeom prst="ellipse">
              <a:avLst/>
            </a:prstGeom>
            <a:solidFill>
              <a:srgbClr val="D6E9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813829" y="2092467"/>
              <a:ext cx="2059589" cy="1331631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813829" y="2092467"/>
              <a:ext cx="2059589" cy="266326"/>
            </a:xfrm>
            <a:prstGeom prst="roundRect">
              <a:avLst>
                <a:gd name="adj" fmla="val 46666"/>
              </a:avLst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813829" y="2234508"/>
              <a:ext cx="2059589" cy="124285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026890" y="2536344"/>
              <a:ext cx="745713" cy="88775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026890" y="2713895"/>
              <a:ext cx="568162" cy="71020"/>
            </a:xfrm>
            <a:prstGeom prst="roundRect">
              <a:avLst>
                <a:gd name="adj" fmla="val 50000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026890" y="2855936"/>
              <a:ext cx="656938" cy="71020"/>
            </a:xfrm>
            <a:prstGeom prst="roundRect">
              <a:avLst>
                <a:gd name="adj" fmla="val 50000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026890" y="2997976"/>
              <a:ext cx="497142" cy="71020"/>
            </a:xfrm>
            <a:prstGeom prst="roundRect">
              <a:avLst>
                <a:gd name="adj" fmla="val 50000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67910" y="2909201"/>
              <a:ext cx="159795" cy="337346"/>
            </a:xfrm>
            <a:prstGeom prst="roundRect">
              <a:avLst>
                <a:gd name="adj" fmla="val 22222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7198726" y="2731650"/>
              <a:ext cx="159795" cy="514897"/>
            </a:xfrm>
            <a:prstGeom prst="roundRect">
              <a:avLst>
                <a:gd name="adj" fmla="val 22222"/>
              </a:avLst>
            </a:prstGeom>
            <a:solidFill>
              <a:srgbClr val="FF6C6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429542" y="2554099"/>
              <a:ext cx="159795" cy="692448"/>
            </a:xfrm>
            <a:prstGeom prst="roundRect">
              <a:avLst>
                <a:gd name="adj" fmla="val 22222"/>
              </a:avLst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90359" y="3424098"/>
              <a:ext cx="106530" cy="31959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399747" y="3708180"/>
              <a:ext cx="887754" cy="106530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29" name="Google Shape;2429;p89"/>
          <p:cNvSpPr/>
          <p:nvPr/>
        </p:nvSpPr>
        <p:spPr>
          <a:xfrm>
            <a:off x="553415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0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Сборка колоды за 4 мин вместо 186</a:t>
            </a:r>
          </a:p>
        </p:txBody>
      </p:sp>
      <p:graphicFrame>
        <p:nvGraphicFramePr>
          <p:cNvPr id="2431" name="Chart 2430"/>
          <p:cNvGraphicFramePr>
            <a:graphicFrameLocks noGrp="1"/>
          </p:cNvGraphicFramePr>
          <p:nvPr/>
        </p:nvGraphicFramePr>
        <p:xfrm>
          <a:off x="4583887" y="1337310"/>
          <a:ext cx="4035247" cy="30861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Время до первой версии 1 день вместо 6</a:t>
            </a:r>
          </a:p>
        </p:txBody>
      </p:sp>
      <p:graphicFrame>
        <p:nvGraphicFramePr>
          <p:cNvPr id="1036" name="Chart 1035"/>
          <p:cNvGraphicFramePr>
            <a:graphicFrameLocks noGrp="1"/>
          </p:cNvGraphicFramePr>
          <p:nvPr/>
        </p:nvGraphicFramePr>
        <p:xfrm>
          <a:off x="4583887" y="1394994"/>
          <a:ext cx="4035247" cy="302841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Нарушения стиля 2/68 вместо 19/42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83887" y="1337310"/>
          <a:ext cx="4035247" cy="30861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Ресурсы: 1 машина 2 vCPU/2 GB RAM, 1400 руб инференса</a:t>
            </a:r>
          </a:p>
        </p:txBody>
      </p:sp>
      <p:sp>
        <p:nvSpPr>
          <p:cNvPr id="556" name="body"/>
          <p:cNvSpPr txBox="1"/>
          <p:nvPr/>
        </p:nvSpPr>
        <p:spPr>
          <a:xfrm>
            <a:off x="274320" y="1917844"/>
            <a:ext cx="8344814" cy="3987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Модель gpt-oss-20b</a:t>
            </a:r>
          </a:p>
        </p:txBody>
      </p:sp>
      <p:sp>
        <p:nvSpPr>
          <p:cNvPr id="557" name="stat_0:bar"/>
          <p:cNvSpPr/>
          <p:nvPr/>
        </p:nvSpPr>
        <p:spPr>
          <a:xfrm>
            <a:off x="274320" y="2544081"/>
            <a:ext cx="50800" cy="83362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stat_0"/>
          <p:cNvSpPr txBox="1"/>
          <p:nvPr/>
        </p:nvSpPr>
        <p:spPr>
          <a:xfrm>
            <a:off x="452119" y="2470929"/>
            <a:ext cx="3827710" cy="90678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 vCPU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1 машина 2 vCPU / 2 GB RAM</a:t>
            </a:r>
          </a:p>
        </p:txBody>
      </p:sp>
      <p:sp>
        <p:nvSpPr>
          <p:cNvPr id="559" name="stat_1:bar"/>
          <p:cNvSpPr/>
          <p:nvPr/>
        </p:nvSpPr>
        <p:spPr>
          <a:xfrm>
            <a:off x="4613623" y="2544081"/>
            <a:ext cx="50800" cy="83362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stat_1"/>
          <p:cNvSpPr txBox="1"/>
          <p:nvPr/>
        </p:nvSpPr>
        <p:spPr>
          <a:xfrm>
            <a:off x="4791423" y="2470929"/>
            <a:ext cx="3827710" cy="90678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6 нед.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Инференс 6 недель 1400 руб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Пилот 6 недель, 68 презентаций</a:t>
            </a:r>
          </a:p>
        </p:txBody>
      </p:sp>
      <p:sp>
        <p:nvSpPr>
          <p:cNvPr id="682" name="Rectangle 681"/>
          <p:cNvSpPr/>
          <p:nvPr/>
        </p:nvSpPr>
        <p:spPr>
          <a:xfrm>
            <a:off x="4583887" y="2756916"/>
            <a:ext cx="4035247" cy="92583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xfrm>
            <a:off x="5054665" y="2601445"/>
            <a:ext cx="403524" cy="40352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TextBox 683"/>
          <p:cNvSpPr txBox="1"/>
          <p:nvPr/>
        </p:nvSpPr>
        <p:spPr>
          <a:xfrm>
            <a:off x="4583887" y="1337310"/>
            <a:ext cx="2017623" cy="11727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Начало пилота</a:t>
            </a:r>
          </a:p>
        </p:txBody>
      </p:sp>
      <p:sp>
        <p:nvSpPr>
          <p:cNvPr id="685" name="Oval 684"/>
          <p:cNvSpPr/>
          <p:nvPr/>
        </p:nvSpPr>
        <p:spPr>
          <a:xfrm>
            <a:off x="6399748" y="2601445"/>
            <a:ext cx="403524" cy="40352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TextBox 685"/>
          <p:cNvSpPr txBox="1"/>
          <p:nvPr/>
        </p:nvSpPr>
        <p:spPr>
          <a:xfrm>
            <a:off x="5592698" y="3160440"/>
            <a:ext cx="2017623" cy="11727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Конец пилота</a:t>
            </a:r>
          </a:p>
        </p:txBody>
      </p:sp>
      <p:sp>
        <p:nvSpPr>
          <p:cNvPr id="687" name="Oval 686"/>
          <p:cNvSpPr/>
          <p:nvPr/>
        </p:nvSpPr>
        <p:spPr>
          <a:xfrm>
            <a:off x="7744830" y="2601445"/>
            <a:ext cx="403524" cy="40352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TextBox 687"/>
          <p:cNvSpPr txBox="1"/>
          <p:nvPr/>
        </p:nvSpPr>
        <p:spPr>
          <a:xfrm>
            <a:off x="6601510" y="1337310"/>
            <a:ext cx="2017623" cy="11727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Обзор результатов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Расширение: Q3 2026 – Q1 2027</a:t>
            </a:r>
          </a:p>
        </p:txBody>
      </p:sp>
      <p:sp>
        <p:nvSpPr>
          <p:cNvPr id="3" name="Rectangle 2"/>
          <p:cNvSpPr/>
          <p:nvPr/>
        </p:nvSpPr>
        <p:spPr>
          <a:xfrm>
            <a:off x="4583887" y="2756916"/>
            <a:ext cx="4035247" cy="92583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54665" y="2601445"/>
            <a:ext cx="403524" cy="40352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83887" y="1337310"/>
            <a:ext cx="2017623" cy="11727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Q3 2026: подключение 4 команд</a:t>
            </a:r>
          </a:p>
        </p:txBody>
      </p:sp>
      <p:sp>
        <p:nvSpPr>
          <p:cNvPr id="6" name="Oval 5"/>
          <p:cNvSpPr/>
          <p:nvPr/>
        </p:nvSpPr>
        <p:spPr>
          <a:xfrm>
            <a:off x="6399748" y="2601445"/>
            <a:ext cx="403524" cy="40352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92698" y="3160440"/>
            <a:ext cx="2017623" cy="11727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Q4 2026: доступ для всей компании</a:t>
            </a:r>
          </a:p>
        </p:txBody>
      </p:sp>
      <p:sp>
        <p:nvSpPr>
          <p:cNvPr id="8" name="Oval 7"/>
          <p:cNvSpPr/>
          <p:nvPr/>
        </p:nvSpPr>
        <p:spPr>
          <a:xfrm>
            <a:off x="7744830" y="2601445"/>
            <a:ext cx="403524" cy="40352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510" y="1337310"/>
            <a:ext cx="2017623" cy="11727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Q1 2027: генерация иллюстраций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6" name="Google Shape;1056;p66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66"/>
          <p:cNvSpPr/>
          <p:nvPr/>
        </p:nvSpPr>
        <p:spPr>
          <a:xfrm>
            <a:off x="3838239" y="276524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8" name="Google Shape;1058;p66"/>
          <p:cNvSpPr/>
          <p:nvPr/>
        </p:nvSpPr>
        <p:spPr>
          <a:xfrm>
            <a:off x="4048160" y="486417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1" name="Google Shape;1061;p66"/>
          <p:cNvSpPr/>
          <p:nvPr/>
        </p:nvSpPr>
        <p:spPr>
          <a:xfrm>
            <a:off x="3838239" y="1462423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5" name="Google Shape;1065;p66"/>
          <p:cNvSpPr/>
          <p:nvPr/>
        </p:nvSpPr>
        <p:spPr>
          <a:xfrm>
            <a:off x="3838239" y="2648322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9" name="Google Shape;1069;p66"/>
          <p:cNvSpPr/>
          <p:nvPr/>
        </p:nvSpPr>
        <p:spPr>
          <a:xfrm>
            <a:off x="3838239" y="3834221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0" name="title"/>
          <p:cNvSpPr txBox="1"/>
          <p:nvPr/>
        </p:nvSpPr>
        <p:spPr>
          <a:xfrm>
            <a:off x="274320" y="282943"/>
            <a:ext cx="341226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Запрос запуска на всю компанию</a:t>
            </a:r>
          </a:p>
        </p:txBody>
      </p:sp>
      <p:sp>
        <p:nvSpPr>
          <p:cNvPr id="1071" name="body"/>
          <p:cNvSpPr txBox="1"/>
          <p:nvPr/>
        </p:nvSpPr>
        <p:spPr>
          <a:xfrm>
            <a:off x="274320" y="2412632"/>
            <a:ext cx="4519476" cy="9931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Попросить одобрение запуска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Предложить интеграцию с хранилищем документов</a:t>
            </a:r>
          </a:p>
        </p:txBody>
      </p:sp>
      <p:grpSp>
        <p:nvGrpSpPr>
          <p:cNvPr id="2" name="illustration:builtin-launch"/>
          <p:cNvGrpSpPr/>
          <p:nvPr/>
        </p:nvGrpSpPr>
        <p:grpSpPr>
          <a:xfrm>
            <a:off x="5725054" y="1790631"/>
            <a:ext cx="2325915" cy="2237140"/>
            <a:chOff x="5725054" y="1790631"/>
            <a:chExt cx="2325915" cy="2237140"/>
          </a:xfrm>
        </p:grpSpPr>
        <p:sp>
          <p:nvSpPr>
            <p:cNvPr id="1072" name="Oval 1071"/>
            <p:cNvSpPr/>
            <p:nvPr/>
          </p:nvSpPr>
          <p:spPr>
            <a:xfrm>
              <a:off x="5725054" y="1790631"/>
              <a:ext cx="2237140" cy="2237140"/>
            </a:xfrm>
            <a:prstGeom prst="ellipse">
              <a:avLst/>
            </a:prstGeom>
            <a:solidFill>
              <a:srgbClr val="D6E9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" name="Freeform 2"/>
            <p:cNvSpPr/>
            <p:nvPr/>
          </p:nvSpPr>
          <p:spPr>
            <a:xfrm>
              <a:off x="6401025" y="1897161"/>
              <a:ext cx="885198" cy="1225101"/>
            </a:xfrm>
            <a:custGeom>
              <a:avLst/>
              <a:gdLst/>
              <a:ahLst/>
              <a:cxnLst/>
              <a:rect l="l" t="t" r="r" b="b"/>
              <a:pathLst>
                <a:path w="885198" h="1225101">
                  <a:moveTo>
                    <a:pt x="442599" y="0"/>
                  </a:moveTo>
                  <a:lnTo>
                    <a:pt x="547514" y="85597"/>
                  </a:lnTo>
                  <a:lnTo>
                    <a:pt x="638473" y="181954"/>
                  </a:lnTo>
                  <a:lnTo>
                    <a:pt x="715370" y="288112"/>
                  </a:lnTo>
                  <a:lnTo>
                    <a:pt x="778099" y="403112"/>
                  </a:lnTo>
                  <a:lnTo>
                    <a:pt x="826553" y="525995"/>
                  </a:lnTo>
                  <a:lnTo>
                    <a:pt x="860625" y="655802"/>
                  </a:lnTo>
                  <a:lnTo>
                    <a:pt x="880209" y="791575"/>
                  </a:lnTo>
                  <a:lnTo>
                    <a:pt x="885198" y="932355"/>
                  </a:lnTo>
                  <a:lnTo>
                    <a:pt x="875486" y="1077183"/>
                  </a:lnTo>
                  <a:lnTo>
                    <a:pt x="850966" y="1225101"/>
                  </a:lnTo>
                  <a:lnTo>
                    <a:pt x="34232" y="1225101"/>
                  </a:lnTo>
                  <a:lnTo>
                    <a:pt x="9712" y="1077183"/>
                  </a:lnTo>
                  <a:lnTo>
                    <a:pt x="0" y="932355"/>
                  </a:lnTo>
                  <a:lnTo>
                    <a:pt x="4989" y="791575"/>
                  </a:lnTo>
                  <a:lnTo>
                    <a:pt x="24573" y="655802"/>
                  </a:lnTo>
                  <a:lnTo>
                    <a:pt x="58645" y="525995"/>
                  </a:lnTo>
                  <a:lnTo>
                    <a:pt x="107099" y="403112"/>
                  </a:lnTo>
                  <a:lnTo>
                    <a:pt x="169828" y="288112"/>
                  </a:lnTo>
                  <a:lnTo>
                    <a:pt x="246725" y="181954"/>
                  </a:lnTo>
                  <a:lnTo>
                    <a:pt x="337684" y="85597"/>
                  </a:lnTo>
                  <a:lnTo>
                    <a:pt x="442599" y="0"/>
                  </a:lnTo>
                  <a:close/>
                </a:path>
              </a:pathLst>
            </a:cu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3" name="Oval 1072"/>
            <p:cNvSpPr/>
            <p:nvPr/>
          </p:nvSpPr>
          <p:spPr>
            <a:xfrm>
              <a:off x="6630563" y="2358793"/>
              <a:ext cx="426122" cy="42612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4" name="Oval 1073"/>
            <p:cNvSpPr/>
            <p:nvPr/>
          </p:nvSpPr>
          <p:spPr>
            <a:xfrm>
              <a:off x="6719338" y="2447569"/>
              <a:ext cx="248571" cy="248571"/>
            </a:xfrm>
            <a:prstGeom prst="ellipse">
              <a:avLst/>
            </a:prstGeom>
            <a:solidFill>
              <a:srgbClr val="FF6C6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Freeform 3"/>
            <p:cNvSpPr/>
            <p:nvPr/>
          </p:nvSpPr>
          <p:spPr>
            <a:xfrm>
              <a:off x="6133421" y="2909201"/>
              <a:ext cx="355101" cy="585918"/>
            </a:xfrm>
            <a:custGeom>
              <a:avLst/>
              <a:gdLst/>
              <a:ahLst/>
              <a:cxnLst/>
              <a:rect l="l" t="t" r="r" b="b"/>
              <a:pathLst>
                <a:path w="355101" h="585918">
                  <a:moveTo>
                    <a:pt x="301836" y="0"/>
                  </a:moveTo>
                  <a:lnTo>
                    <a:pt x="0" y="372857"/>
                  </a:lnTo>
                  <a:lnTo>
                    <a:pt x="0" y="585918"/>
                  </a:lnTo>
                  <a:lnTo>
                    <a:pt x="355101" y="426122"/>
                  </a:lnTo>
                  <a:close/>
                </a:path>
              </a:pathLst>
            </a:custGeom>
            <a:solidFill>
              <a:srgbClr val="FF6C6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Freeform 4"/>
            <p:cNvSpPr/>
            <p:nvPr/>
          </p:nvSpPr>
          <p:spPr>
            <a:xfrm>
              <a:off x="7198726" y="2909201"/>
              <a:ext cx="355101" cy="585918"/>
            </a:xfrm>
            <a:custGeom>
              <a:avLst/>
              <a:gdLst/>
              <a:ahLst/>
              <a:cxnLst/>
              <a:rect l="l" t="t" r="r" b="b"/>
              <a:pathLst>
                <a:path w="355101" h="585918">
                  <a:moveTo>
                    <a:pt x="53265" y="0"/>
                  </a:moveTo>
                  <a:lnTo>
                    <a:pt x="355101" y="372857"/>
                  </a:lnTo>
                  <a:lnTo>
                    <a:pt x="355101" y="585918"/>
                  </a:lnTo>
                  <a:lnTo>
                    <a:pt x="0" y="426122"/>
                  </a:lnTo>
                  <a:close/>
                </a:path>
              </a:pathLst>
            </a:custGeom>
            <a:solidFill>
              <a:srgbClr val="FF6C6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6630563" y="3157772"/>
              <a:ext cx="426122" cy="266326"/>
            </a:xfrm>
            <a:custGeom>
              <a:avLst/>
              <a:gdLst/>
              <a:ahLst/>
              <a:cxnLst/>
              <a:rect l="l" t="t" r="r" b="b"/>
              <a:pathLst>
                <a:path w="426122" h="266326">
                  <a:moveTo>
                    <a:pt x="0" y="0"/>
                  </a:moveTo>
                  <a:lnTo>
                    <a:pt x="426122" y="0"/>
                  </a:lnTo>
                  <a:lnTo>
                    <a:pt x="355102" y="266326"/>
                  </a:lnTo>
                  <a:lnTo>
                    <a:pt x="71020" y="266326"/>
                  </a:lnTo>
                  <a:close/>
                </a:path>
              </a:pathLst>
            </a:cu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Freeform 6"/>
            <p:cNvSpPr/>
            <p:nvPr/>
          </p:nvSpPr>
          <p:spPr>
            <a:xfrm>
              <a:off x="6701583" y="3424098"/>
              <a:ext cx="284082" cy="497143"/>
            </a:xfrm>
            <a:custGeom>
              <a:avLst/>
              <a:gdLst/>
              <a:ahLst/>
              <a:cxnLst/>
              <a:rect l="l" t="t" r="r" b="b"/>
              <a:pathLst>
                <a:path w="284082" h="497143">
                  <a:moveTo>
                    <a:pt x="0" y="0"/>
                  </a:moveTo>
                  <a:lnTo>
                    <a:pt x="284082" y="0"/>
                  </a:lnTo>
                  <a:lnTo>
                    <a:pt x="282022" y="66653"/>
                  </a:lnTo>
                  <a:lnTo>
                    <a:pt x="276127" y="128405"/>
                  </a:lnTo>
                  <a:lnTo>
                    <a:pt x="266824" y="185683"/>
                  </a:lnTo>
                  <a:lnTo>
                    <a:pt x="254537" y="238913"/>
                  </a:lnTo>
                  <a:lnTo>
                    <a:pt x="239694" y="288521"/>
                  </a:lnTo>
                  <a:lnTo>
                    <a:pt x="222720" y="334932"/>
                  </a:lnTo>
                  <a:lnTo>
                    <a:pt x="204042" y="378574"/>
                  </a:lnTo>
                  <a:lnTo>
                    <a:pt x="184085" y="419873"/>
                  </a:lnTo>
                  <a:lnTo>
                    <a:pt x="163276" y="459253"/>
                  </a:lnTo>
                  <a:lnTo>
                    <a:pt x="142041" y="497143"/>
                  </a:lnTo>
                  <a:lnTo>
                    <a:pt x="120806" y="459253"/>
                  </a:lnTo>
                  <a:lnTo>
                    <a:pt x="99997" y="419873"/>
                  </a:lnTo>
                  <a:lnTo>
                    <a:pt x="80040" y="378574"/>
                  </a:lnTo>
                  <a:lnTo>
                    <a:pt x="61362" y="334932"/>
                  </a:lnTo>
                  <a:lnTo>
                    <a:pt x="44388" y="288521"/>
                  </a:lnTo>
                  <a:lnTo>
                    <a:pt x="29545" y="238913"/>
                  </a:lnTo>
                  <a:lnTo>
                    <a:pt x="17258" y="185683"/>
                  </a:lnTo>
                  <a:lnTo>
                    <a:pt x="7955" y="128405"/>
                  </a:lnTo>
                  <a:lnTo>
                    <a:pt x="2060" y="66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6C6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5" name="Oval 1074"/>
            <p:cNvSpPr/>
            <p:nvPr/>
          </p:nvSpPr>
          <p:spPr>
            <a:xfrm>
              <a:off x="5822707" y="2278895"/>
              <a:ext cx="124285" cy="124285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6" name="Oval 1075"/>
            <p:cNvSpPr/>
            <p:nvPr/>
          </p:nvSpPr>
          <p:spPr>
            <a:xfrm>
              <a:off x="7784644" y="2110222"/>
              <a:ext cx="177550" cy="177550"/>
            </a:xfrm>
            <a:prstGeom prst="ellipse">
              <a:avLst/>
            </a:prstGeom>
            <a:solidFill>
              <a:srgbClr val="FF6C6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7" name="Oval 1076"/>
            <p:cNvSpPr/>
            <p:nvPr/>
          </p:nvSpPr>
          <p:spPr>
            <a:xfrm>
              <a:off x="7944439" y="3299813"/>
              <a:ext cx="106530" cy="106530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43608" y="159030"/>
            <a:ext cx="7202525" cy="3006208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1670608" y="286030"/>
            <a:ext cx="6948525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Экономия времени и повышение качества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1670608" y="2342278"/>
            <a:ext cx="6948525" cy="695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колоды сократилась до 4 мин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Нарушения стиля уменьшились до 2/68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
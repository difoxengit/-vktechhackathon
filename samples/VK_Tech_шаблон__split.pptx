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(мин)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Текущее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 (мин),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Текущее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dLbls>
          <c:numFmt formatCode="0&quot; колоды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Нарушения, колоды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Текущее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11.0</c:v>
                </c:pt>
                <c:pt idx="1">
                  <c:v>38.0</c:v>
                </c:pt>
              </c:numCache>
            </c:numRef>
          </c:val>
        </c:ser>
        <c:dLbls>
          <c:numFmt formatCode="0&quot; запросов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Запросы, запросов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 (руб)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Sheet1!$A$2:$A$2</c:f>
              <c:strCache>
                <c:ptCount val="1"/>
                <c:pt idx="0">
                  <c:v>Пилот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1400.0</c:v>
                </c:pt>
              </c:numCache>
            </c:numRef>
          </c:val>
        </c:ser>
        <c:dLbls>
          <c:numFmt formatCode="0&quot; руб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Стоимость (руб), руб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chart" Target="../charts/chart4.xml"/><Relationship Id="rId5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473726" y="1370485"/>
            <a:ext cx="4288261" cy="80007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2394" name="Google Shape;2394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3684300"/>
            <a:ext cx="7238962" cy="7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9" name="Google Shape;2399;p88"/>
          <p:cNvSpPr/>
          <p:nvPr/>
        </p:nvSpPr>
        <p:spPr>
          <a:xfrm>
            <a:off x="4881537" y="3000319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0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Текущие трудности в создании презентаций</a:t>
            </a:r>
          </a:p>
        </p:txBody>
      </p:sp>
      <p:sp>
        <p:nvSpPr>
          <p:cNvPr id="2401" name="body_left"/>
          <p:cNvSpPr txBox="1"/>
          <p:nvPr/>
        </p:nvSpPr>
        <p:spPr>
          <a:xfrm>
            <a:off x="274320" y="2086975"/>
            <a:ext cx="4035247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42 колоды за квартал, 12 слайдов каждая, 186 минут сборки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минуты на правки после ревью дизайнера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нарушили фирменный стиль</a:t>
            </a:r>
          </a:p>
        </p:txBody>
      </p:sp>
      <p:sp>
        <p:nvSpPr>
          <p:cNvPr id="2402" name="body_right"/>
          <p:cNvSpPr txBox="1"/>
          <p:nvPr/>
        </p:nvSpPr>
        <p:spPr>
          <a:xfrm>
            <a:off x="4583887" y="2086975"/>
            <a:ext cx="4035247" cy="7950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4 человека закрывают 11 запросов/неделю из 27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Возможность ускорить и стандартизировать процесс</a:t>
            </a:r>
          </a:p>
        </p:txBody>
      </p:sp>
      <p:sp>
        <p:nvSpPr>
          <p:cNvPr id="684" name="body_left"/>
          <p:cNvSpPr txBox="1"/>
          <p:nvPr/>
        </p:nvSpPr>
        <p:spPr>
          <a:xfrm>
            <a:off x="274320" y="2044378"/>
            <a:ext cx="4035247" cy="1158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Сократить время сборки до 4 минут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Снизить время до первой версии с 6 дней до 1 дня</a:t>
            </a:r>
          </a:p>
        </p:txBody>
      </p:sp>
      <p:sp>
        <p:nvSpPr>
          <p:cNvPr id="685" name="body_right"/>
          <p:cNvSpPr txBox="1"/>
          <p:nvPr/>
        </p:nvSpPr>
        <p:spPr>
          <a:xfrm>
            <a:off x="4583887" y="2044378"/>
            <a:ext cx="4035247" cy="1158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Снизить нарушения фирменного стиля до 3 %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Освободить дизайнеров от рутинных задач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53"/>
          <p:cNvSpPr/>
          <p:nvPr/>
        </p:nvSpPr>
        <p:spPr>
          <a:xfrm>
            <a:off x="303214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53"/>
          <p:cNvSpPr/>
          <p:nvPr/>
        </p:nvSpPr>
        <p:spPr>
          <a:xfrm>
            <a:off x="2067385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3831556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53"/>
          <p:cNvSpPr/>
          <p:nvPr/>
        </p:nvSpPr>
        <p:spPr>
          <a:xfrm>
            <a:off x="559572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53"/>
          <p:cNvSpPr/>
          <p:nvPr/>
        </p:nvSpPr>
        <p:spPr>
          <a:xfrm>
            <a:off x="735989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53"/>
          <p:cNvSpPr/>
          <p:nvPr/>
        </p:nvSpPr>
        <p:spPr>
          <a:xfrm>
            <a:off x="303214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53"/>
          <p:cNvSpPr/>
          <p:nvPr/>
        </p:nvSpPr>
        <p:spPr>
          <a:xfrm>
            <a:off x="2067385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53"/>
          <p:cNvSpPr/>
          <p:nvPr/>
        </p:nvSpPr>
        <p:spPr>
          <a:xfrm>
            <a:off x="3831556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53"/>
          <p:cNvSpPr/>
          <p:nvPr/>
        </p:nvSpPr>
        <p:spPr>
          <a:xfrm>
            <a:off x="559572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53"/>
          <p:cNvSpPr/>
          <p:nvPr/>
        </p:nvSpPr>
        <p:spPr>
          <a:xfrm>
            <a:off x="735989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Как работает сервис</a:t>
            </a:r>
          </a:p>
        </p:txBody>
      </p:sp>
      <p:sp>
        <p:nvSpPr>
          <p:cNvPr id="573" name="body_left"/>
          <p:cNvSpPr txBox="1"/>
          <p:nvPr/>
        </p:nvSpPr>
        <p:spPr>
          <a:xfrm>
            <a:off x="274320" y="1935028"/>
            <a:ext cx="4035247" cy="1290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Принимает шаблон pptx и материалы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формирует план колоды по дизайн-системе</a:t>
            </a:r>
          </a:p>
        </p:txBody>
      </p:sp>
      <p:sp>
        <p:nvSpPr>
          <p:cNvPr id="574" name="body_right"/>
          <p:cNvSpPr txBox="1"/>
          <p:nvPr/>
        </p:nvSpPr>
        <p:spPr>
          <a:xfrm>
            <a:off x="4583887" y="1935028"/>
            <a:ext cx="4035247" cy="1290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Вёрстка и аудит качества до выдачи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html, слайды редактируемы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0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Сокращение времени сборки: 186 → 4 минуты</a:t>
            </a:r>
          </a:p>
        </p:txBody>
      </p:sp>
      <p:graphicFrame>
        <p:nvGraphicFramePr>
          <p:cNvPr id="2251" name="Chart 2250"/>
          <p:cNvGraphicFramePr>
            <a:graphicFrameLocks noGrp="1"/>
          </p:cNvGraphicFramePr>
          <p:nvPr/>
        </p:nvGraphicFramePr>
        <p:xfrm>
          <a:off x="4006215" y="1664127"/>
          <a:ext cx="3457574" cy="216027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29" name="Google Shape;2429;p89"/>
          <p:cNvSpPr/>
          <p:nvPr/>
        </p:nvSpPr>
        <p:spPr>
          <a:xfrm>
            <a:off x="553415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0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Снижение нарушений фирменного стиля: 19/42 → 2/68</a:t>
            </a:r>
          </a:p>
        </p:txBody>
      </p:sp>
      <p:graphicFrame>
        <p:nvGraphicFramePr>
          <p:cNvPr id="2431" name="Chart 2430"/>
          <p:cNvGraphicFramePr>
            <a:graphicFrameLocks noGrp="1"/>
          </p:cNvGraphicFramePr>
          <p:nvPr/>
        </p:nvGraphicFramePr>
        <p:xfrm>
          <a:off x="4583887" y="1729321"/>
          <a:ext cx="4035247" cy="216027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Увеличение объёма работы дизайнеров: 11/нед → 38/6н</a:t>
            </a:r>
          </a:p>
        </p:txBody>
      </p:sp>
      <p:graphicFrame>
        <p:nvGraphicFramePr>
          <p:cNvPr id="1048" name="Chart 1047"/>
          <p:cNvGraphicFramePr>
            <a:graphicFrameLocks noGrp="1"/>
          </p:cNvGraphicFramePr>
          <p:nvPr/>
        </p:nvGraphicFramePr>
        <p:xfrm>
          <a:off x="4583887" y="1628895"/>
          <a:ext cx="4035247" cy="216027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2394" name="Google Shape;2394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3684300"/>
            <a:ext cx="7238962" cy="7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5" name="Google Shape;2395;p88"/>
          <p:cNvSpPr/>
          <p:nvPr/>
        </p:nvSpPr>
        <p:spPr>
          <a:xfrm>
            <a:off x="319086" y="3000319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7" name="Google Shape;2397;p88"/>
          <p:cNvSpPr/>
          <p:nvPr/>
        </p:nvSpPr>
        <p:spPr>
          <a:xfrm>
            <a:off x="2600312" y="3000319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8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Стоимость пилота: 1 400 руб за 6 недель</a:t>
            </a:r>
          </a:p>
        </p:txBody>
      </p:sp>
      <p:graphicFrame>
        <p:nvGraphicFramePr>
          <p:cNvPr id="2399" name="Chart 2398"/>
          <p:cNvGraphicFramePr>
            <a:graphicFrameLocks noGrp="1"/>
          </p:cNvGraphicFramePr>
          <p:nvPr/>
        </p:nvGraphicFramePr>
        <p:xfrm>
          <a:off x="4583887" y="2009822"/>
          <a:ext cx="4035247" cy="216027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Ключевые риски и меры</a:t>
            </a:r>
          </a:p>
        </p:txBody>
      </p:sp>
      <p:sp>
        <p:nvSpPr>
          <p:cNvPr id="1035" name="body"/>
          <p:cNvSpPr txBox="1"/>
          <p:nvPr/>
        </p:nvSpPr>
        <p:spPr>
          <a:xfrm>
            <a:off x="274320" y="1414513"/>
            <a:ext cx="8344814" cy="104613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может выдумать цифры – аудит проверяет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Плохой шаблон – сервис использует рабочую область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&gt;20 задач – нужна внешняя очередь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43608" y="159030"/>
            <a:ext cx="7202525" cy="3314394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1670608" y="286030"/>
            <a:ext cx="6948525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Решение: запуск сервиса на всю компанию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1670608" y="2188185"/>
            <a:ext cx="6948525" cy="1158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Q3 2026 подключить 4 команды, Q4 2026 доступ для всей компании, Q1 2027 генерация иллюстраций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Требуем одобрение запуска и ресурсы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Ожидаем ускорение и стандартизацию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
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8" Type="http://schemas.openxmlformats.org/officeDocument/2006/relationships/slideLayout" Target="../slideLayouts/slideLayout11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2"/>
    <p:sldLayoutId id="2147483658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43.png"/><Relationship Id="rId3" Type="http://schemas.openxmlformats.org/officeDocument/2006/relationships/image" Target="../media/image160.png"/><Relationship Id="rId4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4.xml"/></Relationships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59000" y="1243485"/>
            <a:ext cx="4542261" cy="949960"/>
          </a:xfrm>
          <a:prstGeom prst="roundRect">
            <a:avLst/>
          </a:prstGeom>
          <a:solidFill>
            <a:srgbClr val="111111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286000" y="1370485"/>
            <a:ext cx="4288261" cy="7213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>
              <a:spcAft>
                <a:spcPts val="300"/>
              </a:spcAft>
              <a:defRPr sz="1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FFFFFF"/>
                </a:solidFill>
                <a:latin typeface="Play"/>
                <a:ea typeface="Play"/>
                <a:cs typeface="Play"/>
              </a:rPr>
              <a:t>Защита инициативы: сервис автоматической вёрстки презентаций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55"/>
          <p:cNvSpPr/>
          <p:nvPr/>
        </p:nvSpPr>
        <p:spPr>
          <a:xfrm>
            <a:off x="285749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5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55"/>
          <p:cNvSpPr/>
          <p:nvPr/>
        </p:nvSpPr>
        <p:spPr>
          <a:xfrm>
            <a:off x="2452675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55"/>
          <p:cNvSpPr/>
          <p:nvPr/>
        </p:nvSpPr>
        <p:spPr>
          <a:xfrm>
            <a:off x="2605074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5"/>
          <p:cNvSpPr/>
          <p:nvPr/>
        </p:nvSpPr>
        <p:spPr>
          <a:xfrm>
            <a:off x="4619601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55"/>
          <p:cNvSpPr/>
          <p:nvPr/>
        </p:nvSpPr>
        <p:spPr>
          <a:xfrm>
            <a:off x="477200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55"/>
          <p:cNvSpPr/>
          <p:nvPr/>
        </p:nvSpPr>
        <p:spPr>
          <a:xfrm>
            <a:off x="6786527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55"/>
          <p:cNvSpPr/>
          <p:nvPr/>
        </p:nvSpPr>
        <p:spPr>
          <a:xfrm>
            <a:off x="6938927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title"/>
          <p:cNvSpPr txBox="1"/>
          <p:nvPr/>
        </p:nvSpPr>
        <p:spPr>
          <a:xfrm>
            <a:off x="274320" y="282943"/>
            <a:ext cx="6792986" cy="6172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Контекст и возможность</a:t>
            </a:r>
          </a:p>
        </p:txBody>
      </p:sp>
      <p:sp>
        <p:nvSpPr>
          <p:cNvPr id="684" name="body_left"/>
          <p:cNvSpPr txBox="1"/>
          <p:nvPr/>
        </p:nvSpPr>
        <p:spPr>
          <a:xfrm>
            <a:off x="274320" y="1414513"/>
            <a:ext cx="4035247" cy="26952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Сборка одной презентации 12 слайдов занимает 186 минут</a:t>
            </a:r>
          </a:p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Дополнительно 74 минуты на правки после ревью дизайнера</a:t>
            </a:r>
          </a:p>
        </p:txBody>
      </p:sp>
      <p:sp>
        <p:nvSpPr>
          <p:cNvPr id="685" name="body_right"/>
          <p:cNvSpPr txBox="1"/>
          <p:nvPr/>
        </p:nvSpPr>
        <p:spPr>
          <a:xfrm>
            <a:off x="4583887" y="1414513"/>
            <a:ext cx="4035247" cy="26952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19 из 42 колод нарушают фирменный стиль</a:t>
            </a:r>
          </a:p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Дизайн‑отдел из 4 человек закрывает 11 запросов, ожидание 6 дней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2" name="Google Shape;532;p53"/>
          <p:cNvSpPr/>
          <p:nvPr/>
        </p:nvSpPr>
        <p:spPr>
          <a:xfrm>
            <a:off x="303214" y="1022533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53"/>
          <p:cNvSpPr/>
          <p:nvPr/>
        </p:nvSpPr>
        <p:spPr>
          <a:xfrm>
            <a:off x="3831556" y="1022533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53"/>
          <p:cNvSpPr/>
          <p:nvPr/>
        </p:nvSpPr>
        <p:spPr>
          <a:xfrm>
            <a:off x="276488" y="29555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53"/>
          <p:cNvSpPr/>
          <p:nvPr/>
        </p:nvSpPr>
        <p:spPr>
          <a:xfrm>
            <a:off x="303214" y="27978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title"/>
          <p:cNvSpPr txBox="1"/>
          <p:nvPr/>
        </p:nvSpPr>
        <p:spPr>
          <a:xfrm>
            <a:off x="274320" y="282943"/>
            <a:ext cx="6792986" cy="6172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Предложение</a:t>
            </a:r>
          </a:p>
        </p:txBody>
      </p:sp>
      <p:sp>
        <p:nvSpPr>
          <p:cNvPr id="556" name="body_left"/>
          <p:cNvSpPr txBox="1"/>
          <p:nvPr/>
        </p:nvSpPr>
        <p:spPr>
          <a:xfrm>
            <a:off x="274320" y="1414513"/>
            <a:ext cx="4035247" cy="2851865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Сервис принимает шаблон pptx и материалы, генерирует колоду по дизайн‑системе</a:t>
            </a:r>
          </a:p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Экспорт в pptx, pdf, html с редактируемыми слайдами</a:t>
            </a:r>
          </a:p>
        </p:txBody>
      </p:sp>
      <p:sp>
        <p:nvSpPr>
          <p:cNvPr id="557" name="body_right"/>
          <p:cNvSpPr txBox="1"/>
          <p:nvPr/>
        </p:nvSpPr>
        <p:spPr>
          <a:xfrm>
            <a:off x="4583887" y="1414513"/>
            <a:ext cx="4035247" cy="2851865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Аудит качества проверяет стиль и корректирует автоматически</a:t>
            </a:r>
          </a:p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Слайды остаются редактируемыми, без картинок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55"/>
          <p:cNvSpPr/>
          <p:nvPr/>
        </p:nvSpPr>
        <p:spPr>
          <a:xfrm>
            <a:off x="285749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5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55"/>
          <p:cNvSpPr/>
          <p:nvPr/>
        </p:nvSpPr>
        <p:spPr>
          <a:xfrm>
            <a:off x="2452675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55"/>
          <p:cNvSpPr/>
          <p:nvPr/>
        </p:nvSpPr>
        <p:spPr>
          <a:xfrm>
            <a:off x="2605074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5"/>
          <p:cNvSpPr/>
          <p:nvPr/>
        </p:nvSpPr>
        <p:spPr>
          <a:xfrm>
            <a:off x="4619601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55"/>
          <p:cNvSpPr/>
          <p:nvPr/>
        </p:nvSpPr>
        <p:spPr>
          <a:xfrm>
            <a:off x="477200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55"/>
          <p:cNvSpPr/>
          <p:nvPr/>
        </p:nvSpPr>
        <p:spPr>
          <a:xfrm>
            <a:off x="6786527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55"/>
          <p:cNvSpPr/>
          <p:nvPr/>
        </p:nvSpPr>
        <p:spPr>
          <a:xfrm>
            <a:off x="6938927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title"/>
          <p:cNvSpPr txBox="1"/>
          <p:nvPr/>
        </p:nvSpPr>
        <p:spPr>
          <a:xfrm>
            <a:off x="274320" y="282943"/>
            <a:ext cx="6792986" cy="6172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Ожидаемый эффект</a:t>
            </a:r>
          </a:p>
        </p:txBody>
      </p:sp>
      <p:sp>
        <p:nvSpPr>
          <p:cNvPr id="684" name="body_left"/>
          <p:cNvSpPr txBox="1"/>
          <p:nvPr/>
        </p:nvSpPr>
        <p:spPr>
          <a:xfrm>
            <a:off x="274320" y="1414513"/>
            <a:ext cx="4035247" cy="26952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Средняя сборка колоды 12 слайдов сократилась до 4 минут</a:t>
            </a:r>
          </a:p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Время до первой версии уменьшилось с 6 дней до 1 дня</a:t>
            </a:r>
          </a:p>
        </p:txBody>
      </p:sp>
      <p:sp>
        <p:nvSpPr>
          <p:cNvPr id="685" name="body_right"/>
          <p:cNvSpPr txBox="1"/>
          <p:nvPr/>
        </p:nvSpPr>
        <p:spPr>
          <a:xfrm>
            <a:off x="4583887" y="1414513"/>
            <a:ext cx="4035247" cy="26952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Нарушения фирменного стиля в пилоте 2 из 68, исправлены автоматически</a:t>
            </a:r>
          </a:p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Дизайнеры закрыли 38 запросов за 6 недель вместо 11 в неделю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74320" y="282943"/>
            <a:ext cx="6792986" cy="6172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Что потребуется: ресурсы и сроки</a:t>
            </a:r>
          </a:p>
        </p:txBody>
      </p:sp>
      <p:sp>
        <p:nvSpPr>
          <p:cNvPr id="3" name="body_left"/>
          <p:cNvSpPr txBox="1"/>
          <p:nvPr/>
        </p:nvSpPr>
        <p:spPr>
          <a:xfrm>
            <a:off x="274320" y="1414513"/>
            <a:ext cx="3457574" cy="2602405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Сервис работает на машине 2 vCPU / 2 ГБ RAM</a:t>
            </a:r>
          </a:p>
          <a:p>
            <a:pPr algn="l">
              <a:spcAft>
                <a:spcPts val="300"/>
              </a:spcAft>
              <a:defRPr sz="18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Модель gpt-oss-20b, инференс за 6 недель 1 400 руб</a:t>
            </a:r>
          </a:p>
        </p:txBody>
      </p:sp>
      <p:sp>
        <p:nvSpPr>
          <p:cNvPr id="4" name="body_right"/>
          <p:cNvSpPr txBox="1"/>
          <p:nvPr/>
        </p:nvSpPr>
        <p:spPr>
          <a:xfrm>
            <a:off x="4006215" y="1414513"/>
            <a:ext cx="3457574" cy="2602405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Третий квартал 2026: подключение 4 команд, домен и HTTPS</a:t>
            </a:r>
          </a:p>
          <a:p>
            <a:pPr algn="l">
              <a:spcAft>
                <a:spcPts val="300"/>
              </a:spcAft>
              <a:defRPr sz="18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Четвёртый квартал 2026: доступ для всей компании, интеграция с хранилищем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385" name="Google Shape;2385;p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142" y="2000324"/>
            <a:ext cx="8755811" cy="9524"/>
          </a:xfrm>
          <a:prstGeom prst="rect">
            <a:avLst/>
          </a:prstGeom>
          <a:noFill/>
          <a:ln>
            <a:noFill/>
          </a:ln>
        </p:spPr>
      </p:pic>
      <p:sp>
        <p:nvSpPr>
          <p:cNvPr id="2386" name="Google Shape;2386;p88"/>
          <p:cNvSpPr/>
          <p:nvPr/>
        </p:nvSpPr>
        <p:spPr>
          <a:xfrm>
            <a:off x="319086" y="1286042"/>
            <a:ext cx="1690679" cy="1128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8" name="Google Shape;2388;p88"/>
          <p:cNvSpPr/>
          <p:nvPr/>
        </p:nvSpPr>
        <p:spPr>
          <a:xfrm>
            <a:off x="2600312" y="1286042"/>
            <a:ext cx="1690679" cy="1128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0" name="Google Shape;2390;p88"/>
          <p:cNvSpPr/>
          <p:nvPr/>
        </p:nvSpPr>
        <p:spPr>
          <a:xfrm>
            <a:off x="4881537" y="1286042"/>
            <a:ext cx="1690679" cy="1128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2" name="Google Shape;2392;p88"/>
          <p:cNvSpPr/>
          <p:nvPr/>
        </p:nvSpPr>
        <p:spPr>
          <a:xfrm>
            <a:off x="7162763" y="1286042"/>
            <a:ext cx="1690679" cy="11285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2394" name="Google Shape;2394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3684300"/>
            <a:ext cx="7238962" cy="70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95" name="title"/>
          <p:cNvSpPr txBox="1"/>
          <p:nvPr/>
        </p:nvSpPr>
        <p:spPr>
          <a:xfrm>
            <a:off x="274320" y="282943"/>
            <a:ext cx="6792986" cy="6172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План пилота</a:t>
            </a:r>
          </a:p>
        </p:txBody>
      </p:sp>
      <p:sp>
        <p:nvSpPr>
          <p:cNvPr id="2396" name="body"/>
          <p:cNvSpPr txBox="1"/>
          <p:nvPr/>
        </p:nvSpPr>
        <p:spPr>
          <a:xfrm>
            <a:off x="274320" y="2009822"/>
            <a:ext cx="4035247" cy="167446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Пилот 6 недель на двух командах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Собрано 68 презентаций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Время сборки 4 мин, ожидание 1 день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Нарушения стиля 2 из 68, исправлены автоматически</a:t>
            </a:r>
          </a:p>
        </p:txBody>
      </p:sp>
      <p:sp>
        <p:nvSpPr>
          <p:cNvPr id="2397" name="Rectangle 2396"/>
          <p:cNvSpPr/>
          <p:nvPr/>
        </p:nvSpPr>
        <p:spPr>
          <a:xfrm>
            <a:off x="4583887" y="2780076"/>
            <a:ext cx="4035247" cy="5023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8" name="Oval 2397"/>
          <p:cNvSpPr/>
          <p:nvPr/>
        </p:nvSpPr>
        <p:spPr>
          <a:xfrm>
            <a:off x="5072236" y="2621002"/>
            <a:ext cx="368382" cy="36838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9" name="TextBox 2398"/>
          <p:cNvSpPr txBox="1"/>
          <p:nvPr/>
        </p:nvSpPr>
        <p:spPr>
          <a:xfrm>
            <a:off x="4583887" y="2009822"/>
            <a:ext cx="2017623" cy="63629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Подготовка</a:t>
            </a:r>
          </a:p>
        </p:txBody>
      </p:sp>
      <p:sp>
        <p:nvSpPr>
          <p:cNvPr id="2400" name="Oval 2399"/>
          <p:cNvSpPr/>
          <p:nvPr/>
        </p:nvSpPr>
        <p:spPr>
          <a:xfrm>
            <a:off x="6417319" y="2621002"/>
            <a:ext cx="368382" cy="36838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1" name="TextBox 2400"/>
          <p:cNvSpPr txBox="1"/>
          <p:nvPr/>
        </p:nvSpPr>
        <p:spPr>
          <a:xfrm>
            <a:off x="5592698" y="3148458"/>
            <a:ext cx="2017623" cy="63629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Запуск</a:t>
            </a:r>
          </a:p>
        </p:txBody>
      </p:sp>
      <p:sp>
        <p:nvSpPr>
          <p:cNvPr id="2402" name="Oval 2401"/>
          <p:cNvSpPr/>
          <p:nvPr/>
        </p:nvSpPr>
        <p:spPr>
          <a:xfrm>
            <a:off x="7762401" y="2621002"/>
            <a:ext cx="368382" cy="368382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3" name="TextBox 2402"/>
          <p:cNvSpPr txBox="1"/>
          <p:nvPr/>
        </p:nvSpPr>
        <p:spPr>
          <a:xfrm>
            <a:off x="6601510" y="2009822"/>
            <a:ext cx="2017623" cy="63629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Оценка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74320" y="282943"/>
            <a:ext cx="6792986" cy="6172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Что мы просим решить</a:t>
            </a:r>
          </a:p>
        </p:txBody>
      </p:sp>
      <p:sp>
        <p:nvSpPr>
          <p:cNvPr id="3" name="body_left"/>
          <p:cNvSpPr txBox="1"/>
          <p:nvPr/>
        </p:nvSpPr>
        <p:spPr>
          <a:xfrm>
            <a:off x="274320" y="1414513"/>
            <a:ext cx="4035247" cy="179081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Решить о запуске сервиса на всю компанию</a:t>
            </a:r>
          </a:p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Подтвердить бюджет и ресурсы для масштабирования</a:t>
            </a:r>
          </a:p>
        </p:txBody>
      </p:sp>
      <p:sp>
        <p:nvSpPr>
          <p:cNvPr id="4" name="body_right"/>
          <p:cNvSpPr txBox="1"/>
          <p:nvPr/>
        </p:nvSpPr>
        <p:spPr>
          <a:xfrm>
            <a:off x="4583887" y="1414513"/>
            <a:ext cx="4035247" cy="179081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Определить ответственных за интеграцию с корпоративными системами</a:t>
            </a:r>
          </a:p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Утвердить сроки внедрения в Q4 2026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2" name="Google Shape;532;p53"/>
          <p:cNvSpPr/>
          <p:nvPr/>
        </p:nvSpPr>
        <p:spPr>
          <a:xfrm>
            <a:off x="303214" y="1022533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53"/>
          <p:cNvSpPr/>
          <p:nvPr/>
        </p:nvSpPr>
        <p:spPr>
          <a:xfrm>
            <a:off x="303214" y="1022533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53"/>
          <p:cNvSpPr/>
          <p:nvPr/>
        </p:nvSpPr>
        <p:spPr>
          <a:xfrm>
            <a:off x="2067385" y="1022533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53"/>
          <p:cNvSpPr/>
          <p:nvPr/>
        </p:nvSpPr>
        <p:spPr>
          <a:xfrm>
            <a:off x="3831556" y="1022533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53"/>
          <p:cNvSpPr/>
          <p:nvPr/>
        </p:nvSpPr>
        <p:spPr>
          <a:xfrm>
            <a:off x="5595727" y="1022533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53"/>
          <p:cNvSpPr/>
          <p:nvPr/>
        </p:nvSpPr>
        <p:spPr>
          <a:xfrm>
            <a:off x="7359897" y="1022533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53"/>
          <p:cNvSpPr/>
          <p:nvPr/>
        </p:nvSpPr>
        <p:spPr>
          <a:xfrm>
            <a:off x="276488" y="29555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53"/>
          <p:cNvSpPr/>
          <p:nvPr/>
        </p:nvSpPr>
        <p:spPr>
          <a:xfrm>
            <a:off x="303214" y="27978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53"/>
          <p:cNvSpPr/>
          <p:nvPr/>
        </p:nvSpPr>
        <p:spPr>
          <a:xfrm>
            <a:off x="303214" y="2797849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53"/>
          <p:cNvSpPr/>
          <p:nvPr/>
        </p:nvSpPr>
        <p:spPr>
          <a:xfrm>
            <a:off x="2067385" y="2797849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53"/>
          <p:cNvSpPr/>
          <p:nvPr/>
        </p:nvSpPr>
        <p:spPr>
          <a:xfrm>
            <a:off x="3831556" y="2797849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53"/>
          <p:cNvSpPr/>
          <p:nvPr/>
        </p:nvSpPr>
        <p:spPr>
          <a:xfrm>
            <a:off x="5595727" y="2797849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53"/>
          <p:cNvSpPr/>
          <p:nvPr/>
        </p:nvSpPr>
        <p:spPr>
          <a:xfrm>
            <a:off x="7359897" y="2797849"/>
            <a:ext cx="1395256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title"/>
          <p:cNvSpPr txBox="1"/>
          <p:nvPr/>
        </p:nvSpPr>
        <p:spPr>
          <a:xfrm>
            <a:off x="274320" y="282943"/>
            <a:ext cx="6792986" cy="6172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Риски</a:t>
            </a:r>
          </a:p>
        </p:txBody>
      </p:sp>
      <p:sp>
        <p:nvSpPr>
          <p:cNvPr id="573" name="body_left"/>
          <p:cNvSpPr txBox="1"/>
          <p:nvPr/>
        </p:nvSpPr>
        <p:spPr>
          <a:xfrm>
            <a:off x="274320" y="1891002"/>
            <a:ext cx="4035247" cy="14224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Слабая модель может выдумать цифры, аудит проверяет каждое число</a:t>
            </a:r>
          </a:p>
          <a:p>
            <a:pPr algn="l">
              <a:spcAft>
                <a:spcPts val="300"/>
              </a:spcAft>
              <a:defRPr sz="16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Неправильный шаблон может привести к плохому дизайну, сервис использует рабочую область</a:t>
            </a:r>
          </a:p>
        </p:txBody>
      </p:sp>
      <p:sp>
        <p:nvSpPr>
          <p:cNvPr id="574" name="body_right"/>
          <p:cNvSpPr txBox="1"/>
          <p:nvPr/>
        </p:nvSpPr>
        <p:spPr>
          <a:xfrm>
            <a:off x="4583887" y="1891002"/>
            <a:ext cx="4035247" cy="14224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Нагрузка выше 20 задач требует внешней очереди</a:t>
            </a:r>
          </a:p>
          <a:p>
            <a:pPr algn="l">
              <a:spcAft>
                <a:spcPts val="300"/>
              </a:spcAft>
              <a:defRPr sz="16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Зависимость от OpenAI‑совместимого протокола может ограничить масштаб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55"/>
          <p:cNvSpPr/>
          <p:nvPr/>
        </p:nvSpPr>
        <p:spPr>
          <a:xfrm>
            <a:off x="285749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5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55"/>
          <p:cNvSpPr/>
          <p:nvPr/>
        </p:nvSpPr>
        <p:spPr>
          <a:xfrm>
            <a:off x="2452675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55"/>
          <p:cNvSpPr/>
          <p:nvPr/>
        </p:nvSpPr>
        <p:spPr>
          <a:xfrm>
            <a:off x="2605074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5"/>
          <p:cNvSpPr/>
          <p:nvPr/>
        </p:nvSpPr>
        <p:spPr>
          <a:xfrm>
            <a:off x="4619601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55"/>
          <p:cNvSpPr/>
          <p:nvPr/>
        </p:nvSpPr>
        <p:spPr>
          <a:xfrm>
            <a:off x="477200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55"/>
          <p:cNvSpPr/>
          <p:nvPr/>
        </p:nvSpPr>
        <p:spPr>
          <a:xfrm>
            <a:off x="6786527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55"/>
          <p:cNvSpPr/>
          <p:nvPr/>
        </p:nvSpPr>
        <p:spPr>
          <a:xfrm>
            <a:off x="6938927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title"/>
          <p:cNvSpPr txBox="1"/>
          <p:nvPr/>
        </p:nvSpPr>
        <p:spPr>
          <a:xfrm>
            <a:off x="274320" y="282943"/>
            <a:ext cx="6792986" cy="6172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Преимущества для компании</a:t>
            </a:r>
          </a:p>
        </p:txBody>
      </p:sp>
      <p:sp>
        <p:nvSpPr>
          <p:cNvPr id="684" name="body_left"/>
          <p:cNvSpPr txBox="1"/>
          <p:nvPr/>
        </p:nvSpPr>
        <p:spPr>
          <a:xfrm>
            <a:off x="274320" y="1414513"/>
            <a:ext cx="4035247" cy="26952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Сокращение времени создания презентаций до 4 мин</a:t>
            </a:r>
          </a:p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Увеличение количества готовых колод за тот же период</a:t>
            </a:r>
          </a:p>
        </p:txBody>
      </p:sp>
      <p:sp>
        <p:nvSpPr>
          <p:cNvPr id="685" name="body_right"/>
          <p:cNvSpPr txBox="1"/>
          <p:nvPr/>
        </p:nvSpPr>
        <p:spPr>
          <a:xfrm>
            <a:off x="4583887" y="1414513"/>
            <a:ext cx="4035247" cy="26952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Снижение ошибок фирменного стиля до 3%</a:t>
            </a:r>
          </a:p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Повышение эффективности дизайнеров, освобождение от рутинных задач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45963" y="1555901"/>
            <a:ext cx="8300171" cy="2974022"/>
          </a:xfrm>
          <a:prstGeom prst="round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572963" y="1682901"/>
            <a:ext cx="4373118" cy="6553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Итоги</a:t>
            </a:r>
          </a:p>
        </p:txBody>
      </p:sp>
      <p:sp>
        <p:nvSpPr>
          <p:cNvPr id="4" name="body_left"/>
          <p:cNvSpPr txBox="1"/>
          <p:nvPr/>
        </p:nvSpPr>
        <p:spPr>
          <a:xfrm>
            <a:off x="572963" y="2518244"/>
            <a:ext cx="3885925" cy="1905165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Сервис готов к масштабированию, требуется одобрение руководства</a:t>
            </a:r>
          </a:p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Ожидается экономия времени и повышение качества презентаций</a:t>
            </a:r>
          </a:p>
        </p:txBody>
      </p:sp>
      <p:sp>
        <p:nvSpPr>
          <p:cNvPr id="5" name="body_right"/>
          <p:cNvSpPr txBox="1"/>
          <p:nvPr/>
        </p:nvSpPr>
        <p:spPr>
          <a:xfrm>
            <a:off x="4733208" y="2518244"/>
            <a:ext cx="3885925" cy="1905165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Пилот подтвердил работоспособность и низкие затраты</a:t>
            </a:r>
          </a:p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Риски минимизированы благодаря аудитам и резерву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
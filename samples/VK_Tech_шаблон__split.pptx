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Правки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74.0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159000" y="1243485"/>
            <a:ext cx="4542261" cy="1248791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286000" y="1370485"/>
            <a:ext cx="4288261" cy="102019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2705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53"/>
          <p:cNvSpPr/>
          <p:nvPr/>
        </p:nvSpPr>
        <p:spPr>
          <a:xfrm>
            <a:off x="3831556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sp>
        <p:nvSpPr>
          <p:cNvPr id="556" name="body"/>
          <p:cNvSpPr txBox="1"/>
          <p:nvPr/>
        </p:nvSpPr>
        <p:spPr>
          <a:xfrm>
            <a:off x="274320" y="1414513"/>
            <a:ext cx="4035247" cy="285186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186 минут на сборку одной презентации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минуты на правки после ревью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нарушили фирменный стиль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4 дизайнера закрывают 11 запросов в неделю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Средний срок ожидания 6 рабочих дней</a:t>
            </a:r>
          </a:p>
        </p:txBody>
      </p:sp>
      <p:graphicFrame>
        <p:nvGraphicFramePr>
          <p:cNvPr id="557" name="Chart 556"/>
          <p:cNvGraphicFramePr>
            <a:graphicFrameLocks noGrp="1"/>
          </p:cNvGraphicFramePr>
          <p:nvPr/>
        </p:nvGraphicFramePr>
        <p:xfrm>
          <a:off x="4583887" y="1414513"/>
          <a:ext cx="4035247" cy="285186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3" name="body_left"/>
          <p:cNvSpPr txBox="1"/>
          <p:nvPr/>
        </p:nvSpPr>
        <p:spPr>
          <a:xfrm>
            <a:off x="274320" y="1414513"/>
            <a:ext cx="3457574" cy="260240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Принимает шаблон pptx и материалы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Генерирует колоду по дизайн‑системе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Аудит качества проверяет каждый элемент</a:t>
            </a:r>
          </a:p>
        </p:txBody>
      </p:sp>
      <p:sp>
        <p:nvSpPr>
          <p:cNvPr id="4" name="body_right"/>
          <p:cNvSpPr txBox="1"/>
          <p:nvPr/>
        </p:nvSpPr>
        <p:spPr>
          <a:xfrm>
            <a:off x="4006215" y="1414513"/>
            <a:ext cx="3457574" cy="260240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 и html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Слайды остаются редактируемыми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85" name="Google Shape;2385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88142" y="2000324"/>
            <a:ext cx="8755811" cy="9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88"/>
          <p:cNvSpPr/>
          <p:nvPr/>
        </p:nvSpPr>
        <p:spPr>
          <a:xfrm>
            <a:off x="319086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8" name="Google Shape;2388;p88"/>
          <p:cNvSpPr/>
          <p:nvPr/>
        </p:nvSpPr>
        <p:spPr>
          <a:xfrm>
            <a:off x="2600312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88"/>
          <p:cNvSpPr/>
          <p:nvPr/>
        </p:nvSpPr>
        <p:spPr>
          <a:xfrm>
            <a:off x="4881537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2" name="Google Shape;2392;p88"/>
          <p:cNvSpPr/>
          <p:nvPr/>
        </p:nvSpPr>
        <p:spPr>
          <a:xfrm>
            <a:off x="7162763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2394" name="Google Shape;2394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3684300"/>
            <a:ext cx="7238962" cy="7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5" name="Google Shape;2395;p88"/>
          <p:cNvSpPr/>
          <p:nvPr/>
        </p:nvSpPr>
        <p:spPr>
          <a:xfrm>
            <a:off x="319086" y="3000319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7" name="Google Shape;2397;p88"/>
          <p:cNvSpPr/>
          <p:nvPr/>
        </p:nvSpPr>
        <p:spPr>
          <a:xfrm>
            <a:off x="2600312" y="3000319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8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</a:t>
            </a:r>
          </a:p>
        </p:txBody>
      </p:sp>
      <p:graphicFrame>
        <p:nvGraphicFramePr>
          <p:cNvPr id="2399" name="Table 2398"/>
          <p:cNvGraphicFramePr>
            <a:graphicFrameLocks noGrp="1"/>
          </p:cNvGraphicFramePr>
          <p:nvPr/>
        </p:nvGraphicFramePr>
        <p:xfrm>
          <a:off x="4583887" y="2009822"/>
          <a:ext cx="4035247" cy="16744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5082"/>
                <a:gridCol w="1345082"/>
                <a:gridCol w="1345083"/>
              </a:tblGrid>
              <a:tr h="334893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Текущее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Пилот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33489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Сборка (мин)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489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до первой версии (дней)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489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(колод)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489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 (запросов)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428" name="Google Shape;2428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2732082"/>
            <a:ext cx="8515008" cy="92615"/>
          </a:xfrm>
          <a:prstGeom prst="rect">
            <a:avLst/>
          </a:prstGeom>
          <a:noFill/>
          <a:ln>
            <a:noFill/>
          </a:ln>
        </p:spPr>
      </p:pic>
      <p:sp>
        <p:nvSpPr>
          <p:cNvPr id="2429" name="Google Shape;2429;p89"/>
          <p:cNvSpPr/>
          <p:nvPr/>
        </p:nvSpPr>
        <p:spPr>
          <a:xfrm>
            <a:off x="553415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1" name="Google Shape;2431;p89"/>
          <p:cNvSpPr/>
          <p:nvPr/>
        </p:nvSpPr>
        <p:spPr>
          <a:xfrm>
            <a:off x="3565736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3" name="Google Shape;2433;p89"/>
          <p:cNvSpPr/>
          <p:nvPr/>
        </p:nvSpPr>
        <p:spPr>
          <a:xfrm>
            <a:off x="6578067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4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Ресурсы и сроки</a:t>
            </a:r>
          </a:p>
        </p:txBody>
      </p:sp>
      <p:sp>
        <p:nvSpPr>
          <p:cNvPr id="2435" name="body"/>
          <p:cNvSpPr txBox="1"/>
          <p:nvPr/>
        </p:nvSpPr>
        <p:spPr>
          <a:xfrm>
            <a:off x="274320" y="1414513"/>
            <a:ext cx="4035247" cy="131755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2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25">
                <a:solidFill>
                  <a:srgbClr val="000000"/>
                </a:solidFill>
                <a:latin typeface="Play"/>
                <a:ea typeface="Play"/>
                <a:cs typeface="Play"/>
              </a:rPr>
              <a:t>• 2 vCPU / 2 GB RAM</a:t>
            </a:r>
          </a:p>
          <a:p>
            <a:pPr algn="l">
              <a:spcAft>
                <a:spcPts val="300"/>
              </a:spcAft>
              <a:defRPr sz="122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25">
                <a:solidFill>
                  <a:srgbClr val="000000"/>
                </a:solidFill>
                <a:latin typeface="Play"/>
                <a:ea typeface="Play"/>
                <a:cs typeface="Play"/>
              </a:rPr>
              <a:t>• 1 400 рублей за 6 недель</a:t>
            </a:r>
          </a:p>
          <a:p>
            <a:pPr algn="l">
              <a:spcAft>
                <a:spcPts val="300"/>
              </a:spcAft>
              <a:defRPr sz="122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25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gpt-oss-20b</a:t>
            </a:r>
          </a:p>
          <a:p>
            <a:pPr algn="l">
              <a:spcAft>
                <a:spcPts val="300"/>
              </a:spcAft>
              <a:defRPr sz="122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25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Подключение 4 команд, домен и HTTPS</a:t>
            </a:r>
          </a:p>
          <a:p>
            <a:pPr algn="l">
              <a:spcAft>
                <a:spcPts val="300"/>
              </a:spcAft>
              <a:defRPr sz="122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25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Доступ всей компании, интеграция</a:t>
            </a:r>
          </a:p>
          <a:p>
            <a:pPr algn="l">
              <a:spcAft>
                <a:spcPts val="300"/>
              </a:spcAft>
              <a:defRPr sz="122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25">
                <a:solidFill>
                  <a:srgbClr val="000000"/>
                </a:solidFill>
                <a:latin typeface="Play"/>
                <a:ea typeface="Play"/>
                <a:cs typeface="Play"/>
              </a:rPr>
              <a:t>• Генерация иллюстраций в Q1 2027</a:t>
            </a:r>
          </a:p>
        </p:txBody>
      </p:sp>
      <p:sp>
        <p:nvSpPr>
          <p:cNvPr id="2436" name="Rectangle 2435"/>
          <p:cNvSpPr/>
          <p:nvPr/>
        </p:nvSpPr>
        <p:spPr>
          <a:xfrm>
            <a:off x="4583887" y="2020589"/>
            <a:ext cx="4035247" cy="39526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7" name="Oval 2436"/>
          <p:cNvSpPr/>
          <p:nvPr/>
        </p:nvSpPr>
        <p:spPr>
          <a:xfrm>
            <a:off x="4943361" y="1895421"/>
            <a:ext cx="289862" cy="28986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4583887" y="1414513"/>
            <a:ext cx="1008811" cy="50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Подключение 4 команд</a:t>
            </a:r>
          </a:p>
        </p:txBody>
      </p:sp>
      <p:sp>
        <p:nvSpPr>
          <p:cNvPr id="2439" name="Oval 2438"/>
          <p:cNvSpPr/>
          <p:nvPr/>
        </p:nvSpPr>
        <p:spPr>
          <a:xfrm>
            <a:off x="5952173" y="1895421"/>
            <a:ext cx="289862" cy="28986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0" name="TextBox 2439"/>
          <p:cNvSpPr txBox="1"/>
          <p:nvPr/>
        </p:nvSpPr>
        <p:spPr>
          <a:xfrm>
            <a:off x="5592698" y="2310452"/>
            <a:ext cx="1008811" cy="50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Домен и HTTPS</a:t>
            </a:r>
          </a:p>
        </p:txBody>
      </p:sp>
      <p:sp>
        <p:nvSpPr>
          <p:cNvPr id="2441" name="Oval 2440"/>
          <p:cNvSpPr/>
          <p:nvPr/>
        </p:nvSpPr>
        <p:spPr>
          <a:xfrm>
            <a:off x="6960984" y="1895421"/>
            <a:ext cx="289862" cy="28986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2" name="TextBox 2441"/>
          <p:cNvSpPr txBox="1"/>
          <p:nvPr/>
        </p:nvSpPr>
        <p:spPr>
          <a:xfrm>
            <a:off x="6601510" y="1414513"/>
            <a:ext cx="1008811" cy="50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Доступ всей компании</a:t>
            </a:r>
          </a:p>
        </p:txBody>
      </p:sp>
      <p:sp>
        <p:nvSpPr>
          <p:cNvPr id="2443" name="Oval 2442"/>
          <p:cNvSpPr/>
          <p:nvPr/>
        </p:nvSpPr>
        <p:spPr>
          <a:xfrm>
            <a:off x="7969796" y="1895421"/>
            <a:ext cx="289862" cy="28986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4" name="TextBox 2443"/>
          <p:cNvSpPr txBox="1"/>
          <p:nvPr/>
        </p:nvSpPr>
        <p:spPr>
          <a:xfrm>
            <a:off x="7610322" y="2310452"/>
            <a:ext cx="1008811" cy="50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Генерация иллюстраций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53"/>
          <p:cNvSpPr/>
          <p:nvPr/>
        </p:nvSpPr>
        <p:spPr>
          <a:xfrm>
            <a:off x="3831556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556" name="body_left"/>
          <p:cNvSpPr txBox="1"/>
          <p:nvPr/>
        </p:nvSpPr>
        <p:spPr>
          <a:xfrm>
            <a:off x="274320" y="1414513"/>
            <a:ext cx="4035247" cy="285186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6 недель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2 команды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68 презентаций</a:t>
            </a:r>
          </a:p>
        </p:txBody>
      </p:sp>
      <p:sp>
        <p:nvSpPr>
          <p:cNvPr id="557" name="body_right"/>
          <p:cNvSpPr txBox="1"/>
          <p:nvPr/>
        </p:nvSpPr>
        <p:spPr>
          <a:xfrm>
            <a:off x="4583887" y="1414513"/>
            <a:ext cx="4035247" cy="285186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4 мин вместо 186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1 день вместо 6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Нарушения 2 из 68, запросы 38 вместо 11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5" name="Google Shape;1045;p65"/>
          <p:cNvSpPr/>
          <p:nvPr/>
        </p:nvSpPr>
        <p:spPr>
          <a:xfrm>
            <a:off x="6254721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1048" name="Oval 1047"/>
          <p:cNvSpPr/>
          <p:nvPr/>
        </p:nvSpPr>
        <p:spPr>
          <a:xfrm>
            <a:off x="5021979" y="1530621"/>
            <a:ext cx="433029" cy="433029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TextBox 1048"/>
          <p:cNvSpPr txBox="1"/>
          <p:nvPr/>
        </p:nvSpPr>
        <p:spPr>
          <a:xfrm>
            <a:off x="4583887" y="2076828"/>
            <a:ext cx="1309213" cy="383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Слабая модель может выдумать цифры</a:t>
            </a:r>
          </a:p>
        </p:txBody>
      </p:sp>
      <p:sp>
        <p:nvSpPr>
          <p:cNvPr id="1050" name="Document 1049"/>
          <p:cNvSpPr/>
          <p:nvPr/>
        </p:nvSpPr>
        <p:spPr>
          <a:xfrm>
            <a:off x="6395821" y="1519795"/>
            <a:ext cx="411377" cy="454680"/>
          </a:xfrm>
          <a:prstGeom prst="flowChartDocumen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5946903" y="2076828"/>
            <a:ext cx="1309213" cy="383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Незнакомый шаблон может быть плохо сделан</a:t>
            </a:r>
          </a:p>
        </p:txBody>
      </p:sp>
      <p:sp>
        <p:nvSpPr>
          <p:cNvPr id="1052" name="Oval 1051"/>
          <p:cNvSpPr/>
          <p:nvPr/>
        </p:nvSpPr>
        <p:spPr>
          <a:xfrm>
            <a:off x="7715535" y="1498144"/>
            <a:ext cx="497983" cy="497983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Oval 1052"/>
          <p:cNvSpPr/>
          <p:nvPr/>
        </p:nvSpPr>
        <p:spPr>
          <a:xfrm>
            <a:off x="7802141" y="1584750"/>
            <a:ext cx="324771" cy="32477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Oval 1053"/>
          <p:cNvSpPr/>
          <p:nvPr/>
        </p:nvSpPr>
        <p:spPr>
          <a:xfrm>
            <a:off x="7877921" y="1660530"/>
            <a:ext cx="173211" cy="173211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Oval 1054"/>
          <p:cNvSpPr/>
          <p:nvPr/>
        </p:nvSpPr>
        <p:spPr>
          <a:xfrm>
            <a:off x="7932050" y="1714658"/>
            <a:ext cx="64954" cy="6495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7309920" y="2076828"/>
            <a:ext cx="1309213" cy="383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Нагрузка более 20 задач требует внешней очереди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249" name="Google Shape;2249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48" y="3576507"/>
            <a:ext cx="2381238" cy="28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0" name="Google Shape;225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3234" y="3576507"/>
            <a:ext cx="3762355" cy="28571"/>
          </a:xfrm>
          <a:prstGeom prst="rect">
            <a:avLst/>
          </a:prstGeom>
          <a:noFill/>
          <a:ln>
            <a:noFill/>
          </a:ln>
        </p:spPr>
      </p:pic>
      <p:sp>
        <p:nvSpPr>
          <p:cNvPr id="2251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Потенциальные выгоды</a:t>
            </a:r>
          </a:p>
        </p:txBody>
      </p:sp>
      <p:sp>
        <p:nvSpPr>
          <p:cNvPr id="2252" name="body"/>
          <p:cNvSpPr txBox="1"/>
          <p:nvPr/>
        </p:nvSpPr>
        <p:spPr>
          <a:xfrm>
            <a:off x="274320" y="1950440"/>
            <a:ext cx="7189469" cy="99462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Сокращение времени на создание презентаций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Уменьшение нарушений фирменного стиля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Повышение продуктивности дизайнеров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1035" name="body"/>
          <p:cNvSpPr txBox="1"/>
          <p:nvPr/>
        </p:nvSpPr>
        <p:spPr>
          <a:xfrm>
            <a:off x="274320" y="1414513"/>
            <a:ext cx="8344814" cy="104613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Одобрить запуск сервиса на всю компанию</a:t>
            </a:r>
          </a:p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Обеспечить инфраструктуру и интеграцию</a:t>
            </a:r>
          </a:p>
          <a:p>
            <a:pPr algn="l">
              <a:spcAft>
                <a:spcPts val="300"/>
              </a:spcAft>
              <a:defRPr sz="1406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Поддерживать модель и обновления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45963" y="1555901"/>
            <a:ext cx="8300171" cy="2189031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72963" y="1682901"/>
            <a:ext cx="4373118" cy="6553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Вывод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572963" y="2920982"/>
            <a:ext cx="8046171" cy="69695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3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>
                <a:solidFill>
                  <a:srgbClr val="000000"/>
                </a:solidFill>
                <a:latin typeface="Play"/>
                <a:ea typeface="Play"/>
                <a:cs typeface="Play"/>
              </a:rPr>
              <a:t>Успешный запуск позволит ускорить создание презентаций и повысить качество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
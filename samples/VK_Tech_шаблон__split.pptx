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Запросы</c:v>
                </c:pt>
                <c:pt idx="1">
                  <c:v>Закрыто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27.0</c:v>
                </c:pt>
                <c:pt idx="1">
                  <c:v>11.0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Кол-во,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инициатива запуска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возможность: ручная сборка 42 колод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39499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Средний срок ожидания в очереди – 6 рабочих дней</a:t>
            </a:r>
          </a:p>
        </p:txBody>
      </p:sp>
      <p:sp>
        <p:nvSpPr>
          <p:cNvPr id="4" name="stat_0:bar"/>
          <p:cNvSpPr/>
          <p:nvPr/>
        </p:nvSpPr>
        <p:spPr>
          <a:xfrm>
            <a:off x="274320" y="2021231"/>
            <a:ext cx="50800" cy="9987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t_0"/>
          <p:cNvSpPr txBox="1"/>
          <p:nvPr/>
        </p:nvSpPr>
        <p:spPr>
          <a:xfrm>
            <a:off x="452119" y="1948079"/>
            <a:ext cx="3827710" cy="1071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186 мин</a:t>
            </a:r>
          </a:p>
          <a:p>
            <a:pPr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 за квартал: 186 мин на сборку 12-слайдной презентации</a:t>
            </a:r>
          </a:p>
        </p:txBody>
      </p:sp>
      <p:sp>
        <p:nvSpPr>
          <p:cNvPr id="6" name="stat_1:bar"/>
          <p:cNvSpPr/>
          <p:nvPr/>
        </p:nvSpPr>
        <p:spPr>
          <a:xfrm>
            <a:off x="4613623" y="2021231"/>
            <a:ext cx="50800" cy="9987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_1"/>
          <p:cNvSpPr txBox="1"/>
          <p:nvPr/>
        </p:nvSpPr>
        <p:spPr>
          <a:xfrm>
            <a:off x="4791423" y="1948079"/>
            <a:ext cx="3827710" cy="1071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74 мин</a:t>
            </a:r>
          </a:p>
          <a:p>
            <a:pPr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74 мин на правки после ревью дизайнера</a:t>
            </a:r>
          </a:p>
        </p:txBody>
      </p:sp>
      <p:sp>
        <p:nvSpPr>
          <p:cNvPr id="8" name="stat_2:bar"/>
          <p:cNvSpPr/>
          <p:nvPr/>
        </p:nvSpPr>
        <p:spPr>
          <a:xfrm>
            <a:off x="274320" y="3361766"/>
            <a:ext cx="50800" cy="9987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2"/>
          <p:cNvSpPr txBox="1"/>
          <p:nvPr/>
        </p:nvSpPr>
        <p:spPr>
          <a:xfrm>
            <a:off x="452119" y="3288614"/>
            <a:ext cx="3827710" cy="1071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19</a:t>
            </a:r>
          </a:p>
          <a:p>
            <a:pPr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колод нарушили фирменный стиль (неправильные гарнитуры, цвета)</a:t>
            </a:r>
          </a:p>
        </p:txBody>
      </p:sp>
      <p:sp>
        <p:nvSpPr>
          <p:cNvPr id="10" name="stat_3:bar"/>
          <p:cNvSpPr/>
          <p:nvPr/>
        </p:nvSpPr>
        <p:spPr>
          <a:xfrm>
            <a:off x="4613623" y="3361766"/>
            <a:ext cx="50800" cy="9987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_3"/>
          <p:cNvSpPr txBox="1"/>
          <p:nvPr/>
        </p:nvSpPr>
        <p:spPr>
          <a:xfrm>
            <a:off x="4791423" y="3288614"/>
            <a:ext cx="3827710" cy="10718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11</a:t>
            </a:r>
          </a:p>
          <a:p>
            <a:pPr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закрывают 11 запросов из 27 в неделю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дизайнеров: 27 запросов, 11 закрыто</a:t>
            </a:r>
          </a:p>
        </p:txBody>
      </p:sp>
      <p:graphicFrame>
        <p:nvGraphicFramePr>
          <p:cNvPr id="556" name="Chart 555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сервис принимает шаблон и материалы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669682"/>
            <a:ext cx="4519476" cy="24790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pptx шаблон и материалы (документы, таблицы, заметки)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преобразует шаблон в дизайн-систему (гарнитуры, шкала, палитра)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план колоды и вёрстку по ролям страниц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</p:txBody>
      </p:sp>
      <p:grpSp>
        <p:nvGrpSpPr>
          <p:cNvPr id="4" name="illustration:builtin-presentation"/>
          <p:cNvGrpSpPr/>
          <p:nvPr/>
        </p:nvGrpSpPr>
        <p:grpSpPr>
          <a:xfrm>
            <a:off x="5725054" y="1790631"/>
            <a:ext cx="2237140" cy="2237140"/>
            <a:chOff x="5725054" y="1790631"/>
            <a:chExt cx="2237140" cy="2237140"/>
          </a:xfrm>
        </p:grpSpPr>
        <p:sp>
          <p:nvSpPr>
            <p:cNvPr id="5" name="Oval 4"/>
            <p:cNvSpPr/>
            <p:nvPr/>
          </p:nvSpPr>
          <p:spPr>
            <a:xfrm>
              <a:off x="5725054" y="1790631"/>
              <a:ext cx="2237140" cy="223714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813829" y="2092467"/>
              <a:ext cx="2059589" cy="1331631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813829" y="2092467"/>
              <a:ext cx="2059589" cy="266326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813829" y="2234508"/>
              <a:ext cx="2059589" cy="124285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026890" y="2536344"/>
              <a:ext cx="745713" cy="88775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026890" y="2713895"/>
              <a:ext cx="568162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026890" y="2855936"/>
              <a:ext cx="656938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026890" y="2997976"/>
              <a:ext cx="497142" cy="71020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67910" y="2909201"/>
              <a:ext cx="159795" cy="337346"/>
            </a:xfrm>
            <a:prstGeom prst="roundRect">
              <a:avLst>
                <a:gd name="adj" fmla="val 22222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198726" y="2731650"/>
              <a:ext cx="159795" cy="514897"/>
            </a:xfrm>
            <a:prstGeom prst="roundRect">
              <a:avLst>
                <a:gd name="adj" fmla="val 22222"/>
              </a:avLst>
            </a:pr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429542" y="2554099"/>
              <a:ext cx="159795" cy="692448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90359" y="3424098"/>
              <a:ext cx="106530" cy="31959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99747" y="3708180"/>
              <a:ext cx="887754" cy="106530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аудит и автоматические правки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669682"/>
            <a:ext cx="4519476" cy="24790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до выдачи результата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Автоматические правки нарушений фирменного стиля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редактируемыми, без картинок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Поддержка OpenAI-совместимых моделей (gpt-oss-20b)</a:t>
            </a:r>
          </a:p>
        </p:txBody>
      </p:sp>
      <p:grpSp>
        <p:nvGrpSpPr>
          <p:cNvPr id="4" name="illustration:builtin-security"/>
          <p:cNvGrpSpPr/>
          <p:nvPr/>
        </p:nvGrpSpPr>
        <p:grpSpPr>
          <a:xfrm>
            <a:off x="5725054" y="1808386"/>
            <a:ext cx="2343671" cy="2201630"/>
            <a:chOff x="5725054" y="1808386"/>
            <a:chExt cx="2343671" cy="2201630"/>
          </a:xfrm>
        </p:grpSpPr>
        <p:sp>
          <p:nvSpPr>
            <p:cNvPr id="5" name="Oval 4"/>
            <p:cNvSpPr/>
            <p:nvPr/>
          </p:nvSpPr>
          <p:spPr>
            <a:xfrm>
              <a:off x="5742809" y="1808386"/>
              <a:ext cx="2201630" cy="220163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6026890" y="1932671"/>
              <a:ext cx="1633468" cy="1970815"/>
            </a:xfrm>
            <a:custGeom>
              <a:avLst/>
              <a:gdLst/>
              <a:ahLst/>
              <a:cxnLst/>
              <a:rect l="l" t="t" r="r" b="b"/>
              <a:pathLst>
                <a:path w="1633468" h="1970815">
                  <a:moveTo>
                    <a:pt x="816734" y="0"/>
                  </a:moveTo>
                  <a:lnTo>
                    <a:pt x="1633468" y="319592"/>
                  </a:lnTo>
                  <a:lnTo>
                    <a:pt x="1633468" y="869999"/>
                  </a:lnTo>
                  <a:lnTo>
                    <a:pt x="1623543" y="1021149"/>
                  </a:lnTo>
                  <a:lnTo>
                    <a:pt x="1594549" y="1165160"/>
                  </a:lnTo>
                  <a:lnTo>
                    <a:pt x="1547658" y="1301288"/>
                  </a:lnTo>
                  <a:lnTo>
                    <a:pt x="1484041" y="1428788"/>
                  </a:lnTo>
                  <a:lnTo>
                    <a:pt x="1404871" y="1546912"/>
                  </a:lnTo>
                  <a:lnTo>
                    <a:pt x="1311320" y="1654916"/>
                  </a:lnTo>
                  <a:lnTo>
                    <a:pt x="1204558" y="1752054"/>
                  </a:lnTo>
                  <a:lnTo>
                    <a:pt x="1085759" y="1837581"/>
                  </a:lnTo>
                  <a:lnTo>
                    <a:pt x="956094" y="1910749"/>
                  </a:lnTo>
                  <a:lnTo>
                    <a:pt x="816734" y="1970815"/>
                  </a:lnTo>
                  <a:lnTo>
                    <a:pt x="677374" y="1910749"/>
                  </a:lnTo>
                  <a:lnTo>
                    <a:pt x="547709" y="1837581"/>
                  </a:lnTo>
                  <a:lnTo>
                    <a:pt x="428910" y="1752054"/>
                  </a:lnTo>
                  <a:lnTo>
                    <a:pt x="322148" y="1654916"/>
                  </a:lnTo>
                  <a:lnTo>
                    <a:pt x="228597" y="1546912"/>
                  </a:lnTo>
                  <a:lnTo>
                    <a:pt x="149427" y="1428788"/>
                  </a:lnTo>
                  <a:lnTo>
                    <a:pt x="85810" y="1301288"/>
                  </a:lnTo>
                  <a:lnTo>
                    <a:pt x="38919" y="1165160"/>
                  </a:lnTo>
                  <a:lnTo>
                    <a:pt x="9925" y="1021149"/>
                  </a:lnTo>
                  <a:lnTo>
                    <a:pt x="0" y="869999"/>
                  </a:lnTo>
                  <a:lnTo>
                    <a:pt x="0" y="319592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6843624" y="2163487"/>
              <a:ext cx="585918" cy="1473672"/>
            </a:xfrm>
            <a:custGeom>
              <a:avLst/>
              <a:gdLst/>
              <a:ahLst/>
              <a:cxnLst/>
              <a:rect l="l" t="t" r="r" b="b"/>
              <a:pathLst>
                <a:path w="585918" h="1473672">
                  <a:moveTo>
                    <a:pt x="0" y="0"/>
                  </a:moveTo>
                  <a:lnTo>
                    <a:pt x="585918" y="230817"/>
                  </a:lnTo>
                  <a:lnTo>
                    <a:pt x="585918" y="656939"/>
                  </a:lnTo>
                  <a:lnTo>
                    <a:pt x="578620" y="766576"/>
                  </a:lnTo>
                  <a:lnTo>
                    <a:pt x="557368" y="871420"/>
                  </a:lnTo>
                  <a:lnTo>
                    <a:pt x="523118" y="970937"/>
                  </a:lnTo>
                  <a:lnTo>
                    <a:pt x="476831" y="1064595"/>
                  </a:lnTo>
                  <a:lnTo>
                    <a:pt x="419464" y="1151862"/>
                  </a:lnTo>
                  <a:lnTo>
                    <a:pt x="351977" y="1232203"/>
                  </a:lnTo>
                  <a:lnTo>
                    <a:pt x="275328" y="1305088"/>
                  </a:lnTo>
                  <a:lnTo>
                    <a:pt x="190477" y="1369983"/>
                  </a:lnTo>
                  <a:lnTo>
                    <a:pt x="98381" y="1426355"/>
                  </a:lnTo>
                  <a:lnTo>
                    <a:pt x="0" y="1473672"/>
                  </a:lnTo>
                  <a:close/>
                </a:path>
              </a:pathLst>
            </a:cu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6488522" y="2678385"/>
              <a:ext cx="745714" cy="514897"/>
            </a:xfrm>
            <a:custGeom>
              <a:avLst/>
              <a:gdLst/>
              <a:ahLst/>
              <a:cxnLst/>
              <a:rect l="l" t="t" r="r" b="b"/>
              <a:pathLst>
                <a:path w="745714" h="514897">
                  <a:moveTo>
                    <a:pt x="0" y="248571"/>
                  </a:moveTo>
                  <a:lnTo>
                    <a:pt x="266327" y="514897"/>
                  </a:lnTo>
                  <a:lnTo>
                    <a:pt x="745714" y="0"/>
                  </a:lnTo>
                </a:path>
              </a:pathLst>
            </a:custGeom>
            <a:noFill/>
            <a:ln w="142040" cap="rnd">
              <a:solidFill>
                <a:srgbClr val="FFFF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725054" y="2198998"/>
              <a:ext cx="177550" cy="177550"/>
            </a:xfrm>
            <a:prstGeom prst="ellipse">
              <a:avLst/>
            </a:prstGeom>
            <a:solidFill>
              <a:srgbClr val="FF6C6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7820154" y="3477364"/>
              <a:ext cx="248571" cy="248571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сокращение времени сборки</a:t>
            </a:r>
          </a:p>
        </p:txBody>
      </p:sp>
      <p:graphicFrame>
        <p:nvGraphicFramePr>
          <p:cNvPr id="1036" name="Chart 1035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снижение нарушений фирменного стиля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рост закрытых запросов</a:t>
            </a:r>
          </a:p>
        </p:txBody>
      </p:sp>
      <p:graphicFrame>
        <p:nvGraphicFramePr>
          <p:cNvPr id="556" name="Chart 555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682" name="stat_0:bar"/>
          <p:cNvSpPr/>
          <p:nvPr/>
        </p:nvSpPr>
        <p:spPr>
          <a:xfrm>
            <a:off x="274320" y="1410462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stat_0"/>
          <p:cNvSpPr txBox="1"/>
          <p:nvPr/>
        </p:nvSpPr>
        <p:spPr>
          <a:xfrm>
            <a:off x="452119" y="1337310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машине 2 vCPU / 2 ГБ RAM</a:t>
            </a:r>
          </a:p>
        </p:txBody>
      </p:sp>
      <p:sp>
        <p:nvSpPr>
          <p:cNvPr id="684" name="stat_1:bar"/>
          <p:cNvSpPr/>
          <p:nvPr/>
        </p:nvSpPr>
        <p:spPr>
          <a:xfrm>
            <a:off x="4613623" y="1410462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stat_1"/>
          <p:cNvSpPr txBox="1"/>
          <p:nvPr/>
        </p:nvSpPr>
        <p:spPr>
          <a:xfrm>
            <a:off x="4791423" y="1337310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инференса за 6 недель – 1 400 руб</a:t>
            </a:r>
          </a:p>
        </p:txBody>
      </p:sp>
      <p:sp>
        <p:nvSpPr>
          <p:cNvPr id="686" name="stat_2:bar"/>
          <p:cNvSpPr/>
          <p:nvPr/>
        </p:nvSpPr>
        <p:spPr>
          <a:xfrm>
            <a:off x="274320" y="3056381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stat_2"/>
          <p:cNvSpPr txBox="1"/>
          <p:nvPr/>
        </p:nvSpPr>
        <p:spPr>
          <a:xfrm>
            <a:off x="452119" y="2983229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2026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 в Q3 2026</a:t>
            </a:r>
          </a:p>
        </p:txBody>
      </p:sp>
      <p:sp>
        <p:nvSpPr>
          <p:cNvPr id="688" name="stat_3:bar"/>
          <p:cNvSpPr/>
          <p:nvPr/>
        </p:nvSpPr>
        <p:spPr>
          <a:xfrm>
            <a:off x="4613623" y="3056381"/>
            <a:ext cx="50800" cy="113080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stat_3"/>
          <p:cNvSpPr txBox="1"/>
          <p:nvPr/>
        </p:nvSpPr>
        <p:spPr>
          <a:xfrm>
            <a:off x="4791423" y="2983229"/>
            <a:ext cx="3827710" cy="12039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2026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Запуск для всей компании в Q4 2026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пилота: 6 недель, 2 команды</a:t>
            </a:r>
          </a:p>
        </p:txBody>
      </p:sp>
      <p:sp>
        <p:nvSpPr>
          <p:cNvPr id="3" name="Pentagon 2"/>
          <p:cNvSpPr/>
          <p:nvPr/>
        </p:nvSpPr>
        <p:spPr>
          <a:xfrm>
            <a:off x="4583887" y="1373314"/>
            <a:ext cx="4035247" cy="44234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1</a:t>
            </a:r>
          </a:p>
        </p:txBody>
      </p:sp>
      <p:sp>
        <p:nvSpPr>
          <p:cNvPr id="4" name="Chevron 3"/>
          <p:cNvSpPr/>
          <p:nvPr/>
        </p:nvSpPr>
        <p:spPr>
          <a:xfrm>
            <a:off x="4583887" y="1887664"/>
            <a:ext cx="4035247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2</a:t>
            </a:r>
          </a:p>
        </p:txBody>
      </p:sp>
      <p:sp>
        <p:nvSpPr>
          <p:cNvPr id="5" name="Chevron 4"/>
          <p:cNvSpPr/>
          <p:nvPr/>
        </p:nvSpPr>
        <p:spPr>
          <a:xfrm>
            <a:off x="4583887" y="2402014"/>
            <a:ext cx="4035247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3</a:t>
            </a:r>
          </a:p>
        </p:txBody>
      </p:sp>
      <p:sp>
        <p:nvSpPr>
          <p:cNvPr id="6" name="Chevron 5"/>
          <p:cNvSpPr/>
          <p:nvPr/>
        </p:nvSpPr>
        <p:spPr>
          <a:xfrm>
            <a:off x="4583887" y="2916364"/>
            <a:ext cx="4035247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4</a:t>
            </a:r>
          </a:p>
        </p:txBody>
      </p:sp>
      <p:sp>
        <p:nvSpPr>
          <p:cNvPr id="7" name="Chevron 6"/>
          <p:cNvSpPr/>
          <p:nvPr/>
        </p:nvSpPr>
        <p:spPr>
          <a:xfrm>
            <a:off x="4583887" y="3430714"/>
            <a:ext cx="4035247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5</a:t>
            </a:r>
          </a:p>
        </p:txBody>
      </p:sp>
      <p:sp>
        <p:nvSpPr>
          <p:cNvPr id="8" name="Chevron 7"/>
          <p:cNvSpPr/>
          <p:nvPr/>
        </p:nvSpPr>
        <p:spPr>
          <a:xfrm>
            <a:off x="4583887" y="3945064"/>
            <a:ext cx="4035247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title"/>
          <p:cNvSpPr txBox="1"/>
          <p:nvPr/>
        </p:nvSpPr>
        <p:spPr>
          <a:xfrm>
            <a:off x="274320" y="282943"/>
            <a:ext cx="341226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пилота: эффективность</a:t>
            </a:r>
          </a:p>
        </p:txBody>
      </p:sp>
      <p:graphicFrame>
        <p:nvGraphicFramePr>
          <p:cNvPr id="1060" name="Table 1059"/>
          <p:cNvGraphicFramePr>
            <a:graphicFrameLocks noGrp="1"/>
          </p:cNvGraphicFramePr>
          <p:nvPr/>
        </p:nvGraphicFramePr>
        <p:xfrm>
          <a:off x="4583887" y="1394994"/>
          <a:ext cx="4035247" cy="3028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5082"/>
                <a:gridCol w="1345082"/>
                <a:gridCol w="1345083"/>
              </a:tblGrid>
              <a:tr h="75710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Сейчас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Сервис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Время,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колод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Запросы, кол-во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20432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решить: запуск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243218"/>
            <a:ext cx="6948525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Решение о запуске сервиса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Поддержка интеграции с корпоративным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
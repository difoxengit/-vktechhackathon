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сборки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Текущий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до первой версии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Текущий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6.0</c:v>
                </c:pt>
                <c:pt idx="1">
                  <c:v>1.0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дней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159000" y="1243485"/>
            <a:ext cx="4542261" cy="1248791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286000" y="1370485"/>
            <a:ext cx="4288261" cy="102019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2705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53"/>
          <p:cNvSpPr/>
          <p:nvPr/>
        </p:nvSpPr>
        <p:spPr>
          <a:xfrm>
            <a:off x="3831556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sp>
        <p:nvSpPr>
          <p:cNvPr id="556" name="body_left"/>
          <p:cNvSpPr txBox="1"/>
          <p:nvPr/>
        </p:nvSpPr>
        <p:spPr>
          <a:xfrm>
            <a:off x="274320" y="1414513"/>
            <a:ext cx="4035247" cy="285186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42 колоды в первом квартале 2026 года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Средняя сборка 12 слайдов занимает 186 минут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74 минуты на правки после ревью дизайнера</a:t>
            </a:r>
          </a:p>
        </p:txBody>
      </p:sp>
      <p:sp>
        <p:nvSpPr>
          <p:cNvPr id="557" name="body_right"/>
          <p:cNvSpPr txBox="1"/>
          <p:nvPr/>
        </p:nvSpPr>
        <p:spPr>
          <a:xfrm>
            <a:off x="4583887" y="1414513"/>
            <a:ext cx="4035247" cy="285186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нарушили фирменный стиль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Дизайн‑отдел из 4 человек закрывает 11 запросов в неделю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28" name="Google Shape;1028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03313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30" name="Google Shape;1030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10249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7" name="Google Shape;1037;p65"/>
          <p:cNvSpPr/>
          <p:nvPr/>
        </p:nvSpPr>
        <p:spPr>
          <a:xfrm>
            <a:off x="2422509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38" name="Google Shape;1038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422506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039" name="Google Shape;103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5859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3" name="Google Shape;1043;p65"/>
          <p:cNvSpPr/>
          <p:nvPr/>
        </p:nvSpPr>
        <p:spPr>
          <a:xfrm>
            <a:off x="5311741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44" name="Google Shape;1044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45091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8" name="Google Shape;1048;p65"/>
          <p:cNvSpPr/>
          <p:nvPr/>
        </p:nvSpPr>
        <p:spPr>
          <a:xfrm>
            <a:off x="8200982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49" name="Google Shape;10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34332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50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Предложение</a:t>
            </a:r>
          </a:p>
        </p:txBody>
      </p:sp>
      <p:sp>
        <p:nvSpPr>
          <p:cNvPr id="1051" name="body"/>
          <p:cNvSpPr txBox="1"/>
          <p:nvPr/>
        </p:nvSpPr>
        <p:spPr>
          <a:xfrm>
            <a:off x="274320" y="1414513"/>
            <a:ext cx="8344814" cy="104613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принимает шаблон pptx и материалы</a:t>
            </a:r>
          </a:p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• Автоматически формирует дизайн‑систему и план колоды</a:t>
            </a:r>
          </a:p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 и html с редактируемыми слайдами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Ожидаемый эффект</a:t>
            </a:r>
          </a:p>
        </p:txBody>
      </p:sp>
      <p:sp>
        <p:nvSpPr>
          <p:cNvPr id="3" name="body_left"/>
          <p:cNvSpPr txBox="1"/>
          <p:nvPr/>
        </p:nvSpPr>
        <p:spPr>
          <a:xfrm>
            <a:off x="274320" y="1414513"/>
            <a:ext cx="3457574" cy="260240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68 презентаций собраны за 6 недель пилота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Средняя сборка 12 слайдов теперь 4 минуты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до первой версии сократилось с 6 дней до 1</a:t>
            </a:r>
          </a:p>
        </p:txBody>
      </p:sp>
      <p:sp>
        <p:nvSpPr>
          <p:cNvPr id="4" name="body_right"/>
          <p:cNvSpPr txBox="1"/>
          <p:nvPr/>
        </p:nvSpPr>
        <p:spPr>
          <a:xfrm>
            <a:off x="4006215" y="1414513"/>
            <a:ext cx="3457574" cy="260240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Нарушений фирменного стиля 2 из 68, исправлены автоматически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 вместо 11 в неделю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385" name="Google Shape;2385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88142" y="2000324"/>
            <a:ext cx="8755811" cy="9524"/>
          </a:xfrm>
          <a:prstGeom prst="rect">
            <a:avLst/>
          </a:prstGeom>
          <a:noFill/>
          <a:ln>
            <a:noFill/>
          </a:ln>
        </p:spPr>
      </p:pic>
      <p:sp>
        <p:nvSpPr>
          <p:cNvPr id="2386" name="Google Shape;2386;p88"/>
          <p:cNvSpPr/>
          <p:nvPr/>
        </p:nvSpPr>
        <p:spPr>
          <a:xfrm>
            <a:off x="319086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7" name="Google Shape;2387;p88"/>
          <p:cNvSpPr/>
          <p:nvPr/>
        </p:nvSpPr>
        <p:spPr>
          <a:xfrm>
            <a:off x="319086" y="1933658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8" name="Google Shape;2388;p88"/>
          <p:cNvSpPr/>
          <p:nvPr/>
        </p:nvSpPr>
        <p:spPr>
          <a:xfrm>
            <a:off x="2600312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9" name="Google Shape;2389;p88"/>
          <p:cNvSpPr/>
          <p:nvPr/>
        </p:nvSpPr>
        <p:spPr>
          <a:xfrm>
            <a:off x="2600312" y="1933658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0" name="Google Shape;2390;p88"/>
          <p:cNvSpPr/>
          <p:nvPr/>
        </p:nvSpPr>
        <p:spPr>
          <a:xfrm>
            <a:off x="4881537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1" name="Google Shape;2391;p88"/>
          <p:cNvSpPr/>
          <p:nvPr/>
        </p:nvSpPr>
        <p:spPr>
          <a:xfrm>
            <a:off x="4881537" y="1933658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2" name="Google Shape;2392;p88"/>
          <p:cNvSpPr/>
          <p:nvPr/>
        </p:nvSpPr>
        <p:spPr>
          <a:xfrm>
            <a:off x="7162763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3" name="Google Shape;2393;p88"/>
          <p:cNvSpPr/>
          <p:nvPr/>
        </p:nvSpPr>
        <p:spPr>
          <a:xfrm>
            <a:off x="7162763" y="1933658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2394" name="Google Shape;2394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3684300"/>
            <a:ext cx="7238962" cy="7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395" name="Google Shape;2395;p88"/>
          <p:cNvSpPr/>
          <p:nvPr/>
        </p:nvSpPr>
        <p:spPr>
          <a:xfrm>
            <a:off x="319086" y="3000319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6" name="Google Shape;2396;p88"/>
          <p:cNvSpPr/>
          <p:nvPr/>
        </p:nvSpPr>
        <p:spPr>
          <a:xfrm>
            <a:off x="319086" y="3647935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7" name="Google Shape;2397;p88"/>
          <p:cNvSpPr/>
          <p:nvPr/>
        </p:nvSpPr>
        <p:spPr>
          <a:xfrm>
            <a:off x="2600312" y="3000319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8" name="Google Shape;2398;p88"/>
          <p:cNvSpPr/>
          <p:nvPr/>
        </p:nvSpPr>
        <p:spPr>
          <a:xfrm>
            <a:off x="2600312" y="3647935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0" name="Google Shape;2400;p88"/>
          <p:cNvSpPr/>
          <p:nvPr/>
        </p:nvSpPr>
        <p:spPr>
          <a:xfrm>
            <a:off x="4881537" y="3647935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1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Сравнение времени сборки</a:t>
            </a:r>
          </a:p>
        </p:txBody>
      </p:sp>
      <p:graphicFrame>
        <p:nvGraphicFramePr>
          <p:cNvPr id="2402" name="Chart 2401"/>
          <p:cNvGraphicFramePr>
            <a:graphicFrameLocks noGrp="1"/>
          </p:cNvGraphicFramePr>
          <p:nvPr/>
        </p:nvGraphicFramePr>
        <p:xfrm>
          <a:off x="4583887" y="2071750"/>
          <a:ext cx="4035247" cy="157617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428" name="Google Shape;2428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2732082"/>
            <a:ext cx="8515008" cy="92615"/>
          </a:xfrm>
          <a:prstGeom prst="rect">
            <a:avLst/>
          </a:prstGeom>
          <a:noFill/>
          <a:ln>
            <a:noFill/>
          </a:ln>
        </p:spPr>
      </p:pic>
      <p:sp>
        <p:nvSpPr>
          <p:cNvPr id="2429" name="Google Shape;2429;p89"/>
          <p:cNvSpPr/>
          <p:nvPr/>
        </p:nvSpPr>
        <p:spPr>
          <a:xfrm>
            <a:off x="553415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1" name="Google Shape;2431;p89"/>
          <p:cNvSpPr/>
          <p:nvPr/>
        </p:nvSpPr>
        <p:spPr>
          <a:xfrm>
            <a:off x="3565736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2" name="Google Shape;2432;p89"/>
          <p:cNvSpPr/>
          <p:nvPr/>
        </p:nvSpPr>
        <p:spPr>
          <a:xfrm>
            <a:off x="3565736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3" name="Google Shape;2433;p89"/>
          <p:cNvSpPr/>
          <p:nvPr/>
        </p:nvSpPr>
        <p:spPr>
          <a:xfrm>
            <a:off x="6578067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4" name="Google Shape;2434;p89"/>
          <p:cNvSpPr/>
          <p:nvPr/>
        </p:nvSpPr>
        <p:spPr>
          <a:xfrm>
            <a:off x="6578067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Сравнение времени до первой версии</a:t>
            </a:r>
          </a:p>
        </p:txBody>
      </p:sp>
      <p:graphicFrame>
        <p:nvGraphicFramePr>
          <p:cNvPr id="2436" name="Chart 2435"/>
          <p:cNvGraphicFramePr>
            <a:graphicFrameLocks noGrp="1"/>
          </p:cNvGraphicFramePr>
          <p:nvPr/>
        </p:nvGraphicFramePr>
        <p:xfrm>
          <a:off x="4583887" y="1414513"/>
          <a:ext cx="4035247" cy="126957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55"/>
          <p:cNvSpPr/>
          <p:nvPr/>
        </p:nvSpPr>
        <p:spPr>
          <a:xfrm>
            <a:off x="438148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55"/>
          <p:cNvSpPr/>
          <p:nvPr/>
        </p:nvSpPr>
        <p:spPr>
          <a:xfrm>
            <a:off x="2605074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2605074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55"/>
          <p:cNvSpPr/>
          <p:nvPr/>
        </p:nvSpPr>
        <p:spPr>
          <a:xfrm>
            <a:off x="4772001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4772001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55"/>
          <p:cNvSpPr/>
          <p:nvPr/>
        </p:nvSpPr>
        <p:spPr>
          <a:xfrm>
            <a:off x="6938927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5"/>
          <p:cNvSpPr/>
          <p:nvPr/>
        </p:nvSpPr>
        <p:spPr>
          <a:xfrm>
            <a:off x="6938927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Ресурсы и затраты</a:t>
            </a:r>
          </a:p>
        </p:txBody>
      </p:sp>
      <p:sp>
        <p:nvSpPr>
          <p:cNvPr id="684" name="body_left"/>
          <p:cNvSpPr txBox="1"/>
          <p:nvPr/>
        </p:nvSpPr>
        <p:spPr>
          <a:xfrm>
            <a:off x="274320" y="1969572"/>
            <a:ext cx="4035247" cy="79799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Стоимость инференса за 6 недель 1 400 рублей</a:t>
            </a:r>
          </a:p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работает на 2 vCPU / 2 ГБ RAM</a:t>
            </a:r>
          </a:p>
        </p:txBody>
      </p:sp>
      <p:sp>
        <p:nvSpPr>
          <p:cNvPr id="685" name="body_right"/>
          <p:cNvSpPr txBox="1"/>
          <p:nvPr/>
        </p:nvSpPr>
        <p:spPr>
          <a:xfrm>
            <a:off x="4583887" y="1969572"/>
            <a:ext cx="4035247" cy="103012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Модель gpt‑oss‑20b подключается по OpenAI‑совместимому протоколу</a:t>
            </a:r>
          </a:p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• При нагрузке более 20 задач требуется внешняя очередь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53"/>
          <p:cNvSpPr/>
          <p:nvPr/>
        </p:nvSpPr>
        <p:spPr>
          <a:xfrm>
            <a:off x="303214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53"/>
          <p:cNvSpPr/>
          <p:nvPr/>
        </p:nvSpPr>
        <p:spPr>
          <a:xfrm>
            <a:off x="2067385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53"/>
          <p:cNvSpPr/>
          <p:nvPr/>
        </p:nvSpPr>
        <p:spPr>
          <a:xfrm>
            <a:off x="3831556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53"/>
          <p:cNvSpPr/>
          <p:nvPr/>
        </p:nvSpPr>
        <p:spPr>
          <a:xfrm>
            <a:off x="303214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53"/>
          <p:cNvSpPr/>
          <p:nvPr/>
        </p:nvSpPr>
        <p:spPr>
          <a:xfrm>
            <a:off x="2067385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График масштабирования</a:t>
            </a:r>
          </a:p>
        </p:txBody>
      </p:sp>
      <p:sp>
        <p:nvSpPr>
          <p:cNvPr id="561" name="Rectangle 560"/>
          <p:cNvSpPr/>
          <p:nvPr/>
        </p:nvSpPr>
        <p:spPr>
          <a:xfrm>
            <a:off x="4583887" y="2726370"/>
            <a:ext cx="4035247" cy="85555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5054665" y="2567386"/>
            <a:ext cx="403524" cy="40352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TextBox 562"/>
          <p:cNvSpPr txBox="1"/>
          <p:nvPr/>
        </p:nvSpPr>
        <p:spPr>
          <a:xfrm>
            <a:off x="4583887" y="1414513"/>
            <a:ext cx="1345082" cy="1083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Q3 2026</a:t>
            </a:r>
          </a:p>
        </p:txBody>
      </p:sp>
      <p:sp>
        <p:nvSpPr>
          <p:cNvPr id="564" name="Oval 563"/>
          <p:cNvSpPr/>
          <p:nvPr/>
        </p:nvSpPr>
        <p:spPr>
          <a:xfrm>
            <a:off x="6399748" y="2567386"/>
            <a:ext cx="403524" cy="40352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TextBox 564"/>
          <p:cNvSpPr txBox="1"/>
          <p:nvPr/>
        </p:nvSpPr>
        <p:spPr>
          <a:xfrm>
            <a:off x="5928969" y="3129895"/>
            <a:ext cx="1345082" cy="1083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Q4 2026</a:t>
            </a:r>
          </a:p>
        </p:txBody>
      </p:sp>
      <p:sp>
        <p:nvSpPr>
          <p:cNvPr id="566" name="Oval 565"/>
          <p:cNvSpPr/>
          <p:nvPr/>
        </p:nvSpPr>
        <p:spPr>
          <a:xfrm>
            <a:off x="7744830" y="2567386"/>
            <a:ext cx="403524" cy="40352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TextBox 566"/>
          <p:cNvSpPr txBox="1"/>
          <p:nvPr/>
        </p:nvSpPr>
        <p:spPr>
          <a:xfrm>
            <a:off x="7274051" y="1414513"/>
            <a:ext cx="1345082" cy="1083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Q1 2027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3" name="body_left"/>
          <p:cNvSpPr txBox="1"/>
          <p:nvPr/>
        </p:nvSpPr>
        <p:spPr>
          <a:xfrm>
            <a:off x="274320" y="1414513"/>
            <a:ext cx="3457574" cy="260240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План пилота: 6 недель, 2 команды, 68 презентаций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Цель – доказать экономию времени и соблюдение стиля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После пилота масштабируем на 4 команды в Q3 2026</a:t>
            </a:r>
          </a:p>
        </p:txBody>
      </p:sp>
      <p:sp>
        <p:nvSpPr>
          <p:cNvPr id="4" name="body_right"/>
          <p:cNvSpPr txBox="1"/>
          <p:nvPr/>
        </p:nvSpPr>
        <p:spPr>
          <a:xfrm>
            <a:off x="4006215" y="1414513"/>
            <a:ext cx="3457574" cy="260240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Далее – доступ для всей компании в Q4 2026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И генерация иллюстраций в Q1 2027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45963" y="1555901"/>
            <a:ext cx="8300171" cy="2834017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72963" y="1682901"/>
            <a:ext cx="4373118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4" name="body_left"/>
          <p:cNvSpPr txBox="1"/>
          <p:nvPr/>
        </p:nvSpPr>
        <p:spPr>
          <a:xfrm>
            <a:off x="572963" y="3046564"/>
            <a:ext cx="3885925" cy="137684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8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88">
                <a:solidFill>
                  <a:srgbClr val="000000"/>
                </a:solidFill>
                <a:latin typeface="Play"/>
                <a:ea typeface="Play"/>
                <a:cs typeface="Play"/>
              </a:rPr>
              <a:t>• Запрос решения о запуске сервиса на всю компанию</a:t>
            </a:r>
          </a:p>
          <a:p>
            <a:pPr algn="l">
              <a:spcAft>
                <a:spcPts val="300"/>
              </a:spcAft>
              <a:defRPr sz="168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88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Ожидаем одобрение руководства к концу Q4 2026</a:t>
            </a:r>
          </a:p>
        </p:txBody>
      </p:sp>
      <p:sp>
        <p:nvSpPr>
          <p:cNvPr id="5" name="body_right"/>
          <p:cNvSpPr txBox="1"/>
          <p:nvPr/>
        </p:nvSpPr>
        <p:spPr>
          <a:xfrm>
            <a:off x="4733208" y="3046564"/>
            <a:ext cx="3885925" cy="137684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8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88">
                <a:solidFill>
                  <a:srgbClr val="000000"/>
                </a:solidFill>
                <a:latin typeface="Play"/>
                <a:ea typeface="Play"/>
                <a:cs typeface="Play"/>
              </a:rPr>
              <a:t>• При поддержке выделить бюджет на инфраструктуру и обучение</a:t>
            </a:r>
          </a:p>
          <a:p>
            <a:pPr algn="l">
              <a:spcAft>
                <a:spcPts val="300"/>
              </a:spcAft>
              <a:defRPr sz="168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88">
                <a:solidFill>
                  <a:srgbClr val="000000"/>
                </a:solidFill>
                <a:latin typeface="Play"/>
                <a:ea typeface="Play"/>
                <a:cs typeface="Play"/>
              </a:rPr>
              <a:t>• Готовы предоставить детальный план внедрения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
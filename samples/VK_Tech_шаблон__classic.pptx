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 (мин),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ы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колоды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 (руб)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Sheet1!$A$2:$A$2</c:f>
              <c:strCache>
                <c:ptCount val="1"/>
                <c:pt idx="0">
                  <c:v>Пилот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1400.0</c:v>
                </c:pt>
              </c:numCache>
            </c:numRef>
          </c:val>
        </c:ser>
        <c:dLbls>
          <c:numFmt formatCode="0&quot; руб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Стоимость (руб), руб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4.xml"/><Relationship Id="rId5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8000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Google Shape;2395;p88"/>
          <p:cNvSpPr/>
          <p:nvPr/>
        </p:nvSpPr>
        <p:spPr>
          <a:xfrm>
            <a:off x="319086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7" name="Google Shape;2397;p88"/>
          <p:cNvSpPr/>
          <p:nvPr/>
        </p:nvSpPr>
        <p:spPr>
          <a:xfrm>
            <a:off x="2600312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9" name="Google Shape;2399;p88"/>
          <p:cNvSpPr/>
          <p:nvPr/>
        </p:nvSpPr>
        <p:spPr>
          <a:xfrm>
            <a:off x="4881537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0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Текущие трудности в создании презентаций</a:t>
            </a:r>
          </a:p>
        </p:txBody>
      </p:sp>
      <p:sp>
        <p:nvSpPr>
          <p:cNvPr id="2401" name="body"/>
          <p:cNvSpPr txBox="1"/>
          <p:nvPr/>
        </p:nvSpPr>
        <p:spPr>
          <a:xfrm>
            <a:off x="274320" y="2086975"/>
            <a:ext cx="8344814" cy="12573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 за квартал, 12 слайдов каждая, 186 минут сборки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на правки после ревью дизайнера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4 человека закрывают 11 запросов/неделю из 27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38148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2605074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4772001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55"/>
          <p:cNvSpPr/>
          <p:nvPr/>
        </p:nvSpPr>
        <p:spPr>
          <a:xfrm>
            <a:off x="6938927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Возможность ускорить и стандартизировать процесс</a:t>
            </a:r>
          </a:p>
        </p:txBody>
      </p:sp>
      <p:sp>
        <p:nvSpPr>
          <p:cNvPr id="684" name="card_0"/>
          <p:cNvSpPr txBox="1"/>
          <p:nvPr/>
        </p:nvSpPr>
        <p:spPr>
          <a:xfrm>
            <a:off x="582575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Сократить время сборки до 4 минут</a:t>
            </a:r>
          </a:p>
        </p:txBody>
      </p:sp>
      <p:sp>
        <p:nvSpPr>
          <p:cNvPr id="685" name="card_1"/>
          <p:cNvSpPr txBox="1"/>
          <p:nvPr/>
        </p:nvSpPr>
        <p:spPr>
          <a:xfrm>
            <a:off x="2749428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Снизить время до первой версии с 6 дней до 1 дня</a:t>
            </a:r>
          </a:p>
        </p:txBody>
      </p:sp>
      <p:sp>
        <p:nvSpPr>
          <p:cNvPr id="686" name="card_2"/>
          <p:cNvSpPr txBox="1"/>
          <p:nvPr/>
        </p:nvSpPr>
        <p:spPr>
          <a:xfrm>
            <a:off x="4916374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Снизить нарушения фирменного стиля до 3 %</a:t>
            </a:r>
          </a:p>
        </p:txBody>
      </p:sp>
      <p:sp>
        <p:nvSpPr>
          <p:cNvPr id="687" name="card_3"/>
          <p:cNvSpPr txBox="1"/>
          <p:nvPr/>
        </p:nvSpPr>
        <p:spPr>
          <a:xfrm>
            <a:off x="7083319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Освободить дизайнеров от рутинных задач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53"/>
          <p:cNvSpPr/>
          <p:nvPr/>
        </p:nvSpPr>
        <p:spPr>
          <a:xfrm>
            <a:off x="559572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53"/>
          <p:cNvSpPr/>
          <p:nvPr/>
        </p:nvSpPr>
        <p:spPr>
          <a:xfrm>
            <a:off x="3831556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53"/>
          <p:cNvSpPr/>
          <p:nvPr/>
        </p:nvSpPr>
        <p:spPr>
          <a:xfrm>
            <a:off x="559572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Как работает сервис</a:t>
            </a:r>
          </a:p>
        </p:txBody>
      </p:sp>
      <p:sp>
        <p:nvSpPr>
          <p:cNvPr id="573" name="body"/>
          <p:cNvSpPr txBox="1"/>
          <p:nvPr/>
        </p:nvSpPr>
        <p:spPr>
          <a:xfrm>
            <a:off x="274320" y="1935028"/>
            <a:ext cx="8344814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план колоды по дизайн-системе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Вёрстка и аудит качества до выдачи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html, слайды редактируемы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Сокращение времени сборки: 186 → 4 минуты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664127"/>
          <a:ext cx="7189469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Снижение нарушений фирменного стиля: 19/42 → 2/68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729321"/>
          <a:ext cx="8344814" cy="216027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Увеличение объёма работы дизайнеров: 11/нед → 38/6н</a:t>
            </a:r>
          </a:p>
        </p:txBody>
      </p:sp>
      <p:graphicFrame>
        <p:nvGraphicFramePr>
          <p:cNvPr id="1048" name="Chart 1047"/>
          <p:cNvGraphicFramePr>
            <a:graphicFrameLocks noGrp="1"/>
          </p:cNvGraphicFramePr>
          <p:nvPr/>
        </p:nvGraphicFramePr>
        <p:xfrm>
          <a:off x="274320" y="1628895"/>
          <a:ext cx="8344814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3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Стоимость пилота: 1 400 руб за 6 недель</a:t>
            </a:r>
          </a:p>
        </p:txBody>
      </p:sp>
      <p:graphicFrame>
        <p:nvGraphicFramePr>
          <p:cNvPr id="2394" name="Chart 2393"/>
          <p:cNvGraphicFramePr>
            <a:graphicFrameLocks noGrp="1"/>
          </p:cNvGraphicFramePr>
          <p:nvPr/>
        </p:nvGraphicFramePr>
        <p:xfrm>
          <a:off x="274320" y="2009822"/>
          <a:ext cx="8344814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Ключевые риски и меры</a:t>
            </a:r>
          </a:p>
        </p:txBody>
      </p:sp>
      <p:sp>
        <p:nvSpPr>
          <p:cNvPr id="1051" name="card_0"/>
          <p:cNvSpPr txBox="1"/>
          <p:nvPr/>
        </p:nvSpPr>
        <p:spPr>
          <a:xfrm>
            <a:off x="576030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может выдумать цифры – аудит проверяет</a:t>
            </a:r>
          </a:p>
        </p:txBody>
      </p:sp>
      <p:sp>
        <p:nvSpPr>
          <p:cNvPr id="1052" name="card_1"/>
          <p:cNvSpPr txBox="1"/>
          <p:nvPr/>
        </p:nvSpPr>
        <p:spPr>
          <a:xfrm>
            <a:off x="346525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Плохой шаблон – сервис использует рабочую область</a:t>
            </a:r>
          </a:p>
        </p:txBody>
      </p:sp>
      <p:sp>
        <p:nvSpPr>
          <p:cNvPr id="1053" name="card_2"/>
          <p:cNvSpPr txBox="1"/>
          <p:nvPr/>
        </p:nvSpPr>
        <p:spPr>
          <a:xfrm>
            <a:off x="635448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&gt;20 задач – нужна внешняя очередь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3314394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Решение: запуск сервиса на всю компанию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670608" y="2188185"/>
            <a:ext cx="6948525" cy="1158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Q3 2026 подключить 4 команды, Q4 2026 доступ для всей компании, Q1 2027 генерация иллюстраций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Требуем одобрение запуска и ресурсы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Ожидаем ускорение и стандартизацию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
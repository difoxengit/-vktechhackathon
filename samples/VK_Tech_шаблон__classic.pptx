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7" r:id="rId3"/>
    <p:sldMasterId id="2147483688" r:id="rId4"/>
  </p:sldMasterIdLst>
  <p:notesMasterIdLst>
    <p:notesMasterId r:id="rId5"/>
  </p:notesMasterIdLst>
  <p:sldIdLst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y="5143500" cx="9144000"/>
  <p:notesSz cx="6858000" cy="9144000"/>
  <p:embeddedFontLst>
    <p:embeddedFont>
      <p:font typeface="Play"/>
      <p:regular r:id="rId60"/>
      <p:bold r:id="rId6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5" Type="http://schemas.openxmlformats.org/officeDocument/2006/relationships/notesMaster" Target="notesMasters/notesMaster1.xml"/><Relationship Id="rId60" Type="http://schemas.openxmlformats.org/officeDocument/2006/relationships/font" Target="fonts/Play-regular.fntdata"/><Relationship Id="rId61" Type="http://schemas.openxmlformats.org/officeDocument/2006/relationships/font" Target="fonts/Play-bold.fntdata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Время, мин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dLbls>
          <c:numFmt formatCode="0&quot; мин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Время, мин, 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До</c:v>
                </c:pt>
                <c:pt idx="1">
                  <c:v>После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dLbls>
          <c:numFmt formatCode="0&quot; кол-во&quot;" sourceLinked="0"/>
          <c:txPr>
            <a:bodyPr wrap="none"/>
            <a:lstStyle/>
            <a:p>
              <a:pPr>
                <a:defRPr sz="1100" b="0">
                  <a:solidFill>
                    <a:srgbClr val="000000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D1D1D1"/>
              </a:solidFill>
            </a:ln>
          </c:spPr>
        </c:majorGridlines>
        <c:title>
          <c:tx>
            <c:rich>
              <a:bodyPr rot="0" vert="horz"/>
              <a:lstStyle/>
              <a:p>
                <a:pPr>
                  <a:defRPr sz="1100" b="0">
                    <a:solidFill>
                      <a:srgbClr val="000000"/>
                    </a:solidFill>
                    <a:latin typeface="Play"/>
                    <a:ea typeface="Play"/>
                    <a:cs typeface="Play"/>
                  </a:defRPr>
                </a:pPr>
                <a:r>
                  <a:t>Нарушения, кол-во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000000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dk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 " id="11" name="Google Shape;11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2" name="Google Shape;12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643"/>
            <a:ext cx="9144000" cy="514285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" name="Google Shape;13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4" name="Google Shape;14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5" name="Google Shape;15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6" name="Google Shape;16;p2"/>
          <p:cNvSpPr txBox="1"/>
          <p:nvPr>
            <p:ph type="title"/>
          </p:nvPr>
        </p:nvSpPr>
        <p:spPr>
          <a:xfrm>
            <a:off x="2473771" y="1370481"/>
            <a:ext cx="4288279" cy="80004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lay"/>
              <a:buNone/>
              <a:defRPr b="0" i="0" sz="48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7" name="Google Shape;17;p2"/>
          <p:cNvSpPr txBox="1"/>
          <p:nvPr>
            <p:ph idx="1" type="body"/>
          </p:nvPr>
        </p:nvSpPr>
        <p:spPr>
          <a:xfrm>
            <a:off x="2473770" y="2199720"/>
            <a:ext cx="4288279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3946688" y="669925"/>
            <a:ext cx="1223477" cy="385613"/>
            <a:chOff x="10555019" y="1778000"/>
            <a:chExt cx="3223574" cy="1016000"/>
          </a:xfrm>
        </p:grpSpPr>
        <p:pic>
          <p:nvPicPr>
            <p:cNvPr descr=" " id="19" name="Google Shape;19;p2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20" name="Google Shape;20;p2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Слайд &quot;Спасибо!&quot;">
  <p:cSld name="4_Слайд &quot;Спасибо!&quot;">
    <p:bg>
      <p:bgPr>
        <a:solidFill>
          <a:schemeClr val="lt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8" name="Google Shape;68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69" name="Google Shape;69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0" name="Google Shape;70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1" name="Google Shape;71;p7"/>
          <p:cNvSpPr txBox="1"/>
          <p:nvPr>
            <p:ph type="title"/>
          </p:nvPr>
        </p:nvSpPr>
        <p:spPr>
          <a:xfrm>
            <a:off x="572960" y="1682878"/>
            <a:ext cx="4373113" cy="108554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2" name="Google Shape;72;p7"/>
          <p:cNvSpPr txBox="1"/>
          <p:nvPr>
            <p:ph idx="1" type="body"/>
          </p:nvPr>
        </p:nvSpPr>
        <p:spPr>
          <a:xfrm>
            <a:off x="572960" y="2919770"/>
            <a:ext cx="4107105" cy="5029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7625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grpSp>
        <p:nvGrpSpPr>
          <p:cNvPr id="73" name="Google Shape;73;p7"/>
          <p:cNvGrpSpPr/>
          <p:nvPr/>
        </p:nvGrpSpPr>
        <p:grpSpPr>
          <a:xfrm>
            <a:off x="670220" y="679816"/>
            <a:ext cx="908903" cy="286466"/>
            <a:chOff x="10555019" y="1778000"/>
            <a:chExt cx="3223574" cy="1016000"/>
          </a:xfrm>
        </p:grpSpPr>
        <p:pic>
          <p:nvPicPr>
            <p:cNvPr descr=" " id="74" name="Google Shape;74;p7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11910145" y="1908448"/>
              <a:ext cx="1868448" cy="64050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75" name="Google Shape;75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0555019" y="1778000"/>
              <a:ext cx="1016127" cy="1016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Свободный дизайн">
  <p:cSld name="1_Свободный дизайн"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2" name="Google Shape;132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3" name="Google Shape;133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34" name="Google Shape;134;p13"/>
            <p:cNvPicPr preferRelativeResize="0"/>
            <p:nvPr/>
          </p:nvPicPr>
          <p:blipFill rotWithShape="1">
            <a:blip r:embed="rId2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35" name="Google Shape;135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36" name="Google Shape;136;p13"/>
          <p:cNvSpPr txBox="1"/>
          <p:nvPr>
            <p:ph type="title"/>
          </p:nvPr>
        </p:nvSpPr>
        <p:spPr>
          <a:xfrm>
            <a:off x="177970" y="282949"/>
            <a:ext cx="6792985" cy="72420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b="0" i="0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37" name="Google Shape;137;p13"/>
          <p:cNvSpPr/>
          <p:nvPr/>
        </p:nvSpPr>
        <p:spPr>
          <a:xfrm>
            <a:off x="4648781" y="3872384"/>
            <a:ext cx="15076786" cy="2692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138" name="Google Shape;138;p13"/>
          <p:cNvGrpSpPr/>
          <p:nvPr/>
        </p:nvGrpSpPr>
        <p:grpSpPr>
          <a:xfrm>
            <a:off x="283721" y="4713930"/>
            <a:ext cx="474349" cy="146621"/>
            <a:chOff x="762095" y="12573000"/>
            <a:chExt cx="1232613" cy="381000"/>
          </a:xfrm>
        </p:grpSpPr>
        <p:sp>
          <p:nvSpPr>
            <p:cNvPr id="139" name="Google Shape;139;p13"/>
            <p:cNvSpPr/>
            <p:nvPr/>
          </p:nvSpPr>
          <p:spPr>
            <a:xfrm>
              <a:off x="762095" y="12573000"/>
              <a:ext cx="1232613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 " id="140" name="Google Shape;140;p1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270270" y="12621921"/>
              <a:ext cx="700659" cy="2401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descr=" " id="141" name="Google Shape;141;p1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762095" y="12573000"/>
              <a:ext cx="381048" cy="381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2" Type="http://schemas.openxmlformats.org/officeDocument/2006/relationships/slideLayout" Target="../slideLayouts/slideLayout5.xml"/><Relationship Id="rId8" Type="http://schemas.openxmlformats.org/officeDocument/2006/relationships/slideLayout" Target="../slideLayouts/slideLayout11.xml"/><Relationship Id="rId3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52" r:id="rId2"/>
    <p:sldLayoutId id="2147483658" r:id="rId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23.png"/><Relationship Id="rId3" Type="http://schemas.openxmlformats.org/officeDocument/2006/relationships/image" Target="../media/image120.png"/><Relationship Id="rId4" Type="http://schemas.openxmlformats.org/officeDocument/2006/relationships/chart" Target="../charts/chart1.xml"/><Relationship Id="rId5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43.png"/><Relationship Id="rId3" Type="http://schemas.openxmlformats.org/officeDocument/2006/relationships/image" Target="../media/image160.png"/><Relationship Id="rId4" Type="http://schemas.openxmlformats.org/officeDocument/2006/relationships/chart" Target="../charts/chart2.xml"/><Relationship Id="rId5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59.pn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61.png"/><Relationship Id="rId3" Type="http://schemas.openxmlformats.org/officeDocument/2006/relationships/image" Target="../media/image52.png"/><Relationship Id="rId4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4.xml"/></Relationships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159000" y="1243485"/>
            <a:ext cx="4542261" cy="949960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2286000" y="1370485"/>
            <a:ext cx="4288261" cy="7213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ctr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Сейчас: 42 колоды, 186 мин сборки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42 колоды, 186 мин сборки одной презентации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74 мин правок после ревью дизайнера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4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4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19 из 42 колод нарушили фирменный стиль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Сервис: автоматическая вёрстка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2034088"/>
            <a:ext cx="8344814" cy="9931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Принимает шаблон pptx и материалы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Автоматически формирует дизайн-систему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Экспортирует pptx, pdf, html, слайды остаются редактируемыми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68 колод, 4 мин сборки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68 колод собраны за 6 недель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Среднее время сборки 4 мин вместо 186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до первой версии сократилось с 6 дней до 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249" name="Google Shape;2249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85748" y="3576507"/>
            <a:ext cx="2381238" cy="285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2250" name="Google Shape;225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143234" y="3576507"/>
            <a:ext cx="3762355" cy="28571"/>
          </a:xfrm>
          <a:prstGeom prst="rect">
            <a:avLst/>
          </a:prstGeom>
          <a:noFill/>
          <a:ln>
            <a:noFill/>
          </a:ln>
        </p:spPr>
      </p:pic>
      <p:sp>
        <p:nvSpPr>
          <p:cNvPr id="2251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Время сборки</a:t>
            </a:r>
          </a:p>
        </p:txBody>
      </p:sp>
      <p:graphicFrame>
        <p:nvGraphicFramePr>
          <p:cNvPr id="2252" name="Chart 2251"/>
          <p:cNvGraphicFramePr>
            <a:graphicFrameLocks noGrp="1"/>
          </p:cNvGraphicFramePr>
          <p:nvPr/>
        </p:nvGraphicFramePr>
        <p:xfrm>
          <a:off x="274320" y="1414513"/>
          <a:ext cx="7189469" cy="2161967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385" name="Google Shape;2385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88142" y="2000324"/>
            <a:ext cx="8755811" cy="9524"/>
          </a:xfrm>
          <a:prstGeom prst="rect">
            <a:avLst/>
          </a:prstGeom>
          <a:noFill/>
          <a:ln>
            <a:noFill/>
          </a:ln>
        </p:spPr>
      </p:pic>
      <p:sp>
        <p:nvSpPr>
          <p:cNvPr id="2386" name="Google Shape;2386;p88"/>
          <p:cNvSpPr/>
          <p:nvPr/>
        </p:nvSpPr>
        <p:spPr>
          <a:xfrm>
            <a:off x="319086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8" name="Google Shape;2388;p88"/>
          <p:cNvSpPr/>
          <p:nvPr/>
        </p:nvSpPr>
        <p:spPr>
          <a:xfrm>
            <a:off x="2600312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0" name="Google Shape;2390;p88"/>
          <p:cNvSpPr/>
          <p:nvPr/>
        </p:nvSpPr>
        <p:spPr>
          <a:xfrm>
            <a:off x="4881537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2" name="Google Shape;2392;p88"/>
          <p:cNvSpPr/>
          <p:nvPr/>
        </p:nvSpPr>
        <p:spPr>
          <a:xfrm>
            <a:off x="7162763" y="1286042"/>
            <a:ext cx="1690679" cy="112856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3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Нарушения фирменного стиля</a:t>
            </a:r>
          </a:p>
        </p:txBody>
      </p:sp>
      <p:graphicFrame>
        <p:nvGraphicFramePr>
          <p:cNvPr id="2394" name="Chart 2393"/>
          <p:cNvGraphicFramePr>
            <a:graphicFrameLocks noGrp="1"/>
          </p:cNvGraphicFramePr>
          <p:nvPr/>
        </p:nvGraphicFramePr>
        <p:xfrm>
          <a:off x="274320" y="2009822"/>
          <a:ext cx="8344814" cy="216027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descr=" " id="2428" name="Google Shape;2428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2732082"/>
            <a:ext cx="8515008" cy="92615"/>
          </a:xfrm>
          <a:prstGeom prst="rect">
            <a:avLst/>
          </a:prstGeom>
          <a:noFill/>
          <a:ln>
            <a:noFill/>
          </a:ln>
        </p:spPr>
      </p:pic>
      <p:sp>
        <p:nvSpPr>
          <p:cNvPr id="2429" name="Google Shape;2429;p89"/>
          <p:cNvSpPr/>
          <p:nvPr/>
        </p:nvSpPr>
        <p:spPr>
          <a:xfrm>
            <a:off x="553415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1" name="Google Shape;2431;p89"/>
          <p:cNvSpPr/>
          <p:nvPr/>
        </p:nvSpPr>
        <p:spPr>
          <a:xfrm>
            <a:off x="3565736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3" name="Google Shape;2433;p89"/>
          <p:cNvSpPr/>
          <p:nvPr/>
        </p:nvSpPr>
        <p:spPr>
          <a:xfrm>
            <a:off x="6578067" y="1828897"/>
            <a:ext cx="2232516" cy="149025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4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Пилот: 6 недель, 2 команды</a:t>
            </a:r>
          </a:p>
        </p:txBody>
      </p:sp>
      <p:sp>
        <p:nvSpPr>
          <p:cNvPr id="2435" name="body"/>
          <p:cNvSpPr txBox="1"/>
          <p:nvPr/>
        </p:nvSpPr>
        <p:spPr>
          <a:xfrm>
            <a:off x="274320" y="1414513"/>
            <a:ext cx="8344814" cy="90043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2 недели подготовки и обучения команд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Запуск пилота на 2 командах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Аудит качества проверяет все числа</a:t>
            </a:r>
          </a:p>
          <a:p>
            <a:pPr algn="l">
              <a:spcAft>
                <a:spcPts val="300"/>
              </a:spcAft>
              <a:defRPr sz="1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Экспорт готовых колод в pptx, pdf, html</a:t>
            </a:r>
          </a:p>
        </p:txBody>
      </p:sp>
      <p:sp>
        <p:nvSpPr>
          <p:cNvPr id="2436" name="Pentagon 2435"/>
          <p:cNvSpPr/>
          <p:nvPr/>
        </p:nvSpPr>
        <p:spPr>
          <a:xfrm>
            <a:off x="274320" y="2070125"/>
            <a:ext cx="2011100" cy="661947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Подготовка</a:t>
            </a:r>
          </a:p>
        </p:txBody>
      </p:sp>
      <p:sp>
        <p:nvSpPr>
          <p:cNvPr id="2437" name="Chevron 2436"/>
          <p:cNvSpPr/>
          <p:nvPr/>
        </p:nvSpPr>
        <p:spPr>
          <a:xfrm>
            <a:off x="2385557" y="2070125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Запуск</a:t>
            </a:r>
          </a:p>
        </p:txBody>
      </p:sp>
      <p:sp>
        <p:nvSpPr>
          <p:cNvPr id="2438" name="Chevron 2437"/>
          <p:cNvSpPr/>
          <p:nvPr/>
        </p:nvSpPr>
        <p:spPr>
          <a:xfrm>
            <a:off x="4496795" y="2070125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</a:t>
            </a:r>
          </a:p>
        </p:txBody>
      </p:sp>
      <p:sp>
        <p:nvSpPr>
          <p:cNvPr id="2439" name="Chevron 2438"/>
          <p:cNvSpPr/>
          <p:nvPr/>
        </p:nvSpPr>
        <p:spPr>
          <a:xfrm>
            <a:off x="6608033" y="2070125"/>
            <a:ext cx="2011100" cy="661947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1336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336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32" name="Google Shape;532;p53"/>
          <p:cNvSpPr/>
          <p:nvPr/>
        </p:nvSpPr>
        <p:spPr>
          <a:xfrm>
            <a:off x="303214" y="1022533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3" name="Google Shape;533;p53"/>
          <p:cNvSpPr/>
          <p:nvPr/>
        </p:nvSpPr>
        <p:spPr>
          <a:xfrm>
            <a:off x="303214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3"/>
          <p:cNvSpPr/>
          <p:nvPr/>
        </p:nvSpPr>
        <p:spPr>
          <a:xfrm>
            <a:off x="2067385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1" name="Google Shape;541;p53"/>
          <p:cNvSpPr/>
          <p:nvPr/>
        </p:nvSpPr>
        <p:spPr>
          <a:xfrm>
            <a:off x="3831556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53"/>
          <p:cNvSpPr/>
          <p:nvPr/>
        </p:nvSpPr>
        <p:spPr>
          <a:xfrm>
            <a:off x="559572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53"/>
          <p:cNvSpPr/>
          <p:nvPr/>
        </p:nvSpPr>
        <p:spPr>
          <a:xfrm>
            <a:off x="7359897" y="1022533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" name="Google Shape;553;p53"/>
          <p:cNvSpPr/>
          <p:nvPr/>
        </p:nvSpPr>
        <p:spPr>
          <a:xfrm>
            <a:off x="276488" y="29555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3"/>
          <p:cNvSpPr/>
          <p:nvPr/>
        </p:nvSpPr>
        <p:spPr>
          <a:xfrm>
            <a:off x="303214" y="2797849"/>
            <a:ext cx="8451939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53"/>
          <p:cNvSpPr/>
          <p:nvPr/>
        </p:nvSpPr>
        <p:spPr>
          <a:xfrm>
            <a:off x="303214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9" name="Google Shape;559;p53"/>
          <p:cNvSpPr/>
          <p:nvPr/>
        </p:nvSpPr>
        <p:spPr>
          <a:xfrm>
            <a:off x="2067385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3"/>
          <p:cNvSpPr/>
          <p:nvPr/>
        </p:nvSpPr>
        <p:spPr>
          <a:xfrm>
            <a:off x="3831556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7" name="Google Shape;567;p53"/>
          <p:cNvSpPr/>
          <p:nvPr/>
        </p:nvSpPr>
        <p:spPr>
          <a:xfrm>
            <a:off x="559572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53"/>
          <p:cNvSpPr/>
          <p:nvPr/>
        </p:nvSpPr>
        <p:spPr>
          <a:xfrm>
            <a:off x="7359897" y="2797849"/>
            <a:ext cx="1395256" cy="1433588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2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Ресурсы и сроки</a:t>
            </a:r>
          </a:p>
        </p:txBody>
      </p:sp>
      <p:sp>
        <p:nvSpPr>
          <p:cNvPr id="573" name="body"/>
          <p:cNvSpPr txBox="1"/>
          <p:nvPr/>
        </p:nvSpPr>
        <p:spPr>
          <a:xfrm>
            <a:off x="274320" y="1891002"/>
            <a:ext cx="8344814" cy="142240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Сервис работает на 2 vCPU / 2 ГБ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Инференс за 6 недель стоит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План: Q3 2026 подключить 4 команды, домен и HTTPS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Q4 2026 доступ для всей компании, интеграция с хранилищем</a:t>
            </a:r>
          </a:p>
          <a:p>
            <a:pPr algn="l">
              <a:spcAft>
                <a:spcPts val="300"/>
              </a:spcAft>
              <a:defRPr sz="16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000000"/>
                </a:solidFill>
                <a:latin typeface="Play"/>
                <a:ea typeface="Play"/>
                <a:cs typeface="Play"/>
              </a:rPr>
              <a:t>• Q1 2027 генерация иллюстраций под стиль шаблона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7" name="Google Shape;1027;p65"/>
          <p:cNvSpPr/>
          <p:nvPr/>
        </p:nvSpPr>
        <p:spPr>
          <a:xfrm>
            <a:off x="6064222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28" name="Google Shape;102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03313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29" name="Google Shape;1029;p65"/>
          <p:cNvSpPr/>
          <p:nvPr/>
        </p:nvSpPr>
        <p:spPr>
          <a:xfrm>
            <a:off x="3174981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0" name="Google Shape;1030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10249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sp>
        <p:nvSpPr>
          <p:cNvPr id="1031" name="Google Shape;1031;p65"/>
          <p:cNvSpPr/>
          <p:nvPr/>
        </p:nvSpPr>
        <p:spPr>
          <a:xfrm>
            <a:off x="285749" y="1209852"/>
            <a:ext cx="2793985" cy="3014270"/>
          </a:xfrm>
          <a:prstGeom prst="roundRect">
            <a:avLst>
              <a:gd fmla="val 3436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2" name="Google Shape;1032;p65"/>
          <p:cNvSpPr/>
          <p:nvPr/>
        </p:nvSpPr>
        <p:spPr>
          <a:xfrm>
            <a:off x="285748" y="286047"/>
            <a:ext cx="8572456" cy="3938075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3" name="Google Shape;1033;p65"/>
          <p:cNvSpPr/>
          <p:nvPr/>
        </p:nvSpPr>
        <p:spPr>
          <a:xfrm>
            <a:off x="285748" y="1209852"/>
            <a:ext cx="8572456" cy="301427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4" name="Google Shape;1034;p65"/>
          <p:cNvSpPr/>
          <p:nvPr/>
        </p:nvSpPr>
        <p:spPr>
          <a:xfrm>
            <a:off x="476248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5" name="Google Shape;1035;p65"/>
          <p:cNvSpPr/>
          <p:nvPr/>
        </p:nvSpPr>
        <p:spPr>
          <a:xfrm>
            <a:off x="476248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7" name="Google Shape;1037;p65"/>
          <p:cNvSpPr/>
          <p:nvPr/>
        </p:nvSpPr>
        <p:spPr>
          <a:xfrm>
            <a:off x="2422509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38" name="Google Shape;1038;p6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422506" y="3566983"/>
            <a:ext cx="466723" cy="46666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039" name="Google Shape;103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5859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0" name="Google Shape;1040;p65"/>
          <p:cNvSpPr/>
          <p:nvPr/>
        </p:nvSpPr>
        <p:spPr>
          <a:xfrm>
            <a:off x="3365480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1" name="Google Shape;1041;p65"/>
          <p:cNvSpPr/>
          <p:nvPr/>
        </p:nvSpPr>
        <p:spPr>
          <a:xfrm>
            <a:off x="3365480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3" name="Google Shape;1043;p65"/>
          <p:cNvSpPr/>
          <p:nvPr/>
        </p:nvSpPr>
        <p:spPr>
          <a:xfrm>
            <a:off x="5311741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4" name="Google Shape;1044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445091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45" name="Google Shape;1045;p65"/>
          <p:cNvSpPr/>
          <p:nvPr/>
        </p:nvSpPr>
        <p:spPr>
          <a:xfrm>
            <a:off x="6254721" y="1400327"/>
            <a:ext cx="2412987" cy="1009519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6" name="Google Shape;1046;p65"/>
          <p:cNvSpPr/>
          <p:nvPr/>
        </p:nvSpPr>
        <p:spPr>
          <a:xfrm>
            <a:off x="6254721" y="1400328"/>
            <a:ext cx="76199" cy="76190"/>
          </a:xfrm>
          <a:prstGeom prst="roundRect">
            <a:avLst>
              <a:gd fmla="val 31500" name="adj"/>
            </a:avLst>
          </a:prstGeom>
          <a:solidFill>
            <a:srgbClr val="0077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8" name="Google Shape;1048;p65"/>
          <p:cNvSpPr/>
          <p:nvPr/>
        </p:nvSpPr>
        <p:spPr>
          <a:xfrm>
            <a:off x="8200982" y="3566983"/>
            <a:ext cx="466723" cy="466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 " id="1049" name="Google Shape;10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34332" y="3700316"/>
            <a:ext cx="200024" cy="199999"/>
          </a:xfrm>
          <a:prstGeom prst="rect">
            <a:avLst/>
          </a:prstGeom>
          <a:noFill/>
          <a:ln>
            <a:noFill/>
          </a:ln>
        </p:spPr>
      </p:pic>
      <p:sp>
        <p:nvSpPr>
          <p:cNvPr id="1050" name="title"/>
          <p:cNvSpPr txBox="1"/>
          <p:nvPr/>
        </p:nvSpPr>
        <p:spPr>
          <a:xfrm>
            <a:off x="274320" y="282943"/>
            <a:ext cx="6792986" cy="6172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438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2438">
                <a:solidFill>
                  <a:srgbClr val="000000"/>
                </a:solidFill>
                <a:latin typeface="Play"/>
                <a:ea typeface="Play"/>
                <a:cs typeface="Play"/>
              </a:rPr>
              <a:t>Риски</a:t>
            </a:r>
          </a:p>
        </p:txBody>
      </p:sp>
      <p:sp>
        <p:nvSpPr>
          <p:cNvPr id="1051" name="card_0"/>
          <p:cNvSpPr txBox="1"/>
          <p:nvPr/>
        </p:nvSpPr>
        <p:spPr>
          <a:xfrm>
            <a:off x="576030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Модель может выдумать цифры, аудит проверяет источники</a:t>
            </a:r>
          </a:p>
        </p:txBody>
      </p:sp>
      <p:sp>
        <p:nvSpPr>
          <p:cNvPr id="1052" name="card_1"/>
          <p:cNvSpPr txBox="1"/>
          <p:nvPr/>
        </p:nvSpPr>
        <p:spPr>
          <a:xfrm>
            <a:off x="346525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Плохой шаблон приводит к использованию рабочей области</a:t>
            </a:r>
          </a:p>
        </p:txBody>
      </p:sp>
      <p:sp>
        <p:nvSpPr>
          <p:cNvPr id="1053" name="card_2"/>
          <p:cNvSpPr txBox="1"/>
          <p:nvPr/>
        </p:nvSpPr>
        <p:spPr>
          <a:xfrm>
            <a:off x="6354489" y="1728705"/>
            <a:ext cx="2264138" cy="63213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200" b="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000000"/>
                </a:solidFill>
                <a:latin typeface="Play"/>
                <a:ea typeface="Play"/>
                <a:cs typeface="Play"/>
              </a:rPr>
              <a:t>Нагрузка выше 20 задач требует внешней очереди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45963" y="1555901"/>
            <a:ext cx="8300171" cy="2610802"/>
          </a:xfrm>
          <a:prstGeom prst="roundRect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72963" y="1682901"/>
            <a:ext cx="4373118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000000"/>
                </a:solidFill>
                <a:latin typeface="Play"/>
                <a:ea typeface="Play"/>
                <a:cs typeface="Play"/>
              </a:rPr>
              <a:t>Решение: запуск на всю компанию</a:t>
            </a:r>
          </a:p>
        </p:txBody>
      </p:sp>
      <p:sp>
        <p:nvSpPr>
          <p:cNvPr id="4" name="body"/>
          <p:cNvSpPr txBox="1"/>
          <p:nvPr/>
        </p:nvSpPr>
        <p:spPr>
          <a:xfrm>
            <a:off x="572963" y="3046564"/>
            <a:ext cx="8046171" cy="137684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Попросить решение о запуске на всю компанию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Ожидаем сокращения времени сборки до 4 мин</a:t>
            </a:r>
          </a:p>
          <a:p>
            <a:pPr algn="l">
              <a:spcAft>
                <a:spcPts val="300"/>
              </a:spcAft>
              <a:defRPr sz="1800">
                <a:solidFill>
                  <a:srgbClr val="000000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000000"/>
                </a:solidFill>
                <a:latin typeface="Play"/>
                <a:ea typeface="Play"/>
                <a:cs typeface="Play"/>
              </a:rPr>
              <a:t>• Планируем интеграцию с корпоративными системами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VK Tech">
  <a:themeElements>
    <a:clrScheme name="Пользовательские 5">
      <a:dk1>
        <a:srgbClr val="000000"/>
      </a:dk1>
      <a:lt1>
        <a:srgbClr val="FAFCFF"/>
      </a:lt1>
      <a:dk2>
        <a:srgbClr val="001515"/>
      </a:dk2>
      <a:lt2>
        <a:srgbClr val="FEFFFF"/>
      </a:lt2>
      <a:accent1>
        <a:srgbClr val="0077FF"/>
      </a:accent1>
      <a:accent2>
        <a:srgbClr val="FFFFFF"/>
      </a:accent2>
      <a:accent3>
        <a:srgbClr val="FF3885"/>
      </a:accent3>
      <a:accent4>
        <a:srgbClr val="202020"/>
      </a:accent4>
      <a:accent5>
        <a:srgbClr val="F7FAFE"/>
      </a:accent5>
      <a:accent6>
        <a:srgbClr val="D6ECFF"/>
      </a:accent6>
      <a:hlink>
        <a:srgbClr val="0563C1"/>
      </a:hlink>
      <a:folHlink>
        <a:srgbClr val="FE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
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87" r:id="rId3"/>
    <p:sldMasterId id="2147483688" r:id="rId4"/>
  </p:sldMasterIdLst>
  <p:notesMasterIdLst>
    <p:notesMasterId r:id="rId5"/>
  </p:notesMasterIdLst>
  <p:sldIdLst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</p:sldIdLst>
  <p:sldSz cy="5143500" cx="9144000"/>
  <p:notesSz cx="6858000" cy="9144000"/>
  <p:embeddedFontLst>
    <p:embeddedFont>
      <p:font typeface="Play"/>
      <p:regular r:id="rId60"/>
      <p:bold r:id="rId6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5" Type="http://schemas.openxmlformats.org/officeDocument/2006/relationships/notesMaster" Target="notesMasters/notesMaster1.xml"/><Relationship Id="rId60" Type="http://schemas.openxmlformats.org/officeDocument/2006/relationships/font" Target="fonts/Play-regular.fntdata"/><Relationship Id="rId61" Type="http://schemas.openxmlformats.org/officeDocument/2006/relationships/font" Target="fonts/Play-bold.fntdata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Кол-во</c:v>
                </c:pt>
              </c:strCache>
            </c:strRef>
          </c:tx>
          <c:spPr>
            <a:solidFill>
              <a:srgbClr val="0077FF"/>
            </a:solidFill>
            <a:ln>
              <a:solidFill>
                <a:srgbClr val="0077FF"/>
              </a:solidFill>
            </a:ln>
          </c:spPr>
          <c:cat>
            <c:strRef>
              <c:f>Sheet1!$A$2:$A$3</c:f>
              <c:strCache>
                <c:ptCount val="2"/>
                <c:pt idx="0">
                  <c:v>Запросы</c:v>
                </c:pt>
                <c:pt idx="1">
                  <c:v>Закрыто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27.0</c:v>
                </c:pt>
                <c:pt idx="1">
                  <c:v>11.0</c:v>
                </c:pt>
              </c:numCache>
            </c:numRef>
          </c:val>
        </c:ser>
        <c:dLbls>
          <c:numFmt formatCode="0&quot; запросов&quot;" sourceLinked="0"/>
          <c:txPr>
            <a:bodyPr wrap="none"/>
            <a:lstStyle/>
            <a:p>
              <a:pPr>
                <a:defRPr sz="1100" b="0">
                  <a:solidFill>
                    <a:srgbClr val="000000"/>
                  </a:solidFill>
                  <a:latin typeface="Play"/>
                  <a:ea typeface="Play"/>
                  <a:cs typeface="Play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D1D1D1"/>
              </a:solidFill>
            </a:ln>
          </c:spPr>
        </c:majorGridlines>
        <c:title>
          <c:tx>
            <c:rich>
              <a:bodyPr rot="0" vert="horz"/>
              <a:lstStyle/>
              <a:p>
                <a:pPr>
                  <a:defRPr sz="1100" b="0">
                    <a:solidFill>
                      <a:srgbClr val="000000"/>
                    </a:solidFill>
                    <a:latin typeface="Play"/>
                    <a:ea typeface="Play"/>
                    <a:cs typeface="Play"/>
                  </a:defRPr>
                </a:pPr>
                <a:r>
                  <a:t>Кол-во, запросов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000000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Время</c:v>
                </c:pt>
              </c:strCache>
            </c:strRef>
          </c:tx>
          <c:spPr>
            <a:solidFill>
              <a:srgbClr val="0077FF"/>
            </a:solidFill>
            <a:ln>
              <a:solidFill>
                <a:srgbClr val="0077FF"/>
              </a:solidFill>
            </a:ln>
          </c:spPr>
          <c:cat>
            <c:strRef>
              <c:f>Sheet1!$A$2:$A$3</c:f>
              <c:strCache>
                <c:ptCount val="2"/>
                <c:pt idx="0">
                  <c:v>Сейчас</c:v>
                </c:pt>
                <c:pt idx="1">
                  <c:v>Сервис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186.0</c:v>
                </c:pt>
                <c:pt idx="1">
                  <c:v>4.0</c:v>
                </c:pt>
              </c:numCache>
            </c:numRef>
          </c:val>
        </c:ser>
        <c:dLbls>
          <c:numFmt formatCode="0&quot; мин&quot;" sourceLinked="0"/>
          <c:txPr>
            <a:bodyPr wrap="none"/>
            <a:lstStyle/>
            <a:p>
              <a:pPr>
                <a:defRPr sz="1100" b="0">
                  <a:solidFill>
                    <a:srgbClr val="000000"/>
                  </a:solidFill>
                  <a:latin typeface="Play"/>
                  <a:ea typeface="Play"/>
                  <a:cs typeface="Play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D1D1D1"/>
              </a:solidFill>
            </a:ln>
          </c:spPr>
        </c:majorGridlines>
        <c:title>
          <c:tx>
            <c:rich>
              <a:bodyPr rot="0" vert="horz"/>
              <a:lstStyle/>
              <a:p>
                <a:pPr>
                  <a:defRPr sz="1100" b="0">
                    <a:solidFill>
                      <a:srgbClr val="000000"/>
                    </a:solidFill>
                    <a:latin typeface="Play"/>
                    <a:ea typeface="Play"/>
                    <a:cs typeface="Play"/>
                  </a:defRPr>
                </a:pPr>
                <a:r>
                  <a:t>Время, мин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000000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Нарушения</c:v>
                </c:pt>
              </c:strCache>
            </c:strRef>
          </c:tx>
          <c:spPr>
            <a:solidFill>
              <a:srgbClr val="0077FF"/>
            </a:solidFill>
            <a:ln>
              <a:solidFill>
                <a:srgbClr val="0077FF"/>
              </a:solidFill>
            </a:ln>
          </c:spPr>
          <c:cat>
            <c:strRef>
              <c:f>Sheet1!$A$2:$A$3</c:f>
              <c:strCache>
                <c:ptCount val="2"/>
                <c:pt idx="0">
                  <c:v>Сейчас</c:v>
                </c:pt>
                <c:pt idx="1">
                  <c:v>Сервис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19.0</c:v>
                </c:pt>
                <c:pt idx="1">
                  <c:v>2.0</c:v>
                </c:pt>
              </c:numCache>
            </c:numRef>
          </c:val>
        </c:ser>
        <c:dLbls>
          <c:numFmt formatCode="0&quot; колод&quot;" sourceLinked="0"/>
          <c:txPr>
            <a:bodyPr wrap="none"/>
            <a:lstStyle/>
            <a:p>
              <a:pPr>
                <a:defRPr sz="1100" b="0">
                  <a:solidFill>
                    <a:srgbClr val="000000"/>
                  </a:solidFill>
                  <a:latin typeface="Play"/>
                  <a:ea typeface="Play"/>
                  <a:cs typeface="Play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D1D1D1"/>
              </a:solidFill>
            </a:ln>
          </c:spPr>
        </c:majorGridlines>
        <c:title>
          <c:tx>
            <c:rich>
              <a:bodyPr rot="0" vert="horz"/>
              <a:lstStyle/>
              <a:p>
                <a:pPr>
                  <a:defRPr sz="1100" b="0">
                    <a:solidFill>
                      <a:srgbClr val="000000"/>
                    </a:solidFill>
                    <a:latin typeface="Play"/>
                    <a:ea typeface="Play"/>
                    <a:cs typeface="Play"/>
                  </a:defRPr>
                </a:pPr>
                <a:r>
                  <a:t>Нарушения, колод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000000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Запросы</c:v>
                </c:pt>
              </c:strCache>
            </c:strRef>
          </c:tx>
          <c:spPr>
            <a:solidFill>
              <a:srgbClr val="0077FF"/>
            </a:solidFill>
            <a:ln>
              <a:solidFill>
                <a:srgbClr val="0077FF"/>
              </a:solidFill>
            </a:ln>
          </c:spPr>
          <c:cat>
            <c:strRef>
              <c:f>Sheet1!$A$2:$A$3</c:f>
              <c:strCache>
                <c:ptCount val="2"/>
                <c:pt idx="0">
                  <c:v>Сейчас</c:v>
                </c:pt>
                <c:pt idx="1">
                  <c:v>Сервис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11.0</c:v>
                </c:pt>
                <c:pt idx="1">
                  <c:v>38.0</c:v>
                </c:pt>
              </c:numCache>
            </c:numRef>
          </c:val>
        </c:ser>
        <c:dLbls>
          <c:numFmt formatCode="0&quot; запросов&quot;" sourceLinked="0"/>
          <c:txPr>
            <a:bodyPr wrap="none"/>
            <a:lstStyle/>
            <a:p>
              <a:pPr>
                <a:defRPr sz="1100" b="0">
                  <a:solidFill>
                    <a:srgbClr val="000000"/>
                  </a:solidFill>
                  <a:latin typeface="Play"/>
                  <a:ea typeface="Play"/>
                  <a:cs typeface="Play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D1D1D1"/>
              </a:solidFill>
            </a:ln>
          </c:spPr>
        </c:majorGridlines>
        <c:title>
          <c:tx>
            <c:rich>
              <a:bodyPr rot="0" vert="horz"/>
              <a:lstStyle/>
              <a:p>
                <a:pPr>
                  <a:defRPr sz="1100" b="0">
                    <a:solidFill>
                      <a:srgbClr val="000000"/>
                    </a:solidFill>
                    <a:latin typeface="Play"/>
                    <a:ea typeface="Play"/>
                    <a:cs typeface="Play"/>
                  </a:defRPr>
                </a:pPr>
                <a:r>
                  <a:t>Запросы, запросов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000000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9.png"/><Relationship Id="rId4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11.png"/><Relationship Id="rId4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Титульный слайд">
  <p:cSld name="1_Титульный слайд">
    <p:bg>
      <p:bgPr>
        <a:solidFill>
          <a:schemeClr val="dk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11" name="Google Shape;11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43"/>
            <a:ext cx="9144000" cy="514285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2" name="Google Shape;12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43"/>
            <a:ext cx="9144000" cy="514285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3" name="Google Shape;13;p2"/>
          <p:cNvGrpSpPr/>
          <p:nvPr/>
        </p:nvGrpSpPr>
        <p:grpSpPr>
          <a:xfrm>
            <a:off x="3946688" y="669925"/>
            <a:ext cx="1223477" cy="385613"/>
            <a:chOff x="10555019" y="1778000"/>
            <a:chExt cx="3223574" cy="1016000"/>
          </a:xfrm>
        </p:grpSpPr>
        <p:pic>
          <p:nvPicPr>
            <p:cNvPr descr=" " id="14" name="Google Shape;14;p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5" name="Google Shape;15;p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6" name="Google Shape;16;p2"/>
          <p:cNvSpPr txBox="1"/>
          <p:nvPr>
            <p:ph type="title"/>
          </p:nvPr>
        </p:nvSpPr>
        <p:spPr>
          <a:xfrm>
            <a:off x="2473771" y="1370481"/>
            <a:ext cx="4288279" cy="80004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Play"/>
              <a:buNone/>
              <a:defRPr b="0" i="0" sz="48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7" name="Google Shape;17;p2"/>
          <p:cNvSpPr txBox="1"/>
          <p:nvPr>
            <p:ph idx="1" type="body"/>
          </p:nvPr>
        </p:nvSpPr>
        <p:spPr>
          <a:xfrm>
            <a:off x="2473770" y="219972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18" name="Google Shape;18;p2"/>
          <p:cNvGrpSpPr/>
          <p:nvPr/>
        </p:nvGrpSpPr>
        <p:grpSpPr>
          <a:xfrm>
            <a:off x="3946688" y="669925"/>
            <a:ext cx="1223477" cy="385613"/>
            <a:chOff x="10555019" y="1778000"/>
            <a:chExt cx="3223574" cy="1016000"/>
          </a:xfrm>
        </p:grpSpPr>
        <p:pic>
          <p:nvPicPr>
            <p:cNvPr descr=" " id="19" name="Google Shape;19;p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0" name="Google Shape;20;p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Слайд &quot;Спасибо!&quot;">
  <p:cSld name="4_Слайд &quot;Спасибо!&quot;">
    <p:bg>
      <p:bgPr>
        <a:solidFill>
          <a:schemeClr val="lt1"/>
        </a:solid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" name="Google Shape;67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8" name="Google Shape;68;p7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69" name="Google Shape;69;p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70" name="Google Shape;70;p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71" name="Google Shape;71;p7"/>
          <p:cNvSpPr txBox="1"/>
          <p:nvPr>
            <p:ph type="title"/>
          </p:nvPr>
        </p:nvSpPr>
        <p:spPr>
          <a:xfrm>
            <a:off x="572960" y="1682878"/>
            <a:ext cx="4373113" cy="108554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2" name="Google Shape;72;p7"/>
          <p:cNvSpPr txBox="1"/>
          <p:nvPr>
            <p:ph idx="1" type="body"/>
          </p:nvPr>
        </p:nvSpPr>
        <p:spPr>
          <a:xfrm>
            <a:off x="572960" y="2919770"/>
            <a:ext cx="4107105" cy="5029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7625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73" name="Google Shape;73;p7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74" name="Google Shape;74;p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75" name="Google Shape;75;p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Свободный дизайн">
  <p:cSld name="1_Свободный дизайн"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"/>
          <p:cNvSpPr/>
          <p:nvPr/>
        </p:nvSpPr>
        <p:spPr>
          <a:xfrm>
            <a:off x="4648781" y="3872384"/>
            <a:ext cx="15076786" cy="26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32" name="Google Shape;132;p13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33" name="Google Shape;133;p13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34" name="Google Shape;134;p13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35" name="Google Shape;135;p1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36" name="Google Shape;136;p13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37" name="Google Shape;137;p13"/>
          <p:cNvSpPr/>
          <p:nvPr/>
        </p:nvSpPr>
        <p:spPr>
          <a:xfrm>
            <a:off x="4648781" y="3872384"/>
            <a:ext cx="15076786" cy="26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38" name="Google Shape;138;p13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39" name="Google Shape;139;p13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40" name="Google Shape;140;p1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41" name="Google Shape;141;p1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5.xml"/><Relationship Id="rId8" Type="http://schemas.openxmlformats.org/officeDocument/2006/relationships/slideLayout" Target="../slideLayouts/slideLayout11.xml"/><Relationship Id="rId37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52" r:id="rId2"/>
    <p:sldLayoutId id="2147483658" r:id="rId8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43.png"/><Relationship Id="rId3" Type="http://schemas.openxmlformats.org/officeDocument/2006/relationships/image" Target="../media/image160.png"/><Relationship Id="rId4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23.png"/><Relationship Id="rId3" Type="http://schemas.openxmlformats.org/officeDocument/2006/relationships/image" Target="../media/image120.png"/><Relationship Id="rId4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59.png"/><Relationship Id="rId3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61.png"/><Relationship Id="rId3" Type="http://schemas.openxmlformats.org/officeDocument/2006/relationships/image" Target="../media/image52.png"/><Relationship Id="rId4" Type="http://schemas.openxmlformats.org/officeDocument/2006/relationships/chart" Target="../charts/chart2.xml"/><Relationship Id="rId5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43.png"/><Relationship Id="rId3" Type="http://schemas.openxmlformats.org/officeDocument/2006/relationships/image" Target="../media/image160.png"/><Relationship Id="rId4" Type="http://schemas.openxmlformats.org/officeDocument/2006/relationships/chart" Target="../charts/chart3.xml"/><Relationship Id="rId5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chart" Target="../charts/chart4.xml"/><Relationship Id="rId3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23.png"/><Relationship Id="rId3" Type="http://schemas.openxmlformats.org/officeDocument/2006/relationships/image" Target="../media/image120.png"/><Relationship Id="rId4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6.xml"/></Relationships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473726" y="1370485"/>
            <a:ext cx="4288261" cy="800071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ctr">
              <a:spcAft>
                <a:spcPts val="300"/>
              </a:spcAft>
              <a:defRPr sz="18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8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Автоматическая вёрстка презентаций: инициатива запуска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74320" y="282943"/>
            <a:ext cx="6792986" cy="932027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38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38">
                <a:solidFill>
                  <a:srgbClr val="000000"/>
                </a:solidFill>
                <a:latin typeface="Play"/>
                <a:ea typeface="Play"/>
                <a:cs typeface="Play"/>
              </a:rPr>
              <a:t>Контекст и возможность: ручная сборка 42 колод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274320" y="1394994"/>
            <a:ext cx="8344814" cy="39878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Средний срок ожидания в очереди – 6 рабочих дней</a:t>
            </a:r>
          </a:p>
        </p:txBody>
      </p:sp>
      <p:sp>
        <p:nvSpPr>
          <p:cNvPr id="4" name="stat_0:bar"/>
          <p:cNvSpPr/>
          <p:nvPr/>
        </p:nvSpPr>
        <p:spPr>
          <a:xfrm>
            <a:off x="274320" y="2009915"/>
            <a:ext cx="50800" cy="2252262"/>
          </a:xfrm>
          <a:prstGeom prst="rect">
            <a:avLst/>
          </a:prstGeom>
          <a:solidFill>
            <a:srgbClr val="00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stat_0"/>
          <p:cNvSpPr txBox="1"/>
          <p:nvPr/>
        </p:nvSpPr>
        <p:spPr>
          <a:xfrm>
            <a:off x="452119" y="1948079"/>
            <a:ext cx="1658059" cy="2314098"/>
          </a:xfrm>
          <a:prstGeom prst="rect">
            <a:avLst/>
          </a:prstGeom>
          <a:noFill/>
        </p:spPr>
        <p:txBody>
          <a:bodyPr wrap="square" lIns="76200" rIns="76200" tIns="0" bIns="0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  <a:defRPr sz="2705" b="1">
                <a:solidFill>
                  <a:srgbClr val="0077FF"/>
                </a:solidFill>
                <a:latin typeface="Play"/>
                <a:ea typeface="Play"/>
                <a:cs typeface="Play"/>
              </a:defRPr>
            </a:pPr>
            <a:r>
              <a:rPr sz="2705" b="1">
                <a:solidFill>
                  <a:srgbClr val="0077FF"/>
                </a:solidFill>
                <a:latin typeface="Play"/>
                <a:ea typeface="Play"/>
                <a:cs typeface="Play"/>
              </a:rPr>
              <a:t>186 мин</a:t>
            </a:r>
          </a:p>
          <a:p>
            <a:pPr>
              <a:spcAft>
                <a:spcPts val="300"/>
              </a:spcAft>
              <a:defRPr sz="18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42 колоды за квартал: 186 мин на сборку 12-слайдной презентации</a:t>
            </a:r>
          </a:p>
        </p:txBody>
      </p:sp>
      <p:sp>
        <p:nvSpPr>
          <p:cNvPr id="6" name="stat_1:bar"/>
          <p:cNvSpPr/>
          <p:nvPr/>
        </p:nvSpPr>
        <p:spPr>
          <a:xfrm>
            <a:off x="2443971" y="2009915"/>
            <a:ext cx="50800" cy="1657902"/>
          </a:xfrm>
          <a:prstGeom prst="rect">
            <a:avLst/>
          </a:prstGeom>
          <a:solidFill>
            <a:srgbClr val="00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stat_1"/>
          <p:cNvSpPr txBox="1"/>
          <p:nvPr/>
        </p:nvSpPr>
        <p:spPr>
          <a:xfrm>
            <a:off x="2621771" y="1948079"/>
            <a:ext cx="1658059" cy="1719738"/>
          </a:xfrm>
          <a:prstGeom prst="rect">
            <a:avLst/>
          </a:prstGeom>
          <a:noFill/>
        </p:spPr>
        <p:txBody>
          <a:bodyPr wrap="square" lIns="76200" rIns="76200" tIns="0" bIns="0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  <a:defRPr sz="2705" b="1">
                <a:solidFill>
                  <a:srgbClr val="0077FF"/>
                </a:solidFill>
                <a:latin typeface="Play"/>
                <a:ea typeface="Play"/>
                <a:cs typeface="Play"/>
              </a:defRPr>
            </a:pPr>
            <a:r>
              <a:rPr sz="2705" b="1">
                <a:solidFill>
                  <a:srgbClr val="0077FF"/>
                </a:solidFill>
                <a:latin typeface="Play"/>
                <a:ea typeface="Play"/>
                <a:cs typeface="Play"/>
              </a:rPr>
              <a:t>74 мин</a:t>
            </a:r>
          </a:p>
          <a:p>
            <a:pPr>
              <a:spcAft>
                <a:spcPts val="300"/>
              </a:spcAft>
              <a:defRPr sz="18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74 мин на правки после ревью дизайнера</a:t>
            </a:r>
          </a:p>
        </p:txBody>
      </p:sp>
      <p:sp>
        <p:nvSpPr>
          <p:cNvPr id="8" name="stat_2:bar"/>
          <p:cNvSpPr/>
          <p:nvPr/>
        </p:nvSpPr>
        <p:spPr>
          <a:xfrm>
            <a:off x="4613623" y="2009915"/>
            <a:ext cx="50800" cy="2252262"/>
          </a:xfrm>
          <a:prstGeom prst="rect">
            <a:avLst/>
          </a:prstGeom>
          <a:solidFill>
            <a:srgbClr val="00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stat_2"/>
          <p:cNvSpPr txBox="1"/>
          <p:nvPr/>
        </p:nvSpPr>
        <p:spPr>
          <a:xfrm>
            <a:off x="4791423" y="1948079"/>
            <a:ext cx="1658059" cy="2314098"/>
          </a:xfrm>
          <a:prstGeom prst="rect">
            <a:avLst/>
          </a:prstGeom>
          <a:noFill/>
        </p:spPr>
        <p:txBody>
          <a:bodyPr wrap="square" lIns="76200" rIns="76200" tIns="0" bIns="0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  <a:defRPr sz="2705" b="1">
                <a:solidFill>
                  <a:srgbClr val="0077FF"/>
                </a:solidFill>
                <a:latin typeface="Play"/>
                <a:ea typeface="Play"/>
                <a:cs typeface="Play"/>
              </a:defRPr>
            </a:pPr>
            <a:r>
              <a:rPr sz="2705" b="1">
                <a:solidFill>
                  <a:srgbClr val="0077FF"/>
                </a:solidFill>
                <a:latin typeface="Play"/>
                <a:ea typeface="Play"/>
                <a:cs typeface="Play"/>
              </a:rPr>
              <a:t>19</a:t>
            </a:r>
          </a:p>
          <a:p>
            <a:pPr>
              <a:spcAft>
                <a:spcPts val="300"/>
              </a:spcAft>
              <a:defRPr sz="18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19 колод нарушили фирменный стиль (неправильные гарнитуры, цвета)</a:t>
            </a:r>
          </a:p>
        </p:txBody>
      </p:sp>
      <p:sp>
        <p:nvSpPr>
          <p:cNvPr id="10" name="stat_3:bar"/>
          <p:cNvSpPr/>
          <p:nvPr/>
        </p:nvSpPr>
        <p:spPr>
          <a:xfrm>
            <a:off x="6783275" y="2009915"/>
            <a:ext cx="50800" cy="1657902"/>
          </a:xfrm>
          <a:prstGeom prst="rect">
            <a:avLst/>
          </a:prstGeom>
          <a:solidFill>
            <a:srgbClr val="00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stat_3"/>
          <p:cNvSpPr txBox="1"/>
          <p:nvPr/>
        </p:nvSpPr>
        <p:spPr>
          <a:xfrm>
            <a:off x="6961075" y="1948079"/>
            <a:ext cx="1658059" cy="1719738"/>
          </a:xfrm>
          <a:prstGeom prst="rect">
            <a:avLst/>
          </a:prstGeom>
          <a:noFill/>
        </p:spPr>
        <p:txBody>
          <a:bodyPr wrap="square" lIns="76200" rIns="76200" tIns="0" bIns="0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  <a:defRPr sz="2705" b="1">
                <a:solidFill>
                  <a:srgbClr val="0077FF"/>
                </a:solidFill>
                <a:latin typeface="Play"/>
                <a:ea typeface="Play"/>
                <a:cs typeface="Play"/>
              </a:defRPr>
            </a:pPr>
            <a:r>
              <a:rPr sz="2705" b="1">
                <a:solidFill>
                  <a:srgbClr val="0077FF"/>
                </a:solidFill>
                <a:latin typeface="Play"/>
                <a:ea typeface="Play"/>
                <a:cs typeface="Play"/>
              </a:rPr>
              <a:t>11</a:t>
            </a:r>
          </a:p>
          <a:p>
            <a:pPr>
              <a:spcAft>
                <a:spcPts val="300"/>
              </a:spcAft>
              <a:defRPr sz="18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Дизайнеры закрывают 11 запросов из 27 в неделю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74320" y="282943"/>
            <a:ext cx="6792986" cy="932027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38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38">
                <a:solidFill>
                  <a:srgbClr val="000000"/>
                </a:solidFill>
                <a:latin typeface="Play"/>
                <a:ea typeface="Play"/>
                <a:cs typeface="Play"/>
              </a:rPr>
              <a:t>Нагрузка дизайнеров: 27 запросов, 11 закрыто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274320" y="1394994"/>
          <a:ext cx="8344814" cy="302841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74320" y="282943"/>
            <a:ext cx="6792986" cy="932027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38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38">
                <a:solidFill>
                  <a:srgbClr val="000000"/>
                </a:solidFill>
                <a:latin typeface="Play"/>
                <a:ea typeface="Play"/>
                <a:cs typeface="Play"/>
              </a:rPr>
              <a:t>Предложение: сервис принимает шаблон и материалы</a:t>
            </a:r>
          </a:p>
        </p:txBody>
      </p:sp>
      <p:grpSp>
        <p:nvGrpSpPr>
          <p:cNvPr id="3" name="icon:builtin-document"/>
          <p:cNvGrpSpPr/>
          <p:nvPr/>
        </p:nvGrpSpPr>
        <p:grpSpPr>
          <a:xfrm>
            <a:off x="365402" y="1546004"/>
            <a:ext cx="255032" cy="327898"/>
            <a:chOff x="365402" y="1546004"/>
            <a:chExt cx="255032" cy="327898"/>
          </a:xfrm>
        </p:grpSpPr>
        <p:sp>
          <p:nvSpPr>
            <p:cNvPr id="4" name="Freeform 3"/>
            <p:cNvSpPr/>
            <p:nvPr/>
          </p:nvSpPr>
          <p:spPr>
            <a:xfrm>
              <a:off x="365402" y="1546004"/>
              <a:ext cx="255032" cy="327898"/>
            </a:xfrm>
            <a:custGeom>
              <a:avLst/>
              <a:gdLst/>
              <a:ahLst/>
              <a:cxnLst/>
              <a:rect l="l" t="t" r="r" b="b"/>
              <a:pathLst>
                <a:path w="255032" h="327898">
                  <a:moveTo>
                    <a:pt x="163949" y="0"/>
                  </a:moveTo>
                  <a:lnTo>
                    <a:pt x="36433" y="0"/>
                  </a:lnTo>
                  <a:lnTo>
                    <a:pt x="29329" y="692"/>
                  </a:lnTo>
                  <a:lnTo>
                    <a:pt x="22498" y="2769"/>
                  </a:lnTo>
                  <a:lnTo>
                    <a:pt x="16195" y="6139"/>
                  </a:lnTo>
                  <a:lnTo>
                    <a:pt x="10675" y="10675"/>
                  </a:lnTo>
                  <a:lnTo>
                    <a:pt x="6139" y="16195"/>
                  </a:lnTo>
                  <a:lnTo>
                    <a:pt x="2769" y="22498"/>
                  </a:lnTo>
                  <a:lnTo>
                    <a:pt x="692" y="29329"/>
                  </a:lnTo>
                  <a:lnTo>
                    <a:pt x="0" y="36433"/>
                  </a:lnTo>
                  <a:lnTo>
                    <a:pt x="0" y="291465"/>
                  </a:lnTo>
                  <a:lnTo>
                    <a:pt x="692" y="298569"/>
                  </a:lnTo>
                  <a:lnTo>
                    <a:pt x="2769" y="305400"/>
                  </a:lnTo>
                  <a:lnTo>
                    <a:pt x="6139" y="311703"/>
                  </a:lnTo>
                  <a:lnTo>
                    <a:pt x="10675" y="317223"/>
                  </a:lnTo>
                  <a:lnTo>
                    <a:pt x="16195" y="321759"/>
                  </a:lnTo>
                  <a:lnTo>
                    <a:pt x="22498" y="325129"/>
                  </a:lnTo>
                  <a:lnTo>
                    <a:pt x="29329" y="327206"/>
                  </a:lnTo>
                  <a:lnTo>
                    <a:pt x="36433" y="327898"/>
                  </a:lnTo>
                  <a:lnTo>
                    <a:pt x="218599" y="327898"/>
                  </a:lnTo>
                  <a:lnTo>
                    <a:pt x="225703" y="327206"/>
                  </a:lnTo>
                  <a:lnTo>
                    <a:pt x="232534" y="325129"/>
                  </a:lnTo>
                  <a:lnTo>
                    <a:pt x="238837" y="321759"/>
                  </a:lnTo>
                  <a:lnTo>
                    <a:pt x="244357" y="317223"/>
                  </a:lnTo>
                  <a:lnTo>
                    <a:pt x="248893" y="311703"/>
                  </a:lnTo>
                  <a:lnTo>
                    <a:pt x="252263" y="305400"/>
                  </a:lnTo>
                  <a:lnTo>
                    <a:pt x="254340" y="298569"/>
                  </a:lnTo>
                  <a:lnTo>
                    <a:pt x="255032" y="291465"/>
                  </a:lnTo>
                  <a:lnTo>
                    <a:pt x="255032" y="91083"/>
                  </a:lnTo>
                  <a:close/>
                </a:path>
              </a:pathLst>
            </a:custGeom>
            <a:noFill/>
            <a:ln w="36433" cap="rnd">
              <a:solidFill>
                <a:srgbClr val="0077FF"/>
              </a:solidFill>
              <a:round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Freeform 4"/>
            <p:cNvSpPr/>
            <p:nvPr/>
          </p:nvSpPr>
          <p:spPr>
            <a:xfrm>
              <a:off x="529351" y="1546004"/>
              <a:ext cx="91083" cy="91083"/>
            </a:xfrm>
            <a:custGeom>
              <a:avLst/>
              <a:gdLst/>
              <a:ahLst/>
              <a:cxnLst/>
              <a:rect l="l" t="t" r="r" b="b"/>
              <a:pathLst>
                <a:path w="91083" h="91083">
                  <a:moveTo>
                    <a:pt x="0" y="0"/>
                  </a:moveTo>
                  <a:lnTo>
                    <a:pt x="0" y="91083"/>
                  </a:lnTo>
                  <a:lnTo>
                    <a:pt x="91083" y="91083"/>
                  </a:lnTo>
                </a:path>
              </a:pathLst>
            </a:custGeom>
            <a:noFill/>
            <a:ln w="36433" cap="rnd">
              <a:solidFill>
                <a:srgbClr val="0077FF"/>
              </a:solidFill>
              <a:round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Freeform 5"/>
            <p:cNvSpPr/>
            <p:nvPr/>
          </p:nvSpPr>
          <p:spPr>
            <a:xfrm>
              <a:off x="438268" y="1728170"/>
              <a:ext cx="109300" cy="0"/>
            </a:xfrm>
            <a:custGeom>
              <a:avLst/>
              <a:gdLst/>
              <a:ahLst/>
              <a:cxnLst/>
              <a:rect l="l" t="t" r="r" b="b"/>
              <a:pathLst>
                <a:path w="109300" h="0">
                  <a:moveTo>
                    <a:pt x="0" y="0"/>
                  </a:moveTo>
                  <a:lnTo>
                    <a:pt x="109300" y="0"/>
                  </a:lnTo>
                </a:path>
              </a:pathLst>
            </a:custGeom>
            <a:noFill/>
            <a:ln w="36433" cap="rnd">
              <a:solidFill>
                <a:srgbClr val="0077FF"/>
              </a:solidFill>
              <a:round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Freeform 6"/>
            <p:cNvSpPr/>
            <p:nvPr/>
          </p:nvSpPr>
          <p:spPr>
            <a:xfrm>
              <a:off x="438268" y="1801036"/>
              <a:ext cx="72867" cy="0"/>
            </a:xfrm>
            <a:custGeom>
              <a:avLst/>
              <a:gdLst/>
              <a:ahLst/>
              <a:cxnLst/>
              <a:rect l="l" t="t" r="r" b="b"/>
              <a:pathLst>
                <a:path w="72867" h="0">
                  <a:moveTo>
                    <a:pt x="0" y="0"/>
                  </a:moveTo>
                  <a:lnTo>
                    <a:pt x="72867" y="0"/>
                  </a:lnTo>
                </a:path>
              </a:pathLst>
            </a:custGeom>
            <a:noFill/>
            <a:ln w="36433" cap="rnd">
              <a:solidFill>
                <a:srgbClr val="0077FF"/>
              </a:solidFill>
              <a:round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8" name="item_0"/>
          <p:cNvSpPr txBox="1"/>
          <p:nvPr/>
        </p:nvSpPr>
        <p:spPr>
          <a:xfrm>
            <a:off x="908256" y="1394994"/>
            <a:ext cx="7710878" cy="654233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Сервис принимает pptx шаблон и материалы (документы, таблицы, заметки)</a:t>
            </a:r>
          </a:p>
        </p:txBody>
      </p:sp>
      <p:grpSp>
        <p:nvGrpSpPr>
          <p:cNvPr id="9" name="icon:builtin-palette"/>
          <p:cNvGrpSpPr/>
          <p:nvPr/>
        </p:nvGrpSpPr>
        <p:grpSpPr>
          <a:xfrm>
            <a:off x="328969" y="2284892"/>
            <a:ext cx="327898" cy="346114"/>
            <a:chOff x="328969" y="2284892"/>
            <a:chExt cx="327898" cy="346114"/>
          </a:xfrm>
        </p:grpSpPr>
        <p:sp>
          <p:nvSpPr>
            <p:cNvPr id="10" name="Freeform 9"/>
            <p:cNvSpPr/>
            <p:nvPr/>
          </p:nvSpPr>
          <p:spPr>
            <a:xfrm>
              <a:off x="328969" y="2284892"/>
              <a:ext cx="327898" cy="346114"/>
            </a:xfrm>
            <a:custGeom>
              <a:avLst/>
              <a:gdLst/>
              <a:ahLst/>
              <a:cxnLst/>
              <a:rect l="l" t="t" r="r" b="b"/>
              <a:pathLst>
                <a:path w="327898" h="346114">
                  <a:moveTo>
                    <a:pt x="163949" y="18216"/>
                  </a:moveTo>
                  <a:lnTo>
                    <a:pt x="131961" y="21368"/>
                  </a:lnTo>
                  <a:lnTo>
                    <a:pt x="101211" y="30694"/>
                  </a:lnTo>
                  <a:lnTo>
                    <a:pt x="72866" y="45851"/>
                  </a:lnTo>
                  <a:lnTo>
                    <a:pt x="48019" y="66235"/>
                  </a:lnTo>
                  <a:lnTo>
                    <a:pt x="27635" y="91082"/>
                  </a:lnTo>
                  <a:lnTo>
                    <a:pt x="12478" y="119427"/>
                  </a:lnTo>
                  <a:lnTo>
                    <a:pt x="3152" y="150177"/>
                  </a:lnTo>
                  <a:lnTo>
                    <a:pt x="0" y="182165"/>
                  </a:lnTo>
                  <a:lnTo>
                    <a:pt x="3152" y="214153"/>
                  </a:lnTo>
                  <a:lnTo>
                    <a:pt x="12478" y="244903"/>
                  </a:lnTo>
                  <a:lnTo>
                    <a:pt x="27635" y="273248"/>
                  </a:lnTo>
                  <a:lnTo>
                    <a:pt x="48019" y="298095"/>
                  </a:lnTo>
                  <a:lnTo>
                    <a:pt x="72866" y="318479"/>
                  </a:lnTo>
                  <a:lnTo>
                    <a:pt x="101211" y="333636"/>
                  </a:lnTo>
                  <a:lnTo>
                    <a:pt x="131961" y="342962"/>
                  </a:lnTo>
                  <a:lnTo>
                    <a:pt x="163949" y="346114"/>
                  </a:lnTo>
                  <a:lnTo>
                    <a:pt x="169742" y="345695"/>
                  </a:lnTo>
                  <a:lnTo>
                    <a:pt x="175061" y="344456"/>
                  </a:lnTo>
                  <a:lnTo>
                    <a:pt x="179870" y="342471"/>
                  </a:lnTo>
                  <a:lnTo>
                    <a:pt x="184151" y="339811"/>
                  </a:lnTo>
                  <a:lnTo>
                    <a:pt x="187849" y="336550"/>
                  </a:lnTo>
                  <a:lnTo>
                    <a:pt x="190964" y="332743"/>
                  </a:lnTo>
                  <a:lnTo>
                    <a:pt x="193442" y="328444"/>
                  </a:lnTo>
                  <a:lnTo>
                    <a:pt x="195245" y="323726"/>
                  </a:lnTo>
                  <a:lnTo>
                    <a:pt x="196356" y="318662"/>
                  </a:lnTo>
                  <a:lnTo>
                    <a:pt x="196739" y="313324"/>
                  </a:lnTo>
                  <a:lnTo>
                    <a:pt x="196629" y="310646"/>
                  </a:lnTo>
                  <a:lnTo>
                    <a:pt x="196320" y="308078"/>
                  </a:lnTo>
                  <a:lnTo>
                    <a:pt x="195810" y="305619"/>
                  </a:lnTo>
                  <a:lnTo>
                    <a:pt x="195099" y="303269"/>
                  </a:lnTo>
                  <a:lnTo>
                    <a:pt x="194225" y="301028"/>
                  </a:lnTo>
                  <a:lnTo>
                    <a:pt x="193205" y="298897"/>
                  </a:lnTo>
                  <a:lnTo>
                    <a:pt x="192002" y="296875"/>
                  </a:lnTo>
                  <a:lnTo>
                    <a:pt x="190673" y="294962"/>
                  </a:lnTo>
                  <a:lnTo>
                    <a:pt x="189215" y="293158"/>
                  </a:lnTo>
                  <a:lnTo>
                    <a:pt x="187631" y="291464"/>
                  </a:lnTo>
                  <a:lnTo>
                    <a:pt x="186046" y="289715"/>
                  </a:lnTo>
                  <a:lnTo>
                    <a:pt x="184588" y="287785"/>
                  </a:lnTo>
                  <a:lnTo>
                    <a:pt x="183259" y="285708"/>
                  </a:lnTo>
                  <a:lnTo>
                    <a:pt x="182056" y="283504"/>
                  </a:lnTo>
                  <a:lnTo>
                    <a:pt x="181036" y="281227"/>
                  </a:lnTo>
                  <a:lnTo>
                    <a:pt x="180162" y="278877"/>
                  </a:lnTo>
                  <a:lnTo>
                    <a:pt x="179451" y="276508"/>
                  </a:lnTo>
                  <a:lnTo>
                    <a:pt x="178941" y="274159"/>
                  </a:lnTo>
                  <a:lnTo>
                    <a:pt x="178632" y="271845"/>
                  </a:lnTo>
                  <a:lnTo>
                    <a:pt x="178522" y="269604"/>
                  </a:lnTo>
                  <a:lnTo>
                    <a:pt x="178941" y="264267"/>
                  </a:lnTo>
                  <a:lnTo>
                    <a:pt x="180180" y="259203"/>
                  </a:lnTo>
                  <a:lnTo>
                    <a:pt x="182166" y="254485"/>
                  </a:lnTo>
                  <a:lnTo>
                    <a:pt x="184825" y="250186"/>
                  </a:lnTo>
                  <a:lnTo>
                    <a:pt x="188086" y="246378"/>
                  </a:lnTo>
                  <a:lnTo>
                    <a:pt x="191893" y="243118"/>
                  </a:lnTo>
                  <a:lnTo>
                    <a:pt x="196192" y="240458"/>
                  </a:lnTo>
                  <a:lnTo>
                    <a:pt x="200910" y="238472"/>
                  </a:lnTo>
                  <a:lnTo>
                    <a:pt x="205975" y="237234"/>
                  </a:lnTo>
                  <a:lnTo>
                    <a:pt x="211312" y="236815"/>
                  </a:lnTo>
                  <a:lnTo>
                    <a:pt x="236815" y="236815"/>
                  </a:lnTo>
                  <a:lnTo>
                    <a:pt x="254576" y="235066"/>
                  </a:lnTo>
                  <a:lnTo>
                    <a:pt x="271663" y="229874"/>
                  </a:lnTo>
                  <a:lnTo>
                    <a:pt x="287421" y="221458"/>
                  </a:lnTo>
                  <a:lnTo>
                    <a:pt x="301229" y="210146"/>
                  </a:lnTo>
                  <a:lnTo>
                    <a:pt x="312541" y="196337"/>
                  </a:lnTo>
                  <a:lnTo>
                    <a:pt x="320957" y="180580"/>
                  </a:lnTo>
                  <a:lnTo>
                    <a:pt x="326149" y="163493"/>
                  </a:lnTo>
                  <a:lnTo>
                    <a:pt x="327898" y="145732"/>
                  </a:lnTo>
                  <a:lnTo>
                    <a:pt x="325767" y="122178"/>
                  </a:lnTo>
                  <a:lnTo>
                    <a:pt x="319591" y="99790"/>
                  </a:lnTo>
                  <a:lnTo>
                    <a:pt x="309700" y="78914"/>
                  </a:lnTo>
                  <a:lnTo>
                    <a:pt x="296420" y="59804"/>
                  </a:lnTo>
                  <a:lnTo>
                    <a:pt x="280079" y="42808"/>
                  </a:lnTo>
                  <a:lnTo>
                    <a:pt x="261007" y="28217"/>
                  </a:lnTo>
                  <a:lnTo>
                    <a:pt x="239529" y="16322"/>
                  </a:lnTo>
                  <a:lnTo>
                    <a:pt x="215975" y="7468"/>
                  </a:lnTo>
                  <a:lnTo>
                    <a:pt x="190673" y="1912"/>
                  </a:lnTo>
                  <a:lnTo>
                    <a:pt x="163949" y="0"/>
                  </a:lnTo>
                  <a:close/>
                </a:path>
              </a:pathLst>
            </a:custGeom>
            <a:noFill/>
            <a:ln w="36433" cap="rnd">
              <a:solidFill>
                <a:srgbClr val="0077FF"/>
              </a:solidFill>
              <a:round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Oval 10"/>
            <p:cNvSpPr/>
            <p:nvPr/>
          </p:nvSpPr>
          <p:spPr>
            <a:xfrm>
              <a:off x="389084" y="2436089"/>
              <a:ext cx="43719" cy="43719"/>
            </a:xfrm>
            <a:prstGeom prst="ellipse">
              <a:avLst/>
            </a:prstGeom>
            <a:solidFill>
              <a:srgbClr val="0077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Oval 11"/>
            <p:cNvSpPr/>
            <p:nvPr/>
          </p:nvSpPr>
          <p:spPr>
            <a:xfrm>
              <a:off x="434625" y="2363223"/>
              <a:ext cx="43719" cy="43719"/>
            </a:xfrm>
            <a:prstGeom prst="ellipse">
              <a:avLst/>
            </a:prstGeom>
            <a:solidFill>
              <a:srgbClr val="0077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Oval 12"/>
            <p:cNvSpPr/>
            <p:nvPr/>
          </p:nvSpPr>
          <p:spPr>
            <a:xfrm>
              <a:off x="516600" y="2363223"/>
              <a:ext cx="43719" cy="43719"/>
            </a:xfrm>
            <a:prstGeom prst="ellipse">
              <a:avLst/>
            </a:prstGeom>
            <a:solidFill>
              <a:srgbClr val="0077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14" name="item_1"/>
          <p:cNvSpPr txBox="1"/>
          <p:nvPr/>
        </p:nvSpPr>
        <p:spPr>
          <a:xfrm>
            <a:off x="908256" y="2152098"/>
            <a:ext cx="7710878" cy="654233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Автоматически преобразует шаблон в дизайн-систему (гарнитуры, шкала, палитра)</a:t>
            </a:r>
          </a:p>
        </p:txBody>
      </p:sp>
      <p:grpSp>
        <p:nvGrpSpPr>
          <p:cNvPr id="15" name="icon:builtin-next"/>
          <p:cNvGrpSpPr/>
          <p:nvPr/>
        </p:nvGrpSpPr>
        <p:grpSpPr>
          <a:xfrm>
            <a:off x="328969" y="2963851"/>
            <a:ext cx="327897" cy="327897"/>
            <a:chOff x="328969" y="2963851"/>
            <a:chExt cx="327897" cy="327897"/>
          </a:xfrm>
        </p:grpSpPr>
        <p:sp>
          <p:nvSpPr>
            <p:cNvPr id="16" name="Oval 15"/>
            <p:cNvSpPr/>
            <p:nvPr/>
          </p:nvSpPr>
          <p:spPr>
            <a:xfrm>
              <a:off x="328969" y="2963851"/>
              <a:ext cx="327897" cy="327897"/>
            </a:xfrm>
            <a:prstGeom prst="ellipse">
              <a:avLst/>
            </a:prstGeom>
            <a:noFill/>
            <a:ln w="36433" cap="rnd">
              <a:solidFill>
                <a:srgbClr val="0077FF"/>
              </a:solidFill>
              <a:round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Freeform 16"/>
            <p:cNvSpPr/>
            <p:nvPr/>
          </p:nvSpPr>
          <p:spPr>
            <a:xfrm>
              <a:off x="420052" y="3127800"/>
              <a:ext cx="145732" cy="0"/>
            </a:xfrm>
            <a:custGeom>
              <a:avLst/>
              <a:gdLst/>
              <a:ahLst/>
              <a:cxnLst/>
              <a:rect l="l" t="t" r="r" b="b"/>
              <a:pathLst>
                <a:path w="145732" h="0">
                  <a:moveTo>
                    <a:pt x="0" y="0"/>
                  </a:moveTo>
                  <a:lnTo>
                    <a:pt x="145732" y="0"/>
                  </a:lnTo>
                </a:path>
              </a:pathLst>
            </a:custGeom>
            <a:noFill/>
            <a:ln w="36433" cap="rnd">
              <a:solidFill>
                <a:srgbClr val="0077FF"/>
              </a:solidFill>
              <a:round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Freeform 17"/>
            <p:cNvSpPr/>
            <p:nvPr/>
          </p:nvSpPr>
          <p:spPr>
            <a:xfrm>
              <a:off x="492918" y="3054934"/>
              <a:ext cx="72866" cy="145732"/>
            </a:xfrm>
            <a:custGeom>
              <a:avLst/>
              <a:gdLst/>
              <a:ahLst/>
              <a:cxnLst/>
              <a:rect l="l" t="t" r="r" b="b"/>
              <a:pathLst>
                <a:path w="72866" h="145732">
                  <a:moveTo>
                    <a:pt x="0" y="0"/>
                  </a:moveTo>
                  <a:lnTo>
                    <a:pt x="72866" y="72866"/>
                  </a:lnTo>
                  <a:lnTo>
                    <a:pt x="0" y="145732"/>
                  </a:lnTo>
                </a:path>
              </a:pathLst>
            </a:custGeom>
            <a:noFill/>
            <a:ln w="36433" cap="rnd">
              <a:solidFill>
                <a:srgbClr val="0077FF"/>
              </a:solidFill>
              <a:round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19" name="item_2"/>
          <p:cNvSpPr txBox="1"/>
          <p:nvPr/>
        </p:nvSpPr>
        <p:spPr>
          <a:xfrm>
            <a:off x="908256" y="2928410"/>
            <a:ext cx="7710878" cy="635025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Генерирует план колоды и вёрстку по ролям страниц</a:t>
            </a:r>
          </a:p>
        </p:txBody>
      </p:sp>
      <p:grpSp>
        <p:nvGrpSpPr>
          <p:cNvPr id="20" name="icon:builtin-presentation"/>
          <p:cNvGrpSpPr/>
          <p:nvPr/>
        </p:nvGrpSpPr>
        <p:grpSpPr>
          <a:xfrm>
            <a:off x="328969" y="3739172"/>
            <a:ext cx="327897" cy="291464"/>
            <a:chOff x="328969" y="3739172"/>
            <a:chExt cx="327897" cy="291464"/>
          </a:xfrm>
        </p:grpSpPr>
        <p:sp>
          <p:nvSpPr>
            <p:cNvPr id="21" name="Rounded Rectangle 20"/>
            <p:cNvSpPr/>
            <p:nvPr/>
          </p:nvSpPr>
          <p:spPr>
            <a:xfrm>
              <a:off x="328969" y="3739172"/>
              <a:ext cx="327897" cy="218598"/>
            </a:xfrm>
            <a:prstGeom prst="roundRect">
              <a:avLst>
                <a:gd name="adj" fmla="val 12500"/>
              </a:avLst>
            </a:prstGeom>
            <a:noFill/>
            <a:ln w="36433" cap="rnd">
              <a:solidFill>
                <a:srgbClr val="0077FF"/>
              </a:solidFill>
              <a:round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Freeform 21"/>
            <p:cNvSpPr/>
            <p:nvPr/>
          </p:nvSpPr>
          <p:spPr>
            <a:xfrm>
              <a:off x="492918" y="3957770"/>
              <a:ext cx="0" cy="72866"/>
            </a:xfrm>
            <a:custGeom>
              <a:avLst/>
              <a:gdLst/>
              <a:ahLst/>
              <a:cxnLst/>
              <a:rect l="l" t="t" r="r" b="b"/>
              <a:pathLst>
                <a:path w="0" h="72866">
                  <a:moveTo>
                    <a:pt x="0" y="0"/>
                  </a:moveTo>
                  <a:lnTo>
                    <a:pt x="0" y="72866"/>
                  </a:lnTo>
                </a:path>
              </a:pathLst>
            </a:custGeom>
            <a:noFill/>
            <a:ln w="36433" cap="rnd">
              <a:solidFill>
                <a:srgbClr val="0077FF"/>
              </a:solidFill>
              <a:round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Freeform 22"/>
            <p:cNvSpPr/>
            <p:nvPr/>
          </p:nvSpPr>
          <p:spPr>
            <a:xfrm>
              <a:off x="420052" y="4030636"/>
              <a:ext cx="145732" cy="0"/>
            </a:xfrm>
            <a:custGeom>
              <a:avLst/>
              <a:gdLst/>
              <a:ahLst/>
              <a:cxnLst/>
              <a:rect l="l" t="t" r="r" b="b"/>
              <a:pathLst>
                <a:path w="145732" h="0">
                  <a:moveTo>
                    <a:pt x="0" y="0"/>
                  </a:moveTo>
                  <a:lnTo>
                    <a:pt x="145732" y="0"/>
                  </a:lnTo>
                </a:path>
              </a:pathLst>
            </a:custGeom>
            <a:noFill/>
            <a:ln w="36433" cap="rnd">
              <a:solidFill>
                <a:srgbClr val="0077FF"/>
              </a:solidFill>
              <a:round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Freeform 23"/>
            <p:cNvSpPr/>
            <p:nvPr/>
          </p:nvSpPr>
          <p:spPr>
            <a:xfrm>
              <a:off x="401835" y="3793821"/>
              <a:ext cx="182166" cy="91083"/>
            </a:xfrm>
            <a:custGeom>
              <a:avLst/>
              <a:gdLst/>
              <a:ahLst/>
              <a:cxnLst/>
              <a:rect l="l" t="t" r="r" b="b"/>
              <a:pathLst>
                <a:path w="182166" h="91083">
                  <a:moveTo>
                    <a:pt x="0" y="91083"/>
                  </a:moveTo>
                  <a:lnTo>
                    <a:pt x="54650" y="36433"/>
                  </a:lnTo>
                  <a:lnTo>
                    <a:pt x="109300" y="72866"/>
                  </a:lnTo>
                  <a:lnTo>
                    <a:pt x="182166" y="0"/>
                  </a:lnTo>
                </a:path>
              </a:pathLst>
            </a:custGeom>
            <a:noFill/>
            <a:ln w="36433" cap="rnd">
              <a:solidFill>
                <a:srgbClr val="0077FF"/>
              </a:solidFill>
              <a:round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25" name="item_3"/>
          <p:cNvSpPr txBox="1"/>
          <p:nvPr/>
        </p:nvSpPr>
        <p:spPr>
          <a:xfrm>
            <a:off x="908256" y="3685514"/>
            <a:ext cx="7710878" cy="635025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Экспорт в pptx, pdf, html с редактируемыми слайдами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29" name="Google Shape;2429;p89"/>
          <p:cNvSpPr/>
          <p:nvPr/>
        </p:nvSpPr>
        <p:spPr>
          <a:xfrm>
            <a:off x="553415" y="1828897"/>
            <a:ext cx="2232516" cy="149025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1" name="Google Shape;2431;p89"/>
          <p:cNvSpPr/>
          <p:nvPr/>
        </p:nvSpPr>
        <p:spPr>
          <a:xfrm>
            <a:off x="3565736" y="1828897"/>
            <a:ext cx="2232516" cy="149025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3" name="Google Shape;2433;p89"/>
          <p:cNvSpPr/>
          <p:nvPr/>
        </p:nvSpPr>
        <p:spPr>
          <a:xfrm>
            <a:off x="6578067" y="1828897"/>
            <a:ext cx="2232516" cy="149025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4" name="title"/>
          <p:cNvSpPr txBox="1"/>
          <p:nvPr/>
        </p:nvSpPr>
        <p:spPr>
          <a:xfrm>
            <a:off x="274320" y="282943"/>
            <a:ext cx="6792986" cy="932027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38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38">
                <a:solidFill>
                  <a:srgbClr val="000000"/>
                </a:solidFill>
                <a:latin typeface="Play"/>
                <a:ea typeface="Play"/>
                <a:cs typeface="Play"/>
              </a:rPr>
              <a:t>Предложение: аудит и автоматические правки</a:t>
            </a:r>
          </a:p>
        </p:txBody>
      </p:sp>
      <p:grpSp>
        <p:nvGrpSpPr>
          <p:cNvPr id="2" name="icon:builtin-search"/>
          <p:cNvGrpSpPr/>
          <p:nvPr/>
        </p:nvGrpSpPr>
        <p:grpSpPr>
          <a:xfrm>
            <a:off x="347186" y="1467860"/>
            <a:ext cx="309681" cy="309681"/>
            <a:chOff x="347186" y="1467860"/>
            <a:chExt cx="309681" cy="309681"/>
          </a:xfrm>
        </p:grpSpPr>
        <p:sp>
          <p:nvSpPr>
            <p:cNvPr id="2435" name="Oval 2434"/>
            <p:cNvSpPr/>
            <p:nvPr/>
          </p:nvSpPr>
          <p:spPr>
            <a:xfrm>
              <a:off x="347186" y="1467860"/>
              <a:ext cx="255031" cy="255031"/>
            </a:xfrm>
            <a:prstGeom prst="ellipse">
              <a:avLst/>
            </a:prstGeom>
            <a:noFill/>
            <a:ln w="36433" cap="rnd">
              <a:solidFill>
                <a:srgbClr val="0077FF"/>
              </a:solidFill>
              <a:round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" name="Freeform 2"/>
            <p:cNvSpPr/>
            <p:nvPr/>
          </p:nvSpPr>
          <p:spPr>
            <a:xfrm>
              <a:off x="569427" y="1690101"/>
              <a:ext cx="87440" cy="87440"/>
            </a:xfrm>
            <a:custGeom>
              <a:avLst/>
              <a:gdLst/>
              <a:ahLst/>
              <a:cxnLst/>
              <a:rect l="l" t="t" r="r" b="b"/>
              <a:pathLst>
                <a:path w="87440" h="87440">
                  <a:moveTo>
                    <a:pt x="0" y="0"/>
                  </a:moveTo>
                  <a:lnTo>
                    <a:pt x="87440" y="87440"/>
                  </a:lnTo>
                </a:path>
              </a:pathLst>
            </a:custGeom>
            <a:noFill/>
            <a:ln w="36433" cap="rnd">
              <a:solidFill>
                <a:srgbClr val="0077FF"/>
              </a:solidFill>
              <a:round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2436" name="item_0"/>
          <p:cNvSpPr txBox="1"/>
          <p:nvPr/>
        </p:nvSpPr>
        <p:spPr>
          <a:xfrm>
            <a:off x="908256" y="1414202"/>
            <a:ext cx="7710878" cy="635025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Аудит качества до выдачи результата</a:t>
            </a:r>
          </a:p>
        </p:txBody>
      </p:sp>
      <p:grpSp>
        <p:nvGrpSpPr>
          <p:cNvPr id="4" name="icon:builtin-shield"/>
          <p:cNvGrpSpPr/>
          <p:nvPr/>
        </p:nvGrpSpPr>
        <p:grpSpPr>
          <a:xfrm>
            <a:off x="365402" y="2206747"/>
            <a:ext cx="255032" cy="327898"/>
            <a:chOff x="365402" y="2206747"/>
            <a:chExt cx="255032" cy="327898"/>
          </a:xfrm>
        </p:grpSpPr>
        <p:sp>
          <p:nvSpPr>
            <p:cNvPr id="5" name="Freeform 4"/>
            <p:cNvSpPr/>
            <p:nvPr/>
          </p:nvSpPr>
          <p:spPr>
            <a:xfrm>
              <a:off x="365402" y="2206747"/>
              <a:ext cx="255032" cy="327898"/>
            </a:xfrm>
            <a:custGeom>
              <a:avLst/>
              <a:gdLst/>
              <a:ahLst/>
              <a:cxnLst/>
              <a:rect l="l" t="t" r="r" b="b"/>
              <a:pathLst>
                <a:path w="255032" h="327898">
                  <a:moveTo>
                    <a:pt x="127516" y="0"/>
                  </a:moveTo>
                  <a:lnTo>
                    <a:pt x="255032" y="54650"/>
                  </a:lnTo>
                  <a:lnTo>
                    <a:pt x="255032" y="145732"/>
                  </a:lnTo>
                  <a:lnTo>
                    <a:pt x="253429" y="170015"/>
                  </a:lnTo>
                  <a:lnTo>
                    <a:pt x="248765" y="193533"/>
                  </a:lnTo>
                  <a:lnTo>
                    <a:pt x="241260" y="216067"/>
                  </a:lnTo>
                  <a:lnTo>
                    <a:pt x="231132" y="237398"/>
                  </a:lnTo>
                  <a:lnTo>
                    <a:pt x="218599" y="257309"/>
                  </a:lnTo>
                  <a:lnTo>
                    <a:pt x="203880" y="275580"/>
                  </a:lnTo>
                  <a:lnTo>
                    <a:pt x="187193" y="291993"/>
                  </a:lnTo>
                  <a:lnTo>
                    <a:pt x="168758" y="306329"/>
                  </a:lnTo>
                  <a:lnTo>
                    <a:pt x="148793" y="318371"/>
                  </a:lnTo>
                  <a:lnTo>
                    <a:pt x="127516" y="327898"/>
                  </a:lnTo>
                  <a:lnTo>
                    <a:pt x="106239" y="318371"/>
                  </a:lnTo>
                  <a:lnTo>
                    <a:pt x="86274" y="306329"/>
                  </a:lnTo>
                  <a:lnTo>
                    <a:pt x="67839" y="291993"/>
                  </a:lnTo>
                  <a:lnTo>
                    <a:pt x="51152" y="275580"/>
                  </a:lnTo>
                  <a:lnTo>
                    <a:pt x="36433" y="257309"/>
                  </a:lnTo>
                  <a:lnTo>
                    <a:pt x="23900" y="237398"/>
                  </a:lnTo>
                  <a:lnTo>
                    <a:pt x="13772" y="216067"/>
                  </a:lnTo>
                  <a:lnTo>
                    <a:pt x="6267" y="193533"/>
                  </a:lnTo>
                  <a:lnTo>
                    <a:pt x="1603" y="170015"/>
                  </a:lnTo>
                  <a:lnTo>
                    <a:pt x="0" y="145732"/>
                  </a:lnTo>
                  <a:lnTo>
                    <a:pt x="0" y="54650"/>
                  </a:lnTo>
                  <a:close/>
                </a:path>
              </a:pathLst>
            </a:custGeom>
            <a:noFill/>
            <a:ln w="36433" cap="rnd">
              <a:solidFill>
                <a:srgbClr val="0077FF"/>
              </a:solidFill>
              <a:round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Freeform 5"/>
            <p:cNvSpPr/>
            <p:nvPr/>
          </p:nvSpPr>
          <p:spPr>
            <a:xfrm>
              <a:off x="438268" y="2334263"/>
              <a:ext cx="109300" cy="72866"/>
            </a:xfrm>
            <a:custGeom>
              <a:avLst/>
              <a:gdLst/>
              <a:ahLst/>
              <a:cxnLst/>
              <a:rect l="l" t="t" r="r" b="b"/>
              <a:pathLst>
                <a:path w="109300" h="72866">
                  <a:moveTo>
                    <a:pt x="0" y="36433"/>
                  </a:moveTo>
                  <a:lnTo>
                    <a:pt x="36433" y="72866"/>
                  </a:lnTo>
                  <a:lnTo>
                    <a:pt x="109300" y="0"/>
                  </a:lnTo>
                </a:path>
              </a:pathLst>
            </a:custGeom>
            <a:noFill/>
            <a:ln w="36433" cap="rnd">
              <a:solidFill>
                <a:srgbClr val="0077FF"/>
              </a:solidFill>
              <a:round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2437" name="item_1"/>
          <p:cNvSpPr txBox="1"/>
          <p:nvPr/>
        </p:nvSpPr>
        <p:spPr>
          <a:xfrm>
            <a:off x="908256" y="2171306"/>
            <a:ext cx="7710878" cy="635025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Автоматические правки нарушений фирменного стиля</a:t>
            </a:r>
          </a:p>
        </p:txBody>
      </p:sp>
      <p:grpSp>
        <p:nvGrpSpPr>
          <p:cNvPr id="7" name="icon:builtin-edit"/>
          <p:cNvGrpSpPr/>
          <p:nvPr/>
        </p:nvGrpSpPr>
        <p:grpSpPr>
          <a:xfrm>
            <a:off x="347186" y="3007188"/>
            <a:ext cx="284560" cy="266344"/>
            <a:chOff x="347186" y="3007188"/>
            <a:chExt cx="284560" cy="266344"/>
          </a:xfrm>
        </p:grpSpPr>
        <p:sp>
          <p:nvSpPr>
            <p:cNvPr id="8" name="Freeform 7"/>
            <p:cNvSpPr/>
            <p:nvPr/>
          </p:nvSpPr>
          <p:spPr>
            <a:xfrm>
              <a:off x="347186" y="3007188"/>
              <a:ext cx="284560" cy="266344"/>
            </a:xfrm>
            <a:custGeom>
              <a:avLst/>
              <a:gdLst/>
              <a:ahLst/>
              <a:cxnLst/>
              <a:rect l="l" t="t" r="r" b="b"/>
              <a:pathLst>
                <a:path w="284560" h="266344">
                  <a:moveTo>
                    <a:pt x="0" y="266344"/>
                  </a:moveTo>
                  <a:lnTo>
                    <a:pt x="72866" y="266344"/>
                  </a:lnTo>
                  <a:lnTo>
                    <a:pt x="273248" y="65962"/>
                  </a:lnTo>
                  <a:lnTo>
                    <a:pt x="278057" y="60115"/>
                  </a:lnTo>
                  <a:lnTo>
                    <a:pt x="281627" y="53429"/>
                  </a:lnTo>
                  <a:lnTo>
                    <a:pt x="283832" y="46179"/>
                  </a:lnTo>
                  <a:lnTo>
                    <a:pt x="284560" y="38638"/>
                  </a:lnTo>
                  <a:lnTo>
                    <a:pt x="283832" y="31096"/>
                  </a:lnTo>
                  <a:lnTo>
                    <a:pt x="281627" y="23846"/>
                  </a:lnTo>
                  <a:lnTo>
                    <a:pt x="278057" y="17160"/>
                  </a:lnTo>
                  <a:lnTo>
                    <a:pt x="273248" y="11313"/>
                  </a:lnTo>
                  <a:lnTo>
                    <a:pt x="267400" y="6504"/>
                  </a:lnTo>
                  <a:lnTo>
                    <a:pt x="260715" y="2933"/>
                  </a:lnTo>
                  <a:lnTo>
                    <a:pt x="253465" y="729"/>
                  </a:lnTo>
                  <a:lnTo>
                    <a:pt x="245923" y="0"/>
                  </a:lnTo>
                  <a:lnTo>
                    <a:pt x="238381" y="729"/>
                  </a:lnTo>
                  <a:lnTo>
                    <a:pt x="231131" y="2933"/>
                  </a:lnTo>
                  <a:lnTo>
                    <a:pt x="224446" y="6504"/>
                  </a:lnTo>
                  <a:lnTo>
                    <a:pt x="218598" y="11313"/>
                  </a:lnTo>
                  <a:lnTo>
                    <a:pt x="18216" y="211695"/>
                  </a:lnTo>
                  <a:close/>
                </a:path>
              </a:pathLst>
            </a:custGeom>
            <a:noFill/>
            <a:ln w="36433" cap="rnd">
              <a:solidFill>
                <a:srgbClr val="0077FF"/>
              </a:solidFill>
              <a:round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Freeform 8"/>
            <p:cNvSpPr/>
            <p:nvPr/>
          </p:nvSpPr>
          <p:spPr>
            <a:xfrm>
              <a:off x="529351" y="3054934"/>
              <a:ext cx="54650" cy="54649"/>
            </a:xfrm>
            <a:custGeom>
              <a:avLst/>
              <a:gdLst/>
              <a:ahLst/>
              <a:cxnLst/>
              <a:rect l="l" t="t" r="r" b="b"/>
              <a:pathLst>
                <a:path w="54650" h="54649">
                  <a:moveTo>
                    <a:pt x="0" y="0"/>
                  </a:moveTo>
                  <a:lnTo>
                    <a:pt x="54650" y="54649"/>
                  </a:lnTo>
                </a:path>
              </a:pathLst>
            </a:custGeom>
            <a:noFill/>
            <a:ln w="36433" cap="rnd">
              <a:solidFill>
                <a:srgbClr val="0077FF"/>
              </a:solidFill>
              <a:round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2438" name="item_2"/>
          <p:cNvSpPr txBox="1"/>
          <p:nvPr/>
        </p:nvSpPr>
        <p:spPr>
          <a:xfrm>
            <a:off x="908256" y="2928410"/>
            <a:ext cx="7710878" cy="635025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Слайды остаются редактируемыми, без картинок</a:t>
            </a:r>
          </a:p>
        </p:txBody>
      </p:sp>
      <p:grpSp>
        <p:nvGrpSpPr>
          <p:cNvPr id="10" name="icon:builtin-support"/>
          <p:cNvGrpSpPr/>
          <p:nvPr/>
        </p:nvGrpSpPr>
        <p:grpSpPr>
          <a:xfrm>
            <a:off x="328969" y="3720955"/>
            <a:ext cx="327897" cy="327897"/>
            <a:chOff x="328969" y="3720955"/>
            <a:chExt cx="327897" cy="327897"/>
          </a:xfrm>
        </p:grpSpPr>
        <p:sp>
          <p:nvSpPr>
            <p:cNvPr id="2439" name="Oval 2438"/>
            <p:cNvSpPr/>
            <p:nvPr/>
          </p:nvSpPr>
          <p:spPr>
            <a:xfrm>
              <a:off x="328969" y="3720955"/>
              <a:ext cx="327897" cy="327897"/>
            </a:xfrm>
            <a:prstGeom prst="ellipse">
              <a:avLst/>
            </a:prstGeom>
            <a:noFill/>
            <a:ln w="36433" cap="rnd">
              <a:solidFill>
                <a:srgbClr val="0077FF"/>
              </a:solidFill>
              <a:round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40" name="Oval 2439"/>
            <p:cNvSpPr/>
            <p:nvPr/>
          </p:nvSpPr>
          <p:spPr>
            <a:xfrm>
              <a:off x="420052" y="3812038"/>
              <a:ext cx="145732" cy="145732"/>
            </a:xfrm>
            <a:prstGeom prst="ellipse">
              <a:avLst/>
            </a:prstGeom>
            <a:noFill/>
            <a:ln w="36433" cap="rnd">
              <a:solidFill>
                <a:srgbClr val="0077FF"/>
              </a:solidFill>
              <a:round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Freeform 10"/>
            <p:cNvSpPr/>
            <p:nvPr/>
          </p:nvSpPr>
          <p:spPr>
            <a:xfrm>
              <a:off x="376332" y="3768318"/>
              <a:ext cx="65580" cy="65580"/>
            </a:xfrm>
            <a:custGeom>
              <a:avLst/>
              <a:gdLst/>
              <a:ahLst/>
              <a:cxnLst/>
              <a:rect l="l" t="t" r="r" b="b"/>
              <a:pathLst>
                <a:path w="65580" h="65580">
                  <a:moveTo>
                    <a:pt x="0" y="0"/>
                  </a:moveTo>
                  <a:lnTo>
                    <a:pt x="65580" y="65580"/>
                  </a:lnTo>
                </a:path>
              </a:pathLst>
            </a:custGeom>
            <a:noFill/>
            <a:ln w="36433" cap="rnd">
              <a:solidFill>
                <a:srgbClr val="0077FF"/>
              </a:solidFill>
              <a:round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Freeform 11"/>
            <p:cNvSpPr/>
            <p:nvPr/>
          </p:nvSpPr>
          <p:spPr>
            <a:xfrm>
              <a:off x="543924" y="3935910"/>
              <a:ext cx="65580" cy="65580"/>
            </a:xfrm>
            <a:custGeom>
              <a:avLst/>
              <a:gdLst/>
              <a:ahLst/>
              <a:cxnLst/>
              <a:rect l="l" t="t" r="r" b="b"/>
              <a:pathLst>
                <a:path w="65580" h="65580">
                  <a:moveTo>
                    <a:pt x="0" y="0"/>
                  </a:moveTo>
                  <a:lnTo>
                    <a:pt x="65580" y="65580"/>
                  </a:lnTo>
                </a:path>
              </a:pathLst>
            </a:custGeom>
            <a:noFill/>
            <a:ln w="36433" cap="rnd">
              <a:solidFill>
                <a:srgbClr val="0077FF"/>
              </a:solidFill>
              <a:round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Freeform 12"/>
            <p:cNvSpPr/>
            <p:nvPr/>
          </p:nvSpPr>
          <p:spPr>
            <a:xfrm>
              <a:off x="543924" y="3768318"/>
              <a:ext cx="65580" cy="65580"/>
            </a:xfrm>
            <a:custGeom>
              <a:avLst/>
              <a:gdLst/>
              <a:ahLst/>
              <a:cxnLst/>
              <a:rect l="l" t="t" r="r" b="b"/>
              <a:pathLst>
                <a:path w="65580" h="65580">
                  <a:moveTo>
                    <a:pt x="0" y="65580"/>
                  </a:moveTo>
                  <a:lnTo>
                    <a:pt x="65580" y="0"/>
                  </a:lnTo>
                </a:path>
              </a:pathLst>
            </a:custGeom>
            <a:noFill/>
            <a:ln w="36433" cap="rnd">
              <a:solidFill>
                <a:srgbClr val="0077FF"/>
              </a:solidFill>
              <a:round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Freeform 13"/>
            <p:cNvSpPr/>
            <p:nvPr/>
          </p:nvSpPr>
          <p:spPr>
            <a:xfrm>
              <a:off x="376332" y="3935910"/>
              <a:ext cx="65580" cy="65580"/>
            </a:xfrm>
            <a:custGeom>
              <a:avLst/>
              <a:gdLst/>
              <a:ahLst/>
              <a:cxnLst/>
              <a:rect l="l" t="t" r="r" b="b"/>
              <a:pathLst>
                <a:path w="65580" h="65580">
                  <a:moveTo>
                    <a:pt x="0" y="65580"/>
                  </a:moveTo>
                  <a:lnTo>
                    <a:pt x="65580" y="0"/>
                  </a:lnTo>
                </a:path>
              </a:pathLst>
            </a:custGeom>
            <a:noFill/>
            <a:ln w="36433" cap="rnd">
              <a:solidFill>
                <a:srgbClr val="0077FF"/>
              </a:solidFill>
              <a:round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2441" name="item_3"/>
          <p:cNvSpPr txBox="1"/>
          <p:nvPr/>
        </p:nvSpPr>
        <p:spPr>
          <a:xfrm>
            <a:off x="908256" y="3685514"/>
            <a:ext cx="7710878" cy="635025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Поддержка OpenAI-совместимых моделей (gpt-oss-20b)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32" name="Google Shape;1032;p65"/>
          <p:cNvSpPr/>
          <p:nvPr/>
        </p:nvSpPr>
        <p:spPr>
          <a:xfrm>
            <a:off x="285748" y="286047"/>
            <a:ext cx="8572456" cy="393807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3" name="Google Shape;1033;p65"/>
          <p:cNvSpPr/>
          <p:nvPr/>
        </p:nvSpPr>
        <p:spPr>
          <a:xfrm>
            <a:off x="285748" y="1209852"/>
            <a:ext cx="8572456" cy="301427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4" name="title"/>
          <p:cNvSpPr txBox="1"/>
          <p:nvPr/>
        </p:nvSpPr>
        <p:spPr>
          <a:xfrm>
            <a:off x="274320" y="282943"/>
            <a:ext cx="6792986" cy="932027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38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38">
                <a:solidFill>
                  <a:srgbClr val="000000"/>
                </a:solidFill>
                <a:latin typeface="Play"/>
                <a:ea typeface="Play"/>
                <a:cs typeface="Play"/>
              </a:rPr>
              <a:t>Ожидаемый эффект: сокращение времени сборки</a:t>
            </a:r>
          </a:p>
        </p:txBody>
      </p:sp>
      <p:graphicFrame>
        <p:nvGraphicFramePr>
          <p:cNvPr id="1035" name="Chart 1034"/>
          <p:cNvGraphicFramePr>
            <a:graphicFrameLocks noGrp="1"/>
          </p:cNvGraphicFramePr>
          <p:nvPr/>
        </p:nvGraphicFramePr>
        <p:xfrm>
          <a:off x="274320" y="1394994"/>
          <a:ext cx="8344814" cy="3028415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74320" y="282943"/>
            <a:ext cx="6792986" cy="932027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38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38">
                <a:solidFill>
                  <a:srgbClr val="000000"/>
                </a:solidFill>
                <a:latin typeface="Play"/>
                <a:ea typeface="Play"/>
                <a:cs typeface="Play"/>
              </a:rPr>
              <a:t>Ожидаемый эффект: снижение нарушений фирменного стиля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274320" y="1394994"/>
          <a:ext cx="8344814" cy="3028415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74320" y="282943"/>
            <a:ext cx="6792986" cy="932027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38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38">
                <a:solidFill>
                  <a:srgbClr val="000000"/>
                </a:solidFill>
                <a:latin typeface="Play"/>
                <a:ea typeface="Play"/>
                <a:cs typeface="Play"/>
              </a:rPr>
              <a:t>Ожидаемый эффект: рост закрытых запросов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274320" y="1394994"/>
          <a:ext cx="8344814" cy="302841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62" name="Google Shape;662;p55"/>
          <p:cNvSpPr/>
          <p:nvPr/>
        </p:nvSpPr>
        <p:spPr>
          <a:xfrm>
            <a:off x="8667705" y="4666977"/>
            <a:ext cx="190499" cy="19047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3" name="Google Shape;663;p55"/>
          <p:cNvSpPr/>
          <p:nvPr/>
        </p:nvSpPr>
        <p:spPr>
          <a:xfrm>
            <a:off x="285748" y="286047"/>
            <a:ext cx="8572456" cy="393807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4" name="Google Shape;664;p55"/>
          <p:cNvSpPr/>
          <p:nvPr/>
        </p:nvSpPr>
        <p:spPr>
          <a:xfrm>
            <a:off x="285748" y="1209852"/>
            <a:ext cx="8572456" cy="301427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5" name="Google Shape;665;p55"/>
          <p:cNvSpPr/>
          <p:nvPr/>
        </p:nvSpPr>
        <p:spPr>
          <a:xfrm>
            <a:off x="285749" y="1209852"/>
            <a:ext cx="2071677" cy="3014270"/>
          </a:xfrm>
          <a:prstGeom prst="roundRect">
            <a:avLst>
              <a:gd fmla="val 4634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0" name="Google Shape;670;p55"/>
          <p:cNvSpPr/>
          <p:nvPr/>
        </p:nvSpPr>
        <p:spPr>
          <a:xfrm>
            <a:off x="2452675" y="1209852"/>
            <a:ext cx="2071677" cy="3014270"/>
          </a:xfrm>
          <a:prstGeom prst="roundRect">
            <a:avLst>
              <a:gd fmla="val 4634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5" name="Google Shape;675;p55"/>
          <p:cNvSpPr/>
          <p:nvPr/>
        </p:nvSpPr>
        <p:spPr>
          <a:xfrm>
            <a:off x="4619601" y="1209852"/>
            <a:ext cx="2071677" cy="3014270"/>
          </a:xfrm>
          <a:prstGeom prst="roundRect">
            <a:avLst>
              <a:gd fmla="val 4634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0" name="Google Shape;680;p55"/>
          <p:cNvSpPr/>
          <p:nvPr/>
        </p:nvSpPr>
        <p:spPr>
          <a:xfrm>
            <a:off x="6786527" y="1209852"/>
            <a:ext cx="2071677" cy="3014270"/>
          </a:xfrm>
          <a:prstGeom prst="roundRect">
            <a:avLst>
              <a:gd fmla="val 4634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1" name="title"/>
          <p:cNvSpPr txBox="1"/>
          <p:nvPr/>
        </p:nvSpPr>
        <p:spPr>
          <a:xfrm>
            <a:off x="274320" y="282943"/>
            <a:ext cx="6792986" cy="6172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38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38">
                <a:solidFill>
                  <a:srgbClr val="000000"/>
                </a:solidFill>
                <a:latin typeface="Play"/>
                <a:ea typeface="Play"/>
                <a:cs typeface="Play"/>
              </a:rPr>
              <a:t>Что потребуется: ресурсы и сроки</a:t>
            </a:r>
          </a:p>
        </p:txBody>
      </p:sp>
      <p:sp>
        <p:nvSpPr>
          <p:cNvPr id="682" name="stat_0:bar"/>
          <p:cNvSpPr/>
          <p:nvPr/>
        </p:nvSpPr>
        <p:spPr>
          <a:xfrm>
            <a:off x="274320" y="1410462"/>
            <a:ext cx="50800" cy="1725168"/>
          </a:xfrm>
          <a:prstGeom prst="rect">
            <a:avLst/>
          </a:prstGeom>
          <a:solidFill>
            <a:srgbClr val="00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3" name="stat_0"/>
          <p:cNvSpPr txBox="1"/>
          <p:nvPr/>
        </p:nvSpPr>
        <p:spPr>
          <a:xfrm>
            <a:off x="452119" y="1337310"/>
            <a:ext cx="1658059" cy="1798320"/>
          </a:xfrm>
          <a:prstGeom prst="rect">
            <a:avLst/>
          </a:prstGeom>
          <a:noFill/>
        </p:spPr>
        <p:txBody>
          <a:bodyPr wrap="square" lIns="76200" rIns="76200" tIns="0" bIns="0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  <a:defRPr sz="3200" b="1">
                <a:solidFill>
                  <a:srgbClr val="0077FF"/>
                </a:solidFill>
                <a:latin typeface="Play"/>
                <a:ea typeface="Play"/>
                <a:cs typeface="Play"/>
              </a:defRPr>
            </a:pPr>
            <a:r>
              <a:rPr sz="3200" b="1">
                <a:solidFill>
                  <a:srgbClr val="0077FF"/>
                </a:solidFill>
                <a:latin typeface="Play"/>
                <a:ea typeface="Play"/>
                <a:cs typeface="Play"/>
              </a:rPr>
              <a:t>2 vCPU</a:t>
            </a:r>
          </a:p>
          <a:p>
            <a:pPr>
              <a:spcAft>
                <a:spcPts val="300"/>
              </a:spcAft>
              <a:defRPr sz="18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Сервис работает на машине 2 vCPU / 2 ГБ RAM</a:t>
            </a:r>
          </a:p>
        </p:txBody>
      </p:sp>
      <p:sp>
        <p:nvSpPr>
          <p:cNvPr id="684" name="stat_1:bar"/>
          <p:cNvSpPr/>
          <p:nvPr/>
        </p:nvSpPr>
        <p:spPr>
          <a:xfrm>
            <a:off x="2443971" y="1410462"/>
            <a:ext cx="50800" cy="1725168"/>
          </a:xfrm>
          <a:prstGeom prst="rect">
            <a:avLst/>
          </a:prstGeom>
          <a:solidFill>
            <a:srgbClr val="00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5" name="stat_1"/>
          <p:cNvSpPr txBox="1"/>
          <p:nvPr/>
        </p:nvSpPr>
        <p:spPr>
          <a:xfrm>
            <a:off x="2621771" y="1337310"/>
            <a:ext cx="1658059" cy="1798320"/>
          </a:xfrm>
          <a:prstGeom prst="rect">
            <a:avLst/>
          </a:prstGeom>
          <a:noFill/>
        </p:spPr>
        <p:txBody>
          <a:bodyPr wrap="square" lIns="76200" rIns="76200" tIns="0" bIns="0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  <a:defRPr sz="3200" b="1">
                <a:solidFill>
                  <a:srgbClr val="0077FF"/>
                </a:solidFill>
                <a:latin typeface="Play"/>
                <a:ea typeface="Play"/>
                <a:cs typeface="Play"/>
              </a:defRPr>
            </a:pPr>
            <a:r>
              <a:rPr sz="3200" b="1">
                <a:solidFill>
                  <a:srgbClr val="0077FF"/>
                </a:solidFill>
                <a:latin typeface="Play"/>
                <a:ea typeface="Play"/>
                <a:cs typeface="Play"/>
              </a:rPr>
              <a:t>6 нед.</a:t>
            </a:r>
          </a:p>
          <a:p>
            <a:pPr>
              <a:spcAft>
                <a:spcPts val="300"/>
              </a:spcAft>
              <a:defRPr sz="18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Стоимость инференса за 6 недель – 1 400 руб</a:t>
            </a:r>
          </a:p>
        </p:txBody>
      </p:sp>
      <p:sp>
        <p:nvSpPr>
          <p:cNvPr id="686" name="stat_2:bar"/>
          <p:cNvSpPr/>
          <p:nvPr/>
        </p:nvSpPr>
        <p:spPr>
          <a:xfrm>
            <a:off x="4613623" y="1410462"/>
            <a:ext cx="50800" cy="1427988"/>
          </a:xfrm>
          <a:prstGeom prst="rect">
            <a:avLst/>
          </a:prstGeom>
          <a:solidFill>
            <a:srgbClr val="00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7" name="stat_2"/>
          <p:cNvSpPr txBox="1"/>
          <p:nvPr/>
        </p:nvSpPr>
        <p:spPr>
          <a:xfrm>
            <a:off x="4791423" y="1337310"/>
            <a:ext cx="1658059" cy="1501140"/>
          </a:xfrm>
          <a:prstGeom prst="rect">
            <a:avLst/>
          </a:prstGeom>
          <a:noFill/>
        </p:spPr>
        <p:txBody>
          <a:bodyPr wrap="square" lIns="76200" rIns="76200" tIns="0" bIns="0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  <a:defRPr sz="3200" b="1">
                <a:solidFill>
                  <a:srgbClr val="0077FF"/>
                </a:solidFill>
                <a:latin typeface="Play"/>
                <a:ea typeface="Play"/>
                <a:cs typeface="Play"/>
              </a:defRPr>
            </a:pPr>
            <a:r>
              <a:rPr sz="3200" b="1">
                <a:solidFill>
                  <a:srgbClr val="0077FF"/>
                </a:solidFill>
                <a:latin typeface="Play"/>
                <a:ea typeface="Play"/>
                <a:cs typeface="Play"/>
              </a:rPr>
              <a:t>2026</a:t>
            </a:r>
          </a:p>
          <a:p>
            <a:pPr>
              <a:spcAft>
                <a:spcPts val="300"/>
              </a:spcAft>
              <a:defRPr sz="18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Подключение 4 команд в Q3 2026</a:t>
            </a:r>
          </a:p>
        </p:txBody>
      </p:sp>
      <p:sp>
        <p:nvSpPr>
          <p:cNvPr id="688" name="stat_3:bar"/>
          <p:cNvSpPr/>
          <p:nvPr/>
        </p:nvSpPr>
        <p:spPr>
          <a:xfrm>
            <a:off x="6783275" y="1410462"/>
            <a:ext cx="50800" cy="1427988"/>
          </a:xfrm>
          <a:prstGeom prst="rect">
            <a:avLst/>
          </a:prstGeom>
          <a:solidFill>
            <a:srgbClr val="00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9" name="stat_3"/>
          <p:cNvSpPr txBox="1"/>
          <p:nvPr/>
        </p:nvSpPr>
        <p:spPr>
          <a:xfrm>
            <a:off x="6961075" y="1337310"/>
            <a:ext cx="1658059" cy="1501140"/>
          </a:xfrm>
          <a:prstGeom prst="rect">
            <a:avLst/>
          </a:prstGeom>
          <a:noFill/>
        </p:spPr>
        <p:txBody>
          <a:bodyPr wrap="square" lIns="76200" rIns="76200" tIns="0" bIns="0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  <a:defRPr sz="3200" b="1">
                <a:solidFill>
                  <a:srgbClr val="0077FF"/>
                </a:solidFill>
                <a:latin typeface="Play"/>
                <a:ea typeface="Play"/>
                <a:cs typeface="Play"/>
              </a:defRPr>
            </a:pPr>
            <a:r>
              <a:rPr sz="3200" b="1">
                <a:solidFill>
                  <a:srgbClr val="0077FF"/>
                </a:solidFill>
                <a:latin typeface="Play"/>
                <a:ea typeface="Play"/>
                <a:cs typeface="Play"/>
              </a:rPr>
              <a:t>2026</a:t>
            </a:r>
          </a:p>
          <a:p>
            <a:pPr>
              <a:spcAft>
                <a:spcPts val="300"/>
              </a:spcAft>
              <a:defRPr sz="18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Запуск для всей компании в Q4 2026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74320" y="282943"/>
            <a:ext cx="6792986" cy="6172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38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38">
                <a:solidFill>
                  <a:srgbClr val="000000"/>
                </a:solidFill>
                <a:latin typeface="Play"/>
                <a:ea typeface="Play"/>
                <a:cs typeface="Play"/>
              </a:rPr>
              <a:t>План пилота: 6 недель, 2 команды</a:t>
            </a:r>
          </a:p>
        </p:txBody>
      </p:sp>
      <p:sp>
        <p:nvSpPr>
          <p:cNvPr id="3" name="Pentagon 2"/>
          <p:cNvSpPr/>
          <p:nvPr/>
        </p:nvSpPr>
        <p:spPr>
          <a:xfrm>
            <a:off x="274320" y="1373314"/>
            <a:ext cx="8344814" cy="442341"/>
          </a:xfrm>
          <a:prstGeom prst="homePlat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Неделя 1</a:t>
            </a:r>
          </a:p>
        </p:txBody>
      </p:sp>
      <p:sp>
        <p:nvSpPr>
          <p:cNvPr id="4" name="Chevron 3"/>
          <p:cNvSpPr/>
          <p:nvPr/>
        </p:nvSpPr>
        <p:spPr>
          <a:xfrm>
            <a:off x="274320" y="1887664"/>
            <a:ext cx="8344814" cy="442341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Неделя 2</a:t>
            </a:r>
          </a:p>
        </p:txBody>
      </p:sp>
      <p:sp>
        <p:nvSpPr>
          <p:cNvPr id="5" name="Chevron 4"/>
          <p:cNvSpPr/>
          <p:nvPr/>
        </p:nvSpPr>
        <p:spPr>
          <a:xfrm>
            <a:off x="274320" y="2402014"/>
            <a:ext cx="8344814" cy="442341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Неделя 3</a:t>
            </a:r>
          </a:p>
        </p:txBody>
      </p:sp>
      <p:sp>
        <p:nvSpPr>
          <p:cNvPr id="6" name="Chevron 5"/>
          <p:cNvSpPr/>
          <p:nvPr/>
        </p:nvSpPr>
        <p:spPr>
          <a:xfrm>
            <a:off x="274320" y="2916364"/>
            <a:ext cx="8344814" cy="442341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Неделя 4</a:t>
            </a:r>
          </a:p>
        </p:txBody>
      </p:sp>
      <p:sp>
        <p:nvSpPr>
          <p:cNvPr id="7" name="Chevron 6"/>
          <p:cNvSpPr/>
          <p:nvPr/>
        </p:nvSpPr>
        <p:spPr>
          <a:xfrm>
            <a:off x="274320" y="3430714"/>
            <a:ext cx="8344814" cy="442341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Неделя 5</a:t>
            </a:r>
          </a:p>
        </p:txBody>
      </p:sp>
      <p:sp>
        <p:nvSpPr>
          <p:cNvPr id="8" name="Chevron 7"/>
          <p:cNvSpPr/>
          <p:nvPr/>
        </p:nvSpPr>
        <p:spPr>
          <a:xfrm>
            <a:off x="274320" y="3945064"/>
            <a:ext cx="8344814" cy="442341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Неделя 6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56" name="Google Shape;1056;p66"/>
          <p:cNvSpPr/>
          <p:nvPr/>
        </p:nvSpPr>
        <p:spPr>
          <a:xfrm>
            <a:off x="285748" y="276524"/>
            <a:ext cx="8572456" cy="685711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7" name="Google Shape;1057;p66"/>
          <p:cNvSpPr/>
          <p:nvPr/>
        </p:nvSpPr>
        <p:spPr>
          <a:xfrm>
            <a:off x="3838239" y="276524"/>
            <a:ext cx="4948861" cy="1025866"/>
          </a:xfrm>
          <a:prstGeom prst="roundRect">
            <a:avLst>
              <a:gd fmla="val 10361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8" name="Google Shape;1058;p66"/>
          <p:cNvSpPr/>
          <p:nvPr/>
        </p:nvSpPr>
        <p:spPr>
          <a:xfrm>
            <a:off x="4048160" y="486417"/>
            <a:ext cx="4529021" cy="128571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9" name="title"/>
          <p:cNvSpPr txBox="1"/>
          <p:nvPr/>
        </p:nvSpPr>
        <p:spPr>
          <a:xfrm>
            <a:off x="274320" y="282943"/>
            <a:ext cx="3412266" cy="932027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38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38">
                <a:solidFill>
                  <a:srgbClr val="000000"/>
                </a:solidFill>
                <a:latin typeface="Play"/>
                <a:ea typeface="Play"/>
                <a:cs typeface="Play"/>
              </a:rPr>
              <a:t>Результаты пилота: эффективность</a:t>
            </a:r>
          </a:p>
        </p:txBody>
      </p:sp>
      <p:graphicFrame>
        <p:nvGraphicFramePr>
          <p:cNvPr id="1060" name="Table 1059"/>
          <p:cNvGraphicFramePr>
            <a:graphicFrameLocks noGrp="1"/>
          </p:cNvGraphicFramePr>
          <p:nvPr/>
        </p:nvGraphicFramePr>
        <p:xfrm>
          <a:off x="274320" y="1394994"/>
          <a:ext cx="8344814" cy="30284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81604"/>
                <a:gridCol w="2781604"/>
                <a:gridCol w="2781606"/>
              </a:tblGrid>
              <a:tr h="757103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Показатель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Сейчас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Сервис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757103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Время, мин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186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57103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Нарушения колод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57106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Запросы, кол-во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543608" y="159030"/>
            <a:ext cx="7202525" cy="3204328"/>
          </a:xfrm>
          <a:prstGeom prst="roundRect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1670608" y="286030"/>
            <a:ext cx="6948525" cy="11836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000000"/>
                </a:solidFill>
                <a:latin typeface="Play"/>
                <a:ea typeface="Play"/>
                <a:cs typeface="Play"/>
              </a:rPr>
              <a:t>Что мы просим решить: запуск на всю компанию</a:t>
            </a:r>
          </a:p>
        </p:txBody>
      </p:sp>
      <p:sp>
        <p:nvSpPr>
          <p:cNvPr id="4" name="body"/>
          <p:cNvSpPr txBox="1"/>
          <p:nvPr/>
        </p:nvSpPr>
        <p:spPr>
          <a:xfrm>
            <a:off x="1670608" y="2243218"/>
            <a:ext cx="6948525" cy="9931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Решение о запуске сервиса на всю компанию</a:t>
            </a:r>
          </a:p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Поддержка интеграции с корпоративным хранилищем документов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VK Tech">
  <a:themeElements>
    <a:clrScheme name="Пользовательские 5">
      <a:dk1>
        <a:srgbClr val="000000"/>
      </a:dk1>
      <a:lt1>
        <a:srgbClr val="FAFCFF"/>
      </a:lt1>
      <a:dk2>
        <a:srgbClr val="001515"/>
      </a:dk2>
      <a:lt2>
        <a:srgbClr val="FEFFFF"/>
      </a:lt2>
      <a:accent1>
        <a:srgbClr val="0077FF"/>
      </a:accent1>
      <a:accent2>
        <a:srgbClr val="FFFFFF"/>
      </a:accent2>
      <a:accent3>
        <a:srgbClr val="FF3885"/>
      </a:accent3>
      <a:accent4>
        <a:srgbClr val="202020"/>
      </a:accent4>
      <a:accent5>
        <a:srgbClr val="F7FAFE"/>
      </a:accent5>
      <a:accent6>
        <a:srgbClr val="D6ECFF"/>
      </a:accent6>
      <a:hlink>
        <a:srgbClr val="0563C1"/>
      </a:hlink>
      <a:folHlink>
        <a:srgbClr val="FEFF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VK Tech">
  <a:themeElements>
    <a:clrScheme name="Пользовательские 5">
      <a:dk1>
        <a:srgbClr val="000000"/>
      </a:dk1>
      <a:lt1>
        <a:srgbClr val="FAFCFF"/>
      </a:lt1>
      <a:dk2>
        <a:srgbClr val="001515"/>
      </a:dk2>
      <a:lt2>
        <a:srgbClr val="FEFFFF"/>
      </a:lt2>
      <a:accent1>
        <a:srgbClr val="0077FF"/>
      </a:accent1>
      <a:accent2>
        <a:srgbClr val="FFFFFF"/>
      </a:accent2>
      <a:accent3>
        <a:srgbClr val="FF3885"/>
      </a:accent3>
      <a:accent4>
        <a:srgbClr val="202020"/>
      </a:accent4>
      <a:accent5>
        <a:srgbClr val="F7FAFE"/>
      </a:accent5>
      <a:accent6>
        <a:srgbClr val="D6ECFF"/>
      </a:accent6>
      <a:hlink>
        <a:srgbClr val="0563C1"/>
      </a:hlink>
      <a:folHlink>
        <a:srgbClr val="FEFF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
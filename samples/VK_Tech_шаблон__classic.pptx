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До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Sheet1!$A$2:$A$5</c:f>
              <c:strCache>
                <c:ptCount val="4"/>
                <c:pt idx="0">
                  <c:v>Время на колоду (мин)</c:v>
                </c:pt>
                <c:pt idx="1">
                  <c:v>Время до первой версии (дн)</c:v>
                </c:pt>
                <c:pt idx="2">
                  <c:v>Нарушения стиля</c:v>
                </c:pt>
                <c:pt idx="3">
                  <c:v>Запросы закрыты/нед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186.0</c:v>
                </c:pt>
                <c:pt idx="1">
                  <c:v>6.0</c:v>
                </c:pt>
                <c:pt idx="2">
                  <c:v>19.0</c:v>
                </c:pt>
                <c:pt idx="3">
                  <c:v>11.0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</c:v>
                </c:pt>
              </c:strCache>
            </c:strRef>
          </c:tx>
          <c:spPr>
            <a:solidFill>
              <a:srgbClr val="FFD91D"/>
            </a:solidFill>
            <a:ln>
              <a:solidFill>
                <a:srgbClr val="FFD91D"/>
              </a:solidFill>
            </a:ln>
          </c:spPr>
          <c:cat>
            <c:strRef>
              <c:f>Sheet1!$A$2:$A$5</c:f>
              <c:strCache>
                <c:ptCount val="4"/>
                <c:pt idx="0">
                  <c:v>Время на колоду (мин)</c:v>
                </c:pt>
                <c:pt idx="1">
                  <c:v>Время до первой версии (дн)</c:v>
                </c:pt>
                <c:pt idx="2">
                  <c:v>Нарушения стиля</c:v>
                </c:pt>
                <c:pt idx="3">
                  <c:v>Запросы закрыты/нед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4.0</c:v>
                </c:pt>
                <c:pt idx="1">
                  <c:v>1.0</c:v>
                </c:pt>
                <c:pt idx="2">
                  <c:v>2.0</c:v>
                </c:pt>
                <c:pt idx="3">
                  <c:v>38.0</c:v>
                </c:pt>
              </c:numCache>
            </c:numRef>
          </c:val>
        </c:ser>
        <c:dLbls>
          <c:numFmt formatCode="0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473726" y="1370485"/>
            <a:ext cx="4288261" cy="80007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1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презентаций: пилот и масштаб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385" name="Google Shape;2385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88142" y="2000324"/>
            <a:ext cx="8755811" cy="9524"/>
          </a:xfrm>
          <a:prstGeom prst="rect">
            <a:avLst/>
          </a:prstGeom>
          <a:noFill/>
          <a:ln>
            <a:noFill/>
          </a:ln>
        </p:spPr>
      </p:pic>
      <p:sp>
        <p:nvSpPr>
          <p:cNvPr id="2386" name="Google Shape;2386;p88"/>
          <p:cNvSpPr/>
          <p:nvPr/>
        </p:nvSpPr>
        <p:spPr>
          <a:xfrm>
            <a:off x="319086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8" name="Google Shape;2388;p88"/>
          <p:cNvSpPr/>
          <p:nvPr/>
        </p:nvSpPr>
        <p:spPr>
          <a:xfrm>
            <a:off x="2600312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0" name="Google Shape;2390;p88"/>
          <p:cNvSpPr/>
          <p:nvPr/>
        </p:nvSpPr>
        <p:spPr>
          <a:xfrm>
            <a:off x="4881537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2" name="Google Shape;2392;p88"/>
          <p:cNvSpPr/>
          <p:nvPr/>
        </p:nvSpPr>
        <p:spPr>
          <a:xfrm>
            <a:off x="7162763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2394" name="Google Shape;2394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3684300"/>
            <a:ext cx="7238962" cy="7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395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Текущие трудности в сборке презентаций</a:t>
            </a:r>
          </a:p>
        </p:txBody>
      </p:sp>
      <p:sp>
        <p:nvSpPr>
          <p:cNvPr id="2396" name="body"/>
          <p:cNvSpPr txBox="1"/>
          <p:nvPr/>
        </p:nvSpPr>
        <p:spPr>
          <a:xfrm>
            <a:off x="274320" y="2086975"/>
            <a:ext cx="8344814" cy="1422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42 колоды, 186 мин на одну 12-слайдовую презентацию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74 мин на правки после ревью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колод нарушили фирменный стиль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Дизайн-отдел закрывает 11 запросов/неделю из 27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Средний срок ожидания 6 рабочих дней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55"/>
          <p:cNvSpPr/>
          <p:nvPr/>
        </p:nvSpPr>
        <p:spPr>
          <a:xfrm>
            <a:off x="438148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55"/>
          <p:cNvSpPr/>
          <p:nvPr/>
        </p:nvSpPr>
        <p:spPr>
          <a:xfrm>
            <a:off x="2605074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2605074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55"/>
          <p:cNvSpPr/>
          <p:nvPr/>
        </p:nvSpPr>
        <p:spPr>
          <a:xfrm>
            <a:off x="4772001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4772001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55"/>
          <p:cNvSpPr/>
          <p:nvPr/>
        </p:nvSpPr>
        <p:spPr>
          <a:xfrm>
            <a:off x="6938927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5"/>
          <p:cNvSpPr/>
          <p:nvPr/>
        </p:nvSpPr>
        <p:spPr>
          <a:xfrm>
            <a:off x="6938927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Предлагаемый сервис автоматической вёрстки</a:t>
            </a:r>
          </a:p>
        </p:txBody>
      </p:sp>
      <p:sp>
        <p:nvSpPr>
          <p:cNvPr id="684" name="card_0"/>
          <p:cNvSpPr txBox="1"/>
          <p:nvPr/>
        </p:nvSpPr>
        <p:spPr>
          <a:xfrm>
            <a:off x="582575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Принимает шаблон pptx и материалы, автоматически строит дизайн-систему</a:t>
            </a:r>
          </a:p>
        </p:txBody>
      </p:sp>
      <p:sp>
        <p:nvSpPr>
          <p:cNvPr id="685" name="card_1"/>
          <p:cNvSpPr txBox="1"/>
          <p:nvPr/>
        </p:nvSpPr>
        <p:spPr>
          <a:xfrm>
            <a:off x="2749428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Генерирует план колоды и вёрстку по ролям страниц</a:t>
            </a:r>
          </a:p>
        </p:txBody>
      </p:sp>
      <p:sp>
        <p:nvSpPr>
          <p:cNvPr id="686" name="card_2"/>
          <p:cNvSpPr txBox="1"/>
          <p:nvPr/>
        </p:nvSpPr>
        <p:spPr>
          <a:xfrm>
            <a:off x="4916374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Аудит качества проверяет стиль и данные до выдачи</a:t>
            </a:r>
          </a:p>
        </p:txBody>
      </p:sp>
      <p:sp>
        <p:nvSpPr>
          <p:cNvPr id="687" name="card_3"/>
          <p:cNvSpPr txBox="1"/>
          <p:nvPr/>
        </p:nvSpPr>
        <p:spPr>
          <a:xfrm>
            <a:off x="7083319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Экспорт в pptx, pdf, html, слайды остаются редактируемыми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Результаты пилота за 6 недель</a:t>
            </a:r>
          </a:p>
        </p:txBody>
      </p:sp>
      <p:graphicFrame>
        <p:nvGraphicFramePr>
          <p:cNvPr id="556" name="Chart 555"/>
          <p:cNvGraphicFramePr>
            <a:graphicFrameLocks noGrp="1"/>
          </p:cNvGraphicFramePr>
          <p:nvPr/>
        </p:nvGraphicFramePr>
        <p:xfrm>
          <a:off x="274320" y="1414513"/>
          <a:ext cx="8344814" cy="285186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Ожидаемый эффект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274320" y="1414513"/>
            <a:ext cx="7189469" cy="260240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Сокращение времени сборки с 186 до 4 минут</a:t>
            </a:r>
          </a:p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Сокращение времени до первой версии с 6 до 1 дня</a:t>
            </a:r>
          </a:p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Снижение нарушений стиля до 2 из 68 колод</a:t>
            </a:r>
          </a:p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Увеличение объёма закрытых запросов до 38/нед</a:t>
            </a:r>
          </a:p>
          <a:p>
            <a:pPr algn="l">
              <a:spcAft>
                <a:spcPts val="300"/>
              </a:spcAft>
              <a:defRPr sz="1800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Стоимость инференса за пилот – 1400 руб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Ресурсы и сроки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274320" y="1414513"/>
            <a:ext cx="8344814" cy="17908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работает на 2 vCPU / 2 ГБ RAM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Модель gpt-oss-20b через OpenAI-совместимый протокол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План: Q3 2026 – подключение 4 команд, домен и HTTPS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Q4 2026 – доступ для всей компании, интеграция с хранилищем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Q1 2027 – генерация иллюстраций под стиль шаблона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28" name="Google Shape;1028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03313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30" name="Google Shape;1030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10249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7" name="Google Shape;1037;p65"/>
          <p:cNvSpPr/>
          <p:nvPr/>
        </p:nvSpPr>
        <p:spPr>
          <a:xfrm>
            <a:off x="2422509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38" name="Google Shape;1038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422506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039" name="Google Shape;103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5859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0" name="Google Shape;1040;p65"/>
          <p:cNvSpPr/>
          <p:nvPr/>
        </p:nvSpPr>
        <p:spPr>
          <a:xfrm>
            <a:off x="3365480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3" name="Google Shape;1043;p65"/>
          <p:cNvSpPr/>
          <p:nvPr/>
        </p:nvSpPr>
        <p:spPr>
          <a:xfrm>
            <a:off x="5311741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44" name="Google Shape;1044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45091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Google Shape;1045;p65"/>
          <p:cNvSpPr/>
          <p:nvPr/>
        </p:nvSpPr>
        <p:spPr>
          <a:xfrm>
            <a:off x="6254721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8" name="Google Shape;1048;p65"/>
          <p:cNvSpPr/>
          <p:nvPr/>
        </p:nvSpPr>
        <p:spPr>
          <a:xfrm>
            <a:off x="8200982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49" name="Google Shape;10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34332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50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Риски</a:t>
            </a:r>
          </a:p>
        </p:txBody>
      </p:sp>
      <p:sp>
        <p:nvSpPr>
          <p:cNvPr id="1051" name="card_0"/>
          <p:cNvSpPr txBox="1"/>
          <p:nvPr/>
        </p:nvSpPr>
        <p:spPr>
          <a:xfrm>
            <a:off x="576030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Слабая модель может выдумать неверные цифры – аудит проверяет</a:t>
            </a:r>
          </a:p>
        </p:txBody>
      </p:sp>
      <p:sp>
        <p:nvSpPr>
          <p:cNvPr id="1052" name="card_1"/>
          <p:cNvSpPr txBox="1"/>
          <p:nvPr/>
        </p:nvSpPr>
        <p:spPr>
          <a:xfrm>
            <a:off x="3465259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Плохой шаблон приводит к использованию рабочей области вместо готовых страниц</a:t>
            </a:r>
          </a:p>
        </p:txBody>
      </p:sp>
      <p:sp>
        <p:nvSpPr>
          <p:cNvPr id="1053" name="card_2"/>
          <p:cNvSpPr txBox="1"/>
          <p:nvPr/>
        </p:nvSpPr>
        <p:spPr>
          <a:xfrm>
            <a:off x="6354489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Нагрузка выше 20 одновременных задач требует внешней очереди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55"/>
          <p:cNvSpPr/>
          <p:nvPr/>
        </p:nvSpPr>
        <p:spPr>
          <a:xfrm>
            <a:off x="438148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55"/>
          <p:cNvSpPr/>
          <p:nvPr/>
        </p:nvSpPr>
        <p:spPr>
          <a:xfrm>
            <a:off x="2605074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2605074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55"/>
          <p:cNvSpPr/>
          <p:nvPr/>
        </p:nvSpPr>
        <p:spPr>
          <a:xfrm>
            <a:off x="4772001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4772001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55"/>
          <p:cNvSpPr/>
          <p:nvPr/>
        </p:nvSpPr>
        <p:spPr>
          <a:xfrm>
            <a:off x="6938927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5"/>
          <p:cNvSpPr/>
          <p:nvPr/>
        </p:nvSpPr>
        <p:spPr>
          <a:xfrm>
            <a:off x="6938927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684" name="card_0"/>
          <p:cNvSpPr txBox="1"/>
          <p:nvPr/>
        </p:nvSpPr>
        <p:spPr>
          <a:xfrm>
            <a:off x="582575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Подключить ещё 4 команды в Q3 2026</a:t>
            </a:r>
          </a:p>
        </p:txBody>
      </p:sp>
      <p:sp>
        <p:nvSpPr>
          <p:cNvPr id="685" name="card_1"/>
          <p:cNvSpPr txBox="1"/>
          <p:nvPr/>
        </p:nvSpPr>
        <p:spPr>
          <a:xfrm>
            <a:off x="2749428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Настроить домен и HTTPS</a:t>
            </a:r>
          </a:p>
        </p:txBody>
      </p:sp>
      <p:sp>
        <p:nvSpPr>
          <p:cNvPr id="686" name="card_2"/>
          <p:cNvSpPr txBox="1"/>
          <p:nvPr/>
        </p:nvSpPr>
        <p:spPr>
          <a:xfrm>
            <a:off x="4916374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Интегрировать с корпоративным хранилищем документов</a:t>
            </a:r>
          </a:p>
        </p:txBody>
      </p:sp>
      <p:sp>
        <p:nvSpPr>
          <p:cNvPr id="687" name="card_3"/>
          <p:cNvSpPr txBox="1"/>
          <p:nvPr/>
        </p:nvSpPr>
        <p:spPr>
          <a:xfrm>
            <a:off x="7083319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В Q1 2027 добавить генерацию иллюстраций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28" name="Google Shape;1028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03313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30" name="Google Shape;1030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10249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7" name="Google Shape;1037;p65"/>
          <p:cNvSpPr/>
          <p:nvPr/>
        </p:nvSpPr>
        <p:spPr>
          <a:xfrm>
            <a:off x="2422509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38" name="Google Shape;1038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422506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039" name="Google Shape;103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5859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0" name="Google Shape;1040;p65"/>
          <p:cNvSpPr/>
          <p:nvPr/>
        </p:nvSpPr>
        <p:spPr>
          <a:xfrm>
            <a:off x="3365480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3" name="Google Shape;1043;p65"/>
          <p:cNvSpPr/>
          <p:nvPr/>
        </p:nvSpPr>
        <p:spPr>
          <a:xfrm>
            <a:off x="5311741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44" name="Google Shape;1044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45091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Google Shape;1045;p65"/>
          <p:cNvSpPr/>
          <p:nvPr/>
        </p:nvSpPr>
        <p:spPr>
          <a:xfrm>
            <a:off x="6254721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8" name="Google Shape;1048;p65"/>
          <p:cNvSpPr/>
          <p:nvPr/>
        </p:nvSpPr>
        <p:spPr>
          <a:xfrm>
            <a:off x="8200982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49" name="Google Shape;10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34332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50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1051" name="card_0"/>
          <p:cNvSpPr txBox="1"/>
          <p:nvPr/>
        </p:nvSpPr>
        <p:spPr>
          <a:xfrm>
            <a:off x="576030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Одобрить запуск сервиса на всю компанию</a:t>
            </a:r>
          </a:p>
        </p:txBody>
      </p:sp>
      <p:sp>
        <p:nvSpPr>
          <p:cNvPr id="1052" name="card_1"/>
          <p:cNvSpPr txBox="1"/>
          <p:nvPr/>
        </p:nvSpPr>
        <p:spPr>
          <a:xfrm>
            <a:off x="3465259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Предоставить ресурсы для масштабирования (серверы, лицензии)</a:t>
            </a:r>
          </a:p>
        </p:txBody>
      </p:sp>
      <p:sp>
        <p:nvSpPr>
          <p:cNvPr id="1053" name="card_2"/>
          <p:cNvSpPr txBox="1"/>
          <p:nvPr/>
        </p:nvSpPr>
        <p:spPr>
          <a:xfrm>
            <a:off x="6354489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Согласовать сроки и ответственных за интеграцию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43608" y="159030"/>
            <a:ext cx="7202525" cy="3282246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1670608" y="286030"/>
            <a:ext cx="6948525" cy="6553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Вывод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1670608" y="1891876"/>
            <a:ext cx="6948525" cy="1422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Автоматизация вёрстки повышает скорость, качество и экономит ресурсы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Пилот показал значительный рост эффективности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Запуск на всю компанию – стратегический шаг к цифровой трансформации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
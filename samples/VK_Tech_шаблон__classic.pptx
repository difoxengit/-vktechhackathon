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Ручная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Срок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6 дней</c:v>
                </c:pt>
                <c:pt idx="1">
                  <c:v>1 день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</c:v>
                </c:pt>
                <c:pt idx="1">
                  <c:v>1.0</c:v>
                </c:pt>
              </c:numCache>
            </c:numRef>
          </c:val>
        </c:ser>
        <c:dLbls>
          <c:numFmt formatCode="0&quot; дней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Срок, дней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Ручная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188798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 Защита инициативы перед руководством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Сейчас: ручная сборка занимает 186 мин</a:t>
            </a:r>
          </a:p>
        </p:txBody>
      </p:sp>
      <p:sp>
        <p:nvSpPr>
          <p:cNvPr id="3" name="stat_0:bar"/>
          <p:cNvSpPr/>
          <p:nvPr/>
        </p:nvSpPr>
        <p:spPr>
          <a:xfrm>
            <a:off x="274320" y="1977238"/>
            <a:ext cx="50800" cy="142798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452119" y="1904086"/>
            <a:ext cx="2381276" cy="15011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186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колоды, 12 слайдов, 186 мин сборки</a:t>
            </a:r>
          </a:p>
        </p:txBody>
      </p:sp>
      <p:sp>
        <p:nvSpPr>
          <p:cNvPr id="5" name="stat_1:bar"/>
          <p:cNvSpPr/>
          <p:nvPr/>
        </p:nvSpPr>
        <p:spPr>
          <a:xfrm>
            <a:off x="3167188" y="1977238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_1"/>
          <p:cNvSpPr txBox="1"/>
          <p:nvPr/>
        </p:nvSpPr>
        <p:spPr>
          <a:xfrm>
            <a:off x="3344988" y="1904086"/>
            <a:ext cx="2381276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74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74 мин правки после ревью</a:t>
            </a:r>
          </a:p>
        </p:txBody>
      </p:sp>
      <p:sp>
        <p:nvSpPr>
          <p:cNvPr id="7" name="stat_2:bar"/>
          <p:cNvSpPr/>
          <p:nvPr/>
        </p:nvSpPr>
        <p:spPr>
          <a:xfrm>
            <a:off x="6060057" y="1977238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_2"/>
          <p:cNvSpPr txBox="1"/>
          <p:nvPr/>
        </p:nvSpPr>
        <p:spPr>
          <a:xfrm>
            <a:off x="6237857" y="1904086"/>
            <a:ext cx="2381276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19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колод нарушили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ждут 6 дней, закрывают 11 запросов</a:t>
            </a:r>
          </a:p>
        </p:txBody>
      </p:sp>
      <p:sp>
        <p:nvSpPr>
          <p:cNvPr id="556" name="body"/>
          <p:cNvSpPr txBox="1"/>
          <p:nvPr/>
        </p:nvSpPr>
        <p:spPr>
          <a:xfrm>
            <a:off x="274320" y="139499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Средний срок ожидания 6 рабочих дней</a:t>
            </a:r>
          </a:p>
        </p:txBody>
      </p:sp>
      <p:sp>
        <p:nvSpPr>
          <p:cNvPr id="557" name="stat_0:bar"/>
          <p:cNvSpPr/>
          <p:nvPr/>
        </p:nvSpPr>
        <p:spPr>
          <a:xfrm>
            <a:off x="274320" y="2021231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tat_0"/>
          <p:cNvSpPr txBox="1"/>
          <p:nvPr/>
        </p:nvSpPr>
        <p:spPr>
          <a:xfrm>
            <a:off x="452119" y="1948079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11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 дизайнера закрывают 11 запросов/неделю</a:t>
            </a:r>
          </a:p>
        </p:txBody>
      </p:sp>
      <p:sp>
        <p:nvSpPr>
          <p:cNvPr id="559" name="stat_1:bar"/>
          <p:cNvSpPr/>
          <p:nvPr/>
        </p:nvSpPr>
        <p:spPr>
          <a:xfrm>
            <a:off x="4613623" y="202123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tat_1"/>
          <p:cNvSpPr txBox="1"/>
          <p:nvPr/>
        </p:nvSpPr>
        <p:spPr>
          <a:xfrm>
            <a:off x="4791423" y="194807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27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27 запросов поступает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автоматической вёрстки: ускоряет сборку и устраняет ошибки</a:t>
            </a:r>
          </a:p>
        </p:txBody>
      </p:sp>
      <p:grpSp>
        <p:nvGrpSpPr>
          <p:cNvPr id="3" name="icon:builtin-layout"/>
          <p:cNvGrpSpPr/>
          <p:nvPr/>
        </p:nvGrpSpPr>
        <p:grpSpPr>
          <a:xfrm>
            <a:off x="328969" y="1449643"/>
            <a:ext cx="327898" cy="327898"/>
            <a:chOff x="328969" y="1449643"/>
            <a:chExt cx="327898" cy="327898"/>
          </a:xfrm>
        </p:grpSpPr>
        <p:sp>
          <p:nvSpPr>
            <p:cNvPr id="4" name="Rounded Rectangle 3"/>
            <p:cNvSpPr/>
            <p:nvPr/>
          </p:nvSpPr>
          <p:spPr>
            <a:xfrm>
              <a:off x="328969" y="1449643"/>
              <a:ext cx="327897" cy="327897"/>
            </a:xfrm>
            <a:prstGeom prst="roundRect">
              <a:avLst>
                <a:gd name="adj" fmla="val 11111"/>
              </a:avLst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328969" y="1558942"/>
              <a:ext cx="327898" cy="0"/>
            </a:xfrm>
            <a:custGeom>
              <a:avLst/>
              <a:gdLst/>
              <a:ahLst/>
              <a:cxnLst/>
              <a:rect l="l" t="t" r="r" b="b"/>
              <a:pathLst>
                <a:path w="327898" h="0">
                  <a:moveTo>
                    <a:pt x="0" y="0"/>
                  </a:moveTo>
                  <a:lnTo>
                    <a:pt x="327898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38268" y="1558942"/>
              <a:ext cx="0" cy="218599"/>
            </a:xfrm>
            <a:custGeom>
              <a:avLst/>
              <a:gdLst/>
              <a:ahLst/>
              <a:cxnLst/>
              <a:rect l="l" t="t" r="r" b="b"/>
              <a:pathLst>
                <a:path w="0" h="218599">
                  <a:moveTo>
                    <a:pt x="0" y="0"/>
                  </a:moveTo>
                  <a:lnTo>
                    <a:pt x="0" y="218599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item_0"/>
          <p:cNvSpPr txBox="1"/>
          <p:nvPr/>
        </p:nvSpPr>
        <p:spPr>
          <a:xfrm>
            <a:off x="908256" y="1414202"/>
            <a:ext cx="7710878" cy="8873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grpSp>
        <p:nvGrpSpPr>
          <p:cNvPr id="8" name="icon:builtin-next"/>
          <p:cNvGrpSpPr/>
          <p:nvPr/>
        </p:nvGrpSpPr>
        <p:grpSpPr>
          <a:xfrm>
            <a:off x="328969" y="2459115"/>
            <a:ext cx="327897" cy="327897"/>
            <a:chOff x="328969" y="2459115"/>
            <a:chExt cx="327897" cy="327897"/>
          </a:xfrm>
        </p:grpSpPr>
        <p:sp>
          <p:nvSpPr>
            <p:cNvPr id="9" name="Oval 8"/>
            <p:cNvSpPr/>
            <p:nvPr/>
          </p:nvSpPr>
          <p:spPr>
            <a:xfrm>
              <a:off x="328969" y="2459115"/>
              <a:ext cx="327897" cy="327897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420052" y="2623064"/>
              <a:ext cx="145732" cy="0"/>
            </a:xfrm>
            <a:custGeom>
              <a:avLst/>
              <a:gdLst/>
              <a:ahLst/>
              <a:cxnLst/>
              <a:rect l="l" t="t" r="r" b="b"/>
              <a:pathLst>
                <a:path w="145732" h="0">
                  <a:moveTo>
                    <a:pt x="0" y="0"/>
                  </a:moveTo>
                  <a:lnTo>
                    <a:pt x="145732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492918" y="2550198"/>
              <a:ext cx="72866" cy="145732"/>
            </a:xfrm>
            <a:custGeom>
              <a:avLst/>
              <a:gdLst/>
              <a:ahLst/>
              <a:cxnLst/>
              <a:rect l="l" t="t" r="r" b="b"/>
              <a:pathLst>
                <a:path w="72866" h="145732">
                  <a:moveTo>
                    <a:pt x="0" y="0"/>
                  </a:moveTo>
                  <a:lnTo>
                    <a:pt x="72866" y="72866"/>
                  </a:lnTo>
                  <a:lnTo>
                    <a:pt x="0" y="145732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item_1"/>
          <p:cNvSpPr txBox="1"/>
          <p:nvPr/>
        </p:nvSpPr>
        <p:spPr>
          <a:xfrm>
            <a:off x="908256" y="2423674"/>
            <a:ext cx="7710878" cy="8873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Генерирует план колоды и вёрстку по дизайн-системе</a:t>
            </a:r>
          </a:p>
        </p:txBody>
      </p:sp>
      <p:grpSp>
        <p:nvGrpSpPr>
          <p:cNvPr id="13" name="icon:builtin-download"/>
          <p:cNvGrpSpPr/>
          <p:nvPr/>
        </p:nvGrpSpPr>
        <p:grpSpPr>
          <a:xfrm>
            <a:off x="365402" y="3468587"/>
            <a:ext cx="255032" cy="327898"/>
            <a:chOff x="365402" y="3468587"/>
            <a:chExt cx="255032" cy="327898"/>
          </a:xfrm>
        </p:grpSpPr>
        <p:sp>
          <p:nvSpPr>
            <p:cNvPr id="14" name="Freeform 13"/>
            <p:cNvSpPr/>
            <p:nvPr/>
          </p:nvSpPr>
          <p:spPr>
            <a:xfrm>
              <a:off x="492918" y="3468587"/>
              <a:ext cx="0" cy="218599"/>
            </a:xfrm>
            <a:custGeom>
              <a:avLst/>
              <a:gdLst/>
              <a:ahLst/>
              <a:cxnLst/>
              <a:rect l="l" t="t" r="r" b="b"/>
              <a:pathLst>
                <a:path w="0" h="218599">
                  <a:moveTo>
                    <a:pt x="0" y="0"/>
                  </a:moveTo>
                  <a:lnTo>
                    <a:pt x="0" y="218599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401835" y="3596103"/>
              <a:ext cx="182166" cy="91083"/>
            </a:xfrm>
            <a:custGeom>
              <a:avLst/>
              <a:gdLst/>
              <a:ahLst/>
              <a:cxnLst/>
              <a:rect l="l" t="t" r="r" b="b"/>
              <a:pathLst>
                <a:path w="182166" h="91083">
                  <a:moveTo>
                    <a:pt x="0" y="0"/>
                  </a:moveTo>
                  <a:lnTo>
                    <a:pt x="91083" y="91083"/>
                  </a:lnTo>
                  <a:lnTo>
                    <a:pt x="182166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365402" y="3796485"/>
              <a:ext cx="255032" cy="0"/>
            </a:xfrm>
            <a:custGeom>
              <a:avLst/>
              <a:gdLst/>
              <a:ahLst/>
              <a:cxnLst/>
              <a:rect l="l" t="t" r="r" b="b"/>
              <a:pathLst>
                <a:path w="255032" h="0">
                  <a:moveTo>
                    <a:pt x="0" y="0"/>
                  </a:moveTo>
                  <a:lnTo>
                    <a:pt x="255032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7" name="item_2"/>
          <p:cNvSpPr txBox="1"/>
          <p:nvPr/>
        </p:nvSpPr>
        <p:spPr>
          <a:xfrm>
            <a:off x="908256" y="3433146"/>
            <a:ext cx="7710878" cy="8873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Экспорт в pptx, pdf, html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Сборка колоды за 4 мин вместо 186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37310"/>
          <a:ext cx="8344814" cy="30861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до первой версии 1 день вместо 6</a:t>
            </a:r>
          </a:p>
        </p:txBody>
      </p:sp>
      <p:graphicFrame>
        <p:nvGraphicFramePr>
          <p:cNvPr id="1035" name="Chart 1034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стиля 2/68 вместо 19/42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37310"/>
          <a:ext cx="8344814" cy="30861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Ресурсы: 1 машина 2 vCPU/2 GB RAM, 1400 руб инференса</a:t>
            </a:r>
          </a:p>
        </p:txBody>
      </p:sp>
      <p:sp>
        <p:nvSpPr>
          <p:cNvPr id="556" name="body"/>
          <p:cNvSpPr txBox="1"/>
          <p:nvPr/>
        </p:nvSpPr>
        <p:spPr>
          <a:xfrm>
            <a:off x="274320" y="191784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</a:t>
            </a:r>
          </a:p>
        </p:txBody>
      </p:sp>
      <p:sp>
        <p:nvSpPr>
          <p:cNvPr id="557" name="stat_0:bar"/>
          <p:cNvSpPr/>
          <p:nvPr/>
        </p:nvSpPr>
        <p:spPr>
          <a:xfrm>
            <a:off x="274320" y="254408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tat_0"/>
          <p:cNvSpPr txBox="1"/>
          <p:nvPr/>
        </p:nvSpPr>
        <p:spPr>
          <a:xfrm>
            <a:off x="452119" y="247092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 машина 2 vCPU / 2 GB RAM</a:t>
            </a:r>
          </a:p>
        </p:txBody>
      </p:sp>
      <p:sp>
        <p:nvSpPr>
          <p:cNvPr id="559" name="stat_1:bar"/>
          <p:cNvSpPr/>
          <p:nvPr/>
        </p:nvSpPr>
        <p:spPr>
          <a:xfrm>
            <a:off x="4613623" y="2544081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tat_1"/>
          <p:cNvSpPr txBox="1"/>
          <p:nvPr/>
        </p:nvSpPr>
        <p:spPr>
          <a:xfrm>
            <a:off x="4791423" y="2470929"/>
            <a:ext cx="3827710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6 недель 1400 руб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6 недель, 68 презентаций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274320" y="2756916"/>
            <a:ext cx="8344814" cy="9258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1325651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274320" y="1337310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Начало пилота</a:t>
            </a:r>
          </a:p>
        </p:txBody>
      </p:sp>
      <p:sp>
        <p:nvSpPr>
          <p:cNvPr id="669" name="Oval 668"/>
          <p:cNvSpPr/>
          <p:nvPr/>
        </p:nvSpPr>
        <p:spPr>
          <a:xfrm>
            <a:off x="4107256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2360523" y="3435858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Конец пилота</a:t>
            </a:r>
          </a:p>
        </p:txBody>
      </p:sp>
      <p:sp>
        <p:nvSpPr>
          <p:cNvPr id="671" name="Oval 670"/>
          <p:cNvSpPr/>
          <p:nvPr/>
        </p:nvSpPr>
        <p:spPr>
          <a:xfrm>
            <a:off x="6888860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TextBox 671"/>
          <p:cNvSpPr txBox="1"/>
          <p:nvPr/>
        </p:nvSpPr>
        <p:spPr>
          <a:xfrm>
            <a:off x="4446727" y="1337310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Обзор результатов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Расширение: Q3 2026 – Q1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2756916"/>
            <a:ext cx="8344814" cy="9258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25651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37310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Q3 2026: 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4107256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60523" y="3435858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Q4 2026: 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6888860" y="2463736"/>
            <a:ext cx="678942" cy="67894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6727" y="1337310"/>
            <a:ext cx="4172407" cy="11727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Q1 2027: генерация иллюстраций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title"/>
          <p:cNvSpPr txBox="1"/>
          <p:nvPr/>
        </p:nvSpPr>
        <p:spPr>
          <a:xfrm>
            <a:off x="274320" y="282943"/>
            <a:ext cx="341226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Запрос запуска на всю компанию</a:t>
            </a:r>
          </a:p>
        </p:txBody>
      </p:sp>
      <p:grpSp>
        <p:nvGrpSpPr>
          <p:cNvPr id="2" name="icon:builtin-check"/>
          <p:cNvGrpSpPr/>
          <p:nvPr/>
        </p:nvGrpSpPr>
        <p:grpSpPr>
          <a:xfrm>
            <a:off x="328969" y="1449643"/>
            <a:ext cx="327897" cy="327897"/>
            <a:chOff x="328969" y="1449643"/>
            <a:chExt cx="327897" cy="327897"/>
          </a:xfrm>
        </p:grpSpPr>
        <p:sp>
          <p:nvSpPr>
            <p:cNvPr id="1060" name="Oval 1059"/>
            <p:cNvSpPr/>
            <p:nvPr/>
          </p:nvSpPr>
          <p:spPr>
            <a:xfrm>
              <a:off x="328969" y="1449643"/>
              <a:ext cx="327897" cy="327897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420052" y="1558942"/>
              <a:ext cx="145732" cy="109300"/>
            </a:xfrm>
            <a:custGeom>
              <a:avLst/>
              <a:gdLst/>
              <a:ahLst/>
              <a:cxnLst/>
              <a:rect l="l" t="t" r="r" b="b"/>
              <a:pathLst>
                <a:path w="145732" h="109300">
                  <a:moveTo>
                    <a:pt x="0" y="54650"/>
                  </a:moveTo>
                  <a:lnTo>
                    <a:pt x="54649" y="109300"/>
                  </a:lnTo>
                  <a:lnTo>
                    <a:pt x="145732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061" name="item_0"/>
          <p:cNvSpPr txBox="1"/>
          <p:nvPr/>
        </p:nvSpPr>
        <p:spPr>
          <a:xfrm>
            <a:off x="908256" y="1414202"/>
            <a:ext cx="7710878" cy="13921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Попросить одобрение запуска</a:t>
            </a:r>
          </a:p>
        </p:txBody>
      </p:sp>
      <p:grpSp>
        <p:nvGrpSpPr>
          <p:cNvPr id="4" name="icon:builtin-idea"/>
          <p:cNvGrpSpPr/>
          <p:nvPr/>
        </p:nvGrpSpPr>
        <p:grpSpPr>
          <a:xfrm>
            <a:off x="383018" y="2963851"/>
            <a:ext cx="219800" cy="327898"/>
            <a:chOff x="383018" y="2963851"/>
            <a:chExt cx="219800" cy="327898"/>
          </a:xfrm>
        </p:grpSpPr>
        <p:sp>
          <p:nvSpPr>
            <p:cNvPr id="5" name="Freeform 4"/>
            <p:cNvSpPr/>
            <p:nvPr/>
          </p:nvSpPr>
          <p:spPr>
            <a:xfrm>
              <a:off x="438268" y="3237099"/>
              <a:ext cx="109300" cy="0"/>
            </a:xfrm>
            <a:custGeom>
              <a:avLst/>
              <a:gdLst/>
              <a:ahLst/>
              <a:cxnLst/>
              <a:rect l="l" t="t" r="r" b="b"/>
              <a:pathLst>
                <a:path w="109300" h="0">
                  <a:moveTo>
                    <a:pt x="0" y="0"/>
                  </a:moveTo>
                  <a:lnTo>
                    <a:pt x="109300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56485" y="3291749"/>
              <a:ext cx="72866" cy="0"/>
            </a:xfrm>
            <a:custGeom>
              <a:avLst/>
              <a:gdLst/>
              <a:ahLst/>
              <a:cxnLst/>
              <a:rect l="l" t="t" r="r" b="b"/>
              <a:pathLst>
                <a:path w="72866" h="0">
                  <a:moveTo>
                    <a:pt x="0" y="0"/>
                  </a:moveTo>
                  <a:lnTo>
                    <a:pt x="72866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383018" y="2963851"/>
              <a:ext cx="219800" cy="236815"/>
            </a:xfrm>
            <a:custGeom>
              <a:avLst/>
              <a:gdLst/>
              <a:ahLst/>
              <a:cxnLst/>
              <a:rect l="l" t="t" r="r" b="b"/>
              <a:pathLst>
                <a:path w="219800" h="236815">
                  <a:moveTo>
                    <a:pt x="109900" y="0"/>
                  </a:moveTo>
                  <a:lnTo>
                    <a:pt x="89388" y="1767"/>
                  </a:lnTo>
                  <a:lnTo>
                    <a:pt x="69569" y="7360"/>
                  </a:lnTo>
                  <a:lnTo>
                    <a:pt x="51152" y="16577"/>
                  </a:lnTo>
                  <a:lnTo>
                    <a:pt x="34793" y="29074"/>
                  </a:lnTo>
                  <a:lnTo>
                    <a:pt x="21076" y="44412"/>
                  </a:lnTo>
                  <a:lnTo>
                    <a:pt x="10456" y="62064"/>
                  </a:lnTo>
                  <a:lnTo>
                    <a:pt x="3351" y="81392"/>
                  </a:lnTo>
                  <a:lnTo>
                    <a:pt x="0" y="101703"/>
                  </a:lnTo>
                  <a:lnTo>
                    <a:pt x="510" y="122288"/>
                  </a:lnTo>
                  <a:lnTo>
                    <a:pt x="4863" y="142399"/>
                  </a:lnTo>
                  <a:lnTo>
                    <a:pt x="12915" y="161344"/>
                  </a:lnTo>
                  <a:lnTo>
                    <a:pt x="24392" y="178449"/>
                  </a:lnTo>
                  <a:lnTo>
                    <a:pt x="38855" y="193095"/>
                  </a:lnTo>
                  <a:lnTo>
                    <a:pt x="41971" y="196484"/>
                  </a:lnTo>
                  <a:lnTo>
                    <a:pt x="44758" y="200091"/>
                  </a:lnTo>
                  <a:lnTo>
                    <a:pt x="47217" y="203916"/>
                  </a:lnTo>
                  <a:lnTo>
                    <a:pt x="49348" y="207960"/>
                  </a:lnTo>
                  <a:lnTo>
                    <a:pt x="51152" y="212223"/>
                  </a:lnTo>
                  <a:lnTo>
                    <a:pt x="52627" y="216704"/>
                  </a:lnTo>
                  <a:lnTo>
                    <a:pt x="53775" y="221404"/>
                  </a:lnTo>
                  <a:lnTo>
                    <a:pt x="54595" y="226322"/>
                  </a:lnTo>
                  <a:lnTo>
                    <a:pt x="55086" y="231460"/>
                  </a:lnTo>
                  <a:lnTo>
                    <a:pt x="55250" y="236815"/>
                  </a:lnTo>
                  <a:lnTo>
                    <a:pt x="164550" y="236815"/>
                  </a:lnTo>
                  <a:lnTo>
                    <a:pt x="164714" y="231460"/>
                  </a:lnTo>
                  <a:lnTo>
                    <a:pt x="165205" y="226322"/>
                  </a:lnTo>
                  <a:lnTo>
                    <a:pt x="166025" y="221404"/>
                  </a:lnTo>
                  <a:lnTo>
                    <a:pt x="167173" y="216704"/>
                  </a:lnTo>
                  <a:lnTo>
                    <a:pt x="168648" y="212223"/>
                  </a:lnTo>
                  <a:lnTo>
                    <a:pt x="170452" y="207960"/>
                  </a:lnTo>
                  <a:lnTo>
                    <a:pt x="172583" y="203916"/>
                  </a:lnTo>
                  <a:lnTo>
                    <a:pt x="175042" y="200091"/>
                  </a:lnTo>
                  <a:lnTo>
                    <a:pt x="177829" y="196484"/>
                  </a:lnTo>
                  <a:lnTo>
                    <a:pt x="180945" y="193095"/>
                  </a:lnTo>
                  <a:lnTo>
                    <a:pt x="195408" y="178449"/>
                  </a:lnTo>
                  <a:lnTo>
                    <a:pt x="206885" y="161344"/>
                  </a:lnTo>
                  <a:lnTo>
                    <a:pt x="214937" y="142399"/>
                  </a:lnTo>
                  <a:lnTo>
                    <a:pt x="219290" y="122288"/>
                  </a:lnTo>
                  <a:lnTo>
                    <a:pt x="219800" y="101703"/>
                  </a:lnTo>
                  <a:lnTo>
                    <a:pt x="216449" y="81392"/>
                  </a:lnTo>
                  <a:lnTo>
                    <a:pt x="209344" y="62064"/>
                  </a:lnTo>
                  <a:lnTo>
                    <a:pt x="198724" y="44412"/>
                  </a:lnTo>
                  <a:lnTo>
                    <a:pt x="185007" y="29074"/>
                  </a:lnTo>
                  <a:lnTo>
                    <a:pt x="168648" y="16577"/>
                  </a:lnTo>
                  <a:lnTo>
                    <a:pt x="150231" y="7360"/>
                  </a:lnTo>
                  <a:lnTo>
                    <a:pt x="130412" y="1767"/>
                  </a:lnTo>
                  <a:lnTo>
                    <a:pt x="109900" y="0"/>
                  </a:lnTo>
                  <a:close/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062" name="item_1"/>
          <p:cNvSpPr txBox="1"/>
          <p:nvPr/>
        </p:nvSpPr>
        <p:spPr>
          <a:xfrm>
            <a:off x="908256" y="2928410"/>
            <a:ext cx="7710878" cy="13921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Предложить интеграцию с хранилищем документов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00620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Экономия времени и повышение качества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342278"/>
            <a:ext cx="6948525" cy="695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сократилась до 4 мин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стиля уменьшились до 2/68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
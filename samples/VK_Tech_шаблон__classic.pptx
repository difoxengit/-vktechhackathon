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сборки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до первой версии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6.0</c:v>
                </c:pt>
                <c:pt idx="1">
                  <c:v>1.0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дней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1248791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102019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53"/>
          <p:cNvSpPr/>
          <p:nvPr/>
        </p:nvSpPr>
        <p:spPr>
          <a:xfrm>
            <a:off x="559572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53"/>
          <p:cNvSpPr/>
          <p:nvPr/>
        </p:nvSpPr>
        <p:spPr>
          <a:xfrm>
            <a:off x="3831556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53"/>
          <p:cNvSpPr/>
          <p:nvPr/>
        </p:nvSpPr>
        <p:spPr>
          <a:xfrm>
            <a:off x="559572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573" name="body"/>
          <p:cNvSpPr txBox="1"/>
          <p:nvPr/>
        </p:nvSpPr>
        <p:spPr>
          <a:xfrm>
            <a:off x="274320" y="1891002"/>
            <a:ext cx="8344814" cy="1422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 в первом квартале 2026 года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12 слайдов занимает 186 минут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на правки после ревью дизайнера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Дизайн‑отдел из 4 человек закрывает 11 запросов в неделю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1051" name="card_0"/>
          <p:cNvSpPr txBox="1"/>
          <p:nvPr/>
        </p:nvSpPr>
        <p:spPr>
          <a:xfrm>
            <a:off x="576030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принимает шаблон pptx и материалы</a:t>
            </a:r>
          </a:p>
        </p:txBody>
      </p:sp>
      <p:sp>
        <p:nvSpPr>
          <p:cNvPr id="1052" name="card_1"/>
          <p:cNvSpPr txBox="1"/>
          <p:nvPr/>
        </p:nvSpPr>
        <p:spPr>
          <a:xfrm>
            <a:off x="346525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Автоматически формирует дизайн‑систему и план колоды</a:t>
            </a:r>
          </a:p>
        </p:txBody>
      </p:sp>
      <p:sp>
        <p:nvSpPr>
          <p:cNvPr id="1053" name="card_2"/>
          <p:cNvSpPr txBox="1"/>
          <p:nvPr/>
        </p:nvSpPr>
        <p:spPr>
          <a:xfrm>
            <a:off x="635448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Экспорт в pptx, pdf и html с редактируемыми слайдами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414513"/>
            <a:ext cx="7189469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68 презентаций собраны за 6 недель пилота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12 слайдов теперь 4 минуты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фирменного стиля 2 из 68, исправлены автоматически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7" name="Google Shape;2387;p88"/>
          <p:cNvSpPr/>
          <p:nvPr/>
        </p:nvSpPr>
        <p:spPr>
          <a:xfrm>
            <a:off x="319086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9" name="Google Shape;2389;p88"/>
          <p:cNvSpPr/>
          <p:nvPr/>
        </p:nvSpPr>
        <p:spPr>
          <a:xfrm>
            <a:off x="2600312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1" name="Google Shape;2391;p88"/>
          <p:cNvSpPr/>
          <p:nvPr/>
        </p:nvSpPr>
        <p:spPr>
          <a:xfrm>
            <a:off x="4881537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3" name="Google Shape;2393;p88"/>
          <p:cNvSpPr/>
          <p:nvPr/>
        </p:nvSpPr>
        <p:spPr>
          <a:xfrm>
            <a:off x="7162763" y="1933658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6" name="Google Shape;2396;p88"/>
          <p:cNvSpPr/>
          <p:nvPr/>
        </p:nvSpPr>
        <p:spPr>
          <a:xfrm>
            <a:off x="319086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8" name="Google Shape;2398;p88"/>
          <p:cNvSpPr/>
          <p:nvPr/>
        </p:nvSpPr>
        <p:spPr>
          <a:xfrm>
            <a:off x="2600312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0" name="Google Shape;2400;p88"/>
          <p:cNvSpPr/>
          <p:nvPr/>
        </p:nvSpPr>
        <p:spPr>
          <a:xfrm>
            <a:off x="4881537" y="3647935"/>
            <a:ext cx="138112" cy="13809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Сравнение времени сборки</a:t>
            </a:r>
          </a:p>
        </p:txBody>
      </p:sp>
      <p:graphicFrame>
        <p:nvGraphicFramePr>
          <p:cNvPr id="2402" name="Chart 2401"/>
          <p:cNvGraphicFramePr>
            <a:graphicFrameLocks noGrp="1"/>
          </p:cNvGraphicFramePr>
          <p:nvPr/>
        </p:nvGraphicFramePr>
        <p:xfrm>
          <a:off x="274320" y="2071750"/>
          <a:ext cx="8344814" cy="157617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30" name="Google Shape;2430;p89"/>
          <p:cNvSpPr/>
          <p:nvPr/>
        </p:nvSpPr>
        <p:spPr>
          <a:xfrm>
            <a:off x="553415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2" name="Google Shape;2432;p89"/>
          <p:cNvSpPr/>
          <p:nvPr/>
        </p:nvSpPr>
        <p:spPr>
          <a:xfrm>
            <a:off x="3565736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Google Shape;2434;p89"/>
          <p:cNvSpPr/>
          <p:nvPr/>
        </p:nvSpPr>
        <p:spPr>
          <a:xfrm>
            <a:off x="6578067" y="2684063"/>
            <a:ext cx="182375" cy="182352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Сравнение времени до первой версии</a:t>
            </a:r>
          </a:p>
        </p:txBody>
      </p:sp>
      <p:graphicFrame>
        <p:nvGraphicFramePr>
          <p:cNvPr id="2436" name="Chart 2435"/>
          <p:cNvGraphicFramePr>
            <a:graphicFrameLocks noGrp="1"/>
          </p:cNvGraphicFramePr>
          <p:nvPr/>
        </p:nvGraphicFramePr>
        <p:xfrm>
          <a:off x="274320" y="1414513"/>
          <a:ext cx="8344814" cy="126957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38148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2605074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2605074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4772001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4772001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55"/>
          <p:cNvSpPr/>
          <p:nvPr/>
        </p:nvSpPr>
        <p:spPr>
          <a:xfrm>
            <a:off x="6938927" y="1362233"/>
            <a:ext cx="1766878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5"/>
          <p:cNvSpPr/>
          <p:nvPr/>
        </p:nvSpPr>
        <p:spPr>
          <a:xfrm>
            <a:off x="6938927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затраты</a:t>
            </a:r>
          </a:p>
        </p:txBody>
      </p:sp>
      <p:sp>
        <p:nvSpPr>
          <p:cNvPr id="684" name="card_0"/>
          <p:cNvSpPr txBox="1"/>
          <p:nvPr/>
        </p:nvSpPr>
        <p:spPr>
          <a:xfrm>
            <a:off x="582575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Стоимость инференса за 6 недель 1 400 рублей</a:t>
            </a:r>
          </a:p>
        </p:txBody>
      </p:sp>
      <p:sp>
        <p:nvSpPr>
          <p:cNvPr id="685" name="card_1"/>
          <p:cNvSpPr txBox="1"/>
          <p:nvPr/>
        </p:nvSpPr>
        <p:spPr>
          <a:xfrm>
            <a:off x="2749428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2 vCPU / 2 ГБ RAM</a:t>
            </a:r>
          </a:p>
        </p:txBody>
      </p:sp>
      <p:sp>
        <p:nvSpPr>
          <p:cNvPr id="686" name="card_2"/>
          <p:cNvSpPr txBox="1"/>
          <p:nvPr/>
        </p:nvSpPr>
        <p:spPr>
          <a:xfrm>
            <a:off x="4916374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gpt‑oss‑20b подключается по OpenAI‑совместимому протоколу</a:t>
            </a:r>
          </a:p>
        </p:txBody>
      </p:sp>
      <p:sp>
        <p:nvSpPr>
          <p:cNvPr id="687" name="card_3"/>
          <p:cNvSpPr txBox="1"/>
          <p:nvPr/>
        </p:nvSpPr>
        <p:spPr>
          <a:xfrm>
            <a:off x="7083319" y="1963753"/>
            <a:ext cx="1516144" cy="200166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6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6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При нагрузке более 20 задач требуется внешняя очередь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График масштабирования</a:t>
            </a:r>
          </a:p>
        </p:txBody>
      </p:sp>
      <p:sp>
        <p:nvSpPr>
          <p:cNvPr id="556" name="Rectangle 555"/>
          <p:cNvSpPr/>
          <p:nvPr/>
        </p:nvSpPr>
        <p:spPr>
          <a:xfrm>
            <a:off x="274320" y="2726370"/>
            <a:ext cx="8344814" cy="85555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351417" y="2455443"/>
            <a:ext cx="627410" cy="62741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TextBox 557"/>
          <p:cNvSpPr txBox="1"/>
          <p:nvPr/>
        </p:nvSpPr>
        <p:spPr>
          <a:xfrm>
            <a:off x="274320" y="1414513"/>
            <a:ext cx="2781604" cy="108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Q3 2026</a:t>
            </a:r>
          </a:p>
        </p:txBody>
      </p:sp>
      <p:sp>
        <p:nvSpPr>
          <p:cNvPr id="559" name="Oval 558"/>
          <p:cNvSpPr/>
          <p:nvPr/>
        </p:nvSpPr>
        <p:spPr>
          <a:xfrm>
            <a:off x="4133021" y="2455443"/>
            <a:ext cx="627410" cy="62741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3055924" y="3353781"/>
            <a:ext cx="2781604" cy="108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Q4 2026</a:t>
            </a:r>
          </a:p>
        </p:txBody>
      </p:sp>
      <p:sp>
        <p:nvSpPr>
          <p:cNvPr id="561" name="Oval 560"/>
          <p:cNvSpPr/>
          <p:nvPr/>
        </p:nvSpPr>
        <p:spPr>
          <a:xfrm>
            <a:off x="6914626" y="2455443"/>
            <a:ext cx="627410" cy="62741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TextBox 561"/>
          <p:cNvSpPr txBox="1"/>
          <p:nvPr/>
        </p:nvSpPr>
        <p:spPr>
          <a:xfrm>
            <a:off x="5837529" y="1414513"/>
            <a:ext cx="2781604" cy="108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Q1 2027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414513"/>
            <a:ext cx="7189469" cy="260240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 пилота: 6 недель, 2 команды, 68 презентаций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Цель – доказать экономию времени и соблюдение стиля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После пилота масштабируем на 4 команды в Q3 2026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Далее – доступ для всей компании в Q4 2026</a:t>
            </a:r>
          </a:p>
          <a:p>
            <a:pPr algn="l">
              <a:spcAft>
                <a:spcPts val="300"/>
              </a:spcAft>
              <a:defRPr sz="1803" b="1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3" b="1">
                <a:solidFill>
                  <a:srgbClr val="000000"/>
                </a:solidFill>
                <a:latin typeface="Play"/>
                <a:ea typeface="Play"/>
                <a:cs typeface="Play"/>
              </a:rPr>
              <a:t>• И генерация иллюстраций в Q1 2027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8300171" cy="2775902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572963" y="3046564"/>
            <a:ext cx="8046171" cy="137684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Запрос решения о запуске сервиса на всю компанию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Ожидаем одобрение руководства к концу Q4 2026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 поддержке выделить бюджет на инфраструктуру и обучение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Готовы предоставить детальный план внедрения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
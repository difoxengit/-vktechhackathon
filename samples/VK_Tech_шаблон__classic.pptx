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Сборка</c:v>
                </c:pt>
                <c:pt idx="1">
                  <c:v>Правки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74.0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8" Type="http://schemas.openxmlformats.org/officeDocument/2006/relationships/slideLayout" Target="../slideLayouts/slideLayout11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59000" y="1243485"/>
            <a:ext cx="4542261" cy="1248791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286000" y="1370485"/>
            <a:ext cx="4288261" cy="102019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705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705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Контекст и возможность</a:t>
            </a:r>
          </a:p>
        </p:txBody>
      </p:sp>
      <p:sp>
        <p:nvSpPr>
          <p:cNvPr id="556" name="body"/>
          <p:cNvSpPr txBox="1"/>
          <p:nvPr/>
        </p:nvSpPr>
        <p:spPr>
          <a:xfrm>
            <a:off x="274320" y="1414513"/>
            <a:ext cx="8344814" cy="114074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22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25">
                <a:solidFill>
                  <a:srgbClr val="000000"/>
                </a:solidFill>
                <a:latin typeface="Play"/>
                <a:ea typeface="Play"/>
                <a:cs typeface="Play"/>
              </a:rPr>
              <a:t>• 186 минут на сборку одной презентации</a:t>
            </a:r>
          </a:p>
          <a:p>
            <a:pPr algn="l">
              <a:spcAft>
                <a:spcPts val="300"/>
              </a:spcAft>
              <a:defRPr sz="122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25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минуты на правки после ревью</a:t>
            </a:r>
          </a:p>
          <a:p>
            <a:pPr algn="l">
              <a:spcAft>
                <a:spcPts val="300"/>
              </a:spcAft>
              <a:defRPr sz="122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25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нарушили фирменный стиль</a:t>
            </a:r>
          </a:p>
          <a:p>
            <a:pPr algn="l">
              <a:spcAft>
                <a:spcPts val="300"/>
              </a:spcAft>
              <a:defRPr sz="122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25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дизайнера закрывают 11 запросов в неделю</a:t>
            </a:r>
          </a:p>
          <a:p>
            <a:pPr algn="l">
              <a:spcAft>
                <a:spcPts val="300"/>
              </a:spcAft>
              <a:defRPr sz="1225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25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Средний срок ожидания 6 рабочих дней</a:t>
            </a:r>
          </a:p>
        </p:txBody>
      </p:sp>
      <p:graphicFrame>
        <p:nvGraphicFramePr>
          <p:cNvPr id="557" name="Chart 556"/>
          <p:cNvGraphicFramePr>
            <a:graphicFrameLocks noGrp="1"/>
          </p:cNvGraphicFramePr>
          <p:nvPr/>
        </p:nvGraphicFramePr>
        <p:xfrm>
          <a:off x="274320" y="2683847"/>
          <a:ext cx="8344814" cy="15825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Предложение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1414513"/>
            <a:ext cx="7189469" cy="260240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Принимает шаблон pptx и материалы</a:t>
            </a:r>
          </a:p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Генерирует колоду по дизайн‑системе</a:t>
            </a:r>
          </a:p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Аудит качества проверяет каждый элемент</a:t>
            </a:r>
          </a:p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pptx, pdf и html</a:t>
            </a:r>
          </a:p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Слайды остаются редактируемыми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385" name="Google Shape;2385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142" y="2000324"/>
            <a:ext cx="8755811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6" name="Google Shape;2386;p88"/>
          <p:cNvSpPr/>
          <p:nvPr/>
        </p:nvSpPr>
        <p:spPr>
          <a:xfrm>
            <a:off x="319086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88"/>
          <p:cNvSpPr/>
          <p:nvPr/>
        </p:nvSpPr>
        <p:spPr>
          <a:xfrm>
            <a:off x="2600312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88"/>
          <p:cNvSpPr/>
          <p:nvPr/>
        </p:nvSpPr>
        <p:spPr>
          <a:xfrm>
            <a:off x="4881537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88"/>
          <p:cNvSpPr/>
          <p:nvPr/>
        </p:nvSpPr>
        <p:spPr>
          <a:xfrm>
            <a:off x="7162763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94" name="Google Shape;239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684300"/>
            <a:ext cx="7238962" cy="7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Ожидаемый эффект</a:t>
            </a:r>
          </a:p>
        </p:txBody>
      </p:sp>
      <p:graphicFrame>
        <p:nvGraphicFramePr>
          <p:cNvPr id="2396" name="Table 2395"/>
          <p:cNvGraphicFramePr>
            <a:graphicFrameLocks noGrp="1"/>
          </p:cNvGraphicFramePr>
          <p:nvPr/>
        </p:nvGraphicFramePr>
        <p:xfrm>
          <a:off x="274320" y="2009822"/>
          <a:ext cx="8344814" cy="1674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604"/>
                <a:gridCol w="2781604"/>
                <a:gridCol w="2781606"/>
              </a:tblGrid>
              <a:tr h="33489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Текущее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Пилот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3489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Сборка (мин)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89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Время до первой версии (дней)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893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Нарушения (колод)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89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Запросы (запросов)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428" name="Google Shape;2428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32082"/>
            <a:ext cx="8515008" cy="9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89"/>
          <p:cNvSpPr/>
          <p:nvPr/>
        </p:nvSpPr>
        <p:spPr>
          <a:xfrm>
            <a:off x="553415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89"/>
          <p:cNvSpPr/>
          <p:nvPr/>
        </p:nvSpPr>
        <p:spPr>
          <a:xfrm>
            <a:off x="3565736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89"/>
          <p:cNvSpPr/>
          <p:nvPr/>
        </p:nvSpPr>
        <p:spPr>
          <a:xfrm>
            <a:off x="6578067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Ресурсы и сроки</a:t>
            </a:r>
          </a:p>
        </p:txBody>
      </p:sp>
      <p:sp>
        <p:nvSpPr>
          <p:cNvPr id="2435" name="body"/>
          <p:cNvSpPr txBox="1"/>
          <p:nvPr/>
        </p:nvSpPr>
        <p:spPr>
          <a:xfrm>
            <a:off x="274320" y="1414513"/>
            <a:ext cx="8344814" cy="52702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vCPU / 2 GB RAM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1 400 рублей за 6 недель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Подключение 4 команд, домен и HTTPS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Доступ всей компании, интеграция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Генерация иллюстраций в Q1 2027</a:t>
            </a:r>
          </a:p>
        </p:txBody>
      </p:sp>
      <p:sp>
        <p:nvSpPr>
          <p:cNvPr id="2436" name="Rectangle 2435"/>
          <p:cNvSpPr/>
          <p:nvPr/>
        </p:nvSpPr>
        <p:spPr>
          <a:xfrm>
            <a:off x="274320" y="2374620"/>
            <a:ext cx="8344814" cy="1985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Oval 2436"/>
          <p:cNvSpPr/>
          <p:nvPr/>
        </p:nvSpPr>
        <p:spPr>
          <a:xfrm>
            <a:off x="1244607" y="2311735"/>
            <a:ext cx="145628" cy="14562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TextBox 2437"/>
          <p:cNvSpPr txBox="1"/>
          <p:nvPr/>
        </p:nvSpPr>
        <p:spPr>
          <a:xfrm>
            <a:off x="274320" y="2070125"/>
            <a:ext cx="2086203" cy="251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Подключение 4 команд</a:t>
            </a:r>
          </a:p>
        </p:txBody>
      </p:sp>
      <p:sp>
        <p:nvSpPr>
          <p:cNvPr id="2439" name="Oval 2438"/>
          <p:cNvSpPr/>
          <p:nvPr/>
        </p:nvSpPr>
        <p:spPr>
          <a:xfrm>
            <a:off x="3330811" y="2311735"/>
            <a:ext cx="145628" cy="14562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TextBox 2439"/>
          <p:cNvSpPr txBox="1"/>
          <p:nvPr/>
        </p:nvSpPr>
        <p:spPr>
          <a:xfrm>
            <a:off x="2360523" y="2520248"/>
            <a:ext cx="2086203" cy="251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Домен и HTTPS</a:t>
            </a:r>
          </a:p>
        </p:txBody>
      </p:sp>
      <p:sp>
        <p:nvSpPr>
          <p:cNvPr id="2441" name="Oval 2440"/>
          <p:cNvSpPr/>
          <p:nvPr/>
        </p:nvSpPr>
        <p:spPr>
          <a:xfrm>
            <a:off x="5417014" y="2311735"/>
            <a:ext cx="145628" cy="14562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TextBox 2441"/>
          <p:cNvSpPr txBox="1"/>
          <p:nvPr/>
        </p:nvSpPr>
        <p:spPr>
          <a:xfrm>
            <a:off x="4446727" y="2070125"/>
            <a:ext cx="2086203" cy="251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Доступ всей компании</a:t>
            </a:r>
          </a:p>
        </p:txBody>
      </p:sp>
      <p:sp>
        <p:nvSpPr>
          <p:cNvPr id="2443" name="Oval 2442"/>
          <p:cNvSpPr/>
          <p:nvPr/>
        </p:nvSpPr>
        <p:spPr>
          <a:xfrm>
            <a:off x="7503218" y="2311735"/>
            <a:ext cx="145628" cy="145628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TextBox 2443"/>
          <p:cNvSpPr txBox="1"/>
          <p:nvPr/>
        </p:nvSpPr>
        <p:spPr>
          <a:xfrm>
            <a:off x="6532930" y="2520248"/>
            <a:ext cx="2086203" cy="251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Генерация иллюстраций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3"/>
          <p:cNvSpPr/>
          <p:nvPr/>
        </p:nvSpPr>
        <p:spPr>
          <a:xfrm>
            <a:off x="735989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3"/>
          <p:cNvSpPr/>
          <p:nvPr/>
        </p:nvSpPr>
        <p:spPr>
          <a:xfrm>
            <a:off x="303214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2067385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3"/>
          <p:cNvSpPr/>
          <p:nvPr/>
        </p:nvSpPr>
        <p:spPr>
          <a:xfrm>
            <a:off x="3831556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3"/>
          <p:cNvSpPr/>
          <p:nvPr/>
        </p:nvSpPr>
        <p:spPr>
          <a:xfrm>
            <a:off x="559572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3"/>
          <p:cNvSpPr/>
          <p:nvPr/>
        </p:nvSpPr>
        <p:spPr>
          <a:xfrm>
            <a:off x="735989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План пилота</a:t>
            </a:r>
          </a:p>
        </p:txBody>
      </p:sp>
      <p:sp>
        <p:nvSpPr>
          <p:cNvPr id="573" name="body"/>
          <p:cNvSpPr txBox="1"/>
          <p:nvPr/>
        </p:nvSpPr>
        <p:spPr>
          <a:xfrm>
            <a:off x="274320" y="1868988"/>
            <a:ext cx="8344814" cy="14884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6 недель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команды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68 презентаций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Сборка 4 мин вместо 186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до первой версии 1 день вместо 6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Нарушения 2 из 68, запросы 38 вместо 11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Риски</a:t>
            </a:r>
          </a:p>
        </p:txBody>
      </p:sp>
      <p:sp>
        <p:nvSpPr>
          <p:cNvPr id="1048" name="Oval 1047"/>
          <p:cNvSpPr/>
          <p:nvPr/>
        </p:nvSpPr>
        <p:spPr>
          <a:xfrm>
            <a:off x="1411519" y="1530621"/>
            <a:ext cx="433029" cy="433029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TextBox 1048"/>
          <p:cNvSpPr txBox="1"/>
          <p:nvPr/>
        </p:nvSpPr>
        <p:spPr>
          <a:xfrm>
            <a:off x="274320" y="2076828"/>
            <a:ext cx="2707428" cy="38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Слабая модель может выдумать цифры</a:t>
            </a:r>
          </a:p>
        </p:txBody>
      </p:sp>
      <p:sp>
        <p:nvSpPr>
          <p:cNvPr id="1050" name="Document 1049"/>
          <p:cNvSpPr/>
          <p:nvPr/>
        </p:nvSpPr>
        <p:spPr>
          <a:xfrm>
            <a:off x="4241038" y="1519795"/>
            <a:ext cx="411377" cy="454680"/>
          </a:xfrm>
          <a:prstGeom prst="flowChartDocumen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3093012" y="2076828"/>
            <a:ext cx="2707428" cy="38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Незнакомый шаблон может быть плохо сделан</a:t>
            </a:r>
          </a:p>
        </p:txBody>
      </p:sp>
      <p:sp>
        <p:nvSpPr>
          <p:cNvPr id="1052" name="Oval 1051"/>
          <p:cNvSpPr/>
          <p:nvPr/>
        </p:nvSpPr>
        <p:spPr>
          <a:xfrm>
            <a:off x="7016428" y="1498144"/>
            <a:ext cx="497983" cy="497983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7103033" y="1584750"/>
            <a:ext cx="324771" cy="3247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7178813" y="1660530"/>
            <a:ext cx="173211" cy="173211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7232942" y="1714658"/>
            <a:ext cx="64954" cy="649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TextBox 1055"/>
          <p:cNvSpPr txBox="1"/>
          <p:nvPr/>
        </p:nvSpPr>
        <p:spPr>
          <a:xfrm>
            <a:off x="5911705" y="2076828"/>
            <a:ext cx="2707428" cy="38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Нагрузка более 20 задач требует внешней очереди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Потенциальные выгоды</a:t>
            </a:r>
          </a:p>
        </p:txBody>
      </p:sp>
      <p:sp>
        <p:nvSpPr>
          <p:cNvPr id="2252" name="body"/>
          <p:cNvSpPr txBox="1"/>
          <p:nvPr/>
        </p:nvSpPr>
        <p:spPr>
          <a:xfrm>
            <a:off x="274320" y="1950440"/>
            <a:ext cx="7189469" cy="99462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на создание презентаций</a:t>
            </a:r>
          </a:p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Уменьшение нарушений фирменного стиля</a:t>
            </a:r>
          </a:p>
          <a:p>
            <a:pPr algn="l">
              <a:spcAft>
                <a:spcPts val="300"/>
              </a:spcAft>
              <a:defRPr sz="1803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Повышение продуктивности дизайнеров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8" name="Google Shape;102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9" name="Google Shape;10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Что мы просим решить</a:t>
            </a:r>
          </a:p>
        </p:txBody>
      </p:sp>
      <p:sp>
        <p:nvSpPr>
          <p:cNvPr id="1051" name="card_0"/>
          <p:cNvSpPr txBox="1"/>
          <p:nvPr/>
        </p:nvSpPr>
        <p:spPr>
          <a:xfrm>
            <a:off x="576030" y="1728705"/>
            <a:ext cx="2264138" cy="6321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6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6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Одобрить запуск сервиса на всю компанию</a:t>
            </a:r>
          </a:p>
        </p:txBody>
      </p:sp>
      <p:sp>
        <p:nvSpPr>
          <p:cNvPr id="1052" name="card_1"/>
          <p:cNvSpPr txBox="1"/>
          <p:nvPr/>
        </p:nvSpPr>
        <p:spPr>
          <a:xfrm>
            <a:off x="3465259" y="1728705"/>
            <a:ext cx="2264138" cy="6321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6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6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Обеспечить инфраструктуру и интеграцию</a:t>
            </a:r>
          </a:p>
        </p:txBody>
      </p:sp>
      <p:sp>
        <p:nvSpPr>
          <p:cNvPr id="1053" name="card_2"/>
          <p:cNvSpPr txBox="1"/>
          <p:nvPr/>
        </p:nvSpPr>
        <p:spPr>
          <a:xfrm>
            <a:off x="6354489" y="1728705"/>
            <a:ext cx="2264138" cy="63213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6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6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Поддерживать модель и обновления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5963" y="1555901"/>
            <a:ext cx="8300171" cy="2189031"/>
          </a:xfrm>
          <a:prstGeom prst="round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72963" y="1682901"/>
            <a:ext cx="4373118" cy="655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Вывод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72963" y="2920982"/>
            <a:ext cx="8046171" cy="69695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3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3">
                <a:solidFill>
                  <a:srgbClr val="000000"/>
                </a:solidFill>
                <a:latin typeface="Play"/>
                <a:ea typeface="Play"/>
                <a:cs typeface="Play"/>
              </a:rPr>
              <a:t>Успешный запуск позволит ускорить создание презентаций и повысить качество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
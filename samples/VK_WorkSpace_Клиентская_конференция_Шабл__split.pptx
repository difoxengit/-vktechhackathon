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Текущее время</c:v>
                </c:pt>
                <c:pt idx="1">
                  <c:v>Автоматизированное время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минут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7"/>
    <p:sldLayoutId id="2147483655" r:id="rId9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презентаций: ускоряем работу команды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402268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Текущие затраты времени на создание колод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2704961"/>
            <a:ext cx="11312347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42 колоды за Q1 2026: 186 минут на 12 слайдов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минуты на правки после ревью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колод нарушили фирменный стиль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Проблемы дизайна и ожидания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2335824"/>
            <a:ext cx="11310884" cy="19507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Дизайн-отдел из 4 человек закрывает 11 запросов/неделю из 27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колод с нарушением стиля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402268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автоматической вёрстки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2704961"/>
            <a:ext cx="11312347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Принимает шаблон pptx и материалы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 формирует план колоды и вёрстку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Экспорт в pptx, pdf, html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17" name="Google Shape;617;p28"/>
          <p:cNvGrpSpPr/>
          <p:nvPr/>
        </p:nvGrpSpPr>
        <p:grpSpPr>
          <a:xfrm>
            <a:off x="427865" y="1988423"/>
            <a:ext cx="476638" cy="474884"/>
            <a:chOff x="427865" y="2634106"/>
            <a:chExt cx="476638" cy="474884"/>
          </a:xfrm>
        </p:grpSpPr>
        <p:sp>
          <p:nvSpPr>
            <p:cNvPr id="618" name="Google Shape;618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19" name="Google Shape;619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3" name="Google Shape;633;p28"/>
          <p:cNvGrpSpPr/>
          <p:nvPr/>
        </p:nvGrpSpPr>
        <p:grpSpPr>
          <a:xfrm>
            <a:off x="3323465" y="1988423"/>
            <a:ext cx="476638" cy="474884"/>
            <a:chOff x="427865" y="2634106"/>
            <a:chExt cx="476638" cy="474884"/>
          </a:xfrm>
        </p:grpSpPr>
        <p:sp>
          <p:nvSpPr>
            <p:cNvPr id="634" name="Google Shape;634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35" name="Google Shape;635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36" name="Google Shape;636;p28"/>
          <p:cNvGrpSpPr/>
          <p:nvPr/>
        </p:nvGrpSpPr>
        <p:grpSpPr>
          <a:xfrm>
            <a:off x="6094374" y="1988423"/>
            <a:ext cx="476638" cy="474884"/>
            <a:chOff x="427865" y="2634106"/>
            <a:chExt cx="476638" cy="474884"/>
          </a:xfrm>
        </p:grpSpPr>
        <p:sp>
          <p:nvSpPr>
            <p:cNvPr id="637" name="Google Shape;637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38" name="Google Shape;638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39" name="Google Shape;639;p28"/>
          <p:cNvGrpSpPr/>
          <p:nvPr/>
        </p:nvGrpSpPr>
        <p:grpSpPr>
          <a:xfrm>
            <a:off x="8989974" y="1988423"/>
            <a:ext cx="476638" cy="474884"/>
            <a:chOff x="427865" y="2634106"/>
            <a:chExt cx="476638" cy="474884"/>
          </a:xfrm>
        </p:grpSpPr>
        <p:sp>
          <p:nvSpPr>
            <p:cNvPr id="640" name="Google Shape;640;p28"/>
            <p:cNvSpPr/>
            <p:nvPr/>
          </p:nvSpPr>
          <p:spPr>
            <a:xfrm>
              <a:off x="427865" y="2634106"/>
              <a:ext cx="476638" cy="474884"/>
            </a:xfrm>
            <a:prstGeom prst="roundRect">
              <a:avLst>
                <a:gd fmla="val 30745" name="adj"/>
              </a:avLst>
            </a:prstGeom>
            <a:gradFill>
              <a:gsLst>
                <a:gs pos="0">
                  <a:srgbClr val="00AEE8"/>
                </a:gs>
                <a:gs pos="100000">
                  <a:srgbClr val="0077FF"/>
                </a:gs>
              </a:gsLst>
              <a:lin ang="8100000" scaled="0"/>
            </a:gradFill>
            <a:ln>
              <a:noFill/>
            </a:ln>
          </p:spPr>
          <p:txBody>
            <a:bodyPr anchorCtr="0" anchor="ctr" bIns="45700" lIns="36000" spcFirstLastPara="1" rIns="36000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t/>
              </a:r>
              <a:endParaRPr sz="1400" u="none" cap="none" strike="noStrike">
                <a:solidFill>
                  <a:srgbClr val="00D3E3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  <p:pic>
          <p:nvPicPr>
            <p:cNvPr id="641" name="Google Shape;641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58184" y="2763548"/>
              <a:ext cx="216000" cy="2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4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Качество и аудит</a:t>
            </a:r>
          </a:p>
        </p:txBody>
      </p:sp>
      <p:sp>
        <p:nvSpPr>
          <p:cNvPr id="643" name="body"/>
          <p:cNvSpPr txBox="1"/>
          <p:nvPr/>
        </p:nvSpPr>
        <p:spPr>
          <a:xfrm>
            <a:off x="429280" y="2310261"/>
            <a:ext cx="11310884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 до публикации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Автоматические правки нарушений стиля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Слайды остаются редактируемыми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Эффект пилота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492575"/>
            <a:ext cx="5472562" cy="401460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Средняя сборка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стиля 2 из 68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Дизайнеры закрыли 38 запросов вместо 11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67602" y="1492575"/>
          <a:ext cx="5472562" cy="401460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4330872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2550868"/>
            <a:ext cx="11312347" cy="19507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работает на 2 vCPU / 2 GB RAM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Стоимость инференса 1 400 рублей за 6 недель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План: Q3 2026 подключение 4 команд, Q4 2026 доступ для всей компании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2489917"/>
            <a:ext cx="11310884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 недель на 2 командах, 68 презентаций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План колоды из 12 слайдов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Автоматический аудит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02280" y="2164394"/>
            <a:ext cx="11564884" cy="2901949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29280" y="2291394"/>
            <a:ext cx="7827385" cy="9194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429280" y="3450904"/>
            <a:ext cx="11310884" cy="244697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Одобрить запуск сервиса на всю компанию</a:t>
            </a:r>
          </a:p>
          <a:p>
            <a:pPr algn="l">
              <a:spcAft>
                <a:spcPts val="300"/>
              </a:spcAft>
              <a:defRPr sz="28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Предоставить ресурсы для масштабирования</a:t>
            </a:r>
          </a:p>
          <a:p>
            <a:pPr algn="l">
              <a:spcAft>
                <a:spcPts val="300"/>
              </a:spcAft>
              <a:defRPr sz="2800" b="1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Поддержать интеграцию с хранилищем документов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
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Ручной</c:v>
                </c:pt>
                <c:pt idx="1">
                  <c:v>Автоматический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Ручной</c:v>
                </c:pt>
                <c:pt idx="1">
                  <c:v>Автоматический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 (колоды)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Ручной</c:v>
                </c:pt>
                <c:pt idx="1">
                  <c:v>Автоматический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колоды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7"/>
    <p:sldLayoutId id="2147483655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06799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592290"/>
            <a:ext cx="5472562" cy="418132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12‑слайдная колода занимает 186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 на правки после ревью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 чел. закрывают 11 запросов/нед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67602" y="1592290"/>
          <a:ext cx="5472562" cy="418132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58505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1837052"/>
            <a:ext cx="5473293" cy="409216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pptx, документы, таблицы, заметки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 строит дизайн‑систему и план колоды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 проверяет стиль и данные до выдачи</a:t>
            </a:r>
          </a:p>
        </p:txBody>
      </p:sp>
      <p:sp>
        <p:nvSpPr>
          <p:cNvPr id="683" name="Pentagon 682"/>
          <p:cNvSpPr/>
          <p:nvPr/>
        </p:nvSpPr>
        <p:spPr>
          <a:xfrm>
            <a:off x="6266870" y="3617316"/>
            <a:ext cx="857482" cy="531639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Загрузка шаблона</a:t>
            </a:r>
          </a:p>
        </p:txBody>
      </p:sp>
      <p:sp>
        <p:nvSpPr>
          <p:cNvPr id="684" name="Chevron 683"/>
          <p:cNvSpPr/>
          <p:nvPr/>
        </p:nvSpPr>
        <p:spPr>
          <a:xfrm>
            <a:off x="7190032" y="3617316"/>
            <a:ext cx="857482" cy="53163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Разбор дизайн‑системы</a:t>
            </a:r>
          </a:p>
        </p:txBody>
      </p:sp>
      <p:sp>
        <p:nvSpPr>
          <p:cNvPr id="685" name="Chevron 684"/>
          <p:cNvSpPr/>
          <p:nvPr/>
        </p:nvSpPr>
        <p:spPr>
          <a:xfrm>
            <a:off x="8113194" y="3617316"/>
            <a:ext cx="857482" cy="53163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Построение плана колоды</a:t>
            </a:r>
          </a:p>
        </p:txBody>
      </p:sp>
      <p:sp>
        <p:nvSpPr>
          <p:cNvPr id="686" name="Chevron 685"/>
          <p:cNvSpPr/>
          <p:nvPr/>
        </p:nvSpPr>
        <p:spPr>
          <a:xfrm>
            <a:off x="9036356" y="3617316"/>
            <a:ext cx="857482" cy="53163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Авто‑верстка</a:t>
            </a:r>
          </a:p>
        </p:txBody>
      </p:sp>
      <p:sp>
        <p:nvSpPr>
          <p:cNvPr id="687" name="Chevron 686"/>
          <p:cNvSpPr/>
          <p:nvPr/>
        </p:nvSpPr>
        <p:spPr>
          <a:xfrm>
            <a:off x="9959518" y="3617316"/>
            <a:ext cx="857482" cy="53163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 качества</a:t>
            </a:r>
          </a:p>
        </p:txBody>
      </p:sp>
      <p:sp>
        <p:nvSpPr>
          <p:cNvPr id="688" name="Chevron 687"/>
          <p:cNvSpPr/>
          <p:nvPr/>
        </p:nvSpPr>
        <p:spPr>
          <a:xfrm>
            <a:off x="10882680" y="3617316"/>
            <a:ext cx="857482" cy="531639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 результата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 – Время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1504165"/>
            <a:ext cx="5472562" cy="3906728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сборки колоды 12 слайдов сократилось с 186 до 4 мин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готовый вариант доступен за 1 день вместо 6</a:t>
            </a:r>
          </a:p>
        </p:txBody>
      </p:sp>
      <p:graphicFrame>
        <p:nvGraphicFramePr>
          <p:cNvPr id="624" name="Chart 623"/>
          <p:cNvGraphicFramePr>
            <a:graphicFrameLocks noGrp="1"/>
          </p:cNvGraphicFramePr>
          <p:nvPr/>
        </p:nvGraphicFramePr>
        <p:xfrm>
          <a:off x="6267602" y="1504165"/>
          <a:ext cx="5472562" cy="390672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 – Нарушения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492575"/>
            <a:ext cx="5472562" cy="401460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фирменного стиля в пилоте – 2 из 68 колод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Все нарушения автоматически исправлены аудитором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267602" y="1492575"/>
          <a:ext cx="5472562" cy="401460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745515"/>
            <a:ext cx="5472562" cy="3672235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работает на 2 vCPU / 2 GB RAM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Инференс за 6 недель пилота – 1 400 руб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3 квартал 2026: подключение 4 команд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 квартал 2026: доступ для всей компании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квартал 2027: генерация иллюстраций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7602" y="3434743"/>
            <a:ext cx="5472562" cy="110167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906067" y="3216198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267602" y="1745515"/>
            <a:ext cx="1824187" cy="1395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3 квартал 2026: подключение 4 команд</a:t>
            </a:r>
          </a:p>
        </p:txBody>
      </p:sp>
      <p:sp>
        <p:nvSpPr>
          <p:cNvPr id="7" name="Oval 6"/>
          <p:cNvSpPr/>
          <p:nvPr/>
        </p:nvSpPr>
        <p:spPr>
          <a:xfrm>
            <a:off x="8730254" y="3216198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1789" y="3981999"/>
            <a:ext cx="1824187" cy="1395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4 квартал 2026: доступ для всей компании</a:t>
            </a:r>
          </a:p>
        </p:txBody>
      </p:sp>
      <p:sp>
        <p:nvSpPr>
          <p:cNvPr id="9" name="Oval 8"/>
          <p:cNvSpPr/>
          <p:nvPr/>
        </p:nvSpPr>
        <p:spPr>
          <a:xfrm>
            <a:off x="10554442" y="3216198"/>
            <a:ext cx="547256" cy="54725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15976" y="1745515"/>
            <a:ext cx="1824187" cy="13954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1 квартал 2027: генерация иллюстраций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592290"/>
            <a:ext cx="5472562" cy="4181322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 недель, 2 команды, 68 презентаций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сборки 4 мин, 38 запросов закрыто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– 2 из 68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67602" y="1592290"/>
          <a:ext cx="5472562" cy="41813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4187"/>
                <a:gridCol w="1824187"/>
                <a:gridCol w="1824188"/>
              </a:tblGrid>
              <a:tr h="836264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Ручной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83626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Кол-во презентаций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3626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36264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на вёрстку/нед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83626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
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Правки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74.0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Текущее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Первая версия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Пилот</c:v>
                </c:pt>
              </c:strCache>
            </c:strRef>
          </c:tx>
          <c:spPr>
            <a:solidFill>
              <a:srgbClr val="6DBCFF"/>
            </a:solidFill>
            <a:ln>
              <a:solidFill>
                <a:srgbClr val="6DBC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Первая версия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4.0</c:v>
                </c:pt>
                <c:pt idx="1">
                  <c:v>1.0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Текущая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2" r:id="rId6"/>
    <p:sldLayoutId id="2147483653" r:id="rId7"/>
    <p:sldLayoutId id="2147483655" r:id="rId9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chart" Target="../charts/chart3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2" name="Google Shape;382;p17"/>
          <p:cNvSpPr/>
          <p:nvPr/>
        </p:nvSpPr>
        <p:spPr>
          <a:xfrm>
            <a:off x="429254" y="4682210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title"/>
          <p:cNvSpPr txBox="1"/>
          <p:nvPr/>
        </p:nvSpPr>
        <p:spPr>
          <a:xfrm>
            <a:off x="429280" y="2490551"/>
            <a:ext cx="7827385" cy="187689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664162"/>
            <a:ext cx="5472562" cy="375358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одной презентации занимает 186 минут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Правки после ревью добавляют 74 минуты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Дизайн-отдел закрывает 11 запросов в неделю из 27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67602" y="1664162"/>
          <a:ext cx="5472562" cy="375358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592290"/>
            <a:ext cx="5472562" cy="418132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шаблон pptx и материалы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 формирует дизайн-систему и план колоды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 проверяет все данные до выдачи</a:t>
            </a:r>
          </a:p>
        </p:txBody>
      </p:sp>
      <p:sp>
        <p:nvSpPr>
          <p:cNvPr id="4" name="Pentagon 3"/>
          <p:cNvSpPr/>
          <p:nvPr/>
        </p:nvSpPr>
        <p:spPr>
          <a:xfrm>
            <a:off x="6267602" y="1641072"/>
            <a:ext cx="5472562" cy="599322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Шаблон</a:t>
            </a:r>
          </a:p>
        </p:txBody>
      </p:sp>
      <p:sp>
        <p:nvSpPr>
          <p:cNvPr id="5" name="Chevron 4"/>
          <p:cNvSpPr/>
          <p:nvPr/>
        </p:nvSpPr>
        <p:spPr>
          <a:xfrm>
            <a:off x="6267602" y="2337959"/>
            <a:ext cx="5472562" cy="599322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Дизайн-система</a:t>
            </a:r>
          </a:p>
        </p:txBody>
      </p:sp>
      <p:sp>
        <p:nvSpPr>
          <p:cNvPr id="6" name="Chevron 5"/>
          <p:cNvSpPr/>
          <p:nvPr/>
        </p:nvSpPr>
        <p:spPr>
          <a:xfrm>
            <a:off x="6267602" y="3034846"/>
            <a:ext cx="5472562" cy="599322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колоды</a:t>
            </a:r>
          </a:p>
        </p:txBody>
      </p:sp>
      <p:sp>
        <p:nvSpPr>
          <p:cNvPr id="7" name="Chevron 6"/>
          <p:cNvSpPr/>
          <p:nvPr/>
        </p:nvSpPr>
        <p:spPr>
          <a:xfrm>
            <a:off x="6267602" y="3731733"/>
            <a:ext cx="5472562" cy="599322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8" name="Chevron 7"/>
          <p:cNvSpPr/>
          <p:nvPr/>
        </p:nvSpPr>
        <p:spPr>
          <a:xfrm>
            <a:off x="6267602" y="4428620"/>
            <a:ext cx="5472562" cy="599322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9" name="Chevron 8"/>
          <p:cNvSpPr/>
          <p:nvPr/>
        </p:nvSpPr>
        <p:spPr>
          <a:xfrm>
            <a:off x="6267602" y="5125507"/>
            <a:ext cx="5472562" cy="599322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58505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Результаты пилота: время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1837052"/>
            <a:ext cx="5473293" cy="409216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68 презентаций собраны за 6 недель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Средняя сборка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</p:txBody>
      </p:sp>
      <p:graphicFrame>
        <p:nvGraphicFramePr>
          <p:cNvPr id="683" name="Chart 682"/>
          <p:cNvGraphicFramePr>
            <a:graphicFrameLocks noGrp="1"/>
          </p:cNvGraphicFramePr>
          <p:nvPr/>
        </p:nvGraphicFramePr>
        <p:xfrm>
          <a:off x="6266870" y="1837052"/>
          <a:ext cx="5473293" cy="40921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Результаты пилота: качество и нагрузка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1745515"/>
            <a:ext cx="5472562" cy="366537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фирменного стиля 2 из 68 колод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  <p:graphicFrame>
        <p:nvGraphicFramePr>
          <p:cNvPr id="624" name="Chart 623"/>
          <p:cNvGraphicFramePr>
            <a:graphicFrameLocks noGrp="1"/>
          </p:cNvGraphicFramePr>
          <p:nvPr/>
        </p:nvGraphicFramePr>
        <p:xfrm>
          <a:off x="6267602" y="1745515"/>
          <a:ext cx="5472562" cy="3665377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Стоимость и ресурсы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666494"/>
            <a:ext cx="11310884" cy="35250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Модель gpt-oss-20b подключается по OpenAI-совместимому протоколу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Стоимость инференса за 6 недель 1 400 рублей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492575"/>
            <a:ext cx="5472562" cy="401460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Модель может выдумать цифры, аудит проверяет каждое число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Плохой шаблон приводит к использованию рабочей области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</p:txBody>
      </p:sp>
      <p:sp>
        <p:nvSpPr>
          <p:cNvPr id="4" name="Oval 3"/>
          <p:cNvSpPr/>
          <p:nvPr/>
        </p:nvSpPr>
        <p:spPr>
          <a:xfrm>
            <a:off x="6671005" y="1558625"/>
            <a:ext cx="968735" cy="96873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25122" y="1712742"/>
            <a:ext cx="660501" cy="660501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001256" y="1888876"/>
            <a:ext cx="308234" cy="30823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7602" y="2834287"/>
            <a:ext cx="1775542" cy="26728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Выдумка</a:t>
            </a:r>
          </a:p>
        </p:txBody>
      </p:sp>
      <p:sp>
        <p:nvSpPr>
          <p:cNvPr id="8" name="Document 7"/>
          <p:cNvSpPr/>
          <p:nvPr/>
        </p:nvSpPr>
        <p:spPr>
          <a:xfrm>
            <a:off x="8585565" y="1580641"/>
            <a:ext cx="836635" cy="924702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6111" y="2834287"/>
            <a:ext cx="1775542" cy="26728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Плохой шаблон</a:t>
            </a:r>
          </a:p>
        </p:txBody>
      </p:sp>
      <p:sp>
        <p:nvSpPr>
          <p:cNvPr id="10" name="Oval 9"/>
          <p:cNvSpPr/>
          <p:nvPr/>
        </p:nvSpPr>
        <p:spPr>
          <a:xfrm>
            <a:off x="10368024" y="1558625"/>
            <a:ext cx="968735" cy="96873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22141" y="1712742"/>
            <a:ext cx="660501" cy="660501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98275" y="1888876"/>
            <a:ext cx="308234" cy="30823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4621" y="2834287"/>
            <a:ext cx="1775542" cy="26728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Перегрузка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664162"/>
            <a:ext cx="5472562" cy="375358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Q3 2026: подключение 4 команд, домен и HTTPS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Q4 2026: доступ для всей компании, интеграция с хранилищем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Q1 2027: генерация иллюстраций под стиль шаблона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7602" y="3390812"/>
            <a:ext cx="5472562" cy="112607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06067" y="3173488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67602" y="1664162"/>
            <a:ext cx="2736281" cy="142636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Подключение 4 команд</a:t>
            </a:r>
          </a:p>
        </p:txBody>
      </p:sp>
      <p:sp>
        <p:nvSpPr>
          <p:cNvPr id="7" name="Oval 6"/>
          <p:cNvSpPr/>
          <p:nvPr/>
        </p:nvSpPr>
        <p:spPr>
          <a:xfrm>
            <a:off x="8730254" y="3173488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742" y="3938069"/>
            <a:ext cx="2736281" cy="142636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Доступ для всей компании</a:t>
            </a:r>
          </a:p>
        </p:txBody>
      </p:sp>
      <p:sp>
        <p:nvSpPr>
          <p:cNvPr id="9" name="Oval 8"/>
          <p:cNvSpPr/>
          <p:nvPr/>
        </p:nvSpPr>
        <p:spPr>
          <a:xfrm>
            <a:off x="10554442" y="3173488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3883" y="1664162"/>
            <a:ext cx="2736281" cy="142636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Генерация иллюстраций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402268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2704961"/>
            <a:ext cx="11312347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Запуск сервиса на всю компанию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Выделение бюджета на поддержку и развитие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Поддержка интеграции с корпоративными системами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1" name="Google Shape;881;p45"/>
          <p:cNvSpPr/>
          <p:nvPr/>
        </p:nvSpPr>
        <p:spPr>
          <a:xfrm>
            <a:off x="429254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5"/>
          <p:cNvSpPr/>
          <p:nvPr/>
        </p:nvSpPr>
        <p:spPr>
          <a:xfrm>
            <a:off x="3499026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Rounded Rectangle 883"/>
          <p:cNvSpPr/>
          <p:nvPr/>
        </p:nvSpPr>
        <p:spPr>
          <a:xfrm>
            <a:off x="302280" y="2164394"/>
            <a:ext cx="8081385" cy="1247140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title"/>
          <p:cNvSpPr txBox="1"/>
          <p:nvPr/>
        </p:nvSpPr>
        <p:spPr>
          <a:xfrm>
            <a:off x="429280" y="2291394"/>
            <a:ext cx="7827385" cy="10185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>
                <a:solidFill>
                  <a:srgbClr val="FFFFFF"/>
                </a:solidFill>
                <a:latin typeface="Play"/>
                <a:ea typeface="Play"/>
                <a:cs typeface="Play"/>
              </a:rPr>
              <a:t>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
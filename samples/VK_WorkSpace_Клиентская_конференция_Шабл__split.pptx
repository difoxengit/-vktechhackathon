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Текущая сборка</c:v>
                </c:pt>
                <c:pt idx="1">
                  <c:v>Пилот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ут&quot;" sourceLinked="0"/>
          <c:txPr>
            <a:bodyPr wrap="none"/>
            <a:lstStyle/>
            <a:p>
              <a:pPr>
                <a:defRPr sz="11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3C3C3C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Время, минут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7" Type="http://schemas.openxmlformats.org/officeDocument/2006/relationships/slideLayout" Target="../slideLayouts/slideLayout6.xml"/><Relationship Id="rId9" Type="http://schemas.openxmlformats.org/officeDocument/2006/relationships/slideLayout" Target="../slideLayouts/slideLayout8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7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3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106799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Защита инициативы: сервис автоматической вёрстки презентаций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11566347" cy="4022686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Контекст и возможность</a:t>
            </a:r>
          </a:p>
        </p:txBody>
      </p:sp>
      <p:sp>
        <p:nvSpPr>
          <p:cNvPr id="682" name="body"/>
          <p:cNvSpPr txBox="1"/>
          <p:nvPr/>
        </p:nvSpPr>
        <p:spPr>
          <a:xfrm>
            <a:off x="427817" y="2704961"/>
            <a:ext cx="11312347" cy="14884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42 колоды, 12 слайдов, 186 минут сборки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74 минуты правки, 19 нарушений фирменного стиля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4 дизайнера, 11 запросов/неделя, 6 дней ожидания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Предложение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29280" y="2489917"/>
            <a:ext cx="11310884" cy="14884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Сервис принимает шаблон pptx и материалы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Генерирует колоду, экспортирует pptx/pdf/html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Автоматический аудит исправляет нарушения стиля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20" name="Google Shape;6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Ожидаемый эффект</a:t>
            </a:r>
          </a:p>
        </p:txBody>
      </p:sp>
      <p:sp>
        <p:nvSpPr>
          <p:cNvPr id="623" name="body_left"/>
          <p:cNvSpPr txBox="1"/>
          <p:nvPr/>
        </p:nvSpPr>
        <p:spPr>
          <a:xfrm>
            <a:off x="429280" y="2156167"/>
            <a:ext cx="5472562" cy="19507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Сборка 4 минуты вместо 186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Время до первой версии 1 день вместо 6</a:t>
            </a:r>
          </a:p>
        </p:txBody>
      </p:sp>
      <p:sp>
        <p:nvSpPr>
          <p:cNvPr id="624" name="body_right"/>
          <p:cNvSpPr txBox="1"/>
          <p:nvPr/>
        </p:nvSpPr>
        <p:spPr>
          <a:xfrm>
            <a:off x="6267602" y="2156167"/>
            <a:ext cx="5472562" cy="19507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Нарушений 2 из 68, все исправлены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Дизайнеры закрыли 38 запросов вместо 11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Время сборки колоды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267602" y="1492575"/>
          <a:ext cx="5472562" cy="401460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Нарушения фирменного стиля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67602" y="1664162"/>
          <a:ext cx="5472562" cy="3753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187"/>
                <a:gridCol w="1824187"/>
                <a:gridCol w="1824188"/>
              </a:tblGrid>
              <a:tr h="187679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Текущие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Пилот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1876795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Нарушения фирменного стиля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19 из 42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 из 68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Нагрузка дизайнеров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67602" y="1592290"/>
          <a:ext cx="5472562" cy="418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187"/>
                <a:gridCol w="1824187"/>
                <a:gridCol w="1824188"/>
              </a:tblGrid>
              <a:tr h="209066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Текущая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Пилот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2090661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Запросов/неделя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Rounded Rectangle 679"/>
          <p:cNvSpPr/>
          <p:nvPr/>
        </p:nvSpPr>
        <p:spPr>
          <a:xfrm>
            <a:off x="300817" y="297715"/>
            <a:ext cx="11566347" cy="4022686"/>
          </a:xfrm>
          <a:prstGeom prst="roundRect">
            <a:avLst/>
          </a:prstGeom>
          <a:solidFill>
            <a:srgbClr val="111111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title"/>
          <p:cNvSpPr txBox="1"/>
          <p:nvPr/>
        </p:nvSpPr>
        <p:spPr>
          <a:xfrm>
            <a:off x="427817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Ресурсы и сроки</a:t>
            </a:r>
          </a:p>
        </p:txBody>
      </p:sp>
      <p:sp>
        <p:nvSpPr>
          <p:cNvPr id="682" name="body"/>
          <p:cNvSpPr txBox="1"/>
          <p:nvPr/>
        </p:nvSpPr>
        <p:spPr>
          <a:xfrm>
            <a:off x="427817" y="2704961"/>
            <a:ext cx="11312347" cy="14884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2 vCPU / 2 GB RAM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1 400 рублей за 6 недель пилота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6 недель пилота, 2 команды, 68 презентаций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20" name="Google Shape;6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Что мы просим решить</a:t>
            </a:r>
          </a:p>
        </p:txBody>
      </p:sp>
      <p:sp>
        <p:nvSpPr>
          <p:cNvPr id="623" name="body"/>
          <p:cNvSpPr txBox="1"/>
          <p:nvPr/>
        </p:nvSpPr>
        <p:spPr>
          <a:xfrm>
            <a:off x="429280" y="2310261"/>
            <a:ext cx="11310884" cy="14884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Запуск сервиса на всю компанию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Интеграция с корпоративным хранилищем</a:t>
            </a:r>
          </a:p>
          <a:p>
            <a:pPr algn="l">
              <a:spcAft>
                <a:spcPts val="300"/>
              </a:spcAft>
              <a:defRPr sz="28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800">
                <a:solidFill>
                  <a:srgbClr val="FFFFFF"/>
                </a:solidFill>
                <a:latin typeface="Play"/>
                <a:ea typeface="Play"/>
                <a:cs typeface="Play"/>
              </a:rPr>
              <a:t>• Поддержка 20 одновременных задач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29280" y="424715"/>
            <a:ext cx="7827264" cy="8229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FFFFFF"/>
                </a:solidFill>
                <a:latin typeface="Play"/>
                <a:ea typeface="Play"/>
                <a:cs typeface="Play"/>
              </a:rPr>
              <a:t>План запуска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267602" y="3339292"/>
            <a:ext cx="5472562" cy="120438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06067" y="3125883"/>
            <a:ext cx="547256" cy="54725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67602" y="1492575"/>
            <a:ext cx="2736281" cy="1525549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Третий квартал 2026: подключение 4 команд</a:t>
            </a:r>
          </a:p>
        </p:txBody>
      </p:sp>
      <p:sp>
        <p:nvSpPr>
          <p:cNvPr id="6" name="Oval 5"/>
          <p:cNvSpPr/>
          <p:nvPr/>
        </p:nvSpPr>
        <p:spPr>
          <a:xfrm>
            <a:off x="8730254" y="3125883"/>
            <a:ext cx="547256" cy="54725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742" y="3886549"/>
            <a:ext cx="2736281" cy="1525549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Четвёртый квартал 2026: доступ для всей компании</a:t>
            </a:r>
          </a:p>
        </p:txBody>
      </p:sp>
      <p:sp>
        <p:nvSpPr>
          <p:cNvPr id="8" name="Oval 7"/>
          <p:cNvSpPr/>
          <p:nvPr/>
        </p:nvSpPr>
        <p:spPr>
          <a:xfrm>
            <a:off x="10554442" y="3125883"/>
            <a:ext cx="547256" cy="547256"/>
          </a:xfrm>
          <a:prstGeom prst="ellipse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3883" y="1492575"/>
            <a:ext cx="2736281" cy="1525549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1400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Первый квартал 2027: генерация иллюстраций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
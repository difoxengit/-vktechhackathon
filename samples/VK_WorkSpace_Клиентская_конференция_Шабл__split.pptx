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2" r:id="rId6"/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2" name="Google Shape;382;p17"/>
          <p:cNvSpPr/>
          <p:nvPr/>
        </p:nvSpPr>
        <p:spPr>
          <a:xfrm>
            <a:off x="429254" y="4682210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title"/>
          <p:cNvSpPr txBox="1"/>
          <p:nvPr/>
        </p:nvSpPr>
        <p:spPr>
          <a:xfrm>
            <a:off x="429280" y="2490551"/>
            <a:ext cx="7827385" cy="187689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783080"/>
            <a:ext cx="5472562" cy="4114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одной презентации занимает 186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Правки после ревью добавляют 74 минуты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Дизайн-отдел из 4 человек обслуживает 11 запросов в неделю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7602" y="1783080"/>
          <a:ext cx="547256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4187"/>
                <a:gridCol w="1824187"/>
                <a:gridCol w="1824188"/>
              </a:tblGrid>
              <a:tr h="58782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Единица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правок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19/42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шт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Размер команды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чел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в неделю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11/27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запросов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Срок ожидания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783080"/>
            <a:ext cx="5472562" cy="4114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Шаблон преобразуется в дизайн-систему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 формируется план колоды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Вёрстка выполняется по правилам дизайна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Проводится аудит качества до публикации</a:t>
            </a:r>
          </a:p>
        </p:txBody>
      </p:sp>
      <p:sp>
        <p:nvSpPr>
          <p:cNvPr id="4" name="Pentagon 3"/>
          <p:cNvSpPr/>
          <p:nvPr/>
        </p:nvSpPr>
        <p:spPr>
          <a:xfrm>
            <a:off x="6267602" y="1831086"/>
            <a:ext cx="5472562" cy="589788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Загрузить шаблон</a:t>
            </a:r>
          </a:p>
        </p:txBody>
      </p:sp>
      <p:sp>
        <p:nvSpPr>
          <p:cNvPr id="5" name="Chevron 4"/>
          <p:cNvSpPr/>
          <p:nvPr/>
        </p:nvSpPr>
        <p:spPr>
          <a:xfrm>
            <a:off x="6267602" y="2516886"/>
            <a:ext cx="5472562" cy="58978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Разобрать дизайн-систему</a:t>
            </a:r>
          </a:p>
        </p:txBody>
      </p:sp>
      <p:sp>
        <p:nvSpPr>
          <p:cNvPr id="6" name="Chevron 5"/>
          <p:cNvSpPr/>
          <p:nvPr/>
        </p:nvSpPr>
        <p:spPr>
          <a:xfrm>
            <a:off x="6267602" y="3202686"/>
            <a:ext cx="5472562" cy="58978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Сформировать план колоды</a:t>
            </a:r>
          </a:p>
        </p:txBody>
      </p:sp>
      <p:sp>
        <p:nvSpPr>
          <p:cNvPr id="7" name="Chevron 6"/>
          <p:cNvSpPr/>
          <p:nvPr/>
        </p:nvSpPr>
        <p:spPr>
          <a:xfrm>
            <a:off x="6267602" y="3888486"/>
            <a:ext cx="5472562" cy="58978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Автоматически вёрстать</a:t>
            </a:r>
          </a:p>
        </p:txBody>
      </p:sp>
      <p:sp>
        <p:nvSpPr>
          <p:cNvPr id="8" name="Chevron 7"/>
          <p:cNvSpPr/>
          <p:nvPr/>
        </p:nvSpPr>
        <p:spPr>
          <a:xfrm>
            <a:off x="6267602" y="4574286"/>
            <a:ext cx="5472562" cy="58978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Провести аудит качества</a:t>
            </a:r>
          </a:p>
        </p:txBody>
      </p:sp>
      <p:sp>
        <p:nvSpPr>
          <p:cNvPr id="9" name="Chevron 8"/>
          <p:cNvSpPr/>
          <p:nvPr/>
        </p:nvSpPr>
        <p:spPr>
          <a:xfrm>
            <a:off x="6267602" y="5260086"/>
            <a:ext cx="5472562" cy="58978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Экспортировать pptx/pdf/html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27164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783080"/>
            <a:ext cx="5473293" cy="4114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сборки колоды сократилось с 186 до 4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готовый вариант появился за 1 день вместо 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Нарушения стиля уменьшились до 2 из 68 колод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  <p:graphicFrame>
        <p:nvGraphicFramePr>
          <p:cNvPr id="683" name="Table 682"/>
          <p:cNvGraphicFramePr>
            <a:graphicFrameLocks noGrp="1"/>
          </p:cNvGraphicFramePr>
          <p:nvPr/>
        </p:nvGraphicFramePr>
        <p:xfrm>
          <a:off x="6266870" y="1783080"/>
          <a:ext cx="5473293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4431"/>
                <a:gridCol w="1824431"/>
                <a:gridCol w="1824431"/>
              </a:tblGrid>
              <a:tr h="8229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Первый вариант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19/42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2/68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Загрузка дизайнеров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1783080"/>
            <a:ext cx="5472562" cy="4114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Инференс gpt-oss-20b стоит 1 400 рублей за 6 недель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План запуска: Q3 2026 подключение 4 команд, Q4 2026 доступ компании, Q1 2027 генерация иллюстраций</a:t>
            </a:r>
          </a:p>
        </p:txBody>
      </p:sp>
      <p:sp>
        <p:nvSpPr>
          <p:cNvPr id="624" name="Rectangle 623"/>
          <p:cNvSpPr/>
          <p:nvPr/>
        </p:nvSpPr>
        <p:spPr>
          <a:xfrm>
            <a:off x="6267602" y="3675888"/>
            <a:ext cx="5472562" cy="123444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6906067" y="3463981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TextBox 625"/>
          <p:cNvSpPr txBox="1"/>
          <p:nvPr/>
        </p:nvSpPr>
        <p:spPr>
          <a:xfrm>
            <a:off x="6267602" y="1783080"/>
            <a:ext cx="2736281" cy="156362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Q3 2026: подключение 4 команд</a:t>
            </a:r>
          </a:p>
        </p:txBody>
      </p:sp>
      <p:sp>
        <p:nvSpPr>
          <p:cNvPr id="627" name="Oval 626"/>
          <p:cNvSpPr/>
          <p:nvPr/>
        </p:nvSpPr>
        <p:spPr>
          <a:xfrm>
            <a:off x="8730254" y="3463981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TextBox 627"/>
          <p:cNvSpPr txBox="1"/>
          <p:nvPr/>
        </p:nvSpPr>
        <p:spPr>
          <a:xfrm>
            <a:off x="7635742" y="4223144"/>
            <a:ext cx="2736281" cy="156362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Q4 2026: доступ для всей компании</a:t>
            </a:r>
          </a:p>
        </p:txBody>
      </p:sp>
      <p:sp>
        <p:nvSpPr>
          <p:cNvPr id="629" name="Oval 628"/>
          <p:cNvSpPr/>
          <p:nvPr/>
        </p:nvSpPr>
        <p:spPr>
          <a:xfrm>
            <a:off x="10554442" y="3463981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TextBox 629"/>
          <p:cNvSpPr txBox="1"/>
          <p:nvPr/>
        </p:nvSpPr>
        <p:spPr>
          <a:xfrm>
            <a:off x="9003883" y="1783080"/>
            <a:ext cx="2736281" cy="156362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Q1 2027: генерация иллюстраций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3" name="body_left"/>
          <p:cNvSpPr txBox="1"/>
          <p:nvPr/>
        </p:nvSpPr>
        <p:spPr>
          <a:xfrm>
            <a:off x="429280" y="1592290"/>
            <a:ext cx="5472562" cy="418132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Пилот длился 6 недель на двух командах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Собрано 68 презентаций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Среднее время сборки 4 минуты</a:t>
            </a:r>
          </a:p>
        </p:txBody>
      </p:sp>
      <p:sp>
        <p:nvSpPr>
          <p:cNvPr id="4" name="body_right"/>
          <p:cNvSpPr txBox="1"/>
          <p:nvPr/>
        </p:nvSpPr>
        <p:spPr>
          <a:xfrm>
            <a:off x="6267602" y="1592290"/>
            <a:ext cx="5472562" cy="418132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вариант готов за 1 день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Нарушения стиля 2 из 68, исправлены автоматически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2600960"/>
            <a:ext cx="6129269" cy="24790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Одобрить запуск сервиса на всю компанию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Выделить бюджет на интеграцию и поддержку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Согласовать сроки и ответственных за расширение</a:t>
            </a:r>
          </a:p>
        </p:txBody>
      </p:sp>
      <p:grpSp>
        <p:nvGrpSpPr>
          <p:cNvPr id="4" name="illustration:builtin-discussion"/>
          <p:cNvGrpSpPr/>
          <p:nvPr/>
        </p:nvGrpSpPr>
        <p:grpSpPr>
          <a:xfrm>
            <a:off x="7718924" y="2323485"/>
            <a:ext cx="3226623" cy="3033988"/>
            <a:chOff x="7718924" y="2323485"/>
            <a:chExt cx="3226623" cy="3033988"/>
          </a:xfrm>
        </p:grpSpPr>
        <p:sp>
          <p:nvSpPr>
            <p:cNvPr id="5" name="Oval 4"/>
            <p:cNvSpPr/>
            <p:nvPr/>
          </p:nvSpPr>
          <p:spPr>
            <a:xfrm>
              <a:off x="7815241" y="2323485"/>
              <a:ext cx="3033988" cy="3033988"/>
            </a:xfrm>
            <a:prstGeom prst="ellipse">
              <a:avLst/>
            </a:prstGeom>
            <a:solidFill>
              <a:srgbClr val="0E21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7718924" y="2877308"/>
              <a:ext cx="2239373" cy="1709628"/>
            </a:xfrm>
            <a:custGeom>
              <a:avLst/>
              <a:gdLst/>
              <a:ahLst/>
              <a:cxnLst/>
              <a:rect l="l" t="t" r="r" b="b"/>
              <a:pathLst>
                <a:path w="2239373" h="1709628">
                  <a:moveTo>
                    <a:pt x="216714" y="0"/>
                  </a:moveTo>
                  <a:lnTo>
                    <a:pt x="2022659" y="0"/>
                  </a:lnTo>
                  <a:lnTo>
                    <a:pt x="2064942" y="4166"/>
                  </a:lnTo>
                  <a:lnTo>
                    <a:pt x="2105588" y="16494"/>
                  </a:lnTo>
                  <a:lnTo>
                    <a:pt x="2143055" y="36528"/>
                  </a:lnTo>
                  <a:lnTo>
                    <a:pt x="2175900" y="63473"/>
                  </a:lnTo>
                  <a:lnTo>
                    <a:pt x="2202844" y="96317"/>
                  </a:lnTo>
                  <a:lnTo>
                    <a:pt x="2222878" y="133785"/>
                  </a:lnTo>
                  <a:lnTo>
                    <a:pt x="2235207" y="174430"/>
                  </a:lnTo>
                  <a:lnTo>
                    <a:pt x="2239373" y="216714"/>
                  </a:lnTo>
                  <a:lnTo>
                    <a:pt x="2239373" y="1107647"/>
                  </a:lnTo>
                  <a:lnTo>
                    <a:pt x="2235207" y="1149930"/>
                  </a:lnTo>
                  <a:lnTo>
                    <a:pt x="2222878" y="1190576"/>
                  </a:lnTo>
                  <a:lnTo>
                    <a:pt x="2202844" y="1228043"/>
                  </a:lnTo>
                  <a:lnTo>
                    <a:pt x="2175900" y="1260887"/>
                  </a:lnTo>
                  <a:lnTo>
                    <a:pt x="2143055" y="1287832"/>
                  </a:lnTo>
                  <a:lnTo>
                    <a:pt x="2105588" y="1307866"/>
                  </a:lnTo>
                  <a:lnTo>
                    <a:pt x="2064942" y="1320194"/>
                  </a:lnTo>
                  <a:lnTo>
                    <a:pt x="2022659" y="1324360"/>
                  </a:lnTo>
                  <a:lnTo>
                    <a:pt x="866854" y="1324360"/>
                  </a:lnTo>
                  <a:lnTo>
                    <a:pt x="385269" y="1709628"/>
                  </a:lnTo>
                  <a:lnTo>
                    <a:pt x="385269" y="1324360"/>
                  </a:lnTo>
                  <a:lnTo>
                    <a:pt x="216714" y="1324360"/>
                  </a:lnTo>
                  <a:lnTo>
                    <a:pt x="174431" y="1320194"/>
                  </a:lnTo>
                  <a:lnTo>
                    <a:pt x="133785" y="1307866"/>
                  </a:lnTo>
                  <a:lnTo>
                    <a:pt x="96317" y="1287832"/>
                  </a:lnTo>
                  <a:lnTo>
                    <a:pt x="63473" y="1260887"/>
                  </a:lnTo>
                  <a:lnTo>
                    <a:pt x="36529" y="1228043"/>
                  </a:lnTo>
                  <a:lnTo>
                    <a:pt x="16495" y="1190576"/>
                  </a:lnTo>
                  <a:lnTo>
                    <a:pt x="4166" y="1149930"/>
                  </a:lnTo>
                  <a:lnTo>
                    <a:pt x="0" y="1107647"/>
                  </a:lnTo>
                  <a:lnTo>
                    <a:pt x="0" y="216714"/>
                  </a:lnTo>
                  <a:lnTo>
                    <a:pt x="4166" y="174430"/>
                  </a:lnTo>
                  <a:lnTo>
                    <a:pt x="16495" y="133785"/>
                  </a:lnTo>
                  <a:lnTo>
                    <a:pt x="36529" y="96317"/>
                  </a:lnTo>
                  <a:lnTo>
                    <a:pt x="63473" y="63473"/>
                  </a:lnTo>
                  <a:lnTo>
                    <a:pt x="96317" y="36528"/>
                  </a:lnTo>
                  <a:lnTo>
                    <a:pt x="133785" y="16494"/>
                  </a:lnTo>
                  <a:lnTo>
                    <a:pt x="174431" y="4166"/>
                  </a:lnTo>
                  <a:lnTo>
                    <a:pt x="216714" y="0"/>
                  </a:lnTo>
                  <a:close/>
                </a:path>
              </a:pathLst>
            </a:cu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8272748" y="3431131"/>
              <a:ext cx="240792" cy="240792"/>
            </a:xfrm>
            <a:prstGeom prst="ellipse">
              <a:avLst/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8706174" y="3431131"/>
              <a:ext cx="240792" cy="240792"/>
            </a:xfrm>
            <a:prstGeom prst="ellipse">
              <a:avLst/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9139601" y="3431131"/>
              <a:ext cx="240792" cy="240792"/>
            </a:xfrm>
            <a:prstGeom prst="ellipse">
              <a:avLst/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9500790" y="3623766"/>
              <a:ext cx="1444757" cy="1396597"/>
            </a:xfrm>
            <a:custGeom>
              <a:avLst/>
              <a:gdLst/>
              <a:ahLst/>
              <a:cxnLst/>
              <a:rect l="l" t="t" r="r" b="b"/>
              <a:pathLst>
                <a:path w="1444757" h="1396597">
                  <a:moveTo>
                    <a:pt x="1228043" y="0"/>
                  </a:moveTo>
                  <a:lnTo>
                    <a:pt x="192635" y="0"/>
                  </a:lnTo>
                  <a:lnTo>
                    <a:pt x="155059" y="3696"/>
                  </a:lnTo>
                  <a:lnTo>
                    <a:pt x="118916" y="14664"/>
                  </a:lnTo>
                  <a:lnTo>
                    <a:pt x="85614" y="32458"/>
                  </a:lnTo>
                  <a:lnTo>
                    <a:pt x="56418" y="56417"/>
                  </a:lnTo>
                  <a:lnTo>
                    <a:pt x="32459" y="85613"/>
                  </a:lnTo>
                  <a:lnTo>
                    <a:pt x="14665" y="118915"/>
                  </a:lnTo>
                  <a:lnTo>
                    <a:pt x="3697" y="155058"/>
                  </a:lnTo>
                  <a:lnTo>
                    <a:pt x="0" y="192634"/>
                  </a:lnTo>
                  <a:lnTo>
                    <a:pt x="0" y="890933"/>
                  </a:lnTo>
                  <a:lnTo>
                    <a:pt x="3697" y="928508"/>
                  </a:lnTo>
                  <a:lnTo>
                    <a:pt x="14665" y="964651"/>
                  </a:lnTo>
                  <a:lnTo>
                    <a:pt x="32459" y="997953"/>
                  </a:lnTo>
                  <a:lnTo>
                    <a:pt x="56418" y="1027149"/>
                  </a:lnTo>
                  <a:lnTo>
                    <a:pt x="85614" y="1051108"/>
                  </a:lnTo>
                  <a:lnTo>
                    <a:pt x="118916" y="1068902"/>
                  </a:lnTo>
                  <a:lnTo>
                    <a:pt x="155059" y="1079871"/>
                  </a:lnTo>
                  <a:lnTo>
                    <a:pt x="192635" y="1083567"/>
                  </a:lnTo>
                  <a:lnTo>
                    <a:pt x="1035409" y="1083567"/>
                  </a:lnTo>
                  <a:lnTo>
                    <a:pt x="1444757" y="1396597"/>
                  </a:lnTo>
                  <a:lnTo>
                    <a:pt x="1444757" y="1083567"/>
                  </a:lnTo>
                  <a:lnTo>
                    <a:pt x="1228043" y="1083567"/>
                  </a:lnTo>
                  <a:lnTo>
                    <a:pt x="1265619" y="1079871"/>
                  </a:lnTo>
                  <a:lnTo>
                    <a:pt x="1301762" y="1068902"/>
                  </a:lnTo>
                  <a:lnTo>
                    <a:pt x="1335063" y="1051108"/>
                  </a:lnTo>
                  <a:lnTo>
                    <a:pt x="1364260" y="1027149"/>
                  </a:lnTo>
                  <a:lnTo>
                    <a:pt x="1388218" y="997953"/>
                  </a:lnTo>
                  <a:lnTo>
                    <a:pt x="1406013" y="964651"/>
                  </a:lnTo>
                  <a:lnTo>
                    <a:pt x="1416981" y="928508"/>
                  </a:lnTo>
                  <a:lnTo>
                    <a:pt x="1420677" y="890933"/>
                  </a:lnTo>
                  <a:lnTo>
                    <a:pt x="1420677" y="192634"/>
                  </a:lnTo>
                  <a:lnTo>
                    <a:pt x="1416981" y="155058"/>
                  </a:lnTo>
                  <a:lnTo>
                    <a:pt x="1406013" y="118915"/>
                  </a:lnTo>
                  <a:lnTo>
                    <a:pt x="1388218" y="85613"/>
                  </a:lnTo>
                  <a:lnTo>
                    <a:pt x="1364260" y="56417"/>
                  </a:lnTo>
                  <a:lnTo>
                    <a:pt x="1335063" y="32458"/>
                  </a:lnTo>
                  <a:lnTo>
                    <a:pt x="1301762" y="14664"/>
                  </a:lnTo>
                  <a:lnTo>
                    <a:pt x="1265619" y="3696"/>
                  </a:lnTo>
                  <a:lnTo>
                    <a:pt x="1228043" y="0"/>
                  </a:lnTo>
                  <a:close/>
                </a:path>
              </a:pathLst>
            </a:custGeom>
            <a:solidFill>
              <a:srgbClr val="6DBC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65662" y="3984955"/>
              <a:ext cx="746457" cy="120396"/>
            </a:xfrm>
            <a:prstGeom prst="roundRect">
              <a:avLst>
                <a:gd name="adj" fmla="val 50000"/>
              </a:avLst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765662" y="4225747"/>
              <a:ext cx="505664" cy="120396"/>
            </a:xfrm>
            <a:prstGeom prst="roundRect">
              <a:avLst>
                <a:gd name="adj" fmla="val 50000"/>
              </a:avLst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2431298"/>
            <a:ext cx="5472562" cy="346658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Модель может выдумать цифры, которые не подтверждены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Неправильный шаблон может привести к некорректной вёрстке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Нагрузка выше 20 одновременных задач требует внешней очереди</a:t>
            </a:r>
          </a:p>
        </p:txBody>
      </p:sp>
      <p:grpSp>
        <p:nvGrpSpPr>
          <p:cNvPr id="4" name="icon:builtin-sparkles"/>
          <p:cNvGrpSpPr/>
          <p:nvPr/>
        </p:nvGrpSpPr>
        <p:grpSpPr>
          <a:xfrm>
            <a:off x="6834295" y="2568902"/>
            <a:ext cx="743065" cy="710957"/>
            <a:chOff x="6834295" y="2568902"/>
            <a:chExt cx="743065" cy="710957"/>
          </a:xfrm>
        </p:grpSpPr>
        <p:sp>
          <p:nvSpPr>
            <p:cNvPr id="5" name="Freeform 4"/>
            <p:cNvSpPr/>
            <p:nvPr/>
          </p:nvSpPr>
          <p:spPr>
            <a:xfrm>
              <a:off x="6834295" y="2568902"/>
              <a:ext cx="550418" cy="550418"/>
            </a:xfrm>
            <a:custGeom>
              <a:avLst/>
              <a:gdLst/>
              <a:ahLst/>
              <a:cxnLst/>
              <a:rect l="l" t="t" r="r" b="b"/>
              <a:pathLst>
                <a:path w="550418" h="550418">
                  <a:moveTo>
                    <a:pt x="275209" y="0"/>
                  </a:moveTo>
                  <a:lnTo>
                    <a:pt x="283557" y="51693"/>
                  </a:lnTo>
                  <a:lnTo>
                    <a:pt x="295024" y="96874"/>
                  </a:lnTo>
                  <a:lnTo>
                    <a:pt x="310069" y="135999"/>
                  </a:lnTo>
                  <a:lnTo>
                    <a:pt x="329150" y="169529"/>
                  </a:lnTo>
                  <a:lnTo>
                    <a:pt x="352635" y="197784"/>
                  </a:lnTo>
                  <a:lnTo>
                    <a:pt x="380890" y="221268"/>
                  </a:lnTo>
                  <a:lnTo>
                    <a:pt x="414373" y="240303"/>
                  </a:lnTo>
                  <a:lnTo>
                    <a:pt x="453545" y="255394"/>
                  </a:lnTo>
                  <a:lnTo>
                    <a:pt x="498725" y="266907"/>
                  </a:lnTo>
                  <a:lnTo>
                    <a:pt x="550418" y="275209"/>
                  </a:lnTo>
                  <a:lnTo>
                    <a:pt x="498725" y="283557"/>
                  </a:lnTo>
                  <a:lnTo>
                    <a:pt x="453545" y="295024"/>
                  </a:lnTo>
                  <a:lnTo>
                    <a:pt x="414373" y="310069"/>
                  </a:lnTo>
                  <a:lnTo>
                    <a:pt x="380890" y="329150"/>
                  </a:lnTo>
                  <a:lnTo>
                    <a:pt x="352635" y="352634"/>
                  </a:lnTo>
                  <a:lnTo>
                    <a:pt x="329150" y="380889"/>
                  </a:lnTo>
                  <a:lnTo>
                    <a:pt x="310069" y="414373"/>
                  </a:lnTo>
                  <a:lnTo>
                    <a:pt x="295024" y="453544"/>
                  </a:lnTo>
                  <a:lnTo>
                    <a:pt x="283557" y="498770"/>
                  </a:lnTo>
                  <a:lnTo>
                    <a:pt x="275209" y="550418"/>
                  </a:lnTo>
                  <a:lnTo>
                    <a:pt x="266907" y="498770"/>
                  </a:lnTo>
                  <a:lnTo>
                    <a:pt x="255394" y="453544"/>
                  </a:lnTo>
                  <a:lnTo>
                    <a:pt x="240304" y="414373"/>
                  </a:lnTo>
                  <a:lnTo>
                    <a:pt x="221268" y="380889"/>
                  </a:lnTo>
                  <a:lnTo>
                    <a:pt x="197784" y="352634"/>
                  </a:lnTo>
                  <a:lnTo>
                    <a:pt x="169529" y="329150"/>
                  </a:lnTo>
                  <a:lnTo>
                    <a:pt x="135999" y="310115"/>
                  </a:lnTo>
                  <a:lnTo>
                    <a:pt x="96874" y="295024"/>
                  </a:lnTo>
                  <a:lnTo>
                    <a:pt x="51694" y="283511"/>
                  </a:lnTo>
                  <a:lnTo>
                    <a:pt x="0" y="275209"/>
                  </a:lnTo>
                  <a:lnTo>
                    <a:pt x="51694" y="266907"/>
                  </a:lnTo>
                  <a:lnTo>
                    <a:pt x="96874" y="255394"/>
                  </a:lnTo>
                  <a:lnTo>
                    <a:pt x="135999" y="240303"/>
                  </a:lnTo>
                  <a:lnTo>
                    <a:pt x="169529" y="221268"/>
                  </a:lnTo>
                  <a:lnTo>
                    <a:pt x="197784" y="197784"/>
                  </a:lnTo>
                  <a:lnTo>
                    <a:pt x="221268" y="169529"/>
                  </a:lnTo>
                  <a:lnTo>
                    <a:pt x="240304" y="136045"/>
                  </a:lnTo>
                  <a:lnTo>
                    <a:pt x="255394" y="96874"/>
                  </a:lnTo>
                  <a:lnTo>
                    <a:pt x="266907" y="51693"/>
                  </a:lnTo>
                  <a:lnTo>
                    <a:pt x="275209" y="0"/>
                  </a:lnTo>
                  <a:close/>
                </a:path>
              </a:pathLst>
            </a:custGeom>
            <a:noFill/>
            <a:ln w="9173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7375540" y="3073452"/>
              <a:ext cx="201820" cy="206407"/>
            </a:xfrm>
            <a:custGeom>
              <a:avLst/>
              <a:gdLst/>
              <a:ahLst/>
              <a:cxnLst/>
              <a:rect l="l" t="t" r="r" b="b"/>
              <a:pathLst>
                <a:path w="201820" h="206407">
                  <a:moveTo>
                    <a:pt x="100910" y="0"/>
                  </a:moveTo>
                  <a:lnTo>
                    <a:pt x="104212" y="19448"/>
                  </a:lnTo>
                  <a:lnTo>
                    <a:pt x="108753" y="36511"/>
                  </a:lnTo>
                  <a:lnTo>
                    <a:pt x="114624" y="51372"/>
                  </a:lnTo>
                  <a:lnTo>
                    <a:pt x="121917" y="64215"/>
                  </a:lnTo>
                  <a:lnTo>
                    <a:pt x="130724" y="75132"/>
                  </a:lnTo>
                  <a:lnTo>
                    <a:pt x="141182" y="84214"/>
                  </a:lnTo>
                  <a:lnTo>
                    <a:pt x="153429" y="91644"/>
                  </a:lnTo>
                  <a:lnTo>
                    <a:pt x="167556" y="97607"/>
                  </a:lnTo>
                  <a:lnTo>
                    <a:pt x="183656" y="102148"/>
                  </a:lnTo>
                  <a:lnTo>
                    <a:pt x="201820" y="105497"/>
                  </a:lnTo>
                  <a:lnTo>
                    <a:pt x="183656" y="108799"/>
                  </a:lnTo>
                  <a:lnTo>
                    <a:pt x="167556" y="113340"/>
                  </a:lnTo>
                  <a:lnTo>
                    <a:pt x="153429" y="119211"/>
                  </a:lnTo>
                  <a:lnTo>
                    <a:pt x="141182" y="126504"/>
                  </a:lnTo>
                  <a:lnTo>
                    <a:pt x="130724" y="135311"/>
                  </a:lnTo>
                  <a:lnTo>
                    <a:pt x="121917" y="145769"/>
                  </a:lnTo>
                  <a:lnTo>
                    <a:pt x="114624" y="158016"/>
                  </a:lnTo>
                  <a:lnTo>
                    <a:pt x="108753" y="172143"/>
                  </a:lnTo>
                  <a:lnTo>
                    <a:pt x="104212" y="188243"/>
                  </a:lnTo>
                  <a:lnTo>
                    <a:pt x="100910" y="206407"/>
                  </a:lnTo>
                  <a:lnTo>
                    <a:pt x="97607" y="188243"/>
                  </a:lnTo>
                  <a:lnTo>
                    <a:pt x="93066" y="172143"/>
                  </a:lnTo>
                  <a:lnTo>
                    <a:pt x="87195" y="158016"/>
                  </a:lnTo>
                  <a:lnTo>
                    <a:pt x="79902" y="145769"/>
                  </a:lnTo>
                  <a:lnTo>
                    <a:pt x="71095" y="135311"/>
                  </a:lnTo>
                  <a:lnTo>
                    <a:pt x="60637" y="126504"/>
                  </a:lnTo>
                  <a:lnTo>
                    <a:pt x="48391" y="119211"/>
                  </a:lnTo>
                  <a:lnTo>
                    <a:pt x="34263" y="113340"/>
                  </a:lnTo>
                  <a:lnTo>
                    <a:pt x="18163" y="108799"/>
                  </a:lnTo>
                  <a:lnTo>
                    <a:pt x="0" y="105497"/>
                  </a:lnTo>
                  <a:lnTo>
                    <a:pt x="18163" y="102194"/>
                  </a:lnTo>
                  <a:lnTo>
                    <a:pt x="34263" y="97607"/>
                  </a:lnTo>
                  <a:lnTo>
                    <a:pt x="48391" y="91644"/>
                  </a:lnTo>
                  <a:lnTo>
                    <a:pt x="60637" y="84214"/>
                  </a:lnTo>
                  <a:lnTo>
                    <a:pt x="71095" y="75132"/>
                  </a:lnTo>
                  <a:lnTo>
                    <a:pt x="79902" y="64215"/>
                  </a:lnTo>
                  <a:lnTo>
                    <a:pt x="87195" y="51372"/>
                  </a:lnTo>
                  <a:lnTo>
                    <a:pt x="93066" y="36511"/>
                  </a:lnTo>
                  <a:lnTo>
                    <a:pt x="97607" y="19448"/>
                  </a:lnTo>
                  <a:lnTo>
                    <a:pt x="100910" y="0"/>
                  </a:lnTo>
                  <a:close/>
                </a:path>
              </a:pathLst>
            </a:custGeom>
            <a:noFill/>
            <a:ln w="9173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267602" y="3740129"/>
            <a:ext cx="1775542" cy="21577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Модель может выдумать цифры</a:t>
            </a:r>
          </a:p>
        </p:txBody>
      </p:sp>
      <p:grpSp>
        <p:nvGrpSpPr>
          <p:cNvPr id="8" name="icon:builtin-layout"/>
          <p:cNvGrpSpPr/>
          <p:nvPr/>
        </p:nvGrpSpPr>
        <p:grpSpPr>
          <a:xfrm>
            <a:off x="8591068" y="2568902"/>
            <a:ext cx="825627" cy="825627"/>
            <a:chOff x="8591068" y="2568902"/>
            <a:chExt cx="825627" cy="825627"/>
          </a:xfrm>
        </p:grpSpPr>
        <p:sp>
          <p:nvSpPr>
            <p:cNvPr id="9" name="Rounded Rectangle 8"/>
            <p:cNvSpPr/>
            <p:nvPr/>
          </p:nvSpPr>
          <p:spPr>
            <a:xfrm>
              <a:off x="8591068" y="2568902"/>
              <a:ext cx="825627" cy="825627"/>
            </a:xfrm>
            <a:prstGeom prst="roundRect">
              <a:avLst>
                <a:gd name="adj" fmla="val 11111"/>
              </a:avLst>
            </a:prstGeom>
            <a:noFill/>
            <a:ln w="9173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591068" y="2844111"/>
              <a:ext cx="825627" cy="0"/>
            </a:xfrm>
            <a:custGeom>
              <a:avLst/>
              <a:gdLst/>
              <a:ahLst/>
              <a:cxnLst/>
              <a:rect l="l" t="t" r="r" b="b"/>
              <a:pathLst>
                <a:path w="825627" h="0">
                  <a:moveTo>
                    <a:pt x="0" y="0"/>
                  </a:moveTo>
                  <a:lnTo>
                    <a:pt x="825627" y="0"/>
                  </a:lnTo>
                </a:path>
              </a:pathLst>
            </a:custGeom>
            <a:noFill/>
            <a:ln w="9173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866277" y="2844111"/>
              <a:ext cx="0" cy="550418"/>
            </a:xfrm>
            <a:custGeom>
              <a:avLst/>
              <a:gdLst/>
              <a:ahLst/>
              <a:cxnLst/>
              <a:rect l="l" t="t" r="r" b="b"/>
              <a:pathLst>
                <a:path w="0" h="550418">
                  <a:moveTo>
                    <a:pt x="0" y="0"/>
                  </a:moveTo>
                  <a:lnTo>
                    <a:pt x="0" y="550418"/>
                  </a:lnTo>
                </a:path>
              </a:pathLst>
            </a:custGeom>
            <a:noFill/>
            <a:ln w="9173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8116111" y="3740129"/>
            <a:ext cx="1775542" cy="21577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Неправильный шаблон</a:t>
            </a:r>
          </a:p>
        </p:txBody>
      </p:sp>
      <p:grpSp>
        <p:nvGrpSpPr>
          <p:cNvPr id="13" name="icon:builtin-target"/>
          <p:cNvGrpSpPr/>
          <p:nvPr/>
        </p:nvGrpSpPr>
        <p:grpSpPr>
          <a:xfrm>
            <a:off x="10439578" y="2568902"/>
            <a:ext cx="825627" cy="825627"/>
            <a:chOff x="10439578" y="2568902"/>
            <a:chExt cx="825627" cy="825627"/>
          </a:xfrm>
        </p:grpSpPr>
        <p:sp>
          <p:nvSpPr>
            <p:cNvPr id="14" name="Oval 13"/>
            <p:cNvSpPr/>
            <p:nvPr/>
          </p:nvSpPr>
          <p:spPr>
            <a:xfrm>
              <a:off x="10439578" y="2568902"/>
              <a:ext cx="825627" cy="825627"/>
            </a:xfrm>
            <a:prstGeom prst="ellipse">
              <a:avLst/>
            </a:prstGeom>
            <a:noFill/>
            <a:ln w="9173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10623051" y="2752375"/>
              <a:ext cx="458681" cy="458681"/>
            </a:xfrm>
            <a:prstGeom prst="ellipse">
              <a:avLst/>
            </a:prstGeom>
            <a:noFill/>
            <a:ln w="9173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10788176" y="2917500"/>
              <a:ext cx="128430" cy="128430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9964621" y="3740129"/>
            <a:ext cx="1775542" cy="21577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Нагрузка &gt;20 задач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Итоги</a:t>
            </a:r>
          </a:p>
        </p:txBody>
      </p:sp>
      <p:sp>
        <p:nvSpPr>
          <p:cNvPr id="3" name="stat_0:bar"/>
          <p:cNvSpPr/>
          <p:nvPr/>
        </p:nvSpPr>
        <p:spPr>
          <a:xfrm>
            <a:off x="429280" y="1906524"/>
            <a:ext cx="50800" cy="1627886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607080" y="1783080"/>
            <a:ext cx="5251424" cy="175133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54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54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4 мин</a:t>
            </a:r>
          </a:p>
          <a:p>
            <a:pPr>
              <a:spcAft>
                <a:spcPts val="300"/>
              </a:spcAft>
              <a:defRPr sz="2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Время сборки сократилось с 186 до 4 минут</a:t>
            </a:r>
          </a:p>
        </p:txBody>
      </p:sp>
      <p:sp>
        <p:nvSpPr>
          <p:cNvPr id="5" name="stat_1:bar"/>
          <p:cNvSpPr/>
          <p:nvPr/>
        </p:nvSpPr>
        <p:spPr>
          <a:xfrm>
            <a:off x="6310940" y="1906524"/>
            <a:ext cx="50800" cy="1627886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at_1"/>
          <p:cNvSpPr txBox="1"/>
          <p:nvPr/>
        </p:nvSpPr>
        <p:spPr>
          <a:xfrm>
            <a:off x="6488740" y="1783080"/>
            <a:ext cx="5251424" cy="175133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54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54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 день</a:t>
            </a:r>
          </a:p>
          <a:p>
            <a:pPr>
              <a:spcAft>
                <a:spcPts val="300"/>
              </a:spcAft>
              <a:defRPr sz="2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Первый вариант появился за 1 день вместо 6</a:t>
            </a:r>
          </a:p>
        </p:txBody>
      </p:sp>
      <p:sp>
        <p:nvSpPr>
          <p:cNvPr id="7" name="stat_2:bar"/>
          <p:cNvSpPr/>
          <p:nvPr/>
        </p:nvSpPr>
        <p:spPr>
          <a:xfrm>
            <a:off x="429280" y="4101083"/>
            <a:ext cx="50800" cy="1627886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_2"/>
          <p:cNvSpPr txBox="1"/>
          <p:nvPr/>
        </p:nvSpPr>
        <p:spPr>
          <a:xfrm>
            <a:off x="607080" y="3977640"/>
            <a:ext cx="5251424" cy="175133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54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54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из 68</a:t>
            </a:r>
          </a:p>
          <a:p>
            <a:pPr>
              <a:spcAft>
                <a:spcPts val="300"/>
              </a:spcAft>
              <a:defRPr sz="2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Нарушения стиля уменьшились до 2 из 68</a:t>
            </a:r>
          </a:p>
        </p:txBody>
      </p:sp>
      <p:sp>
        <p:nvSpPr>
          <p:cNvPr id="9" name="stat_3:bar"/>
          <p:cNvSpPr/>
          <p:nvPr/>
        </p:nvSpPr>
        <p:spPr>
          <a:xfrm>
            <a:off x="6310940" y="4101083"/>
            <a:ext cx="50800" cy="1627886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t_3"/>
          <p:cNvSpPr txBox="1"/>
          <p:nvPr/>
        </p:nvSpPr>
        <p:spPr>
          <a:xfrm>
            <a:off x="6488740" y="3977640"/>
            <a:ext cx="5251424" cy="175133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54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54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38</a:t>
            </a:r>
          </a:p>
          <a:p>
            <a:pPr>
              <a:spcAft>
                <a:spcPts val="300"/>
              </a:spcAft>
              <a:defRPr sz="2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Дизайнеры закрыли 38 запросов вместо 11 в неделю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27164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Следующие шаги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783080"/>
            <a:ext cx="5473293" cy="4114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Согласовать бюджет и ресурсы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Интегрировать сервис с корпоративным хранилищем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Расширить команды до 8 в Q3 2026</a:t>
            </a:r>
          </a:p>
        </p:txBody>
      </p:sp>
      <p:sp>
        <p:nvSpPr>
          <p:cNvPr id="683" name="Pentagon 682"/>
          <p:cNvSpPr/>
          <p:nvPr/>
        </p:nvSpPr>
        <p:spPr>
          <a:xfrm>
            <a:off x="6266870" y="1879092"/>
            <a:ext cx="5473293" cy="1179576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Согласовать бюджет</a:t>
            </a:r>
          </a:p>
        </p:txBody>
      </p:sp>
      <p:sp>
        <p:nvSpPr>
          <p:cNvPr id="684" name="Chevron 683"/>
          <p:cNvSpPr/>
          <p:nvPr/>
        </p:nvSpPr>
        <p:spPr>
          <a:xfrm>
            <a:off x="6266870" y="3250692"/>
            <a:ext cx="5473293" cy="1179576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Интеграция с хранилищем</a:t>
            </a:r>
          </a:p>
        </p:txBody>
      </p:sp>
      <p:sp>
        <p:nvSpPr>
          <p:cNvPr id="685" name="Chevron 684"/>
          <p:cNvSpPr/>
          <p:nvPr/>
        </p:nvSpPr>
        <p:spPr>
          <a:xfrm>
            <a:off x="6266870" y="4622292"/>
            <a:ext cx="5473293" cy="1179576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Расширить команды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Вопросы и ответы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2280" y="2164394"/>
            <a:ext cx="11564884" cy="2540741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9280" y="2291394"/>
            <a:ext cx="7827385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Контактная информация</a:t>
            </a:r>
          </a:p>
        </p:txBody>
      </p:sp>
      <p:sp>
        <p:nvSpPr>
          <p:cNvPr id="886" name="body"/>
          <p:cNvSpPr txBox="1"/>
          <p:nvPr/>
        </p:nvSpPr>
        <p:spPr>
          <a:xfrm>
            <a:off x="429280" y="4014256"/>
            <a:ext cx="11310884" cy="563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8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Email: support@example.com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
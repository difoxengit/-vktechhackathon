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84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 в первом квартале 2026 года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848385"/>
            <a:ext cx="5472562" cy="40494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нарушили стиль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848385"/>
          <a:ext cx="5472562" cy="404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80989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0989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989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Средняя сборка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989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990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Сборка одной презентации занимает 186 мин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848385"/>
            <a:ext cx="5472562" cy="40494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 слайдов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дней ожидания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848385"/>
          <a:ext cx="5472562" cy="404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101237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01237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Слайдов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01237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01237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 (дней)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2716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вёрстки: как это работает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6266870" y="1895629"/>
            <a:ext cx="5473293" cy="580427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</a:t>
            </a:r>
          </a:p>
        </p:txBody>
      </p:sp>
      <p:sp>
        <p:nvSpPr>
          <p:cNvPr id="683" name="Chevron 682"/>
          <p:cNvSpPr/>
          <p:nvPr/>
        </p:nvSpPr>
        <p:spPr>
          <a:xfrm>
            <a:off x="6266870" y="2570544"/>
            <a:ext cx="5473293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Парсинг</a:t>
            </a:r>
          </a:p>
        </p:txBody>
      </p:sp>
      <p:sp>
        <p:nvSpPr>
          <p:cNvPr id="684" name="Chevron 683"/>
          <p:cNvSpPr/>
          <p:nvPr/>
        </p:nvSpPr>
        <p:spPr>
          <a:xfrm>
            <a:off x="6266870" y="3245460"/>
            <a:ext cx="5473293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685" name="Chevron 684"/>
          <p:cNvSpPr/>
          <p:nvPr/>
        </p:nvSpPr>
        <p:spPr>
          <a:xfrm>
            <a:off x="6266870" y="3920376"/>
            <a:ext cx="5473293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6266870" y="4595291"/>
            <a:ext cx="5473293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7" name="Chevron 686"/>
          <p:cNvSpPr/>
          <p:nvPr/>
        </p:nvSpPr>
        <p:spPr>
          <a:xfrm>
            <a:off x="6266870" y="5270207"/>
            <a:ext cx="5473293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3029852"/>
            <a:ext cx="6129269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Разбирает дизайн-систему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Собирает план колоды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Вёрстка по системе</a:t>
            </a:r>
          </a:p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</a:t>
            </a:r>
          </a:p>
        </p:txBody>
      </p:sp>
      <p:grpSp>
        <p:nvGrpSpPr>
          <p:cNvPr id="2" name="illustration:builtin-presentation"/>
          <p:cNvGrpSpPr/>
          <p:nvPr/>
        </p:nvGrpSpPr>
        <p:grpSpPr>
          <a:xfrm>
            <a:off x="7815241" y="2356138"/>
            <a:ext cx="3033988" cy="3033988"/>
            <a:chOff x="7815241" y="2356138"/>
            <a:chExt cx="3033988" cy="3033988"/>
          </a:xfrm>
        </p:grpSpPr>
        <p:sp>
          <p:nvSpPr>
            <p:cNvPr id="624" name="Oval 623"/>
            <p:cNvSpPr/>
            <p:nvPr/>
          </p:nvSpPr>
          <p:spPr>
            <a:xfrm>
              <a:off x="7815241" y="2356138"/>
              <a:ext cx="3033988" cy="3033988"/>
            </a:xfrm>
            <a:prstGeom prst="ellipse">
              <a:avLst/>
            </a:prstGeom>
            <a:solidFill>
              <a:srgbClr val="0E21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5" name="Rounded Rectangle 624"/>
            <p:cNvSpPr/>
            <p:nvPr/>
          </p:nvSpPr>
          <p:spPr>
            <a:xfrm>
              <a:off x="7935638" y="2765486"/>
              <a:ext cx="2793195" cy="1805945"/>
            </a:xfrm>
            <a:prstGeom prst="roundRect">
              <a:avLst>
                <a:gd name="adj" fmla="val 9333"/>
              </a:avLst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6" name="Rounded Rectangle 625"/>
            <p:cNvSpPr/>
            <p:nvPr/>
          </p:nvSpPr>
          <p:spPr>
            <a:xfrm>
              <a:off x="7935638" y="2765486"/>
              <a:ext cx="2793195" cy="361189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7" name="Rectangle 626"/>
            <p:cNvSpPr/>
            <p:nvPr/>
          </p:nvSpPr>
          <p:spPr>
            <a:xfrm>
              <a:off x="7935638" y="2958120"/>
              <a:ext cx="2793195" cy="168554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8" name="Rounded Rectangle 627"/>
            <p:cNvSpPr/>
            <p:nvPr/>
          </p:nvSpPr>
          <p:spPr>
            <a:xfrm>
              <a:off x="8224589" y="3367467"/>
              <a:ext cx="1011329" cy="1203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9" name="Rounded Rectangle 628"/>
            <p:cNvSpPr/>
            <p:nvPr/>
          </p:nvSpPr>
          <p:spPr>
            <a:xfrm>
              <a:off x="8224589" y="3608260"/>
              <a:ext cx="770536" cy="96317"/>
            </a:xfrm>
            <a:prstGeom prst="roundRect">
              <a:avLst>
                <a:gd name="adj" fmla="val 50000"/>
              </a:avLst>
            </a:prstGeom>
            <a:solidFill>
              <a:srgbClr val="5858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0" name="Rounded Rectangle 629"/>
            <p:cNvSpPr/>
            <p:nvPr/>
          </p:nvSpPr>
          <p:spPr>
            <a:xfrm>
              <a:off x="8224589" y="3800894"/>
              <a:ext cx="890932" cy="96317"/>
            </a:xfrm>
            <a:prstGeom prst="roundRect">
              <a:avLst>
                <a:gd name="adj" fmla="val 50000"/>
              </a:avLst>
            </a:prstGeom>
            <a:solidFill>
              <a:srgbClr val="5858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1" name="Rounded Rectangle 630"/>
            <p:cNvSpPr/>
            <p:nvPr/>
          </p:nvSpPr>
          <p:spPr>
            <a:xfrm>
              <a:off x="8224589" y="3993528"/>
              <a:ext cx="674219" cy="96317"/>
            </a:xfrm>
            <a:prstGeom prst="roundRect">
              <a:avLst>
                <a:gd name="adj" fmla="val 50000"/>
              </a:avLst>
            </a:prstGeom>
            <a:solidFill>
              <a:srgbClr val="5858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9500790" y="3873132"/>
              <a:ext cx="216713" cy="457506"/>
            </a:xfrm>
            <a:prstGeom prst="roundRect">
              <a:avLst>
                <a:gd name="adj" fmla="val 22222"/>
              </a:avLst>
            </a:prstGeom>
            <a:solidFill>
              <a:srgbClr val="5858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3" name="Rounded Rectangle 632"/>
            <p:cNvSpPr/>
            <p:nvPr/>
          </p:nvSpPr>
          <p:spPr>
            <a:xfrm>
              <a:off x="9813821" y="3632339"/>
              <a:ext cx="216713" cy="698298"/>
            </a:xfrm>
            <a:prstGeom prst="roundRect">
              <a:avLst>
                <a:gd name="adj" fmla="val 22222"/>
              </a:avLst>
            </a:prstGeom>
            <a:solidFill>
              <a:srgbClr val="6DBC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4" name="Rounded Rectangle 633"/>
            <p:cNvSpPr/>
            <p:nvPr/>
          </p:nvSpPr>
          <p:spPr>
            <a:xfrm>
              <a:off x="10126851" y="3391547"/>
              <a:ext cx="216713" cy="939091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5" name="Rectangle 634"/>
            <p:cNvSpPr/>
            <p:nvPr/>
          </p:nvSpPr>
          <p:spPr>
            <a:xfrm>
              <a:off x="9259998" y="4571431"/>
              <a:ext cx="144475" cy="43342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6" name="Rounded Rectangle 635"/>
            <p:cNvSpPr/>
            <p:nvPr/>
          </p:nvSpPr>
          <p:spPr>
            <a:xfrm>
              <a:off x="8730254" y="4956699"/>
              <a:ext cx="1203963" cy="14447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Сокращение времени сборки до 4 мин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267602" y="1848385"/>
          <a:ext cx="5472562" cy="404949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Нарушений фирменного стиля — 2 из 68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267602" y="2431298"/>
          <a:ext cx="5472562" cy="34665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Ресурсы: 2 vCPU / 2 ГБ RAM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267602" y="1783080"/>
          <a:ext cx="547256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Ресурс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vCPU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RAM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ГБ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инференса за 6 недель — 1 400 руб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267602" y="1848385"/>
          <a:ext cx="5472562" cy="404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202474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02474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Инференс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1 400 руб.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508649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выше 20 задач: главный риск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3360052"/>
            <a:ext cx="6130088" cy="1026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Требуется внешняя очередь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может выдумать цифры</a:t>
            </a:r>
          </a:p>
        </p:txBody>
      </p:sp>
      <p:grpSp>
        <p:nvGrpSpPr>
          <p:cNvPr id="2" name="illustration:builtin-target"/>
          <p:cNvGrpSpPr/>
          <p:nvPr/>
        </p:nvGrpSpPr>
        <p:grpSpPr>
          <a:xfrm>
            <a:off x="7814718" y="2355935"/>
            <a:ext cx="3034393" cy="3034393"/>
            <a:chOff x="7814718" y="2355935"/>
            <a:chExt cx="3034393" cy="3034393"/>
          </a:xfrm>
        </p:grpSpPr>
        <p:sp>
          <p:nvSpPr>
            <p:cNvPr id="683" name="Oval 682"/>
            <p:cNvSpPr/>
            <p:nvPr/>
          </p:nvSpPr>
          <p:spPr>
            <a:xfrm>
              <a:off x="7814718" y="2355935"/>
              <a:ext cx="3034393" cy="3034393"/>
            </a:xfrm>
            <a:prstGeom prst="ellipse">
              <a:avLst/>
            </a:prstGeom>
            <a:solidFill>
              <a:srgbClr val="0E21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4" name="Oval 683"/>
            <p:cNvSpPr/>
            <p:nvPr/>
          </p:nvSpPr>
          <p:spPr>
            <a:xfrm>
              <a:off x="8055543" y="2837584"/>
              <a:ext cx="2311919" cy="2311919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5" name="Oval 684"/>
            <p:cNvSpPr/>
            <p:nvPr/>
          </p:nvSpPr>
          <p:spPr>
            <a:xfrm>
              <a:off x="8344532" y="3126574"/>
              <a:ext cx="1733939" cy="173393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6" name="Oval 685"/>
            <p:cNvSpPr/>
            <p:nvPr/>
          </p:nvSpPr>
          <p:spPr>
            <a:xfrm>
              <a:off x="8633522" y="3415564"/>
              <a:ext cx="1155959" cy="1155959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7" name="Oval 686"/>
            <p:cNvSpPr/>
            <p:nvPr/>
          </p:nvSpPr>
          <p:spPr>
            <a:xfrm>
              <a:off x="8922512" y="3704554"/>
              <a:ext cx="577979" cy="577979"/>
            </a:xfrm>
            <a:prstGeom prst="ellipse">
              <a:avLst/>
            </a:prstGeom>
            <a:solidFill>
              <a:srgbClr val="6DBC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9283750" y="2669007"/>
              <a:ext cx="1252289" cy="1252289"/>
            </a:xfrm>
            <a:custGeom>
              <a:avLst/>
              <a:gdLst/>
              <a:ahLst/>
              <a:cxnLst/>
              <a:rect l="l" t="t" r="r" b="b"/>
              <a:pathLst>
                <a:path w="1252289" h="1252289">
                  <a:moveTo>
                    <a:pt x="0" y="1252289"/>
                  </a:moveTo>
                  <a:lnTo>
                    <a:pt x="1252289" y="0"/>
                  </a:lnTo>
                </a:path>
              </a:pathLst>
            </a:custGeom>
            <a:solidFill>
              <a:srgbClr val="000000"/>
            </a:solidFill>
            <a:ln w="96329" cap="rnd">
              <a:solidFill>
                <a:srgbClr val="FFFF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Freeform 3"/>
            <p:cNvSpPr/>
            <p:nvPr/>
          </p:nvSpPr>
          <p:spPr>
            <a:xfrm>
              <a:off x="10536039" y="2355935"/>
              <a:ext cx="313072" cy="409402"/>
            </a:xfrm>
            <a:custGeom>
              <a:avLst/>
              <a:gdLst/>
              <a:ahLst/>
              <a:cxnLst/>
              <a:rect l="l" t="t" r="r" b="b"/>
              <a:pathLst>
                <a:path w="313072" h="409402">
                  <a:moveTo>
                    <a:pt x="0" y="313072"/>
                  </a:moveTo>
                  <a:lnTo>
                    <a:pt x="216742" y="0"/>
                  </a:lnTo>
                  <a:lnTo>
                    <a:pt x="313072" y="40940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10247049" y="2452265"/>
              <a:ext cx="409402" cy="216742"/>
            </a:xfrm>
            <a:custGeom>
              <a:avLst/>
              <a:gdLst/>
              <a:ahLst/>
              <a:cxnLst/>
              <a:rect l="l" t="t" r="r" b="b"/>
              <a:pathLst>
                <a:path w="409402" h="216742">
                  <a:moveTo>
                    <a:pt x="288990" y="216742"/>
                  </a:moveTo>
                  <a:lnTo>
                    <a:pt x="0" y="120412"/>
                  </a:lnTo>
                  <a:lnTo>
                    <a:pt x="40940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Пилот: 6 недель, 68 колод</a:t>
            </a:r>
          </a:p>
        </p:txBody>
      </p:sp>
      <p:graphicFrame>
        <p:nvGraphicFramePr>
          <p:cNvPr id="623" name="Table 622"/>
          <p:cNvGraphicFramePr>
            <a:graphicFrameLocks noGrp="1"/>
          </p:cNvGraphicFramePr>
          <p:nvPr/>
        </p:nvGraphicFramePr>
        <p:xfrm>
          <a:off x="6267602" y="1783080"/>
          <a:ext cx="547256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Длительность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недель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0817" y="297715"/>
            <a:ext cx="11566347" cy="3377993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7817" y="424715"/>
            <a:ext cx="11312347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Решение о полном запуске</a:t>
            </a:r>
          </a:p>
        </p:txBody>
      </p:sp>
      <p:sp>
        <p:nvSpPr>
          <p:cNvPr id="886" name="body"/>
          <p:cNvSpPr txBox="1"/>
          <p:nvPr/>
        </p:nvSpPr>
        <p:spPr>
          <a:xfrm>
            <a:off x="427817" y="2258389"/>
            <a:ext cx="113123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Третий квартал 2026 подключение 4 команд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Четвертый квартал 2026 доступ для всей компании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квартал 2027 генерация иллюстраций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
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3" r:id="rId5"/>
  </p:sldMasterIdLst>
  <p:notesMasterIdLst>
    <p:notesMasterId r:id="rId6"/>
  </p:notesMasterIdLst>
  <p:sldIdLst>
    <p:sldId id="285" r:id="rId38"/>
    <p:sldId id="286" r:id="rId39"/>
    <p:sldId id="287" r:id="rId40"/>
    <p:sldId id="288" r:id="rId41"/>
    <p:sldId id="289" r:id="rId42"/>
    <p:sldId id="290" r:id="rId43"/>
    <p:sldId id="291" r:id="rId44"/>
    <p:sldId id="292" r:id="rId45"/>
    <p:sldId id="293" r:id="rId46"/>
    <p:sldId id="294" r:id="rId47"/>
  </p:sldIdLst>
  <p:sldSz cy="6858000" cx="12192000"/>
  <p:notesSz cx="6858000" cy="9144000"/>
  <p:embeddedFontLst>
    <p:embeddedFont>
      <p:font typeface="Play"/>
      <p:regular r:id="rId36"/>
      <p:bold r:id="rId3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2547">
          <p15:clr>
            <a:srgbClr val="A4A3A4"/>
          </p15:clr>
        </p15:guide>
        <p15:guide id="4" orient="horz" pos="777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AC9AF0A-6FEA-4B71-B213-FBF42B605303}">
  <a:tblStyle styleId="{5AC9AF0A-6FEA-4B71-B213-FBF42B605303}" styleName="Table_0">
    <a:wholeTbl>
      <a:tcTxStyle b="off" i="off">
        <a:font>
          <a:latin typeface="SF Pro Text Light"/>
          <a:ea typeface="SF Pro Text Light"/>
          <a:cs typeface="SF Pro Text Light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6EBFF"/>
          </a:solidFill>
        </a:fill>
      </a:tcStyle>
    </a:wholeTbl>
    <a:band1H>
      <a:tcTxStyle/>
      <a:tcStyle>
        <a:fill>
          <a:solidFill>
            <a:srgbClr val="CAD5FF"/>
          </a:solidFill>
        </a:fill>
      </a:tcStyle>
    </a:band1H>
    <a:band2H>
      <a:tcTxStyle/>
    </a:band2H>
    <a:band1V>
      <a:tcTxStyle/>
      <a:tcStyle>
        <a:fill>
          <a:solidFill>
            <a:srgbClr val="CAD5FF"/>
          </a:solidFill>
        </a:fill>
      </a:tcStyle>
    </a:band1V>
    <a:band2V>
      <a:tcTxStyle/>
    </a:band2V>
    <a:lastCol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  <p:guide pos="2547"/>
        <p:guide pos="777" orient="horz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36" Type="http://schemas.openxmlformats.org/officeDocument/2006/relationships/font" Target="fonts/Play-regular.fntdata"/><Relationship Id="rId37" Type="http://schemas.openxmlformats.org/officeDocument/2006/relationships/font" Target="fonts/Play-bold.fntdata"/><Relationship Id="rId38" Type="http://schemas.openxmlformats.org/officeDocument/2006/relationships/slide" Target="slides/slide30.xml"/><Relationship Id="rId39" Type="http://schemas.openxmlformats.org/officeDocument/2006/relationships/slide" Target="slides/slide31.xml"/><Relationship Id="rId40" Type="http://schemas.openxmlformats.org/officeDocument/2006/relationships/slide" Target="slides/slide32.xml"/><Relationship Id="rId41" Type="http://schemas.openxmlformats.org/officeDocument/2006/relationships/slide" Target="slides/slide33.xml"/><Relationship Id="rId42" Type="http://schemas.openxmlformats.org/officeDocument/2006/relationships/slide" Target="slides/slide34.xml"/><Relationship Id="rId43" Type="http://schemas.openxmlformats.org/officeDocument/2006/relationships/slide" Target="slides/slide35.xml"/><Relationship Id="rId44" Type="http://schemas.openxmlformats.org/officeDocument/2006/relationships/slide" Target="slides/slide36.xml"/><Relationship Id="rId45" Type="http://schemas.openxmlformats.org/officeDocument/2006/relationships/slide" Target="slides/slide37.xml"/><Relationship Id="rId46" Type="http://schemas.openxmlformats.org/officeDocument/2006/relationships/slide" Target="slides/slide38.xml"/><Relationship Id="rId47" Type="http://schemas.openxmlformats.org/officeDocument/2006/relationships/slide" Target="slides/slide3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Время (мин)</c:v>
                </c:pt>
              </c:strCache>
            </c:strRef>
          </c:tx>
          <c:spPr>
            <a:solidFill>
              <a:srgbClr val="0077FF"/>
            </a:solidFill>
            <a:ln>
              <a:solidFill>
                <a:srgbClr val="0077FF"/>
              </a:solidFill>
            </a:ln>
          </c:spPr>
          <c:cat>
            <c:strRef>
              <c:f>Sheet1!$A$2:$A$3</c:f>
              <c:strCache>
                <c:ptCount val="2"/>
                <c:pt idx="0">
                  <c:v>До</c:v>
                </c:pt>
                <c:pt idx="1">
                  <c:v>После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186.0</c:v>
                </c:pt>
                <c:pt idx="1">
                  <c:v>4.0</c:v>
                </c:pt>
              </c:numCache>
            </c:numRef>
          </c:val>
        </c:ser>
        <c:dLbls>
          <c:numFmt formatCode="0&quot; мин&quot;" sourceLinked="0"/>
          <c:txPr>
            <a:bodyPr wrap="none"/>
            <a:lstStyle/>
            <a:p>
              <a:pPr>
                <a:defRPr sz="1100" b="0">
                  <a:solidFill>
                    <a:srgbClr val="FFFFFF"/>
                  </a:solidFill>
                  <a:latin typeface="Play"/>
                  <a:ea typeface="Play"/>
                  <a:cs typeface="Play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 b="0">
                <a:solidFill>
                  <a:srgbClr val="FFFFFF"/>
                </a:solidFill>
                <a:latin typeface="Play"/>
                <a:ea typeface="Play"/>
                <a:cs typeface="Play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3C3C3C"/>
              </a:solidFill>
            </a:ln>
          </c:spPr>
        </c:majorGridlines>
        <c:title>
          <c:tx>
            <c:rich>
              <a:bodyPr rot="0" vert="horz"/>
              <a:lstStyle/>
              <a:p>
                <a:pPr>
                  <a:defRPr sz="1100" b="0">
                    <a:solidFill>
                      <a:srgbClr val="FFFFFF"/>
                    </a:solidFill>
                    <a:latin typeface="Play"/>
                    <a:ea typeface="Play"/>
                    <a:cs typeface="Play"/>
                  </a:defRPr>
                </a:pPr>
                <a:r>
                  <a:t>Время (мин), мин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100" b="0">
                <a:solidFill>
                  <a:srgbClr val="FFFFFF"/>
                </a:solidFill>
                <a:latin typeface="Play"/>
                <a:ea typeface="Play"/>
                <a:cs typeface="Play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200" b="0">
          <a:solidFill>
            <a:srgbClr val="FFFFFF"/>
          </a:solidFill>
          <a:latin typeface="Play"/>
          <a:ea typeface="Play"/>
          <a:cs typeface="Play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Нарушения</c:v>
                </c:pt>
              </c:strCache>
            </c:strRef>
          </c:tx>
          <c:spPr>
            <a:solidFill>
              <a:srgbClr val="0077FF"/>
            </a:solidFill>
            <a:ln>
              <a:solidFill>
                <a:srgbClr val="0077FF"/>
              </a:solidFill>
            </a:ln>
          </c:spPr>
          <c:cat>
            <c:strRef>
              <c:f>Sheet1!$A$2:$A$3</c:f>
              <c:strCache>
                <c:ptCount val="2"/>
                <c:pt idx="0">
                  <c:v>До</c:v>
                </c:pt>
                <c:pt idx="1">
                  <c:v>После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19.0</c:v>
                </c:pt>
                <c:pt idx="1">
                  <c:v>2.0</c:v>
                </c:pt>
              </c:numCache>
            </c:numRef>
          </c:val>
        </c:ser>
        <c:dLbls>
          <c:numFmt formatCode="0&quot; колод&quot;" sourceLinked="0"/>
          <c:txPr>
            <a:bodyPr wrap="none"/>
            <a:lstStyle/>
            <a:p>
              <a:pPr>
                <a:defRPr sz="1100" b="0">
                  <a:solidFill>
                    <a:srgbClr val="FFFFFF"/>
                  </a:solidFill>
                  <a:latin typeface="Play"/>
                  <a:ea typeface="Play"/>
                  <a:cs typeface="Play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 b="0">
                <a:solidFill>
                  <a:srgbClr val="FFFFFF"/>
                </a:solidFill>
                <a:latin typeface="Play"/>
                <a:ea typeface="Play"/>
                <a:cs typeface="Play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3C3C3C"/>
              </a:solidFill>
            </a:ln>
          </c:spPr>
        </c:majorGridlines>
        <c:title>
          <c:tx>
            <c:rich>
              <a:bodyPr rot="0" vert="horz"/>
              <a:lstStyle/>
              <a:p>
                <a:pPr>
                  <a:defRPr sz="1100" b="0">
                    <a:solidFill>
                      <a:srgbClr val="FFFFFF"/>
                    </a:solidFill>
                    <a:latin typeface="Play"/>
                    <a:ea typeface="Play"/>
                    <a:cs typeface="Play"/>
                  </a:defRPr>
                </a:pPr>
                <a:r>
                  <a:t>Нарушения, колод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100" b="0">
                <a:solidFill>
                  <a:srgbClr val="FFFFFF"/>
                </a:solidFill>
                <a:latin typeface="Play"/>
                <a:ea typeface="Play"/>
                <a:cs typeface="Play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200" b="0">
          <a:solidFill>
            <a:srgbClr val="FFFFFF"/>
          </a:solidFill>
          <a:latin typeface="Play"/>
          <a:ea typeface="Play"/>
          <a:cs typeface="Play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ru-RU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5" Type="http://schemas.openxmlformats.org/officeDocument/2006/relationships/image" Target="../media/image4.png"/><Relationship Id="rId6" Type="http://schemas.openxmlformats.org/officeDocument/2006/relationships/image" Target="../media/image7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_Титульный слайд">
  <p:cSld name="7_Титульный слайд">
    <p:bg>
      <p:bgPr>
        <a:solidFill>
          <a:schemeClr val="dk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Google Shape;55;p2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56" name="Google Shape;56;p2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7" name="Google Shape;57;p2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8" name="Google Shape;58;p2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9" name="Google Shape;59;p2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0" name="Google Shape;60;p2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1" name="Google Shape;61;p2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2" name="Google Shape;62;p2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3" name="Google Shape;63;p2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4" name="Google Shape;64;p2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5" name="Google Shape;65;p2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6" name="Google Shape;66;p2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7" name="Google Shape;67;p2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8" name="Google Shape;68;p2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9" name="Google Shape;69;p2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70" name="Google Shape;70;p2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71" name="Google Shape;71;p2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72" name="Google Shape;72;p2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73" name="Google Shape;73;p2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74" name="Google Shape;74;p2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75" name="Google Shape;75;p2"/>
          <p:cNvSpPr txBox="1"/>
          <p:nvPr>
            <p:ph type="title"/>
          </p:nvPr>
        </p:nvSpPr>
        <p:spPr>
          <a:xfrm>
            <a:off x="429253" y="2546255"/>
            <a:ext cx="7827335" cy="1876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76" name="Google Shape;76;p2"/>
          <p:cNvGrpSpPr/>
          <p:nvPr/>
        </p:nvGrpSpPr>
        <p:grpSpPr>
          <a:xfrm>
            <a:off x="1" y="6350"/>
            <a:ext cx="12192792" cy="6851649"/>
            <a:chOff x="0" y="6350"/>
            <a:chExt cx="24396891" cy="13709651"/>
          </a:xfrm>
        </p:grpSpPr>
        <p:pic>
          <p:nvPicPr>
            <p:cNvPr id="77" name="Google Shape;77;p2"/>
            <p:cNvPicPr preferRelativeResize="0"/>
            <p:nvPr/>
          </p:nvPicPr>
          <p:blipFill rotWithShape="1">
            <a:blip r:embed="rId2">
              <a:alphaModFix/>
            </a:blip>
            <a:srcRect b="0" l="0" r="50023" t="80662"/>
            <a:stretch/>
          </p:blipFill>
          <p:spPr>
            <a:xfrm>
              <a:off x="1587" y="11064874"/>
              <a:ext cx="12192000" cy="26511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8" name="Google Shape;78;p2"/>
            <p:cNvSpPr/>
            <p:nvPr/>
          </p:nvSpPr>
          <p:spPr>
            <a:xfrm>
              <a:off x="0" y="10657492"/>
              <a:ext cx="8335061" cy="3058509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79" name="Google Shape;79;p2"/>
            <p:cNvPicPr preferRelativeResize="0"/>
            <p:nvPr/>
          </p:nvPicPr>
          <p:blipFill rotWithShape="1">
            <a:blip r:embed="rId2">
              <a:alphaModFix/>
            </a:blip>
            <a:srcRect b="0" l="52729" r="0" t="82751"/>
            <a:stretch/>
          </p:blipFill>
          <p:spPr>
            <a:xfrm>
              <a:off x="12853797" y="11351172"/>
              <a:ext cx="11531791" cy="236482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0" name="Google Shape;80;p2"/>
            <p:cNvPicPr preferRelativeResize="0"/>
            <p:nvPr/>
          </p:nvPicPr>
          <p:blipFill rotWithShape="1">
            <a:blip r:embed="rId2">
              <a:alphaModFix/>
            </a:blip>
            <a:srcRect b="76357" l="52729" r="0" t="0"/>
            <a:stretch/>
          </p:blipFill>
          <p:spPr>
            <a:xfrm>
              <a:off x="12865099" y="6350"/>
              <a:ext cx="11531792" cy="324134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1" name="Google Shape;81;p2"/>
            <p:cNvPicPr preferRelativeResize="0"/>
            <p:nvPr/>
          </p:nvPicPr>
          <p:blipFill rotWithShape="1">
            <a:blip r:embed="rId2">
              <a:alphaModFix/>
            </a:blip>
            <a:srcRect b="69917" l="0" r="47271" t="0"/>
            <a:stretch/>
          </p:blipFill>
          <p:spPr>
            <a:xfrm>
              <a:off x="1587" y="6350"/>
              <a:ext cx="12863512" cy="4124216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82" name="Google Shape;82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8723" y="6035040"/>
            <a:ext cx="2653844" cy="4181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83" name="Google Shape;83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858522" y="6160788"/>
            <a:ext cx="934755" cy="29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5_Титульный слайд">
  <p:cSld name="15_Титульный слайд">
    <p:bg>
      <p:bgPr>
        <a:solidFill>
          <a:schemeClr val="dk1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148" name="Google Shape;148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6393786"/>
            <a:ext cx="4655279" cy="46421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49" name="Google Shape;14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31600" y="0"/>
            <a:ext cx="1760400" cy="243127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50" name="Google Shape;150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331498" y="6290333"/>
            <a:ext cx="2860502" cy="56766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1" name="Google Shape;151;p6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152" name="Google Shape;152;p6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3" name="Google Shape;153;p6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4" name="Google Shape;154;p6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5" name="Google Shape;155;p6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6" name="Google Shape;156;p6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7" name="Google Shape;157;p6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8" name="Google Shape;158;p6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9" name="Google Shape;159;p6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0" name="Google Shape;160;p6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1" name="Google Shape;161;p6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2" name="Google Shape;162;p6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3" name="Google Shape;163;p6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4" name="Google Shape;164;p6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5" name="Google Shape;165;p6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6" name="Google Shape;166;p6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7" name="Google Shape;167;p6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8" name="Google Shape;168;p6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9" name="Google Shape;169;p6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70" name="Google Shape;170;p6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171" name="Google Shape;171;p6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72" name="Google Shape;172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73" name="Google Shape;173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093496" y="6238282"/>
            <a:ext cx="690517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3_Титульный слайд">
  <p:cSld name="13_Титульный слайд">
    <p:bg>
      <p:bgPr>
        <a:solidFill>
          <a:schemeClr val="dk1"/>
        </a:solid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5" name="Google Shape;175;p7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176" name="Google Shape;176;p7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77" name="Google Shape;177;p7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78" name="Google Shape;178;p7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79" name="Google Shape;179;p7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0" name="Google Shape;180;p7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1" name="Google Shape;181;p7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2" name="Google Shape;182;p7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3" name="Google Shape;183;p7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4" name="Google Shape;184;p7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5" name="Google Shape;185;p7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6" name="Google Shape;186;p7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7" name="Google Shape;187;p7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8" name="Google Shape;188;p7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9" name="Google Shape;189;p7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0" name="Google Shape;190;p7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1" name="Google Shape;191;p7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2" name="Google Shape;192;p7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3" name="Google Shape;193;p7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4" name="Google Shape;194;p7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195" name="Google Shape;195;p7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96" name="Google Shape;196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97" name="Google Shape;197;p7"/>
          <p:cNvPicPr preferRelativeResize="0"/>
          <p:nvPr/>
        </p:nvPicPr>
        <p:blipFill rotWithShape="1">
          <a:blip r:embed="rId3">
            <a:alphaModFix/>
          </a:blip>
          <a:srcRect b="86725" l="0" r="72339" t="0"/>
          <a:stretch/>
        </p:blipFill>
        <p:spPr>
          <a:xfrm flipH="1">
            <a:off x="8819540" y="0"/>
            <a:ext cx="3372437" cy="910269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7"/>
          <p:cNvSpPr/>
          <p:nvPr/>
        </p:nvSpPr>
        <p:spPr>
          <a:xfrm>
            <a:off x="8613058" y="322621"/>
            <a:ext cx="1407652" cy="58764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7"/>
          <p:cNvSpPr/>
          <p:nvPr/>
        </p:nvSpPr>
        <p:spPr>
          <a:xfrm>
            <a:off x="10858521" y="0"/>
            <a:ext cx="1049981" cy="2613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7"/>
          <p:cNvSpPr/>
          <p:nvPr/>
        </p:nvSpPr>
        <p:spPr>
          <a:xfrm>
            <a:off x="10760947" y="616445"/>
            <a:ext cx="582556" cy="3386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201" name="Google Shape;201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093496" y="6238282"/>
            <a:ext cx="690517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7_Титульный слайд">
  <p:cSld name="17_Титульный слайд">
    <p:bg>
      <p:bgPr>
        <a:solidFill>
          <a:schemeClr val="dk1"/>
        </a:solid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9" name="Google Shape;209;p9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210" name="Google Shape;210;p9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1" name="Google Shape;211;p9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2" name="Google Shape;212;p9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3" name="Google Shape;213;p9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4" name="Google Shape;214;p9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5" name="Google Shape;215;p9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6" name="Google Shape;216;p9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7" name="Google Shape;217;p9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8" name="Google Shape;218;p9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9" name="Google Shape;219;p9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0" name="Google Shape;220;p9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1" name="Google Shape;221;p9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2" name="Google Shape;222;p9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3" name="Google Shape;223;p9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4" name="Google Shape;224;p9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5" name="Google Shape;225;p9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6" name="Google Shape;226;p9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7" name="Google Shape;227;p9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8" name="Google Shape;228;p9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229" name="Google Shape;229;p9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descr=" " id="230" name="Google Shape;230;p9"/>
          <p:cNvPicPr preferRelativeResize="0"/>
          <p:nvPr/>
        </p:nvPicPr>
        <p:blipFill rotWithShape="1">
          <a:blip r:embed="rId2">
            <a:alphaModFix/>
          </a:blip>
          <a:srcRect b="86725" l="0" r="72339" t="0"/>
          <a:stretch/>
        </p:blipFill>
        <p:spPr>
          <a:xfrm flipH="1">
            <a:off x="8819540" y="0"/>
            <a:ext cx="3372437" cy="910269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9"/>
          <p:cNvSpPr/>
          <p:nvPr/>
        </p:nvSpPr>
        <p:spPr>
          <a:xfrm>
            <a:off x="8613058" y="322621"/>
            <a:ext cx="1407652" cy="58764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9"/>
          <p:cNvSpPr/>
          <p:nvPr/>
        </p:nvSpPr>
        <p:spPr>
          <a:xfrm>
            <a:off x="10858521" y="0"/>
            <a:ext cx="1049981" cy="2613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9"/>
          <p:cNvSpPr/>
          <p:nvPr/>
        </p:nvSpPr>
        <p:spPr>
          <a:xfrm>
            <a:off x="10760947" y="616445"/>
            <a:ext cx="582556" cy="3386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2_Титульный слайд">
  <p:cSld name="12_Титульный слайд">
    <p:bg>
      <p:bgPr>
        <a:solidFill>
          <a:schemeClr val="dk1"/>
        </a:solidFill>
      </p:bgPr>
    </p:bg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327" name="Google Shape;327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1979" cy="6857131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15"/>
          <p:cNvSpPr/>
          <p:nvPr/>
        </p:nvSpPr>
        <p:spPr>
          <a:xfrm>
            <a:off x="0" y="4499104"/>
            <a:ext cx="6792686" cy="166168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15"/>
          <p:cNvSpPr/>
          <p:nvPr/>
        </p:nvSpPr>
        <p:spPr>
          <a:xfrm>
            <a:off x="1" y="5501389"/>
            <a:ext cx="4811842" cy="135660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30" name="Google Shape;330;p15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331" name="Google Shape;331;p15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32" name="Google Shape;332;p15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33" name="Google Shape;333;p15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34" name="Google Shape;334;p15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35" name="Google Shape;335;p15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36" name="Google Shape;336;p15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37" name="Google Shape;337;p15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38" name="Google Shape;338;p15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39" name="Google Shape;339;p15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0" name="Google Shape;340;p15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1" name="Google Shape;341;p15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2" name="Google Shape;342;p15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3" name="Google Shape;343;p15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4" name="Google Shape;344;p15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5" name="Google Shape;345;p15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6" name="Google Shape;346;p15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7" name="Google Shape;347;p15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8" name="Google Shape;348;p15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9" name="Google Shape;349;p15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350" name="Google Shape;350;p15"/>
          <p:cNvSpPr txBox="1"/>
          <p:nvPr>
            <p:ph type="title"/>
          </p:nvPr>
        </p:nvSpPr>
        <p:spPr>
          <a:xfrm>
            <a:off x="429253" y="2291422"/>
            <a:ext cx="7827335" cy="1876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"/>
              <a:buNone/>
              <a:defRPr b="0" i="0" sz="54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51" name="Google Shape;35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8723" y="5895936"/>
            <a:ext cx="3536690" cy="55725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52" name="Google Shape;352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858522" y="6160788"/>
            <a:ext cx="934755" cy="29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9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4.xml"/><Relationship Id="rId1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427866" y="662333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b="0" i="0" sz="3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658813" y="1773239"/>
            <a:ext cx="10855852" cy="43926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17500" lvl="1" marL="9144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3pPr>
            <a:lvl4pPr indent="-295275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Char char="•"/>
              <a:defRPr b="0" i="0" sz="105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1" type="ftr"/>
          </p:nvPr>
        </p:nvSpPr>
        <p:spPr>
          <a:xfrm>
            <a:off x="671513" y="167981"/>
            <a:ext cx="10874375" cy="241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rgbClr val="A6A6A6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grpSp>
        <p:nvGrpSpPr>
          <p:cNvPr id="13" name="Google Shape;13;p1"/>
          <p:cNvGrpSpPr/>
          <p:nvPr/>
        </p:nvGrpSpPr>
        <p:grpSpPr>
          <a:xfrm>
            <a:off x="0" y="-114752"/>
            <a:ext cx="12188148" cy="64309"/>
            <a:chOff x="0" y="1773238"/>
            <a:chExt cx="12188148" cy="735184"/>
          </a:xfrm>
        </p:grpSpPr>
        <p:cxnSp>
          <p:nvCxnSpPr>
            <p:cNvPr id="14" name="Google Shape;14;p1"/>
            <p:cNvCxnSpPr/>
            <p:nvPr/>
          </p:nvCxnSpPr>
          <p:spPr>
            <a:xfrm>
              <a:off x="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" name="Google Shape;15;p1"/>
            <p:cNvCxnSpPr/>
            <p:nvPr/>
          </p:nvCxnSpPr>
          <p:spPr>
            <a:xfrm>
              <a:off x="67711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" name="Google Shape;16;p1"/>
            <p:cNvCxnSpPr/>
            <p:nvPr/>
          </p:nvCxnSpPr>
          <p:spPr>
            <a:xfrm>
              <a:off x="135423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7" name="Google Shape;17;p1"/>
            <p:cNvCxnSpPr/>
            <p:nvPr/>
          </p:nvCxnSpPr>
          <p:spPr>
            <a:xfrm>
              <a:off x="203135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" name="Google Shape;18;p1"/>
            <p:cNvCxnSpPr/>
            <p:nvPr/>
          </p:nvCxnSpPr>
          <p:spPr>
            <a:xfrm>
              <a:off x="270847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" name="Google Shape;19;p1"/>
            <p:cNvCxnSpPr/>
            <p:nvPr/>
          </p:nvCxnSpPr>
          <p:spPr>
            <a:xfrm>
              <a:off x="338559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" name="Google Shape;20;p1"/>
            <p:cNvCxnSpPr/>
            <p:nvPr/>
          </p:nvCxnSpPr>
          <p:spPr>
            <a:xfrm>
              <a:off x="406271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" name="Google Shape;21;p1"/>
            <p:cNvCxnSpPr/>
            <p:nvPr/>
          </p:nvCxnSpPr>
          <p:spPr>
            <a:xfrm>
              <a:off x="473983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" name="Google Shape;22;p1"/>
            <p:cNvCxnSpPr/>
            <p:nvPr/>
          </p:nvCxnSpPr>
          <p:spPr>
            <a:xfrm>
              <a:off x="5416952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3" name="Google Shape;23;p1"/>
            <p:cNvCxnSpPr/>
            <p:nvPr/>
          </p:nvCxnSpPr>
          <p:spPr>
            <a:xfrm>
              <a:off x="6094071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" name="Google Shape;24;p1"/>
            <p:cNvCxnSpPr/>
            <p:nvPr/>
          </p:nvCxnSpPr>
          <p:spPr>
            <a:xfrm>
              <a:off x="677119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5" name="Google Shape;25;p1"/>
            <p:cNvCxnSpPr/>
            <p:nvPr/>
          </p:nvCxnSpPr>
          <p:spPr>
            <a:xfrm>
              <a:off x="744830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6" name="Google Shape;26;p1"/>
            <p:cNvCxnSpPr/>
            <p:nvPr/>
          </p:nvCxnSpPr>
          <p:spPr>
            <a:xfrm>
              <a:off x="812542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7" name="Google Shape;27;p1"/>
            <p:cNvCxnSpPr/>
            <p:nvPr/>
          </p:nvCxnSpPr>
          <p:spPr>
            <a:xfrm>
              <a:off x="880254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" name="Google Shape;28;p1"/>
            <p:cNvCxnSpPr/>
            <p:nvPr/>
          </p:nvCxnSpPr>
          <p:spPr>
            <a:xfrm>
              <a:off x="947966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9" name="Google Shape;29;p1"/>
            <p:cNvCxnSpPr/>
            <p:nvPr/>
          </p:nvCxnSpPr>
          <p:spPr>
            <a:xfrm>
              <a:off x="1015678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" name="Google Shape;30;p1"/>
            <p:cNvCxnSpPr/>
            <p:nvPr/>
          </p:nvCxnSpPr>
          <p:spPr>
            <a:xfrm>
              <a:off x="1083390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" name="Google Shape;31;p1"/>
            <p:cNvCxnSpPr/>
            <p:nvPr/>
          </p:nvCxnSpPr>
          <p:spPr>
            <a:xfrm>
              <a:off x="1151102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2" name="Google Shape;32;p1"/>
            <p:cNvCxnSpPr/>
            <p:nvPr/>
          </p:nvCxnSpPr>
          <p:spPr>
            <a:xfrm>
              <a:off x="1218814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grpSp>
        <p:nvGrpSpPr>
          <p:cNvPr id="33" name="Google Shape;33;p1"/>
          <p:cNvGrpSpPr/>
          <p:nvPr/>
        </p:nvGrpSpPr>
        <p:grpSpPr>
          <a:xfrm>
            <a:off x="-3" y="6987088"/>
            <a:ext cx="12188148" cy="64309"/>
            <a:chOff x="0" y="1773238"/>
            <a:chExt cx="12188148" cy="735184"/>
          </a:xfrm>
        </p:grpSpPr>
        <p:cxnSp>
          <p:nvCxnSpPr>
            <p:cNvPr id="34" name="Google Shape;34;p1"/>
            <p:cNvCxnSpPr/>
            <p:nvPr/>
          </p:nvCxnSpPr>
          <p:spPr>
            <a:xfrm>
              <a:off x="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5" name="Google Shape;35;p1"/>
            <p:cNvCxnSpPr/>
            <p:nvPr/>
          </p:nvCxnSpPr>
          <p:spPr>
            <a:xfrm>
              <a:off x="67711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" name="Google Shape;36;p1"/>
            <p:cNvCxnSpPr/>
            <p:nvPr/>
          </p:nvCxnSpPr>
          <p:spPr>
            <a:xfrm>
              <a:off x="135423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7" name="Google Shape;37;p1"/>
            <p:cNvCxnSpPr/>
            <p:nvPr/>
          </p:nvCxnSpPr>
          <p:spPr>
            <a:xfrm>
              <a:off x="203135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8" name="Google Shape;38;p1"/>
            <p:cNvCxnSpPr/>
            <p:nvPr/>
          </p:nvCxnSpPr>
          <p:spPr>
            <a:xfrm>
              <a:off x="270847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9" name="Google Shape;39;p1"/>
            <p:cNvCxnSpPr/>
            <p:nvPr/>
          </p:nvCxnSpPr>
          <p:spPr>
            <a:xfrm>
              <a:off x="338559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0" name="Google Shape;40;p1"/>
            <p:cNvCxnSpPr/>
            <p:nvPr/>
          </p:nvCxnSpPr>
          <p:spPr>
            <a:xfrm>
              <a:off x="406271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1" name="Google Shape;41;p1"/>
            <p:cNvCxnSpPr/>
            <p:nvPr/>
          </p:nvCxnSpPr>
          <p:spPr>
            <a:xfrm>
              <a:off x="473983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2" name="Google Shape;42;p1"/>
            <p:cNvCxnSpPr/>
            <p:nvPr/>
          </p:nvCxnSpPr>
          <p:spPr>
            <a:xfrm>
              <a:off x="5416952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3" name="Google Shape;43;p1"/>
            <p:cNvCxnSpPr/>
            <p:nvPr/>
          </p:nvCxnSpPr>
          <p:spPr>
            <a:xfrm>
              <a:off x="6094071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4" name="Google Shape;44;p1"/>
            <p:cNvCxnSpPr/>
            <p:nvPr/>
          </p:nvCxnSpPr>
          <p:spPr>
            <a:xfrm>
              <a:off x="677119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5" name="Google Shape;45;p1"/>
            <p:cNvCxnSpPr/>
            <p:nvPr/>
          </p:nvCxnSpPr>
          <p:spPr>
            <a:xfrm>
              <a:off x="744830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6" name="Google Shape;46;p1"/>
            <p:cNvCxnSpPr/>
            <p:nvPr/>
          </p:nvCxnSpPr>
          <p:spPr>
            <a:xfrm>
              <a:off x="812542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7" name="Google Shape;47;p1"/>
            <p:cNvCxnSpPr/>
            <p:nvPr/>
          </p:nvCxnSpPr>
          <p:spPr>
            <a:xfrm>
              <a:off x="880254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8" name="Google Shape;48;p1"/>
            <p:cNvCxnSpPr/>
            <p:nvPr/>
          </p:nvCxnSpPr>
          <p:spPr>
            <a:xfrm>
              <a:off x="947966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9" name="Google Shape;49;p1"/>
            <p:cNvCxnSpPr/>
            <p:nvPr/>
          </p:nvCxnSpPr>
          <p:spPr>
            <a:xfrm>
              <a:off x="1015678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0" name="Google Shape;50;p1"/>
            <p:cNvCxnSpPr/>
            <p:nvPr/>
          </p:nvCxnSpPr>
          <p:spPr>
            <a:xfrm>
              <a:off x="1083390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1" name="Google Shape;51;p1"/>
            <p:cNvCxnSpPr/>
            <p:nvPr/>
          </p:nvCxnSpPr>
          <p:spPr>
            <a:xfrm>
              <a:off x="1151102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2" name="Google Shape;52;p1"/>
            <p:cNvCxnSpPr/>
            <p:nvPr/>
          </p:nvCxnSpPr>
          <p:spPr>
            <a:xfrm>
              <a:off x="1218814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pic>
        <p:nvPicPr>
          <p:cNvPr id="53" name="Google Shape;53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419564" y="6161239"/>
            <a:ext cx="932071" cy="28800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52" r:id="rId6"/>
    <p:sldLayoutId id="2147483653" r:id="rId7"/>
    <p:sldLayoutId id="2147483655" r:id="rId9"/>
    <p:sldLayoutId id="2147483661" r:id="rId1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57">
          <p15:clr>
            <a:srgbClr val="FDE53C"/>
          </p15:clr>
        </p15:guide>
        <p15:guide id="2" pos="7423">
          <p15:clr>
            <a:srgbClr val="FDE53C"/>
          </p15:clr>
        </p15:guide>
        <p15:guide id="3" orient="horz" pos="4065">
          <p15:clr>
            <a:srgbClr val="FDE53C"/>
          </p15:clr>
        </p15:guide>
        <p15:guide id="4" pos="5201">
          <p15:clr>
            <a:srgbClr val="FDE53C"/>
          </p15:clr>
        </p15:guide>
        <p15:guide id="5" pos="2479">
          <p15:clr>
            <a:srgbClr val="FDE53C"/>
          </p15:clr>
        </p15:guide>
        <p15:guide id="6" pos="3840">
          <p15:clr>
            <a:srgbClr val="FDE53C"/>
          </p15:clr>
        </p15:guide>
        <p15:guide id="7" orient="horz" pos="640">
          <p15:clr>
            <a:srgbClr val="FDE53C"/>
          </p15:clr>
        </p15:guide>
        <p15:guide id="8" orient="horz" pos="1003">
          <p15:clr>
            <a:srgbClr val="FDE53C"/>
          </p15:clr>
        </p15:guide>
        <p15:guide id="9" pos="1073">
          <p15:clr>
            <a:srgbClr val="FDE53C"/>
          </p15:clr>
        </p15:guide>
        <p15:guide id="10" pos="6584">
          <p15:clr>
            <a:srgbClr val="FDE53C"/>
          </p15:clr>
        </p15:guide>
        <p15:guide id="11" orient="horz" pos="255">
          <p15:clr>
            <a:srgbClr val="FDE53C"/>
          </p15:clr>
        </p15:guide>
      </p15:sldGuideLst>
    </p:ext>
  </p:extLst>
</p:sldMaster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0.png"/><Relationship Id="rId3" Type="http://schemas.openxmlformats.org/officeDocument/2006/relationships/image" Target="../media/image19.png"/><Relationship Id="rId4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chart" Target="../charts/chart2.xml"/><Relationship Id="rId3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5.png"/><Relationship Id="rId3" Type="http://schemas.openxmlformats.org/officeDocument/2006/relationships/image" Target="../media/image4.png"/><Relationship Id="rId4" Type="http://schemas.openxmlformats.org/officeDocument/2006/relationships/image" Target="../media/image7.png"/><Relationship Id="rId5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9.xml"/></Relationships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82" name="Google Shape;382;p17"/>
          <p:cNvSpPr/>
          <p:nvPr/>
        </p:nvSpPr>
        <p:spPr>
          <a:xfrm>
            <a:off x="429254" y="4682210"/>
            <a:ext cx="834282" cy="834282"/>
          </a:xfrm>
          <a:prstGeom prst="ellipse">
            <a:avLst/>
          </a:prstGeom>
          <a:solidFill>
            <a:srgbClr val="5A67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" name="title"/>
          <p:cNvSpPr txBox="1"/>
          <p:nvPr/>
        </p:nvSpPr>
        <p:spPr>
          <a:xfrm>
            <a:off x="429280" y="2490551"/>
            <a:ext cx="7827385" cy="188468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5400" b="0">
                <a:solidFill>
                  <a:srgbClr val="FFFFFF"/>
                </a:solidFill>
                <a:latin typeface="Play"/>
                <a:ea typeface="Play"/>
                <a:cs typeface="Play"/>
              </a:defRPr>
            </a:pPr>
            <a:r>
              <a:rPr sz="5400" b="0">
                <a:solidFill>
                  <a:srgbClr val="FFFFFF"/>
                </a:solidFill>
                <a:latin typeface="Play"/>
                <a:ea typeface="Play"/>
                <a:cs typeface="Play"/>
              </a:rPr>
              <a:t>Автоматическая вёрстка презентаций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29280" y="424715"/>
            <a:ext cx="7827264" cy="82296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3200">
                <a:solidFill>
                  <a:srgbClr val="FFFFFF"/>
                </a:solidFill>
                <a:latin typeface="Play"/>
                <a:ea typeface="Play"/>
                <a:cs typeface="Play"/>
              </a:defRPr>
            </a:pPr>
            <a:r>
              <a:rPr sz="3200">
                <a:solidFill>
                  <a:srgbClr val="FFFFFF"/>
                </a:solidFill>
                <a:latin typeface="Play"/>
                <a:ea typeface="Play"/>
                <a:cs typeface="Play"/>
              </a:rPr>
              <a:t>Сборка вручную занимает 186 мин</a:t>
            </a:r>
          </a:p>
        </p:txBody>
      </p:sp>
      <p:sp>
        <p:nvSpPr>
          <p:cNvPr id="3" name="lead"/>
          <p:cNvSpPr txBox="1"/>
          <p:nvPr/>
        </p:nvSpPr>
        <p:spPr>
          <a:xfrm>
            <a:off x="429280" y="1664162"/>
            <a:ext cx="7827264" cy="143946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4000">
                <a:solidFill>
                  <a:srgbClr val="FFFFFF"/>
                </a:solidFill>
                <a:latin typeface="Play"/>
                <a:ea typeface="Play"/>
                <a:cs typeface="Play"/>
              </a:defRPr>
            </a:pPr>
            <a:r>
              <a:rPr sz="4000">
                <a:solidFill>
                  <a:srgbClr val="FFFFFF"/>
                </a:solidFill>
                <a:latin typeface="Play"/>
                <a:ea typeface="Play"/>
                <a:cs typeface="Play"/>
              </a:rPr>
              <a:t>42 колоды за квартал 2026</a:t>
            </a:r>
          </a:p>
        </p:txBody>
      </p:sp>
      <p:sp>
        <p:nvSpPr>
          <p:cNvPr id="4" name="body"/>
          <p:cNvSpPr txBox="1"/>
          <p:nvPr/>
        </p:nvSpPr>
        <p:spPr>
          <a:xfrm>
            <a:off x="429280" y="3357649"/>
            <a:ext cx="7827264" cy="254023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2400">
                <a:solidFill>
                  <a:srgbClr val="FFFFFF"/>
                </a:solidFill>
                <a:latin typeface="Play"/>
                <a:ea typeface="Play"/>
                <a:cs typeface="Play"/>
              </a:defRPr>
            </a:pPr>
            <a:r>
              <a:rPr sz="2400">
                <a:solidFill>
                  <a:srgbClr val="FFFFFF"/>
                </a:solidFill>
                <a:latin typeface="Play"/>
                <a:ea typeface="Play"/>
                <a:cs typeface="Play"/>
              </a:rPr>
              <a:t>• 186 мин на 12 слайдов</a:t>
            </a:r>
          </a:p>
          <a:p>
            <a:pPr algn="l">
              <a:spcAft>
                <a:spcPts val="300"/>
              </a:spcAft>
              <a:defRPr sz="2400">
                <a:solidFill>
                  <a:srgbClr val="FFFFFF"/>
                </a:solidFill>
                <a:latin typeface="Play"/>
                <a:ea typeface="Play"/>
                <a:cs typeface="Play"/>
              </a:defRPr>
            </a:pPr>
            <a:r>
              <a:rPr sz="2400">
                <a:solidFill>
                  <a:srgbClr val="FFFFFF"/>
                </a:solidFill>
                <a:latin typeface="Play"/>
                <a:ea typeface="Play"/>
                <a:cs typeface="Play"/>
              </a:rPr>
              <a:t>• 74 мин на правки после ревью</a:t>
            </a:r>
          </a:p>
          <a:p>
            <a:pPr algn="l">
              <a:spcAft>
                <a:spcPts val="300"/>
              </a:spcAft>
              <a:defRPr sz="2400">
                <a:solidFill>
                  <a:srgbClr val="FFFFFF"/>
                </a:solidFill>
                <a:latin typeface="Play"/>
                <a:ea typeface="Play"/>
                <a:cs typeface="Play"/>
              </a:defRPr>
            </a:pPr>
            <a:r>
              <a:rPr sz="2400">
                <a:solidFill>
                  <a:srgbClr val="FFFFFF"/>
                </a:solidFill>
                <a:latin typeface="Play"/>
                <a:ea typeface="Play"/>
                <a:cs typeface="Play"/>
              </a:rPr>
              <a:t>• 19 из 42 колод нарушили фирменный стиль</a:t>
            </a:r>
          </a:p>
          <a:p>
            <a:pPr algn="l">
              <a:spcAft>
                <a:spcPts val="300"/>
              </a:spcAft>
              <a:defRPr sz="2400">
                <a:solidFill>
                  <a:srgbClr val="FFFFFF"/>
                </a:solidFill>
                <a:latin typeface="Play"/>
                <a:ea typeface="Play"/>
                <a:cs typeface="Play"/>
              </a:defRPr>
            </a:pPr>
            <a:r>
              <a:rPr sz="2400">
                <a:solidFill>
                  <a:srgbClr val="FFFFFF"/>
                </a:solidFill>
                <a:latin typeface="Play"/>
                <a:ea typeface="Play"/>
                <a:cs typeface="Play"/>
              </a:rPr>
              <a:t>• 4 дизайнера обрабатывают 11 запросов/нед</a:t>
            </a:r>
          </a:p>
          <a:p>
            <a:pPr algn="l">
              <a:spcAft>
                <a:spcPts val="300"/>
              </a:spcAft>
              <a:defRPr sz="2400">
                <a:solidFill>
                  <a:srgbClr val="FFFFFF"/>
                </a:solidFill>
                <a:latin typeface="Play"/>
                <a:ea typeface="Play"/>
                <a:cs typeface="Play"/>
              </a:defRPr>
            </a:pPr>
            <a:r>
              <a:rPr sz="2400">
                <a:solidFill>
                  <a:srgbClr val="FFFFFF"/>
                </a:solidFill>
                <a:latin typeface="Play"/>
                <a:ea typeface="Play"/>
                <a:cs typeface="Play"/>
              </a:rPr>
              <a:t>• Средний срок ожидания 6 рабочих дней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29280" y="424715"/>
            <a:ext cx="7827264" cy="118364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3200">
                <a:solidFill>
                  <a:srgbClr val="FFFFFF"/>
                </a:solidFill>
                <a:latin typeface="Play"/>
                <a:ea typeface="Play"/>
                <a:cs typeface="Play"/>
              </a:defRPr>
            </a:pPr>
            <a:r>
              <a:rPr sz="3200">
                <a:solidFill>
                  <a:srgbClr val="FFFFFF"/>
                </a:solidFill>
                <a:latin typeface="Play"/>
                <a:ea typeface="Play"/>
                <a:cs typeface="Play"/>
              </a:rPr>
              <a:t>Сервис автоматически вёрстит презентации</a:t>
            </a:r>
          </a:p>
        </p:txBody>
      </p:sp>
      <p:sp>
        <p:nvSpPr>
          <p:cNvPr id="3" name="lead"/>
          <p:cNvSpPr txBox="1"/>
          <p:nvPr/>
        </p:nvSpPr>
        <p:spPr>
          <a:xfrm>
            <a:off x="429280" y="1745515"/>
            <a:ext cx="7827264" cy="1411803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3200">
                <a:solidFill>
                  <a:srgbClr val="FFFFFF"/>
                </a:solidFill>
                <a:latin typeface="Play"/>
                <a:ea typeface="Play"/>
                <a:cs typeface="Play"/>
              </a:defRPr>
            </a:pPr>
            <a:r>
              <a:rPr sz="3200">
                <a:solidFill>
                  <a:srgbClr val="FFFFFF"/>
                </a:solidFill>
                <a:latin typeface="Play"/>
                <a:ea typeface="Play"/>
                <a:cs typeface="Play"/>
              </a:rPr>
              <a:t>Принимает шаблон pptx и материалы</a:t>
            </a:r>
          </a:p>
        </p:txBody>
      </p:sp>
      <p:sp>
        <p:nvSpPr>
          <p:cNvPr id="4" name="body"/>
          <p:cNvSpPr txBox="1"/>
          <p:nvPr/>
        </p:nvSpPr>
        <p:spPr>
          <a:xfrm>
            <a:off x="429280" y="3406461"/>
            <a:ext cx="7827264" cy="249141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2800">
                <a:solidFill>
                  <a:srgbClr val="FFFFFF"/>
                </a:solidFill>
                <a:latin typeface="Play"/>
                <a:ea typeface="Play"/>
                <a:cs typeface="Play"/>
              </a:defRPr>
            </a:pPr>
            <a:r>
              <a:rPr sz="2800">
                <a:solidFill>
                  <a:srgbClr val="FFFFFF"/>
                </a:solidFill>
                <a:latin typeface="Play"/>
                <a:ea typeface="Play"/>
                <a:cs typeface="Play"/>
              </a:rPr>
              <a:t>• Парсит дизайн-систему</a:t>
            </a:r>
          </a:p>
          <a:p>
            <a:pPr algn="l">
              <a:spcAft>
                <a:spcPts val="300"/>
              </a:spcAft>
              <a:defRPr sz="2800">
                <a:solidFill>
                  <a:srgbClr val="FFFFFF"/>
                </a:solidFill>
                <a:latin typeface="Play"/>
                <a:ea typeface="Play"/>
                <a:cs typeface="Play"/>
              </a:defRPr>
            </a:pPr>
            <a:r>
              <a:rPr sz="2800">
                <a:solidFill>
                  <a:srgbClr val="FFFFFF"/>
                </a:solidFill>
                <a:latin typeface="Play"/>
                <a:ea typeface="Play"/>
                <a:cs typeface="Play"/>
              </a:rPr>
              <a:t>• Собирает план колоды</a:t>
            </a:r>
          </a:p>
          <a:p>
            <a:pPr algn="l">
              <a:spcAft>
                <a:spcPts val="300"/>
              </a:spcAft>
              <a:defRPr sz="2800">
                <a:solidFill>
                  <a:srgbClr val="FFFFFF"/>
                </a:solidFill>
                <a:latin typeface="Play"/>
                <a:ea typeface="Play"/>
                <a:cs typeface="Play"/>
              </a:defRPr>
            </a:pPr>
            <a:r>
              <a:rPr sz="2800">
                <a:solidFill>
                  <a:srgbClr val="FFFFFF"/>
                </a:solidFill>
                <a:latin typeface="Play"/>
                <a:ea typeface="Play"/>
                <a:cs typeface="Play"/>
              </a:rPr>
              <a:t>• Проводит аудит качества</a:t>
            </a:r>
          </a:p>
          <a:p>
            <a:pPr algn="l">
              <a:spcAft>
                <a:spcPts val="300"/>
              </a:spcAft>
              <a:defRPr sz="2800">
                <a:solidFill>
                  <a:srgbClr val="FFFFFF"/>
                </a:solidFill>
                <a:latin typeface="Play"/>
                <a:ea typeface="Play"/>
                <a:cs typeface="Play"/>
              </a:defRPr>
            </a:pPr>
            <a:r>
              <a:rPr sz="2800">
                <a:solidFill>
                  <a:srgbClr val="FFFFFF"/>
                </a:solidFill>
                <a:latin typeface="Play"/>
                <a:ea typeface="Play"/>
                <a:cs typeface="Play"/>
              </a:rPr>
              <a:t>• Экспортирует pptx, pdf, html</a:t>
            </a:r>
          </a:p>
          <a:p>
            <a:pPr algn="l">
              <a:spcAft>
                <a:spcPts val="300"/>
              </a:spcAft>
              <a:defRPr sz="2800">
                <a:solidFill>
                  <a:srgbClr val="FFFFFF"/>
                </a:solidFill>
                <a:latin typeface="Play"/>
                <a:ea typeface="Play"/>
                <a:cs typeface="Play"/>
              </a:defRPr>
            </a:pPr>
            <a:r>
              <a:rPr sz="2800">
                <a:solidFill>
                  <a:srgbClr val="FFFFFF"/>
                </a:solidFill>
                <a:latin typeface="Play"/>
                <a:ea typeface="Play"/>
                <a:cs typeface="Play"/>
              </a:rPr>
              <a:t>• Слайды остаются редактируемыми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29280" y="424715"/>
            <a:ext cx="7827264" cy="118364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3200">
                <a:solidFill>
                  <a:srgbClr val="FFFFFF"/>
                </a:solidFill>
                <a:latin typeface="Play"/>
                <a:ea typeface="Play"/>
                <a:cs typeface="Play"/>
              </a:defRPr>
            </a:pPr>
            <a:r>
              <a:rPr sz="3200">
                <a:solidFill>
                  <a:srgbClr val="FFFFFF"/>
                </a:solidFill>
                <a:latin typeface="Play"/>
                <a:ea typeface="Play"/>
                <a:cs typeface="Play"/>
              </a:rPr>
              <a:t>Время сборки сократилось до 4 мин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29280" y="1848385"/>
          <a:ext cx="11310884" cy="2536924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body"/>
          <p:cNvSpPr txBox="1"/>
          <p:nvPr/>
        </p:nvSpPr>
        <p:spPr>
          <a:xfrm>
            <a:off x="429280" y="4556759"/>
            <a:ext cx="11310884" cy="134112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1600">
                <a:solidFill>
                  <a:srgbClr val="FFFFFF"/>
                </a:solidFill>
                <a:latin typeface="Play"/>
                <a:ea typeface="Play"/>
                <a:cs typeface="Play"/>
              </a:defRPr>
            </a:pPr>
            <a:r>
              <a:rPr sz="1600">
                <a:solidFill>
                  <a:srgbClr val="FFFFFF"/>
                </a:solidFill>
                <a:latin typeface="Play"/>
                <a:ea typeface="Play"/>
                <a:cs typeface="Play"/>
              </a:rPr>
              <a:t>• 4 мин вместо 186</a:t>
            </a:r>
          </a:p>
          <a:p>
            <a:pPr algn="l">
              <a:spcAft>
                <a:spcPts val="300"/>
              </a:spcAft>
              <a:defRPr sz="1600">
                <a:solidFill>
                  <a:srgbClr val="FFFFFF"/>
                </a:solidFill>
                <a:latin typeface="Play"/>
                <a:ea typeface="Play"/>
                <a:cs typeface="Play"/>
              </a:defRPr>
            </a:pPr>
            <a:r>
              <a:rPr sz="1600">
                <a:solidFill>
                  <a:srgbClr val="FFFFFF"/>
                </a:solidFill>
                <a:latin typeface="Play"/>
                <a:ea typeface="Play"/>
                <a:cs typeface="Play"/>
              </a:rPr>
              <a:t>• 1 день до первой версии вместо 6 дней</a:t>
            </a:r>
          </a:p>
          <a:p>
            <a:pPr algn="l">
              <a:spcAft>
                <a:spcPts val="300"/>
              </a:spcAft>
              <a:defRPr sz="1600">
                <a:solidFill>
                  <a:srgbClr val="FFFFFF"/>
                </a:solidFill>
                <a:latin typeface="Play"/>
                <a:ea typeface="Play"/>
                <a:cs typeface="Play"/>
              </a:defRPr>
            </a:pPr>
            <a:r>
              <a:rPr sz="1600">
                <a:solidFill>
                  <a:srgbClr val="FFFFFF"/>
                </a:solidFill>
                <a:latin typeface="Play"/>
                <a:ea typeface="Play"/>
                <a:cs typeface="Play"/>
              </a:rPr>
              <a:t>• 68 колод собраны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79" name="Google Shape;679;p31"/>
          <p:cNvSpPr/>
          <p:nvPr/>
        </p:nvSpPr>
        <p:spPr>
          <a:xfrm>
            <a:off x="0" y="4748271"/>
            <a:ext cx="12192000" cy="2109730"/>
          </a:xfrm>
          <a:prstGeom prst="rect">
            <a:avLst/>
          </a:prstGeom>
          <a:gradFill>
            <a:gsLst>
              <a:gs pos="0">
                <a:srgbClr val="0077FF">
                  <a:alpha val="61961"/>
                </a:srgbClr>
              </a:gs>
              <a:gs pos="99000">
                <a:srgbClr val="00AEE8"/>
              </a:gs>
              <a:gs pos="100000">
                <a:srgbClr val="00AEE8"/>
              </a:gs>
            </a:gsLst>
            <a:lin ang="14400000" scaled="0"/>
          </a:gradFill>
          <a:ln>
            <a:noFill/>
          </a:ln>
        </p:spPr>
        <p:txBody>
          <a:bodyPr anchorCtr="0" anchor="ctr" bIns="0" lIns="108000" spcFirstLastPara="1" rIns="91425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680" name="Rounded Rectangle 679"/>
          <p:cNvSpPr/>
          <p:nvPr/>
        </p:nvSpPr>
        <p:spPr>
          <a:xfrm>
            <a:off x="300817" y="297715"/>
            <a:ext cx="11566347" cy="5412204"/>
          </a:xfrm>
          <a:prstGeom prst="roundRect">
            <a:avLst/>
          </a:prstGeom>
          <a:solidFill>
            <a:srgbClr val="111111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1" name="title"/>
          <p:cNvSpPr txBox="1"/>
          <p:nvPr/>
        </p:nvSpPr>
        <p:spPr>
          <a:xfrm>
            <a:off x="427817" y="424715"/>
            <a:ext cx="7827264" cy="82296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3200">
                <a:solidFill>
                  <a:srgbClr val="FFFFFF"/>
                </a:solidFill>
                <a:latin typeface="Play"/>
                <a:ea typeface="Play"/>
                <a:cs typeface="Play"/>
              </a:defRPr>
            </a:pPr>
            <a:r>
              <a:rPr sz="3200">
                <a:solidFill>
                  <a:srgbClr val="FFFFFF"/>
                </a:solidFill>
                <a:latin typeface="Play"/>
                <a:ea typeface="Play"/>
                <a:cs typeface="Play"/>
              </a:rPr>
              <a:t>Стиль соблюдается в 98% колод</a:t>
            </a:r>
          </a:p>
        </p:txBody>
      </p:sp>
      <p:graphicFrame>
        <p:nvGraphicFramePr>
          <p:cNvPr id="682" name="Chart 681"/>
          <p:cNvGraphicFramePr>
            <a:graphicFrameLocks noGrp="1"/>
          </p:cNvGraphicFramePr>
          <p:nvPr/>
        </p:nvGraphicFramePr>
        <p:xfrm>
          <a:off x="427817" y="1783080"/>
          <a:ext cx="11312347" cy="299847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83" name="body"/>
          <p:cNvSpPr txBox="1"/>
          <p:nvPr/>
        </p:nvSpPr>
        <p:spPr>
          <a:xfrm>
            <a:off x="427817" y="4953000"/>
            <a:ext cx="11312347" cy="94488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1600">
                <a:solidFill>
                  <a:srgbClr val="FFFFFF"/>
                </a:solidFill>
                <a:latin typeface="Play"/>
                <a:ea typeface="Play"/>
                <a:cs typeface="Play"/>
              </a:defRPr>
            </a:pPr>
            <a:r>
              <a:rPr sz="1600">
                <a:solidFill>
                  <a:srgbClr val="FFFFFF"/>
                </a:solidFill>
                <a:latin typeface="Play"/>
                <a:ea typeface="Play"/>
                <a:cs typeface="Play"/>
              </a:rPr>
              <a:t>• 2 из 68 колод нарушили стиль</a:t>
            </a:r>
          </a:p>
          <a:p>
            <a:pPr algn="l">
              <a:spcAft>
                <a:spcPts val="300"/>
              </a:spcAft>
              <a:defRPr sz="1600">
                <a:solidFill>
                  <a:srgbClr val="FFFFFF"/>
                </a:solidFill>
                <a:latin typeface="Play"/>
                <a:ea typeface="Play"/>
                <a:cs typeface="Play"/>
              </a:defRPr>
            </a:pPr>
            <a:r>
              <a:rPr sz="1600">
                <a:solidFill>
                  <a:srgbClr val="FFFFFF"/>
                </a:solidFill>
                <a:latin typeface="Play"/>
                <a:ea typeface="Play"/>
                <a:cs typeface="Play"/>
              </a:rPr>
              <a:t>• Обе исправлены автоматическими правками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620" name="Google Shape;620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621" name="Google Shape;621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093496" y="6238282"/>
            <a:ext cx="690517" cy="216000"/>
          </a:xfrm>
          <a:prstGeom prst="rect">
            <a:avLst/>
          </a:prstGeom>
          <a:noFill/>
          <a:ln>
            <a:noFill/>
          </a:ln>
        </p:spPr>
      </p:pic>
      <p:sp>
        <p:nvSpPr>
          <p:cNvPr id="622" name="title"/>
          <p:cNvSpPr txBox="1"/>
          <p:nvPr/>
        </p:nvSpPr>
        <p:spPr>
          <a:xfrm>
            <a:off x="429280" y="424715"/>
            <a:ext cx="7827264" cy="118364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3200">
                <a:solidFill>
                  <a:srgbClr val="FFFFFF"/>
                </a:solidFill>
                <a:latin typeface="Play"/>
                <a:ea typeface="Play"/>
                <a:cs typeface="Play"/>
              </a:defRPr>
            </a:pPr>
            <a:r>
              <a:rPr sz="3200">
                <a:solidFill>
                  <a:srgbClr val="FFFFFF"/>
                </a:solidFill>
                <a:latin typeface="Play"/>
                <a:ea typeface="Play"/>
                <a:cs typeface="Play"/>
              </a:rPr>
              <a:t>Инфраструктура: 2 vCPU / 2 GB RAM, 1 400 руб за 6 недель</a:t>
            </a:r>
          </a:p>
        </p:txBody>
      </p:sp>
      <p:sp>
        <p:nvSpPr>
          <p:cNvPr id="623" name="stat_0:bar"/>
          <p:cNvSpPr/>
          <p:nvPr/>
        </p:nvSpPr>
        <p:spPr>
          <a:xfrm>
            <a:off x="429280" y="1971829"/>
            <a:ext cx="50800" cy="1231646"/>
          </a:xfrm>
          <a:prstGeom prst="rect">
            <a:avLst/>
          </a:prstGeom>
          <a:solidFill>
            <a:srgbClr val="00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4" name="stat_0"/>
          <p:cNvSpPr txBox="1"/>
          <p:nvPr/>
        </p:nvSpPr>
        <p:spPr>
          <a:xfrm>
            <a:off x="607080" y="1848385"/>
            <a:ext cx="11133084" cy="1355090"/>
          </a:xfrm>
          <a:prstGeom prst="rect">
            <a:avLst/>
          </a:prstGeom>
          <a:noFill/>
        </p:spPr>
        <p:txBody>
          <a:bodyPr wrap="square" lIns="76200" rIns="76200" tIns="0" bIns="0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  <a:defRPr sz="5400" b="1">
                <a:solidFill>
                  <a:srgbClr val="0077FF"/>
                </a:solidFill>
                <a:latin typeface="Play"/>
                <a:ea typeface="Play"/>
                <a:cs typeface="Play"/>
              </a:defRPr>
            </a:pPr>
            <a:r>
              <a:rPr sz="5400" b="1">
                <a:solidFill>
                  <a:srgbClr val="0077FF"/>
                </a:solidFill>
                <a:latin typeface="Play"/>
                <a:ea typeface="Play"/>
                <a:cs typeface="Play"/>
              </a:rPr>
              <a:t>2 vCPU</a:t>
            </a:r>
          </a:p>
          <a:p>
            <a:pPr>
              <a:spcAft>
                <a:spcPts val="300"/>
              </a:spcAft>
              <a:defRPr sz="2400" b="0">
                <a:solidFill>
                  <a:srgbClr val="FFFFFF"/>
                </a:solidFill>
                <a:latin typeface="Play"/>
                <a:ea typeface="Play"/>
                <a:cs typeface="Play"/>
              </a:defRPr>
            </a:pPr>
            <a:r>
              <a:rPr sz="2400" b="0">
                <a:solidFill>
                  <a:srgbClr val="FFFFFF"/>
                </a:solidFill>
                <a:latin typeface="Play"/>
                <a:ea typeface="Play"/>
                <a:cs typeface="Play"/>
              </a:rPr>
              <a:t>Работает на одной машине 2 vCPU / 2 GB RAM</a:t>
            </a:r>
          </a:p>
        </p:txBody>
      </p:sp>
      <p:sp>
        <p:nvSpPr>
          <p:cNvPr id="625" name="body"/>
          <p:cNvSpPr txBox="1"/>
          <p:nvPr/>
        </p:nvSpPr>
        <p:spPr>
          <a:xfrm>
            <a:off x="429280" y="4197092"/>
            <a:ext cx="11310884" cy="1700787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2400">
                <a:solidFill>
                  <a:srgbClr val="FFFFFF"/>
                </a:solidFill>
                <a:latin typeface="Play"/>
                <a:ea typeface="Play"/>
                <a:cs typeface="Play"/>
              </a:defRPr>
            </a:pPr>
            <a:r>
              <a:rPr sz="2400">
                <a:solidFill>
                  <a:srgbClr val="FFFFFF"/>
                </a:solidFill>
                <a:latin typeface="Play"/>
                <a:ea typeface="Play"/>
                <a:cs typeface="Play"/>
              </a:rPr>
              <a:t>• Инференс за 6 недель 1 400 руб</a:t>
            </a:r>
          </a:p>
          <a:p>
            <a:pPr algn="l">
              <a:spcAft>
                <a:spcPts val="300"/>
              </a:spcAft>
              <a:defRPr sz="2400">
                <a:solidFill>
                  <a:srgbClr val="FFFFFF"/>
                </a:solidFill>
                <a:latin typeface="Play"/>
                <a:ea typeface="Play"/>
                <a:cs typeface="Play"/>
              </a:defRPr>
            </a:pPr>
            <a:r>
              <a:rPr sz="2400">
                <a:solidFill>
                  <a:srgbClr val="FFFFFF"/>
                </a:solidFill>
                <a:latin typeface="Play"/>
                <a:ea typeface="Play"/>
                <a:cs typeface="Play"/>
              </a:rPr>
              <a:t>• Модель gpt-oss-20b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29280" y="424715"/>
            <a:ext cx="7827264" cy="82296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4000">
                <a:solidFill>
                  <a:srgbClr val="FFFFFF"/>
                </a:solidFill>
                <a:latin typeface="Play"/>
                <a:ea typeface="Play"/>
                <a:cs typeface="Play"/>
              </a:defRPr>
            </a:pPr>
            <a:r>
              <a:rPr sz="4000">
                <a:solidFill>
                  <a:srgbClr val="FFFFFF"/>
                </a:solidFill>
                <a:latin typeface="Play"/>
                <a:ea typeface="Play"/>
                <a:cs typeface="Play"/>
              </a:rPr>
              <a:t>Пилот завершён за 6 недель</a:t>
            </a:r>
          </a:p>
        </p:txBody>
      </p:sp>
      <p:sp>
        <p:nvSpPr>
          <p:cNvPr id="3" name="lead"/>
          <p:cNvSpPr txBox="1"/>
          <p:nvPr/>
        </p:nvSpPr>
        <p:spPr>
          <a:xfrm>
            <a:off x="429280" y="3453389"/>
            <a:ext cx="5691464" cy="142240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4000">
                <a:solidFill>
                  <a:srgbClr val="FFFFFF"/>
                </a:solidFill>
                <a:latin typeface="Play"/>
                <a:ea typeface="Play"/>
                <a:cs typeface="Play"/>
              </a:defRPr>
            </a:pPr>
            <a:r>
              <a:rPr sz="4000">
                <a:solidFill>
                  <a:srgbClr val="FFFFFF"/>
                </a:solidFill>
                <a:latin typeface="Play"/>
                <a:ea typeface="Play"/>
                <a:cs typeface="Play"/>
              </a:rPr>
              <a:t>38 сложных запросов закрыто</a:t>
            </a:r>
          </a:p>
        </p:txBody>
      </p:sp>
      <p:grpSp>
        <p:nvGrpSpPr>
          <p:cNvPr id="4" name="illustration:builtin-launch"/>
          <p:cNvGrpSpPr/>
          <p:nvPr/>
        </p:nvGrpSpPr>
        <p:grpSpPr>
          <a:xfrm>
            <a:off x="7973238" y="2708660"/>
            <a:ext cx="3027405" cy="2911855"/>
            <a:chOff x="7973238" y="2708660"/>
            <a:chExt cx="3027405" cy="2911855"/>
          </a:xfrm>
        </p:grpSpPr>
        <p:sp>
          <p:nvSpPr>
            <p:cNvPr id="5" name="Oval 4"/>
            <p:cNvSpPr/>
            <p:nvPr/>
          </p:nvSpPr>
          <p:spPr>
            <a:xfrm>
              <a:off x="7973238" y="2708660"/>
              <a:ext cx="2911855" cy="2911855"/>
            </a:xfrm>
            <a:prstGeom prst="ellipse">
              <a:avLst/>
            </a:prstGeom>
            <a:solidFill>
              <a:srgbClr val="0E213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Freeform 5"/>
            <p:cNvSpPr/>
            <p:nvPr/>
          </p:nvSpPr>
          <p:spPr>
            <a:xfrm>
              <a:off x="8853081" y="2847320"/>
              <a:ext cx="1152170" cy="1594588"/>
            </a:xfrm>
            <a:custGeom>
              <a:avLst/>
              <a:gdLst/>
              <a:ahLst/>
              <a:cxnLst/>
              <a:rect l="l" t="t" r="r" b="b"/>
              <a:pathLst>
                <a:path w="1152170" h="1594588">
                  <a:moveTo>
                    <a:pt x="576085" y="0"/>
                  </a:moveTo>
                  <a:lnTo>
                    <a:pt x="712642" y="111413"/>
                  </a:lnTo>
                  <a:lnTo>
                    <a:pt x="831034" y="236831"/>
                  </a:lnTo>
                  <a:lnTo>
                    <a:pt x="931123" y="375005"/>
                  </a:lnTo>
                  <a:lnTo>
                    <a:pt x="1012771" y="524689"/>
                  </a:lnTo>
                  <a:lnTo>
                    <a:pt x="1075838" y="684633"/>
                  </a:lnTo>
                  <a:lnTo>
                    <a:pt x="1120186" y="853590"/>
                  </a:lnTo>
                  <a:lnTo>
                    <a:pt x="1145676" y="1030312"/>
                  </a:lnTo>
                  <a:lnTo>
                    <a:pt x="1152170" y="1213550"/>
                  </a:lnTo>
                  <a:lnTo>
                    <a:pt x="1139529" y="1402058"/>
                  </a:lnTo>
                  <a:lnTo>
                    <a:pt x="1107614" y="1594588"/>
                  </a:lnTo>
                  <a:lnTo>
                    <a:pt x="44556" y="1594588"/>
                  </a:lnTo>
                  <a:lnTo>
                    <a:pt x="12641" y="1402058"/>
                  </a:lnTo>
                  <a:lnTo>
                    <a:pt x="0" y="1213550"/>
                  </a:lnTo>
                  <a:lnTo>
                    <a:pt x="6494" y="1030312"/>
                  </a:lnTo>
                  <a:lnTo>
                    <a:pt x="31984" y="853590"/>
                  </a:lnTo>
                  <a:lnTo>
                    <a:pt x="76332" y="684633"/>
                  </a:lnTo>
                  <a:lnTo>
                    <a:pt x="139399" y="524689"/>
                  </a:lnTo>
                  <a:lnTo>
                    <a:pt x="221047" y="375005"/>
                  </a:lnTo>
                  <a:lnTo>
                    <a:pt x="321136" y="236831"/>
                  </a:lnTo>
                  <a:lnTo>
                    <a:pt x="439528" y="111413"/>
                  </a:lnTo>
                  <a:lnTo>
                    <a:pt x="576085" y="0"/>
                  </a:lnTo>
                  <a:close/>
                </a:path>
              </a:pathLst>
            </a:custGeom>
            <a:solidFill>
              <a:srgbClr val="0077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Oval 6"/>
            <p:cNvSpPr/>
            <p:nvPr/>
          </p:nvSpPr>
          <p:spPr>
            <a:xfrm>
              <a:off x="9151846" y="3448179"/>
              <a:ext cx="554639" cy="554639"/>
            </a:xfrm>
            <a:prstGeom prst="ellipse">
              <a:avLst/>
            </a:prstGeom>
            <a:solidFill>
              <a:srgbClr val="11111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Oval 7"/>
            <p:cNvSpPr/>
            <p:nvPr/>
          </p:nvSpPr>
          <p:spPr>
            <a:xfrm>
              <a:off x="9267396" y="3563729"/>
              <a:ext cx="323539" cy="323539"/>
            </a:xfrm>
            <a:prstGeom prst="ellipse">
              <a:avLst/>
            </a:prstGeom>
            <a:solidFill>
              <a:srgbClr val="6DBC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Freeform 8"/>
            <p:cNvSpPr/>
            <p:nvPr/>
          </p:nvSpPr>
          <p:spPr>
            <a:xfrm>
              <a:off x="8504767" y="4164588"/>
              <a:ext cx="462200" cy="762629"/>
            </a:xfrm>
            <a:custGeom>
              <a:avLst/>
              <a:gdLst/>
              <a:ahLst/>
              <a:cxnLst/>
              <a:rect l="l" t="t" r="r" b="b"/>
              <a:pathLst>
                <a:path w="462200" h="762629">
                  <a:moveTo>
                    <a:pt x="392870" y="0"/>
                  </a:moveTo>
                  <a:lnTo>
                    <a:pt x="0" y="485309"/>
                  </a:lnTo>
                  <a:lnTo>
                    <a:pt x="0" y="762629"/>
                  </a:lnTo>
                  <a:lnTo>
                    <a:pt x="462200" y="554639"/>
                  </a:lnTo>
                  <a:close/>
                </a:path>
              </a:pathLst>
            </a:custGeom>
            <a:solidFill>
              <a:srgbClr val="6DBC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Freeform 9"/>
            <p:cNvSpPr/>
            <p:nvPr/>
          </p:nvSpPr>
          <p:spPr>
            <a:xfrm>
              <a:off x="9891365" y="4164588"/>
              <a:ext cx="462200" cy="762629"/>
            </a:xfrm>
            <a:custGeom>
              <a:avLst/>
              <a:gdLst/>
              <a:ahLst/>
              <a:cxnLst/>
              <a:rect l="l" t="t" r="r" b="b"/>
              <a:pathLst>
                <a:path w="462200" h="762629">
                  <a:moveTo>
                    <a:pt x="69330" y="0"/>
                  </a:moveTo>
                  <a:lnTo>
                    <a:pt x="462200" y="485309"/>
                  </a:lnTo>
                  <a:lnTo>
                    <a:pt x="462200" y="762629"/>
                  </a:lnTo>
                  <a:lnTo>
                    <a:pt x="0" y="554639"/>
                  </a:lnTo>
                  <a:close/>
                </a:path>
              </a:pathLst>
            </a:custGeom>
            <a:solidFill>
              <a:srgbClr val="6DBC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Freeform 10"/>
            <p:cNvSpPr/>
            <p:nvPr/>
          </p:nvSpPr>
          <p:spPr>
            <a:xfrm>
              <a:off x="9151846" y="4488128"/>
              <a:ext cx="554640" cy="346649"/>
            </a:xfrm>
            <a:custGeom>
              <a:avLst/>
              <a:gdLst/>
              <a:ahLst/>
              <a:cxnLst/>
              <a:rect l="l" t="t" r="r" b="b"/>
              <a:pathLst>
                <a:path w="554640" h="346649">
                  <a:moveTo>
                    <a:pt x="0" y="0"/>
                  </a:moveTo>
                  <a:lnTo>
                    <a:pt x="554640" y="0"/>
                  </a:lnTo>
                  <a:lnTo>
                    <a:pt x="462200" y="346649"/>
                  </a:lnTo>
                  <a:lnTo>
                    <a:pt x="92440" y="346649"/>
                  </a:lnTo>
                  <a:close/>
                </a:path>
              </a:pathLst>
            </a:custGeom>
            <a:solidFill>
              <a:srgbClr val="58585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Freeform 11"/>
            <p:cNvSpPr/>
            <p:nvPr/>
          </p:nvSpPr>
          <p:spPr>
            <a:xfrm>
              <a:off x="9244286" y="4834777"/>
              <a:ext cx="369760" cy="647079"/>
            </a:xfrm>
            <a:custGeom>
              <a:avLst/>
              <a:gdLst/>
              <a:ahLst/>
              <a:cxnLst/>
              <a:rect l="l" t="t" r="r" b="b"/>
              <a:pathLst>
                <a:path w="369760" h="647079">
                  <a:moveTo>
                    <a:pt x="0" y="0"/>
                  </a:moveTo>
                  <a:lnTo>
                    <a:pt x="369760" y="0"/>
                  </a:lnTo>
                  <a:lnTo>
                    <a:pt x="367079" y="86755"/>
                  </a:lnTo>
                  <a:lnTo>
                    <a:pt x="359406" y="167131"/>
                  </a:lnTo>
                  <a:lnTo>
                    <a:pt x="347297" y="241684"/>
                  </a:lnTo>
                  <a:lnTo>
                    <a:pt x="331305" y="310968"/>
                  </a:lnTo>
                  <a:lnTo>
                    <a:pt x="311985" y="375537"/>
                  </a:lnTo>
                  <a:lnTo>
                    <a:pt x="289892" y="435946"/>
                  </a:lnTo>
                  <a:lnTo>
                    <a:pt x="265580" y="492751"/>
                  </a:lnTo>
                  <a:lnTo>
                    <a:pt x="239604" y="546504"/>
                  </a:lnTo>
                  <a:lnTo>
                    <a:pt x="212520" y="597762"/>
                  </a:lnTo>
                  <a:lnTo>
                    <a:pt x="184880" y="647079"/>
                  </a:lnTo>
                  <a:lnTo>
                    <a:pt x="157240" y="597762"/>
                  </a:lnTo>
                  <a:lnTo>
                    <a:pt x="130156" y="546504"/>
                  </a:lnTo>
                  <a:lnTo>
                    <a:pt x="104180" y="492751"/>
                  </a:lnTo>
                  <a:lnTo>
                    <a:pt x="79868" y="435946"/>
                  </a:lnTo>
                  <a:lnTo>
                    <a:pt x="57775" y="375537"/>
                  </a:lnTo>
                  <a:lnTo>
                    <a:pt x="38455" y="310968"/>
                  </a:lnTo>
                  <a:lnTo>
                    <a:pt x="22463" y="241684"/>
                  </a:lnTo>
                  <a:lnTo>
                    <a:pt x="10354" y="167131"/>
                  </a:lnTo>
                  <a:lnTo>
                    <a:pt x="2681" y="8675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DBC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Oval 12"/>
            <p:cNvSpPr/>
            <p:nvPr/>
          </p:nvSpPr>
          <p:spPr>
            <a:xfrm>
              <a:off x="8100343" y="3344184"/>
              <a:ext cx="161769" cy="161769"/>
            </a:xfrm>
            <a:prstGeom prst="ellipse">
              <a:avLst/>
            </a:prstGeom>
            <a:solidFill>
              <a:srgbClr val="0077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Oval 13"/>
            <p:cNvSpPr/>
            <p:nvPr/>
          </p:nvSpPr>
          <p:spPr>
            <a:xfrm>
              <a:off x="10653994" y="3124640"/>
              <a:ext cx="231099" cy="231099"/>
            </a:xfrm>
            <a:prstGeom prst="ellipse">
              <a:avLst/>
            </a:prstGeom>
            <a:solidFill>
              <a:srgbClr val="6DBC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Oval 14"/>
            <p:cNvSpPr/>
            <p:nvPr/>
          </p:nvSpPr>
          <p:spPr>
            <a:xfrm>
              <a:off x="10861984" y="4673007"/>
              <a:ext cx="138659" cy="138659"/>
            </a:xfrm>
            <a:prstGeom prst="ellipse">
              <a:avLst/>
            </a:prstGeom>
            <a:solidFill>
              <a:srgbClr val="0077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29280" y="424715"/>
            <a:ext cx="7827264" cy="118364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3200">
                <a:solidFill>
                  <a:srgbClr val="FFFFFF"/>
                </a:solidFill>
                <a:latin typeface="Play"/>
                <a:ea typeface="Play"/>
                <a:cs typeface="Play"/>
              </a:defRPr>
            </a:pPr>
            <a:r>
              <a:rPr sz="3200">
                <a:solidFill>
                  <a:srgbClr val="FFFFFF"/>
                </a:solidFill>
                <a:latin typeface="Play"/>
                <a:ea typeface="Play"/>
                <a:cs typeface="Play"/>
              </a:rPr>
              <a:t>Главный риск — нагрузка выше 20 задач</a:t>
            </a:r>
          </a:p>
        </p:txBody>
      </p:sp>
      <p:sp>
        <p:nvSpPr>
          <p:cNvPr id="3" name="lead"/>
          <p:cNvSpPr txBox="1"/>
          <p:nvPr/>
        </p:nvSpPr>
        <p:spPr>
          <a:xfrm>
            <a:off x="429280" y="1745515"/>
            <a:ext cx="7827264" cy="1421031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>
              <a:spcAft>
                <a:spcPts val="300"/>
              </a:spcAft>
              <a:defRPr sz="3200">
                <a:solidFill>
                  <a:srgbClr val="FFFFFF"/>
                </a:solidFill>
                <a:latin typeface="Play"/>
                <a:ea typeface="Play"/>
                <a:cs typeface="Play"/>
              </a:defRPr>
            </a:pPr>
            <a:r>
              <a:rPr sz="3200">
                <a:solidFill>
                  <a:srgbClr val="FFFFFF"/>
                </a:solidFill>
                <a:latin typeface="Play"/>
                <a:ea typeface="Play"/>
                <a:cs typeface="Play"/>
              </a:rPr>
              <a:t>Слабая модель может выдумать цифры</a:t>
            </a:r>
          </a:p>
        </p:txBody>
      </p:sp>
      <p:sp>
        <p:nvSpPr>
          <p:cNvPr id="4" name="body"/>
          <p:cNvSpPr txBox="1"/>
          <p:nvPr/>
        </p:nvSpPr>
        <p:spPr>
          <a:xfrm>
            <a:off x="429280" y="3415689"/>
            <a:ext cx="7827264" cy="248219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2800">
                <a:solidFill>
                  <a:srgbClr val="FFFFFF"/>
                </a:solidFill>
                <a:latin typeface="Play"/>
                <a:ea typeface="Play"/>
                <a:cs typeface="Play"/>
              </a:defRPr>
            </a:pPr>
            <a:r>
              <a:rPr sz="2800">
                <a:solidFill>
                  <a:srgbClr val="FFFFFF"/>
                </a:solidFill>
                <a:latin typeface="Play"/>
                <a:ea typeface="Play"/>
                <a:cs typeface="Play"/>
              </a:rPr>
              <a:t>• Аудит проверяет каждое число</a:t>
            </a:r>
          </a:p>
          <a:p>
            <a:pPr algn="l">
              <a:spcAft>
                <a:spcPts val="300"/>
              </a:spcAft>
              <a:defRPr sz="2800">
                <a:solidFill>
                  <a:srgbClr val="FFFFFF"/>
                </a:solidFill>
                <a:latin typeface="Play"/>
                <a:ea typeface="Play"/>
                <a:cs typeface="Play"/>
              </a:defRPr>
            </a:pPr>
            <a:r>
              <a:rPr sz="2800">
                <a:solidFill>
                  <a:srgbClr val="FFFFFF"/>
                </a:solidFill>
                <a:latin typeface="Play"/>
                <a:ea typeface="Play"/>
                <a:cs typeface="Play"/>
              </a:rPr>
              <a:t>• Неизнакомый шаблон может быть плохо сделанным</a:t>
            </a:r>
          </a:p>
          <a:p>
            <a:pPr algn="l">
              <a:spcAft>
                <a:spcPts val="300"/>
              </a:spcAft>
              <a:defRPr sz="2800">
                <a:solidFill>
                  <a:srgbClr val="FFFFFF"/>
                </a:solidFill>
                <a:latin typeface="Play"/>
                <a:ea typeface="Play"/>
                <a:cs typeface="Play"/>
              </a:defRPr>
            </a:pPr>
            <a:r>
              <a:rPr sz="2800">
                <a:solidFill>
                  <a:srgbClr val="FFFFFF"/>
                </a:solidFill>
                <a:latin typeface="Play"/>
                <a:ea typeface="Play"/>
                <a:cs typeface="Play"/>
              </a:rPr>
              <a:t>• Нагрузка выше 20 задач требует внешней очереди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29280" y="424715"/>
            <a:ext cx="7827264" cy="105156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2800">
                <a:solidFill>
                  <a:srgbClr val="FFFFFF"/>
                </a:solidFill>
                <a:latin typeface="Play"/>
                <a:ea typeface="Play"/>
                <a:cs typeface="Play"/>
              </a:defRPr>
            </a:pPr>
            <a:r>
              <a:rPr sz="2800">
                <a:solidFill>
                  <a:srgbClr val="FFFFFF"/>
                </a:solidFill>
                <a:latin typeface="Play"/>
                <a:ea typeface="Play"/>
                <a:cs typeface="Play"/>
              </a:rPr>
              <a:t>План масштабирования: Q3 2026 – 4 команды, Q4 2026 – доступ компании</a:t>
            </a:r>
          </a:p>
        </p:txBody>
      </p:sp>
      <p:sp>
        <p:nvSpPr>
          <p:cNvPr id="3" name="stat_0:bar"/>
          <p:cNvSpPr/>
          <p:nvPr/>
        </p:nvSpPr>
        <p:spPr>
          <a:xfrm>
            <a:off x="429280" y="1906524"/>
            <a:ext cx="50800" cy="1231646"/>
          </a:xfrm>
          <a:prstGeom prst="rect">
            <a:avLst/>
          </a:prstGeom>
          <a:solidFill>
            <a:srgbClr val="00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tat_0"/>
          <p:cNvSpPr txBox="1"/>
          <p:nvPr/>
        </p:nvSpPr>
        <p:spPr>
          <a:xfrm>
            <a:off x="607080" y="1783080"/>
            <a:ext cx="11133084" cy="1355090"/>
          </a:xfrm>
          <a:prstGeom prst="rect">
            <a:avLst/>
          </a:prstGeom>
          <a:noFill/>
        </p:spPr>
        <p:txBody>
          <a:bodyPr wrap="square" lIns="76200" rIns="76200" tIns="0" bIns="0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  <a:defRPr sz="5400" b="1">
                <a:solidFill>
                  <a:srgbClr val="0077FF"/>
                </a:solidFill>
                <a:latin typeface="Play"/>
                <a:ea typeface="Play"/>
                <a:cs typeface="Play"/>
              </a:defRPr>
            </a:pPr>
            <a:r>
              <a:rPr sz="5400" b="1">
                <a:solidFill>
                  <a:srgbClr val="0077FF"/>
                </a:solidFill>
                <a:latin typeface="Play"/>
                <a:ea typeface="Play"/>
                <a:cs typeface="Play"/>
              </a:rPr>
              <a:t>2026</a:t>
            </a:r>
          </a:p>
          <a:p>
            <a:pPr>
              <a:spcAft>
                <a:spcPts val="300"/>
              </a:spcAft>
              <a:defRPr sz="2400" b="0">
                <a:solidFill>
                  <a:srgbClr val="FFFFFF"/>
                </a:solidFill>
                <a:latin typeface="Play"/>
                <a:ea typeface="Play"/>
                <a:cs typeface="Play"/>
              </a:defRPr>
            </a:pPr>
            <a:r>
              <a:rPr sz="2400" b="0">
                <a:solidFill>
                  <a:srgbClr val="FFFFFF"/>
                </a:solidFill>
                <a:latin typeface="Play"/>
                <a:ea typeface="Play"/>
                <a:cs typeface="Play"/>
              </a:rPr>
              <a:t>Q3 2026 подключение 4 команд, домен и HTTPS</a:t>
            </a:r>
          </a:p>
        </p:txBody>
      </p:sp>
      <p:sp>
        <p:nvSpPr>
          <p:cNvPr id="5" name="body"/>
          <p:cNvSpPr txBox="1"/>
          <p:nvPr/>
        </p:nvSpPr>
        <p:spPr>
          <a:xfrm>
            <a:off x="429280" y="4169664"/>
            <a:ext cx="11310884" cy="1728215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2400">
                <a:solidFill>
                  <a:srgbClr val="FFFFFF"/>
                </a:solidFill>
                <a:latin typeface="Play"/>
                <a:ea typeface="Play"/>
                <a:cs typeface="Play"/>
              </a:defRPr>
            </a:pPr>
            <a:r>
              <a:rPr sz="2400">
                <a:solidFill>
                  <a:srgbClr val="FFFFFF"/>
                </a:solidFill>
                <a:latin typeface="Play"/>
                <a:ea typeface="Play"/>
                <a:cs typeface="Play"/>
              </a:rPr>
              <a:t>• Q4 2026 доступ для всей компании, интеграция с хранилищем документов</a:t>
            </a:r>
          </a:p>
          <a:p>
            <a:pPr algn="l">
              <a:spcAft>
                <a:spcPts val="300"/>
              </a:spcAft>
              <a:defRPr sz="2400">
                <a:solidFill>
                  <a:srgbClr val="FFFFFF"/>
                </a:solidFill>
                <a:latin typeface="Play"/>
                <a:ea typeface="Play"/>
                <a:cs typeface="Play"/>
              </a:defRPr>
            </a:pPr>
            <a:r>
              <a:rPr sz="2400">
                <a:solidFill>
                  <a:srgbClr val="FFFFFF"/>
                </a:solidFill>
                <a:latin typeface="Play"/>
                <a:ea typeface="Play"/>
                <a:cs typeface="Play"/>
              </a:rPr>
              <a:t>• Q1 2027 генерация иллюстраций под стиль шаблона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02280" y="2164394"/>
            <a:ext cx="8081385" cy="3364229"/>
          </a:xfrm>
          <a:prstGeom prst="roundRect">
            <a:avLst/>
          </a:prstGeom>
          <a:solidFill>
            <a:srgbClr val="111111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itle"/>
          <p:cNvSpPr txBox="1"/>
          <p:nvPr/>
        </p:nvSpPr>
        <p:spPr>
          <a:xfrm>
            <a:off x="429280" y="2291394"/>
            <a:ext cx="7827385" cy="144780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4000">
                <a:solidFill>
                  <a:srgbClr val="FFFFFF"/>
                </a:solidFill>
                <a:latin typeface="Play"/>
                <a:ea typeface="Play"/>
                <a:cs typeface="Play"/>
              </a:defRPr>
            </a:pPr>
            <a:r>
              <a:rPr sz="4000">
                <a:solidFill>
                  <a:srgbClr val="FFFFFF"/>
                </a:solidFill>
                <a:latin typeface="Play"/>
                <a:ea typeface="Play"/>
                <a:cs typeface="Play"/>
              </a:rPr>
              <a:t>Пилот доказал эффективность автоматической вёрстки</a:t>
            </a:r>
          </a:p>
        </p:txBody>
      </p:sp>
      <p:sp>
        <p:nvSpPr>
          <p:cNvPr id="4" name="lead"/>
          <p:cNvSpPr txBox="1"/>
          <p:nvPr/>
        </p:nvSpPr>
        <p:spPr>
          <a:xfrm>
            <a:off x="429280" y="3979224"/>
            <a:ext cx="7827385" cy="1918655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>
              <a:spcAft>
                <a:spcPts val="300"/>
              </a:spcAft>
              <a:defRPr sz="4000" b="1">
                <a:solidFill>
                  <a:srgbClr val="FFFFFF"/>
                </a:solidFill>
                <a:latin typeface="Play"/>
                <a:ea typeface="Play"/>
                <a:cs typeface="Play"/>
              </a:defRPr>
            </a:pPr>
            <a:r>
              <a:rPr sz="4000" b="1">
                <a:solidFill>
                  <a:srgbClr val="FFFFFF"/>
                </a:solidFill>
                <a:latin typeface="Play"/>
                <a:ea typeface="Play"/>
                <a:cs typeface="Play"/>
              </a:rPr>
              <a:t>Автоматизация повышает скорость и качество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Контентные">
  <a:themeElements>
    <a:clrScheme name="VK Tech 2024">
      <a:dk1>
        <a:srgbClr val="000000"/>
      </a:dk1>
      <a:lt1>
        <a:srgbClr val="FFFFFF"/>
      </a:lt1>
      <a:dk2>
        <a:srgbClr val="0077FF"/>
      </a:dk2>
      <a:lt2>
        <a:srgbClr val="FFFFFF"/>
      </a:lt2>
      <a:accent1>
        <a:srgbClr val="0077FF"/>
      </a:accent1>
      <a:accent2>
        <a:srgbClr val="00E9FF"/>
      </a:accent2>
      <a:accent3>
        <a:srgbClr val="AAFBFF"/>
      </a:accent3>
      <a:accent4>
        <a:srgbClr val="EDF3FC"/>
      </a:accent4>
      <a:accent5>
        <a:srgbClr val="7C8A9A"/>
      </a:accent5>
      <a:accent6>
        <a:srgbClr val="202020"/>
      </a:accent6>
      <a:hlink>
        <a:srgbClr val="0077FF"/>
      </a:hlink>
      <a:folHlink>
        <a:srgbClr val="00E9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
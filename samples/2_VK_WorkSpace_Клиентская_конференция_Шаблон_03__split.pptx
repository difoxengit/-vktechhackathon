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(мин)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До</c:v>
                </c:pt>
                <c:pt idx="1">
                  <c:v>После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&quot;" sourceLinked="0"/>
          <c:txPr>
            <a:bodyPr wrap="none"/>
            <a:lstStyle/>
            <a:p>
              <a:pPr>
                <a:defRPr sz="11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3C3C3C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 (мин), мин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Нарушения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До</c:v>
                </c:pt>
                <c:pt idx="1">
                  <c:v>После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2.0</c:v>
                </c:pt>
              </c:numCache>
            </c:numRef>
          </c:val>
        </c:ser>
        <c:dLbls>
          <c:numFmt formatCode="0&quot; колод&quot;" sourceLinked="0"/>
          <c:txPr>
            <a:bodyPr wrap="none"/>
            <a:lstStyle/>
            <a:p>
              <a:pPr>
                <a:defRPr sz="11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3C3C3C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r>
                  <a:t>Нарушения, колод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52" r:id="rId6"/>
    <p:sldLayoutId id="2147483653" r:id="rId7"/>
    <p:sldLayoutId id="2147483655" r:id="rId9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2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title"/>
          <p:cNvSpPr txBox="1"/>
          <p:nvPr/>
        </p:nvSpPr>
        <p:spPr>
          <a:xfrm>
            <a:off x="429280" y="2490551"/>
            <a:ext cx="7827385" cy="18846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5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5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Автоматическая вёрстка презентаций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Сборка вручную занимает 186 мин</a:t>
            </a:r>
          </a:p>
        </p:txBody>
      </p:sp>
      <p:sp>
        <p:nvSpPr>
          <p:cNvPr id="3" name="body_left"/>
          <p:cNvSpPr txBox="1"/>
          <p:nvPr/>
        </p:nvSpPr>
        <p:spPr>
          <a:xfrm>
            <a:off x="429280" y="1664162"/>
            <a:ext cx="5472562" cy="375358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42 колоды за квартал 2026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186 мин на 12 слайдов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74 мин на правки после ревью</a:t>
            </a:r>
          </a:p>
        </p:txBody>
      </p:sp>
      <p:sp>
        <p:nvSpPr>
          <p:cNvPr id="4" name="body_right"/>
          <p:cNvSpPr txBox="1"/>
          <p:nvPr/>
        </p:nvSpPr>
        <p:spPr>
          <a:xfrm>
            <a:off x="6267602" y="1664162"/>
            <a:ext cx="5472562" cy="375358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19 из 42 колод нарушили фирменный стиль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4 дизайнера обрабатывают 11 запросов/нед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Средний срок ожидания 6 рабочих дней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9640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Сервис автоматически вёрстит презентации</a:t>
            </a:r>
          </a:p>
        </p:txBody>
      </p:sp>
      <p:sp>
        <p:nvSpPr>
          <p:cNvPr id="3" name="body_left"/>
          <p:cNvSpPr txBox="1"/>
          <p:nvPr/>
        </p:nvSpPr>
        <p:spPr>
          <a:xfrm>
            <a:off x="429280" y="2466709"/>
            <a:ext cx="5472562" cy="10922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Принимает шаблон pptx и материалы</a:t>
            </a:r>
          </a:p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Парсит дизайн-систему</a:t>
            </a:r>
          </a:p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Собирает план колоды</a:t>
            </a:r>
          </a:p>
        </p:txBody>
      </p:sp>
      <p:sp>
        <p:nvSpPr>
          <p:cNvPr id="4" name="body_right"/>
          <p:cNvSpPr txBox="1"/>
          <p:nvPr/>
        </p:nvSpPr>
        <p:spPr>
          <a:xfrm>
            <a:off x="6267602" y="2466709"/>
            <a:ext cx="5472562" cy="10922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Проводит аудит качества</a:t>
            </a:r>
          </a:p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Экспортирует pptx, pdf, html</a:t>
            </a:r>
          </a:p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Слайды остаются редактируемыми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Время сборки сократилось до 4 мин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29280" y="1848385"/>
            <a:ext cx="5472562" cy="404949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4 мин вместо 186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1 день до первой версии вместо 6 дней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68 колод собраны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67602" y="1848385"/>
          <a:ext cx="5472562" cy="404949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Rounded Rectangle 679"/>
          <p:cNvSpPr/>
          <p:nvPr/>
        </p:nvSpPr>
        <p:spPr>
          <a:xfrm>
            <a:off x="300817" y="297715"/>
            <a:ext cx="11566347" cy="5727164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itle"/>
          <p:cNvSpPr txBox="1"/>
          <p:nvPr/>
        </p:nvSpPr>
        <p:spPr>
          <a:xfrm>
            <a:off x="427817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Стиль соблюдается в 98% колод</a:t>
            </a:r>
          </a:p>
        </p:txBody>
      </p:sp>
      <p:sp>
        <p:nvSpPr>
          <p:cNvPr id="682" name="body"/>
          <p:cNvSpPr txBox="1"/>
          <p:nvPr/>
        </p:nvSpPr>
        <p:spPr>
          <a:xfrm>
            <a:off x="427817" y="1783080"/>
            <a:ext cx="5473293" cy="4114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2 из 68 колод нарушили стиль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Обе исправлены автоматическими правками</a:t>
            </a:r>
          </a:p>
        </p:txBody>
      </p:sp>
      <p:graphicFrame>
        <p:nvGraphicFramePr>
          <p:cNvPr id="683" name="Chart 682"/>
          <p:cNvGraphicFramePr>
            <a:graphicFrameLocks noGrp="1"/>
          </p:cNvGraphicFramePr>
          <p:nvPr/>
        </p:nvGraphicFramePr>
        <p:xfrm>
          <a:off x="6266870" y="1783080"/>
          <a:ext cx="5473293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20" name="Google Shape;6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title"/>
          <p:cNvSpPr txBox="1"/>
          <p:nvPr/>
        </p:nvSpPr>
        <p:spPr>
          <a:xfrm>
            <a:off x="429280" y="424715"/>
            <a:ext cx="7827264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Инфраструктура: 2 vCPU / 2 GB RAM, 1 400 руб за 6 недель</a:t>
            </a:r>
          </a:p>
        </p:txBody>
      </p:sp>
      <p:sp>
        <p:nvSpPr>
          <p:cNvPr id="623" name="body"/>
          <p:cNvSpPr txBox="1"/>
          <p:nvPr/>
        </p:nvSpPr>
        <p:spPr>
          <a:xfrm>
            <a:off x="429280" y="1848385"/>
            <a:ext cx="11310884" cy="4978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Модель gpt-oss-20b</a:t>
            </a:r>
          </a:p>
        </p:txBody>
      </p:sp>
      <p:sp>
        <p:nvSpPr>
          <p:cNvPr id="624" name="stat_0:bar"/>
          <p:cNvSpPr/>
          <p:nvPr/>
        </p:nvSpPr>
        <p:spPr>
          <a:xfrm>
            <a:off x="429280" y="2675409"/>
            <a:ext cx="50800" cy="1627886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stat_0"/>
          <p:cNvSpPr txBox="1"/>
          <p:nvPr/>
        </p:nvSpPr>
        <p:spPr>
          <a:xfrm>
            <a:off x="607080" y="2551965"/>
            <a:ext cx="5251424" cy="175133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54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54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 vCPU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Работает на одной машине 2 vCPU / 2 GB RAM</a:t>
            </a:r>
          </a:p>
        </p:txBody>
      </p:sp>
      <p:sp>
        <p:nvSpPr>
          <p:cNvPr id="626" name="stat_1:bar"/>
          <p:cNvSpPr/>
          <p:nvPr/>
        </p:nvSpPr>
        <p:spPr>
          <a:xfrm>
            <a:off x="6310940" y="2675409"/>
            <a:ext cx="50800" cy="1231646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stat_1"/>
          <p:cNvSpPr txBox="1"/>
          <p:nvPr/>
        </p:nvSpPr>
        <p:spPr>
          <a:xfrm>
            <a:off x="6488740" y="2551965"/>
            <a:ext cx="5251424" cy="135509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54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54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6 нед.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Инференс за 6 недель 1 400 руб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Пилот завершён за 6 недель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29280" y="3882649"/>
            <a:ext cx="6129269" cy="563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38 сложных запросов закрыто</a:t>
            </a:r>
          </a:p>
        </p:txBody>
      </p:sp>
      <p:grpSp>
        <p:nvGrpSpPr>
          <p:cNvPr id="4" name="illustration:builtin-launch"/>
          <p:cNvGrpSpPr/>
          <p:nvPr/>
        </p:nvGrpSpPr>
        <p:grpSpPr>
          <a:xfrm>
            <a:off x="7973238" y="2708660"/>
            <a:ext cx="3027405" cy="2911855"/>
            <a:chOff x="7973238" y="2708660"/>
            <a:chExt cx="3027405" cy="2911855"/>
          </a:xfrm>
        </p:grpSpPr>
        <p:sp>
          <p:nvSpPr>
            <p:cNvPr id="5" name="Oval 4"/>
            <p:cNvSpPr/>
            <p:nvPr/>
          </p:nvSpPr>
          <p:spPr>
            <a:xfrm>
              <a:off x="7973238" y="2708660"/>
              <a:ext cx="2911855" cy="2911855"/>
            </a:xfrm>
            <a:prstGeom prst="ellipse">
              <a:avLst/>
            </a:prstGeom>
            <a:solidFill>
              <a:srgbClr val="0E21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8853081" y="2847320"/>
              <a:ext cx="1152170" cy="1594588"/>
            </a:xfrm>
            <a:custGeom>
              <a:avLst/>
              <a:gdLst/>
              <a:ahLst/>
              <a:cxnLst/>
              <a:rect l="l" t="t" r="r" b="b"/>
              <a:pathLst>
                <a:path w="1152170" h="1594588">
                  <a:moveTo>
                    <a:pt x="576085" y="0"/>
                  </a:moveTo>
                  <a:lnTo>
                    <a:pt x="712642" y="111413"/>
                  </a:lnTo>
                  <a:lnTo>
                    <a:pt x="831034" y="236831"/>
                  </a:lnTo>
                  <a:lnTo>
                    <a:pt x="931123" y="375005"/>
                  </a:lnTo>
                  <a:lnTo>
                    <a:pt x="1012771" y="524689"/>
                  </a:lnTo>
                  <a:lnTo>
                    <a:pt x="1075838" y="684633"/>
                  </a:lnTo>
                  <a:lnTo>
                    <a:pt x="1120186" y="853590"/>
                  </a:lnTo>
                  <a:lnTo>
                    <a:pt x="1145676" y="1030312"/>
                  </a:lnTo>
                  <a:lnTo>
                    <a:pt x="1152170" y="1213550"/>
                  </a:lnTo>
                  <a:lnTo>
                    <a:pt x="1139529" y="1402058"/>
                  </a:lnTo>
                  <a:lnTo>
                    <a:pt x="1107614" y="1594588"/>
                  </a:lnTo>
                  <a:lnTo>
                    <a:pt x="44556" y="1594588"/>
                  </a:lnTo>
                  <a:lnTo>
                    <a:pt x="12641" y="1402058"/>
                  </a:lnTo>
                  <a:lnTo>
                    <a:pt x="0" y="1213550"/>
                  </a:lnTo>
                  <a:lnTo>
                    <a:pt x="6494" y="1030312"/>
                  </a:lnTo>
                  <a:lnTo>
                    <a:pt x="31984" y="853590"/>
                  </a:lnTo>
                  <a:lnTo>
                    <a:pt x="76332" y="684633"/>
                  </a:lnTo>
                  <a:lnTo>
                    <a:pt x="139399" y="524689"/>
                  </a:lnTo>
                  <a:lnTo>
                    <a:pt x="221047" y="375005"/>
                  </a:lnTo>
                  <a:lnTo>
                    <a:pt x="321136" y="236831"/>
                  </a:lnTo>
                  <a:lnTo>
                    <a:pt x="439528" y="111413"/>
                  </a:lnTo>
                  <a:lnTo>
                    <a:pt x="576085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9151846" y="3448179"/>
              <a:ext cx="554639" cy="554639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9267396" y="3563729"/>
              <a:ext cx="323539" cy="323539"/>
            </a:xfrm>
            <a:prstGeom prst="ellipse">
              <a:avLst/>
            </a:pr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8504767" y="4164588"/>
              <a:ext cx="462200" cy="762629"/>
            </a:xfrm>
            <a:custGeom>
              <a:avLst/>
              <a:gdLst/>
              <a:ahLst/>
              <a:cxnLst/>
              <a:rect l="l" t="t" r="r" b="b"/>
              <a:pathLst>
                <a:path w="462200" h="762629">
                  <a:moveTo>
                    <a:pt x="392870" y="0"/>
                  </a:moveTo>
                  <a:lnTo>
                    <a:pt x="0" y="485309"/>
                  </a:lnTo>
                  <a:lnTo>
                    <a:pt x="0" y="762629"/>
                  </a:lnTo>
                  <a:lnTo>
                    <a:pt x="462200" y="554639"/>
                  </a:lnTo>
                  <a:close/>
                </a:path>
              </a:pathLst>
            </a:cu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9891365" y="4164588"/>
              <a:ext cx="462200" cy="762629"/>
            </a:xfrm>
            <a:custGeom>
              <a:avLst/>
              <a:gdLst/>
              <a:ahLst/>
              <a:cxnLst/>
              <a:rect l="l" t="t" r="r" b="b"/>
              <a:pathLst>
                <a:path w="462200" h="762629">
                  <a:moveTo>
                    <a:pt x="69330" y="0"/>
                  </a:moveTo>
                  <a:lnTo>
                    <a:pt x="462200" y="485309"/>
                  </a:lnTo>
                  <a:lnTo>
                    <a:pt x="462200" y="762629"/>
                  </a:lnTo>
                  <a:lnTo>
                    <a:pt x="0" y="554639"/>
                  </a:lnTo>
                  <a:close/>
                </a:path>
              </a:pathLst>
            </a:cu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9151846" y="4488128"/>
              <a:ext cx="554640" cy="346649"/>
            </a:xfrm>
            <a:custGeom>
              <a:avLst/>
              <a:gdLst/>
              <a:ahLst/>
              <a:cxnLst/>
              <a:rect l="l" t="t" r="r" b="b"/>
              <a:pathLst>
                <a:path w="554640" h="346649">
                  <a:moveTo>
                    <a:pt x="0" y="0"/>
                  </a:moveTo>
                  <a:lnTo>
                    <a:pt x="554640" y="0"/>
                  </a:lnTo>
                  <a:lnTo>
                    <a:pt x="462200" y="346649"/>
                  </a:lnTo>
                  <a:lnTo>
                    <a:pt x="92440" y="346649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9244286" y="4834777"/>
              <a:ext cx="369760" cy="647079"/>
            </a:xfrm>
            <a:custGeom>
              <a:avLst/>
              <a:gdLst/>
              <a:ahLst/>
              <a:cxnLst/>
              <a:rect l="l" t="t" r="r" b="b"/>
              <a:pathLst>
                <a:path w="369760" h="647079">
                  <a:moveTo>
                    <a:pt x="0" y="0"/>
                  </a:moveTo>
                  <a:lnTo>
                    <a:pt x="369760" y="0"/>
                  </a:lnTo>
                  <a:lnTo>
                    <a:pt x="367079" y="86755"/>
                  </a:lnTo>
                  <a:lnTo>
                    <a:pt x="359406" y="167131"/>
                  </a:lnTo>
                  <a:lnTo>
                    <a:pt x="347297" y="241684"/>
                  </a:lnTo>
                  <a:lnTo>
                    <a:pt x="331305" y="310968"/>
                  </a:lnTo>
                  <a:lnTo>
                    <a:pt x="311985" y="375537"/>
                  </a:lnTo>
                  <a:lnTo>
                    <a:pt x="289892" y="435946"/>
                  </a:lnTo>
                  <a:lnTo>
                    <a:pt x="265580" y="492751"/>
                  </a:lnTo>
                  <a:lnTo>
                    <a:pt x="239604" y="546504"/>
                  </a:lnTo>
                  <a:lnTo>
                    <a:pt x="212520" y="597762"/>
                  </a:lnTo>
                  <a:lnTo>
                    <a:pt x="184880" y="647079"/>
                  </a:lnTo>
                  <a:lnTo>
                    <a:pt x="157240" y="597762"/>
                  </a:lnTo>
                  <a:lnTo>
                    <a:pt x="130156" y="546504"/>
                  </a:lnTo>
                  <a:lnTo>
                    <a:pt x="104180" y="492751"/>
                  </a:lnTo>
                  <a:lnTo>
                    <a:pt x="79868" y="435946"/>
                  </a:lnTo>
                  <a:lnTo>
                    <a:pt x="57775" y="375537"/>
                  </a:lnTo>
                  <a:lnTo>
                    <a:pt x="38455" y="310968"/>
                  </a:lnTo>
                  <a:lnTo>
                    <a:pt x="22463" y="241684"/>
                  </a:lnTo>
                  <a:lnTo>
                    <a:pt x="10354" y="167131"/>
                  </a:lnTo>
                  <a:lnTo>
                    <a:pt x="2681" y="867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8100343" y="3344184"/>
              <a:ext cx="161769" cy="16176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10653994" y="3124640"/>
              <a:ext cx="231099" cy="231099"/>
            </a:xfrm>
            <a:prstGeom prst="ellipse">
              <a:avLst/>
            </a:pr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0861984" y="4673007"/>
              <a:ext cx="138659" cy="13865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Главный риск — нагрузка выше 20 задач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29280" y="2435492"/>
            <a:ext cx="6129269" cy="28752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Слабая модель может выдумать цифры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Аудит проверяет каждое число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Неизнакомый шаблон может быть плохо сделанным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Нагрузка выше 20 задач требует внешней очереди</a:t>
            </a:r>
          </a:p>
        </p:txBody>
      </p:sp>
      <p:grpSp>
        <p:nvGrpSpPr>
          <p:cNvPr id="4" name="illustration:builtin-security"/>
          <p:cNvGrpSpPr/>
          <p:nvPr/>
        </p:nvGrpSpPr>
        <p:grpSpPr>
          <a:xfrm>
            <a:off x="7815241" y="2380217"/>
            <a:ext cx="3178463" cy="2985829"/>
            <a:chOff x="7815241" y="2380217"/>
            <a:chExt cx="3178463" cy="2985829"/>
          </a:xfrm>
        </p:grpSpPr>
        <p:sp>
          <p:nvSpPr>
            <p:cNvPr id="5" name="Oval 4"/>
            <p:cNvSpPr/>
            <p:nvPr/>
          </p:nvSpPr>
          <p:spPr>
            <a:xfrm>
              <a:off x="7839321" y="2380217"/>
              <a:ext cx="2985829" cy="2985829"/>
            </a:xfrm>
            <a:prstGeom prst="ellipse">
              <a:avLst/>
            </a:prstGeom>
            <a:solidFill>
              <a:srgbClr val="0E21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8224589" y="2548772"/>
              <a:ext cx="2215293" cy="2672799"/>
            </a:xfrm>
            <a:custGeom>
              <a:avLst/>
              <a:gdLst/>
              <a:ahLst/>
              <a:cxnLst/>
              <a:rect l="l" t="t" r="r" b="b"/>
              <a:pathLst>
                <a:path w="2215293" h="2672799">
                  <a:moveTo>
                    <a:pt x="1107647" y="0"/>
                  </a:moveTo>
                  <a:lnTo>
                    <a:pt x="2215293" y="433427"/>
                  </a:lnTo>
                  <a:lnTo>
                    <a:pt x="2215293" y="1179884"/>
                  </a:lnTo>
                  <a:lnTo>
                    <a:pt x="2201833" y="1384871"/>
                  </a:lnTo>
                  <a:lnTo>
                    <a:pt x="2162511" y="1580178"/>
                  </a:lnTo>
                  <a:lnTo>
                    <a:pt x="2098918" y="1764794"/>
                  </a:lnTo>
                  <a:lnTo>
                    <a:pt x="2012642" y="1937707"/>
                  </a:lnTo>
                  <a:lnTo>
                    <a:pt x="1905272" y="2097907"/>
                  </a:lnTo>
                  <a:lnTo>
                    <a:pt x="1778399" y="2244381"/>
                  </a:lnTo>
                  <a:lnTo>
                    <a:pt x="1633610" y="2376118"/>
                  </a:lnTo>
                  <a:lnTo>
                    <a:pt x="1472496" y="2492108"/>
                  </a:lnTo>
                  <a:lnTo>
                    <a:pt x="1296645" y="2591339"/>
                  </a:lnTo>
                  <a:lnTo>
                    <a:pt x="1107647" y="2672799"/>
                  </a:lnTo>
                  <a:lnTo>
                    <a:pt x="918648" y="2591339"/>
                  </a:lnTo>
                  <a:lnTo>
                    <a:pt x="742797" y="2492108"/>
                  </a:lnTo>
                  <a:lnTo>
                    <a:pt x="581683" y="2376118"/>
                  </a:lnTo>
                  <a:lnTo>
                    <a:pt x="436894" y="2244381"/>
                  </a:lnTo>
                  <a:lnTo>
                    <a:pt x="310021" y="2097907"/>
                  </a:lnTo>
                  <a:lnTo>
                    <a:pt x="202651" y="1937707"/>
                  </a:lnTo>
                  <a:lnTo>
                    <a:pt x="116375" y="1764794"/>
                  </a:lnTo>
                  <a:lnTo>
                    <a:pt x="52782" y="1580178"/>
                  </a:lnTo>
                  <a:lnTo>
                    <a:pt x="13460" y="1384871"/>
                  </a:lnTo>
                  <a:lnTo>
                    <a:pt x="0" y="1179884"/>
                  </a:lnTo>
                  <a:lnTo>
                    <a:pt x="0" y="433427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9332236" y="2861803"/>
              <a:ext cx="794615" cy="1998579"/>
            </a:xfrm>
            <a:custGeom>
              <a:avLst/>
              <a:gdLst/>
              <a:ahLst/>
              <a:cxnLst/>
              <a:rect l="l" t="t" r="r" b="b"/>
              <a:pathLst>
                <a:path w="794615" h="1998579">
                  <a:moveTo>
                    <a:pt x="0" y="0"/>
                  </a:moveTo>
                  <a:lnTo>
                    <a:pt x="794615" y="313030"/>
                  </a:lnTo>
                  <a:lnTo>
                    <a:pt x="794615" y="890933"/>
                  </a:lnTo>
                  <a:lnTo>
                    <a:pt x="784719" y="1039622"/>
                  </a:lnTo>
                  <a:lnTo>
                    <a:pt x="755896" y="1181810"/>
                  </a:lnTo>
                  <a:lnTo>
                    <a:pt x="709447" y="1316775"/>
                  </a:lnTo>
                  <a:lnTo>
                    <a:pt x="646672" y="1443793"/>
                  </a:lnTo>
                  <a:lnTo>
                    <a:pt x="568872" y="1562142"/>
                  </a:lnTo>
                  <a:lnTo>
                    <a:pt x="477347" y="1671101"/>
                  </a:lnTo>
                  <a:lnTo>
                    <a:pt x="373397" y="1769946"/>
                  </a:lnTo>
                  <a:lnTo>
                    <a:pt x="258322" y="1857956"/>
                  </a:lnTo>
                  <a:lnTo>
                    <a:pt x="133423" y="1934408"/>
                  </a:lnTo>
                  <a:lnTo>
                    <a:pt x="0" y="1998579"/>
                  </a:lnTo>
                  <a:close/>
                </a:path>
              </a:pathLst>
            </a:cu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8850650" y="3560101"/>
              <a:ext cx="1011329" cy="698299"/>
            </a:xfrm>
            <a:custGeom>
              <a:avLst/>
              <a:gdLst/>
              <a:ahLst/>
              <a:cxnLst/>
              <a:rect l="l" t="t" r="r" b="b"/>
              <a:pathLst>
                <a:path w="1011329" h="698299">
                  <a:moveTo>
                    <a:pt x="0" y="337110"/>
                  </a:moveTo>
                  <a:lnTo>
                    <a:pt x="361189" y="698299"/>
                  </a:lnTo>
                  <a:lnTo>
                    <a:pt x="1011329" y="0"/>
                  </a:lnTo>
                </a:path>
              </a:pathLst>
            </a:custGeom>
            <a:noFill/>
            <a:ln w="192634" cap="rnd">
              <a:solidFill>
                <a:srgbClr val="11111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7815241" y="2909961"/>
              <a:ext cx="240792" cy="240792"/>
            </a:xfrm>
            <a:prstGeom prst="ellipse">
              <a:avLst/>
            </a:pr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0656595" y="4643669"/>
              <a:ext cx="337109" cy="337109"/>
            </a:xfrm>
            <a:prstGeom prst="ellipse">
              <a:avLst/>
            </a:prstGeom>
            <a:solidFill>
              <a:srgbClr val="5858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1051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План масштабирования: Q3 2026 – 4 команды, Q4 2026 – доступ компании</a:t>
            </a:r>
          </a:p>
        </p:txBody>
      </p:sp>
      <p:sp>
        <p:nvSpPr>
          <p:cNvPr id="3" name="stat_0:bar"/>
          <p:cNvSpPr/>
          <p:nvPr/>
        </p:nvSpPr>
        <p:spPr>
          <a:xfrm>
            <a:off x="429280" y="1906524"/>
            <a:ext cx="50800" cy="1495806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607080" y="1783080"/>
            <a:ext cx="5251424" cy="161925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54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54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2026</a:t>
            </a:r>
          </a:p>
          <a:p>
            <a:pPr>
              <a:spcAft>
                <a:spcPts val="300"/>
              </a:spcAft>
              <a:defRPr sz="20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Q3 2026 подключение 4 команд, домен и HTTPS</a:t>
            </a:r>
          </a:p>
        </p:txBody>
      </p:sp>
      <p:sp>
        <p:nvSpPr>
          <p:cNvPr id="5" name="stat_1:bar"/>
          <p:cNvSpPr/>
          <p:nvPr/>
        </p:nvSpPr>
        <p:spPr>
          <a:xfrm>
            <a:off x="6310940" y="1906524"/>
            <a:ext cx="50800" cy="1495806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6488740" y="1783080"/>
            <a:ext cx="5251424" cy="161925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54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54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2026</a:t>
            </a:r>
          </a:p>
          <a:p>
            <a:pPr>
              <a:spcAft>
                <a:spcPts val="300"/>
              </a:spcAft>
              <a:defRPr sz="20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Q4 2026 доступ для всей компании, интеграция с хранилищем документов</a:t>
            </a:r>
          </a:p>
        </p:txBody>
      </p:sp>
      <p:sp>
        <p:nvSpPr>
          <p:cNvPr id="7" name="stat_2:bar"/>
          <p:cNvSpPr/>
          <p:nvPr/>
        </p:nvSpPr>
        <p:spPr>
          <a:xfrm>
            <a:off x="429280" y="4101083"/>
            <a:ext cx="50800" cy="1495806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_2"/>
          <p:cNvSpPr txBox="1"/>
          <p:nvPr/>
        </p:nvSpPr>
        <p:spPr>
          <a:xfrm>
            <a:off x="607080" y="3977640"/>
            <a:ext cx="5251424" cy="161925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54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54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2027</a:t>
            </a:r>
          </a:p>
          <a:p>
            <a:pPr>
              <a:spcAft>
                <a:spcPts val="300"/>
              </a:spcAft>
              <a:defRPr sz="20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Q1 2027 генерация иллюстраций под стиль шаблона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2280" y="2164394"/>
            <a:ext cx="11564884" cy="2957301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429280" y="2291394"/>
            <a:ext cx="7827385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Пилот доказал эффективность автоматической вёрстки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29280" y="4430816"/>
            <a:ext cx="11310884" cy="563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2800" b="1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Автоматизация повышает скорость и качество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
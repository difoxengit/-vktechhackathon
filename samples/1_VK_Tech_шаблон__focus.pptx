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cat>
            <c:strRef>
              <c:f>Sheet1!$A$2:$A$3</c:f>
              <c:strCache>
                <c:ptCount val="2"/>
                <c:pt idx="0">
                  <c:v>Сборка</c:v>
                </c:pt>
                <c:pt idx="1">
                  <c:v>Правки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186.0</c:v>
                </c:pt>
                <c:pt idx="1">
                  <c:v>74.0</c:v>
                </c:pt>
              </c:numCache>
            </c:numRef>
          </c:val>
        </c:ser>
        <c:dLbls>
          <c:numFmt formatCode="0&quot; минуты&quot;" sourceLinked="0"/>
          <c:txPr>
            <a:bodyPr wrap="none"/>
            <a:lstStyle/>
            <a:p>
              <a:pPr>
                <a:defRPr sz="11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1D1D1"/>
              </a:solidFill>
            </a:ln>
          </c:spPr>
        </c:majorGridlines>
        <c:title>
          <c:tx>
            <c:rich>
              <a:bodyPr rot="0" vert="horz"/>
              <a:lstStyle/>
              <a:p>
                <a:pPr>
                  <a:defRPr sz="11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r>
                  <a:t>Время, минуты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cat>
            <c:strRef>
              <c:f>Sheet1!$A$2:$A$3</c:f>
              <c:strCache>
                <c:ptCount val="2"/>
                <c:pt idx="0">
                  <c:v>Текущее</c:v>
                </c:pt>
                <c:pt idx="1">
                  <c:v>Сервис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186.0</c:v>
                </c:pt>
                <c:pt idx="1">
                  <c:v>4.0</c:v>
                </c:pt>
              </c:numCache>
            </c:numRef>
          </c:val>
        </c:ser>
        <c:dLbls>
          <c:numFmt formatCode="0&quot; минуты&quot;" sourceLinked="0"/>
          <c:txPr>
            <a:bodyPr wrap="none"/>
            <a:lstStyle/>
            <a:p>
              <a:pPr>
                <a:defRPr sz="11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1D1D1"/>
              </a:solidFill>
            </a:ln>
          </c:spPr>
        </c:majorGridlines>
        <c:title>
          <c:tx>
            <c:rich>
              <a:bodyPr rot="0" vert="horz"/>
              <a:lstStyle/>
              <a:p>
                <a:pPr>
                  <a:defRPr sz="11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r>
                  <a:t>Время, минуты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Сервис повышает эффективность и соблюдение стиля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cat>
            <c:strRef>
              <c:f>Sheet1!$A$2:$A$3</c:f>
              <c:strCache>
                <c:ptCount val="2"/>
                <c:pt idx="0">
                  <c:v>До</c:v>
                </c:pt>
                <c:pt idx="1">
                  <c:v>После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186.0</c:v>
                </c:pt>
                <c:pt idx="1">
                  <c:v>4.0</c:v>
                </c:pt>
              </c:numCache>
            </c:numRef>
          </c:val>
        </c:ser>
        <c:dLbls>
          <c:numFmt formatCode="0&quot; мин&quot;" sourceLinked="0"/>
          <c:txPr>
            <a:bodyPr wrap="none"/>
            <a:lstStyle/>
            <a:p>
              <a:pPr>
                <a:defRPr sz="11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1D1D1"/>
              </a:solidFill>
            </a:ln>
          </c:spPr>
        </c:majorGridlines>
        <c:title>
          <c:tx>
            <c:rich>
              <a:bodyPr rot="0" vert="horz"/>
              <a:lstStyle/>
              <a:p>
                <a:pPr>
                  <a:defRPr sz="11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r>
                  <a:t>Сервис повышает эффективность и соблюдение стиля, мин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8" Type="http://schemas.openxmlformats.org/officeDocument/2006/relationships/slideLayout" Target="../slideLayouts/slideLayout11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2"/>
    <p:sldLayoutId id="2147483658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43.png"/><Relationship Id="rId3" Type="http://schemas.openxmlformats.org/officeDocument/2006/relationships/image" Target="../media/image160.png"/><Relationship Id="rId4" Type="http://schemas.openxmlformats.org/officeDocument/2006/relationships/chart" Target="../charts/chart1.xml"/><Relationship Id="rId5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1.png"/><Relationship Id="rId3" Type="http://schemas.openxmlformats.org/officeDocument/2006/relationships/image" Target="../media/image52.png"/><Relationship Id="rId4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43.png"/><Relationship Id="rId3" Type="http://schemas.openxmlformats.org/officeDocument/2006/relationships/image" Target="../media/image160.png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1.png"/><Relationship Id="rId3" Type="http://schemas.openxmlformats.org/officeDocument/2006/relationships/image" Target="../media/image52.png"/><Relationship Id="rId4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66.xml"/></Relationships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473726" y="1370485"/>
            <a:ext cx="4288261" cy="144138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>
              <a:spcAft>
                <a:spcPts val="300"/>
              </a:spcAft>
              <a:defRPr sz="2705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705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Защита инициативы: сервис автоматической вёрстки презентаций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74320" y="282943"/>
            <a:ext cx="6792986" cy="6172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Сборка вручную занимает 186 минут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74320" y="1337310"/>
          <a:ext cx="8344814" cy="221075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" name="body"/>
          <p:cNvSpPr txBox="1"/>
          <p:nvPr/>
        </p:nvSpPr>
        <p:spPr>
          <a:xfrm>
            <a:off x="274320" y="3676650"/>
            <a:ext cx="8344814" cy="7467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74 минуты на правки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19 из 42 колод нарушают фирменный стиль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2" name="Google Shape;532;p53"/>
          <p:cNvSpPr/>
          <p:nvPr/>
        </p:nvSpPr>
        <p:spPr>
          <a:xfrm>
            <a:off x="303214" y="1022533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53"/>
          <p:cNvSpPr/>
          <p:nvPr/>
        </p:nvSpPr>
        <p:spPr>
          <a:xfrm>
            <a:off x="276488" y="29555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53"/>
          <p:cNvSpPr/>
          <p:nvPr/>
        </p:nvSpPr>
        <p:spPr>
          <a:xfrm>
            <a:off x="303214" y="27978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Дизайн-отдел из 4 человек обслуживает 11 запросов в неделю</a:t>
            </a:r>
          </a:p>
        </p:txBody>
      </p:sp>
      <p:graphicFrame>
        <p:nvGraphicFramePr>
          <p:cNvPr id="556" name="Table 555"/>
          <p:cNvGraphicFramePr>
            <a:graphicFrameLocks noGrp="1"/>
          </p:cNvGraphicFramePr>
          <p:nvPr/>
        </p:nvGraphicFramePr>
        <p:xfrm>
          <a:off x="274320" y="1394994"/>
          <a:ext cx="8344814" cy="16884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2407"/>
                <a:gridCol w="4172407"/>
              </a:tblGrid>
              <a:tr h="33769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Показатель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Значение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33769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Дизайнеры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9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Запросы в неделю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9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Поступающие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9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Средний срок ожидания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6 дней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7" name="body"/>
          <p:cNvSpPr txBox="1"/>
          <p:nvPr/>
        </p:nvSpPr>
        <p:spPr>
          <a:xfrm>
            <a:off x="274320" y="3212043"/>
            <a:ext cx="8344814" cy="121136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4 дизайнеры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11 запросов в неделю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27 запросов поступает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Средний срок ожидания 6 дней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249" name="Google Shape;2249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748" y="3576507"/>
            <a:ext cx="2381238" cy="28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0" name="Google Shape;22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34" y="3576507"/>
            <a:ext cx="3762355" cy="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Сервис принимает шаблон и материалы, генерирует колоду</a:t>
            </a:r>
          </a:p>
        </p:txBody>
      </p:sp>
      <p:sp>
        <p:nvSpPr>
          <p:cNvPr id="2252" name="lead"/>
          <p:cNvSpPr txBox="1"/>
          <p:nvPr/>
        </p:nvSpPr>
        <p:spPr>
          <a:xfrm>
            <a:off x="274320" y="1664127"/>
            <a:ext cx="6792986" cy="6502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Принимает pptx шаблон</a:t>
            </a:r>
          </a:p>
        </p:txBody>
      </p:sp>
      <p:sp>
        <p:nvSpPr>
          <p:cNvPr id="2253" name="body"/>
          <p:cNvSpPr txBox="1"/>
          <p:nvPr/>
        </p:nvSpPr>
        <p:spPr>
          <a:xfrm>
            <a:off x="274320" y="2429069"/>
            <a:ext cx="6792986" cy="1147411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Разбирает дизайн-систему</a:t>
            </a:r>
          </a:p>
          <a:p>
            <a:pPr algn="l">
              <a:spcAft>
                <a:spcPts val="300"/>
              </a:spcAft>
              <a:defRPr sz="14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Собирает план колоды</a:t>
            </a:r>
          </a:p>
          <a:p>
            <a:pPr algn="l">
              <a:spcAft>
                <a:spcPts val="300"/>
              </a:spcAft>
              <a:defRPr sz="14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Вёрстка по системе</a:t>
            </a:r>
          </a:p>
          <a:p>
            <a:pPr algn="l">
              <a:spcAft>
                <a:spcPts val="300"/>
              </a:spcAft>
              <a:defRPr sz="14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Аудит качества до публикации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27" name="Google Shape;1027;p65"/>
          <p:cNvSpPr/>
          <p:nvPr/>
        </p:nvSpPr>
        <p:spPr>
          <a:xfrm>
            <a:off x="6064222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65"/>
          <p:cNvSpPr/>
          <p:nvPr/>
        </p:nvSpPr>
        <p:spPr>
          <a:xfrm>
            <a:off x="3174981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65"/>
          <p:cNvSpPr/>
          <p:nvPr/>
        </p:nvSpPr>
        <p:spPr>
          <a:xfrm>
            <a:off x="285749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6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65"/>
          <p:cNvSpPr/>
          <p:nvPr/>
        </p:nvSpPr>
        <p:spPr>
          <a:xfrm>
            <a:off x="476248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65"/>
          <p:cNvSpPr/>
          <p:nvPr/>
        </p:nvSpPr>
        <p:spPr>
          <a:xfrm>
            <a:off x="3365480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65"/>
          <p:cNvSpPr/>
          <p:nvPr/>
        </p:nvSpPr>
        <p:spPr>
          <a:xfrm>
            <a:off x="6254721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65"/>
          <p:cNvSpPr/>
          <p:nvPr/>
        </p:nvSpPr>
        <p:spPr>
          <a:xfrm>
            <a:off x="6254721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Экспорт в pptx, pdf, html; слайды остаются редактируемыми</a:t>
            </a:r>
          </a:p>
        </p:txBody>
      </p:sp>
      <p:sp>
        <p:nvSpPr>
          <p:cNvPr id="1048" name="lead"/>
          <p:cNvSpPr txBox="1"/>
          <p:nvPr/>
        </p:nvSpPr>
        <p:spPr>
          <a:xfrm>
            <a:off x="274320" y="1628895"/>
            <a:ext cx="6792986" cy="1293461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Экспорт в pptx с нативными объектами</a:t>
            </a:r>
          </a:p>
        </p:txBody>
      </p:sp>
      <p:sp>
        <p:nvSpPr>
          <p:cNvPr id="1049" name="body"/>
          <p:cNvSpPr txBox="1"/>
          <p:nvPr/>
        </p:nvSpPr>
        <p:spPr>
          <a:xfrm>
            <a:off x="274320" y="3090027"/>
            <a:ext cx="6792986" cy="133338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Экспорт в pdf и html</a:t>
            </a:r>
          </a:p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Слайды редактируемы без преобразования в картинки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Время сборки колоды сократилось с 186 до 4 минут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74320" y="1394994"/>
          <a:ext cx="8344814" cy="215306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body"/>
          <p:cNvSpPr txBox="1"/>
          <p:nvPr/>
        </p:nvSpPr>
        <p:spPr>
          <a:xfrm>
            <a:off x="274320" y="3676650"/>
            <a:ext cx="8344814" cy="7467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4 минуты вместо 186</a:t>
            </a:r>
          </a:p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Время до первой версии с 6 дней до 1 дня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Нарушений фирменного стиля в пилоте — 2 из 68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274320" y="1652697"/>
            <a:ext cx="4196657" cy="11582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2 из 68 колод нарушили стиль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274320" y="3469746"/>
            <a:ext cx="4196657" cy="695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Все нарушения исправлены автоматическими правками</a:t>
            </a:r>
          </a:p>
        </p:txBody>
      </p:sp>
      <p:grpSp>
        <p:nvGrpSpPr>
          <p:cNvPr id="5" name="illustration:builtin-launch"/>
          <p:cNvGrpSpPr/>
          <p:nvPr/>
        </p:nvGrpSpPr>
        <p:grpSpPr>
          <a:xfrm>
            <a:off x="5461956" y="1688942"/>
            <a:ext cx="2537363" cy="2440517"/>
            <a:chOff x="5461956" y="1688942"/>
            <a:chExt cx="2537363" cy="2440517"/>
          </a:xfrm>
        </p:grpSpPr>
        <p:sp>
          <p:nvSpPr>
            <p:cNvPr id="6" name="Oval 5"/>
            <p:cNvSpPr/>
            <p:nvPr/>
          </p:nvSpPr>
          <p:spPr>
            <a:xfrm>
              <a:off x="5461956" y="1688942"/>
              <a:ext cx="2440517" cy="2440517"/>
            </a:xfrm>
            <a:prstGeom prst="ellipse">
              <a:avLst/>
            </a:prstGeom>
            <a:solidFill>
              <a:srgbClr val="D6E9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6199380" y="1805157"/>
              <a:ext cx="965670" cy="1336474"/>
            </a:xfrm>
            <a:custGeom>
              <a:avLst/>
              <a:gdLst/>
              <a:ahLst/>
              <a:cxnLst/>
              <a:rect l="l" t="t" r="r" b="b"/>
              <a:pathLst>
                <a:path w="965670" h="1336474">
                  <a:moveTo>
                    <a:pt x="482835" y="0"/>
                  </a:moveTo>
                  <a:lnTo>
                    <a:pt x="597288" y="93379"/>
                  </a:lnTo>
                  <a:lnTo>
                    <a:pt x="696516" y="198495"/>
                  </a:lnTo>
                  <a:lnTo>
                    <a:pt x="780404" y="314304"/>
                  </a:lnTo>
                  <a:lnTo>
                    <a:pt x="848835" y="439758"/>
                  </a:lnTo>
                  <a:lnTo>
                    <a:pt x="901694" y="573812"/>
                  </a:lnTo>
                  <a:lnTo>
                    <a:pt x="938863" y="715420"/>
                  </a:lnTo>
                  <a:lnTo>
                    <a:pt x="960227" y="863536"/>
                  </a:lnTo>
                  <a:lnTo>
                    <a:pt x="965670" y="1017115"/>
                  </a:lnTo>
                  <a:lnTo>
                    <a:pt x="955075" y="1175109"/>
                  </a:lnTo>
                  <a:lnTo>
                    <a:pt x="928326" y="1336474"/>
                  </a:lnTo>
                  <a:lnTo>
                    <a:pt x="37344" y="1336474"/>
                  </a:lnTo>
                  <a:lnTo>
                    <a:pt x="10595" y="1175109"/>
                  </a:lnTo>
                  <a:lnTo>
                    <a:pt x="0" y="1017115"/>
                  </a:lnTo>
                  <a:lnTo>
                    <a:pt x="5443" y="863536"/>
                  </a:lnTo>
                  <a:lnTo>
                    <a:pt x="26807" y="715420"/>
                  </a:lnTo>
                  <a:lnTo>
                    <a:pt x="63976" y="573812"/>
                  </a:lnTo>
                  <a:lnTo>
                    <a:pt x="116835" y="439758"/>
                  </a:lnTo>
                  <a:lnTo>
                    <a:pt x="185266" y="314304"/>
                  </a:lnTo>
                  <a:lnTo>
                    <a:pt x="269154" y="198495"/>
                  </a:lnTo>
                  <a:lnTo>
                    <a:pt x="368382" y="93379"/>
                  </a:lnTo>
                  <a:lnTo>
                    <a:pt x="482835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6449785" y="2308756"/>
              <a:ext cx="464860" cy="4648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6546631" y="2405602"/>
              <a:ext cx="271168" cy="271168"/>
            </a:xfrm>
            <a:prstGeom prst="ellipse">
              <a:avLst/>
            </a:pr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5907448" y="2909201"/>
              <a:ext cx="387383" cy="639183"/>
            </a:xfrm>
            <a:custGeom>
              <a:avLst/>
              <a:gdLst/>
              <a:ahLst/>
              <a:cxnLst/>
              <a:rect l="l" t="t" r="r" b="b"/>
              <a:pathLst>
                <a:path w="387383" h="639183">
                  <a:moveTo>
                    <a:pt x="329276" y="0"/>
                  </a:moveTo>
                  <a:lnTo>
                    <a:pt x="0" y="406752"/>
                  </a:lnTo>
                  <a:lnTo>
                    <a:pt x="0" y="639183"/>
                  </a:lnTo>
                  <a:lnTo>
                    <a:pt x="387383" y="464860"/>
                  </a:lnTo>
                  <a:close/>
                </a:path>
              </a:pathLst>
            </a:cu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069599" y="2909201"/>
              <a:ext cx="387383" cy="639183"/>
            </a:xfrm>
            <a:custGeom>
              <a:avLst/>
              <a:gdLst/>
              <a:ahLst/>
              <a:cxnLst/>
              <a:rect l="l" t="t" r="r" b="b"/>
              <a:pathLst>
                <a:path w="387383" h="639183">
                  <a:moveTo>
                    <a:pt x="58107" y="0"/>
                  </a:moveTo>
                  <a:lnTo>
                    <a:pt x="387383" y="406752"/>
                  </a:lnTo>
                  <a:lnTo>
                    <a:pt x="387383" y="639183"/>
                  </a:lnTo>
                  <a:lnTo>
                    <a:pt x="0" y="464860"/>
                  </a:lnTo>
                  <a:close/>
                </a:path>
              </a:pathLst>
            </a:cu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449785" y="3180369"/>
              <a:ext cx="464860" cy="290538"/>
            </a:xfrm>
            <a:custGeom>
              <a:avLst/>
              <a:gdLst/>
              <a:ahLst/>
              <a:cxnLst/>
              <a:rect l="l" t="t" r="r" b="b"/>
              <a:pathLst>
                <a:path w="464860" h="290538">
                  <a:moveTo>
                    <a:pt x="0" y="0"/>
                  </a:moveTo>
                  <a:lnTo>
                    <a:pt x="464860" y="0"/>
                  </a:lnTo>
                  <a:lnTo>
                    <a:pt x="387383" y="290538"/>
                  </a:lnTo>
                  <a:lnTo>
                    <a:pt x="77477" y="290538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6527262" y="3470907"/>
              <a:ext cx="309906" cy="542337"/>
            </a:xfrm>
            <a:custGeom>
              <a:avLst/>
              <a:gdLst/>
              <a:ahLst/>
              <a:cxnLst/>
              <a:rect l="l" t="t" r="r" b="b"/>
              <a:pathLst>
                <a:path w="309906" h="542337">
                  <a:moveTo>
                    <a:pt x="0" y="0"/>
                  </a:moveTo>
                  <a:lnTo>
                    <a:pt x="309906" y="0"/>
                  </a:lnTo>
                  <a:lnTo>
                    <a:pt x="307660" y="72712"/>
                  </a:lnTo>
                  <a:lnTo>
                    <a:pt x="301229" y="140078"/>
                  </a:lnTo>
                  <a:lnTo>
                    <a:pt x="291080" y="202563"/>
                  </a:lnTo>
                  <a:lnTo>
                    <a:pt x="277676" y="260632"/>
                  </a:lnTo>
                  <a:lnTo>
                    <a:pt x="261484" y="314749"/>
                  </a:lnTo>
                  <a:lnTo>
                    <a:pt x="242967" y="365380"/>
                  </a:lnTo>
                  <a:lnTo>
                    <a:pt x="222590" y="412990"/>
                  </a:lnTo>
                  <a:lnTo>
                    <a:pt x="200819" y="458042"/>
                  </a:lnTo>
                  <a:lnTo>
                    <a:pt x="178119" y="501003"/>
                  </a:lnTo>
                  <a:lnTo>
                    <a:pt x="154953" y="542337"/>
                  </a:lnTo>
                  <a:lnTo>
                    <a:pt x="131787" y="501003"/>
                  </a:lnTo>
                  <a:lnTo>
                    <a:pt x="109087" y="458042"/>
                  </a:lnTo>
                  <a:lnTo>
                    <a:pt x="87316" y="412990"/>
                  </a:lnTo>
                  <a:lnTo>
                    <a:pt x="66939" y="365380"/>
                  </a:lnTo>
                  <a:lnTo>
                    <a:pt x="48422" y="314749"/>
                  </a:lnTo>
                  <a:lnTo>
                    <a:pt x="32230" y="260632"/>
                  </a:lnTo>
                  <a:lnTo>
                    <a:pt x="18826" y="202563"/>
                  </a:lnTo>
                  <a:lnTo>
                    <a:pt x="8677" y="140078"/>
                  </a:lnTo>
                  <a:lnTo>
                    <a:pt x="2246" y="727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5568487" y="2221594"/>
              <a:ext cx="135584" cy="135584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7708782" y="2037587"/>
              <a:ext cx="193691" cy="193691"/>
            </a:xfrm>
            <a:prstGeom prst="ellipse">
              <a:avLst/>
            </a:pr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7883104" y="3335323"/>
              <a:ext cx="116215" cy="116215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2" name="Google Shape;532;p53"/>
          <p:cNvSpPr/>
          <p:nvPr/>
        </p:nvSpPr>
        <p:spPr>
          <a:xfrm>
            <a:off x="303214" y="1022533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53"/>
          <p:cNvSpPr/>
          <p:nvPr/>
        </p:nvSpPr>
        <p:spPr>
          <a:xfrm>
            <a:off x="276488" y="29555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53"/>
          <p:cNvSpPr/>
          <p:nvPr/>
        </p:nvSpPr>
        <p:spPr>
          <a:xfrm>
            <a:off x="303214" y="27978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Сервис работает на одной машине 2 vCPU / 2 GB RAM</a:t>
            </a:r>
          </a:p>
        </p:txBody>
      </p:sp>
      <p:graphicFrame>
        <p:nvGraphicFramePr>
          <p:cNvPr id="556" name="Table 555"/>
          <p:cNvGraphicFramePr>
            <a:graphicFrameLocks noGrp="1"/>
          </p:cNvGraphicFramePr>
          <p:nvPr/>
        </p:nvGraphicFramePr>
        <p:xfrm>
          <a:off x="274320" y="1394994"/>
          <a:ext cx="8344814" cy="1855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2407"/>
                <a:gridCol w="4172407"/>
              </a:tblGrid>
              <a:tr h="46397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Показатель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Значение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639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2 vCPU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39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2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39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Модель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gpt-oss-20b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7" name="body"/>
          <p:cNvSpPr txBox="1"/>
          <p:nvPr/>
        </p:nvSpPr>
        <p:spPr>
          <a:xfrm>
            <a:off x="274320" y="3379470"/>
            <a:ext cx="8344814" cy="10439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2 vCPU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2 GB RAM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Модель gpt-oss-20b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55"/>
          <p:cNvSpPr/>
          <p:nvPr/>
        </p:nvSpPr>
        <p:spPr>
          <a:xfrm>
            <a:off x="285749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55"/>
          <p:cNvSpPr/>
          <p:nvPr/>
        </p:nvSpPr>
        <p:spPr>
          <a:xfrm>
            <a:off x="2452675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5"/>
          <p:cNvSpPr/>
          <p:nvPr/>
        </p:nvSpPr>
        <p:spPr>
          <a:xfrm>
            <a:off x="4619601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55"/>
          <p:cNvSpPr/>
          <p:nvPr/>
        </p:nvSpPr>
        <p:spPr>
          <a:xfrm>
            <a:off x="6786527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Стоимость инференса за 6 недель пилота — 1 400 рублей</a:t>
            </a:r>
          </a:p>
        </p:txBody>
      </p:sp>
      <p:sp>
        <p:nvSpPr>
          <p:cNvPr id="682" name="lead"/>
          <p:cNvSpPr txBox="1"/>
          <p:nvPr/>
        </p:nvSpPr>
        <p:spPr>
          <a:xfrm>
            <a:off x="274320" y="2709812"/>
            <a:ext cx="4196657" cy="3987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1 400 руб за 6 недель</a:t>
            </a:r>
          </a:p>
        </p:txBody>
      </p:sp>
      <p:grpSp>
        <p:nvGrpSpPr>
          <p:cNvPr id="2" name="illustration:builtin-money"/>
          <p:cNvGrpSpPr/>
          <p:nvPr/>
        </p:nvGrpSpPr>
        <p:grpSpPr>
          <a:xfrm>
            <a:off x="5461956" y="1688942"/>
            <a:ext cx="2440517" cy="2440517"/>
            <a:chOff x="5461956" y="1688942"/>
            <a:chExt cx="2440517" cy="2440517"/>
          </a:xfrm>
        </p:grpSpPr>
        <p:sp>
          <p:nvSpPr>
            <p:cNvPr id="683" name="Oval 682"/>
            <p:cNvSpPr/>
            <p:nvPr/>
          </p:nvSpPr>
          <p:spPr>
            <a:xfrm>
              <a:off x="5461956" y="1688942"/>
              <a:ext cx="2440517" cy="2440517"/>
            </a:xfrm>
            <a:prstGeom prst="ellipse">
              <a:avLst/>
            </a:prstGeom>
            <a:solidFill>
              <a:srgbClr val="D6E9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4" name="Rounded Rectangle 683"/>
            <p:cNvSpPr/>
            <p:nvPr/>
          </p:nvSpPr>
          <p:spPr>
            <a:xfrm>
              <a:off x="5636279" y="2386233"/>
              <a:ext cx="1704488" cy="1007197"/>
            </a:xfrm>
            <a:prstGeom prst="roundRect">
              <a:avLst>
                <a:gd name="adj" fmla="val 13461"/>
              </a:avLst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5" name="Oval 684"/>
            <p:cNvSpPr/>
            <p:nvPr/>
          </p:nvSpPr>
          <p:spPr>
            <a:xfrm>
              <a:off x="6197985" y="2599294"/>
              <a:ext cx="581075" cy="5810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Freeform 2"/>
            <p:cNvSpPr/>
            <p:nvPr/>
          </p:nvSpPr>
          <p:spPr>
            <a:xfrm>
              <a:off x="6372308" y="2734878"/>
              <a:ext cx="232430" cy="329276"/>
            </a:xfrm>
            <a:custGeom>
              <a:avLst/>
              <a:gdLst/>
              <a:ahLst/>
              <a:cxnLst/>
              <a:rect l="l" t="t" r="r" b="b"/>
              <a:pathLst>
                <a:path w="232430" h="329276">
                  <a:moveTo>
                    <a:pt x="58108" y="329276"/>
                  </a:moveTo>
                  <a:lnTo>
                    <a:pt x="58108" y="0"/>
                  </a:lnTo>
                  <a:lnTo>
                    <a:pt x="154954" y="0"/>
                  </a:lnTo>
                  <a:lnTo>
                    <a:pt x="170071" y="1491"/>
                  </a:lnTo>
                  <a:lnTo>
                    <a:pt x="184598" y="5898"/>
                  </a:lnTo>
                  <a:lnTo>
                    <a:pt x="198002" y="13055"/>
                  </a:lnTo>
                  <a:lnTo>
                    <a:pt x="209739" y="22691"/>
                  </a:lnTo>
                  <a:lnTo>
                    <a:pt x="219375" y="34429"/>
                  </a:lnTo>
                  <a:lnTo>
                    <a:pt x="226532" y="47832"/>
                  </a:lnTo>
                  <a:lnTo>
                    <a:pt x="230939" y="62359"/>
                  </a:lnTo>
                  <a:lnTo>
                    <a:pt x="232430" y="77477"/>
                  </a:lnTo>
                  <a:lnTo>
                    <a:pt x="230939" y="92594"/>
                  </a:lnTo>
                  <a:lnTo>
                    <a:pt x="226532" y="107121"/>
                  </a:lnTo>
                  <a:lnTo>
                    <a:pt x="219375" y="120525"/>
                  </a:lnTo>
                  <a:lnTo>
                    <a:pt x="209739" y="132262"/>
                  </a:lnTo>
                  <a:lnTo>
                    <a:pt x="198002" y="141898"/>
                  </a:lnTo>
                  <a:lnTo>
                    <a:pt x="184598" y="149055"/>
                  </a:lnTo>
                  <a:lnTo>
                    <a:pt x="170071" y="153462"/>
                  </a:lnTo>
                  <a:lnTo>
                    <a:pt x="154954" y="154953"/>
                  </a:lnTo>
                  <a:lnTo>
                    <a:pt x="0" y="154953"/>
                  </a:lnTo>
                </a:path>
              </a:pathLst>
            </a:custGeom>
            <a:noFill/>
            <a:ln w="5810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6372308" y="2976993"/>
              <a:ext cx="174323" cy="0"/>
            </a:xfrm>
            <a:custGeom>
              <a:avLst/>
              <a:gdLst/>
              <a:ahLst/>
              <a:cxnLst/>
              <a:rect l="l" t="t" r="r" b="b"/>
              <a:pathLst>
                <a:path w="174323" h="0">
                  <a:moveTo>
                    <a:pt x="0" y="0"/>
                  </a:moveTo>
                  <a:lnTo>
                    <a:pt x="174323" y="0"/>
                  </a:lnTo>
                </a:path>
              </a:pathLst>
            </a:custGeom>
            <a:solidFill>
              <a:srgbClr val="000000"/>
            </a:solidFill>
            <a:ln w="5810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6" name="Oval 685"/>
            <p:cNvSpPr/>
            <p:nvPr/>
          </p:nvSpPr>
          <p:spPr>
            <a:xfrm>
              <a:off x="7069599" y="3567753"/>
              <a:ext cx="774767" cy="232430"/>
            </a:xfrm>
            <a:prstGeom prst="ellipse">
              <a:avLst/>
            </a:pr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7" name="Oval 686"/>
            <p:cNvSpPr/>
            <p:nvPr/>
          </p:nvSpPr>
          <p:spPr>
            <a:xfrm>
              <a:off x="7069599" y="3393430"/>
              <a:ext cx="774767" cy="232430"/>
            </a:xfrm>
            <a:prstGeom prst="ellipse">
              <a:avLst/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8" name="Oval 687"/>
            <p:cNvSpPr/>
            <p:nvPr/>
          </p:nvSpPr>
          <p:spPr>
            <a:xfrm>
              <a:off x="7069599" y="3219107"/>
              <a:ext cx="774767" cy="232430"/>
            </a:xfrm>
            <a:prstGeom prst="ellipse">
              <a:avLst/>
            </a:pr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9" name="Oval 688"/>
            <p:cNvSpPr/>
            <p:nvPr/>
          </p:nvSpPr>
          <p:spPr>
            <a:xfrm>
              <a:off x="7069599" y="3044785"/>
              <a:ext cx="774767" cy="232430"/>
            </a:xfrm>
            <a:prstGeom prst="ellipse">
              <a:avLst/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0" name="Oval 689"/>
            <p:cNvSpPr/>
            <p:nvPr/>
          </p:nvSpPr>
          <p:spPr>
            <a:xfrm>
              <a:off x="7069599" y="2870462"/>
              <a:ext cx="774767" cy="232430"/>
            </a:xfrm>
            <a:prstGeom prst="ellipse">
              <a:avLst/>
            </a:pr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1" name="Oval 690"/>
            <p:cNvSpPr/>
            <p:nvPr/>
          </p:nvSpPr>
          <p:spPr>
            <a:xfrm>
              <a:off x="5558802" y="3587122"/>
              <a:ext cx="232430" cy="232430"/>
            </a:xfrm>
            <a:prstGeom prst="ellipse">
              <a:avLst/>
            </a:pr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Пилот шёл 6 недель на двух командах, собрано 68 презентаций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94994"/>
          <a:ext cx="8344814" cy="16884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2407"/>
                <a:gridCol w="4172407"/>
              </a:tblGrid>
              <a:tr h="33769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Показатель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Значение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33769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Длительность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6 недель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9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Команды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9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Презентаций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9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Запросов закрыто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ody"/>
          <p:cNvSpPr txBox="1"/>
          <p:nvPr/>
        </p:nvSpPr>
        <p:spPr>
          <a:xfrm>
            <a:off x="274320" y="3212043"/>
            <a:ext cx="8344814" cy="121136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6 недель</a:t>
            </a:r>
          </a:p>
          <a:p>
            <a:pPr algn="l">
              <a:spcAft>
                <a:spcPts val="300"/>
              </a:spcAft>
              <a:defRPr sz="16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2 команды</a:t>
            </a:r>
          </a:p>
          <a:p>
            <a:pPr algn="l">
              <a:spcAft>
                <a:spcPts val="300"/>
              </a:spcAft>
              <a:defRPr sz="16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68 презентаций</a:t>
            </a:r>
          </a:p>
          <a:p>
            <a:pPr algn="l">
              <a:spcAft>
                <a:spcPts val="300"/>
              </a:spcAft>
              <a:defRPr sz="16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38 запросов закрыто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27" name="Google Shape;1027;p65"/>
          <p:cNvSpPr/>
          <p:nvPr/>
        </p:nvSpPr>
        <p:spPr>
          <a:xfrm>
            <a:off x="6064222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65"/>
          <p:cNvSpPr/>
          <p:nvPr/>
        </p:nvSpPr>
        <p:spPr>
          <a:xfrm>
            <a:off x="3174981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65"/>
          <p:cNvSpPr/>
          <p:nvPr/>
        </p:nvSpPr>
        <p:spPr>
          <a:xfrm>
            <a:off x="285749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6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65"/>
          <p:cNvSpPr/>
          <p:nvPr/>
        </p:nvSpPr>
        <p:spPr>
          <a:xfrm>
            <a:off x="476248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65"/>
          <p:cNvSpPr/>
          <p:nvPr/>
        </p:nvSpPr>
        <p:spPr>
          <a:xfrm>
            <a:off x="3365480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65"/>
          <p:cNvSpPr/>
          <p:nvPr/>
        </p:nvSpPr>
        <p:spPr>
          <a:xfrm>
            <a:off x="6254721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65"/>
          <p:cNvSpPr/>
          <p:nvPr/>
        </p:nvSpPr>
        <p:spPr>
          <a:xfrm>
            <a:off x="6254721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Риски: слабая модель, непроверенные шаблоны, нагрузка &gt;20 задач</a:t>
            </a:r>
          </a:p>
        </p:txBody>
      </p:sp>
      <p:sp>
        <p:nvSpPr>
          <p:cNvPr id="1048" name="lead"/>
          <p:cNvSpPr txBox="1"/>
          <p:nvPr/>
        </p:nvSpPr>
        <p:spPr>
          <a:xfrm>
            <a:off x="274320" y="1628895"/>
            <a:ext cx="6792986" cy="1114141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705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705">
                <a:solidFill>
                  <a:srgbClr val="000000"/>
                </a:solidFill>
                <a:latin typeface="Play"/>
                <a:ea typeface="Play"/>
                <a:cs typeface="Play"/>
              </a:rPr>
              <a:t>Слабая модель может выдумать цифры</a:t>
            </a:r>
          </a:p>
        </p:txBody>
      </p:sp>
      <p:sp>
        <p:nvSpPr>
          <p:cNvPr id="1049" name="body"/>
          <p:cNvSpPr txBox="1"/>
          <p:nvPr/>
        </p:nvSpPr>
        <p:spPr>
          <a:xfrm>
            <a:off x="274320" y="2910706"/>
            <a:ext cx="6792986" cy="1512703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Неизвестный шаблон может быть плохо сделан</a:t>
            </a:r>
          </a:p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Нагрузка выше 20 задач требует внешней очереди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43608" y="159030"/>
            <a:ext cx="7202525" cy="4308052"/>
          </a:xfrm>
          <a:prstGeom prst="round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1670608" y="286030"/>
            <a:ext cx="6948525" cy="1183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Сервис повышает эффективность и соблюдение стиля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670608" y="1649692"/>
          <a:ext cx="6948525" cy="153564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body"/>
          <p:cNvSpPr txBox="1"/>
          <p:nvPr/>
        </p:nvSpPr>
        <p:spPr>
          <a:xfrm>
            <a:off x="1670608" y="3313923"/>
            <a:ext cx="6948525" cy="110948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Сокращение времени сборки с 186 до 4 мин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Сокращение времени до первой версии с 6 до 1 дня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Снижение нарушений стиля до 2 из 68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Экономия ресурсов на инференсе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